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suis Omar Sarsar et je suis accompagné d'Iliass Hariz. Nous allons présenter notre projet d'intégration d'un cache distribué Redis dans une application marketplace SaaS. Ce projet a été réalisé dans le cadre de notre formation. Nous allons décrire le contexte, l'architecture, l'implémentation, les tests et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integre un cache distribue Redis dans une application marketplace SaaS. L'augmentation du nombre d'utilisateurs a cause des ralentissements sur les pages affichant les listes de produits. L'objectif est d'ameliorer les performances en verifiant le cache avant PostgreSQL, ce qui reduit le temps de reponse et la charge sur la base de donnees tout en maintenant la coherence via une strategie d'invalidation.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utilise le pattern Cache-Aside. L'application verifie d'abord Redis. Si les donnees y sont, elles sont retournees immediatement. Sinon, PostgreSQL est interrogee, les resultats sont stockes dans Redis avec un TTL, puis retournes.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L'infrastructure utilise Docker Compose avec trois services. PostgreSQL 16 sur Alpine sert de base de donnees sur le port 5434. Redis 7 sur Alpine fonctionne comme cache sur le port 6379 avec un volume persistant et un healthcheck. Next.js est construit depuis un Dockerfile personnalise sur le port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couche d'abstraction dans src/lib/cache.ts fournit une interface simple pour Redis. cacheGet recupere et parse les donnees JSON avec typage TypeScript. cacheSet stocke les donnees avec un TTL configurable de 300 secondes par defaut.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L'integration suit le pattern Cache-Aside. Chaque action genere une cle unique et verifie Redis. Si les donnees existent, elles sont retournees. Sinon, PostgreSQL est interrogee, les resultats sont stockes dans Redis avec un TTL, puis retournes.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strategie d'invalidation est essentielle pour maintenir la coherence. Chaque operation d'ecriture invalide immediatement le cache. La fonction invalidateCache supprime les cles correspondantes de Redis. Le TTL sert de mecanisme d'expiration automatique.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resultats sont tres satisfaisants : les huit tests passent tous avec succes, soit cent pour cent de reussite. Ces tests couvrent les operations de base, l'invalidation, le TTL avec expirations automatiques, et les cas limites comme null ou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mesures montrent des resultats impressionnants. Avec le cache Redis, le temps de reponse moyen est de douze millisecondes contre huit cent cinquante-six millisecondes sans cache, soit quatre-vingt-dix-neuf pour cent d'amelioration.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remercions pour votre attention. Ce projet a demontre que Redis reduit drastiquement les temps de reponse et la charge sur la base de donnees, tout en maintenant la coherence. N'hesitez pas a poser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Shape 1"/>
          <p:cNvSpPr/>
          <p:nvPr/>
        </p:nvSpPr>
        <p:spPr>
          <a:xfrm>
            <a:off x="7772400" y="731520"/>
            <a:ext cx="1097280" cy="1097280"/>
          </a:xfrm>
          <a:prstGeom prst="ellipse">
            <a:avLst/>
          </a:prstGeom>
          <a:solidFill>
            <a:srgbClr val="38BDF8"/>
          </a:solidFill>
          <a:ln/>
        </p:spPr>
      </p:sp>
      <p:sp>
        <p:nvSpPr>
          <p:cNvPr id="4" name="Shape 2"/>
          <p:cNvSpPr/>
          <p:nvPr/>
        </p:nvSpPr>
        <p:spPr>
          <a:xfrm>
            <a:off x="274320" y="3200400"/>
            <a:ext cx="731520" cy="731520"/>
          </a:xfrm>
          <a:prstGeom prst="ellipse">
            <a:avLst/>
          </a:prstGeom>
          <a:solidFill>
            <a:srgbClr val="38BDF8"/>
          </a:solidFill>
          <a:ln/>
        </p:spPr>
      </p:sp>
      <p:sp>
        <p:nvSpPr>
          <p:cNvPr id="5" name="Text 3"/>
          <p:cNvSpPr/>
          <p:nvPr/>
        </p:nvSpPr>
        <p:spPr>
          <a:xfrm>
            <a:off x="457200" y="914400"/>
            <a:ext cx="8229600" cy="274320"/>
          </a:xfrm>
          <a:prstGeom prst="rect">
            <a:avLst/>
          </a:prstGeom>
          <a:noFill/>
          <a:ln/>
        </p:spPr>
        <p:txBody>
          <a:bodyPr wrap="square" rtlCol="0" anchor="ctr"/>
          <a:lstStyle/>
          <a:p>
            <a:pPr algn="ctr" indent="0" marL="0">
              <a:buNone/>
            </a:pPr>
            <a:r>
              <a:rPr lang="en-US" sz="1400" dirty="0">
                <a:solidFill>
                  <a:srgbClr val="94A3B8"/>
                </a:solidFill>
                <a:latin typeface="Inter" pitchFamily="34" charset="0"/>
                <a:ea typeface="Inter" pitchFamily="34" charset="-122"/>
                <a:cs typeface="Inter" pitchFamily="34" charset="-120"/>
              </a:rPr>
              <a:t>Projet de Fin d'Études 2025/2026</a:t>
            </a:r>
            <a:endParaRPr lang="en-US" sz="1400" dirty="0"/>
          </a:p>
        </p:txBody>
      </p:sp>
      <p:sp>
        <p:nvSpPr>
          <p:cNvPr id="6" name="Text 4"/>
          <p:cNvSpPr/>
          <p:nvPr/>
        </p:nvSpPr>
        <p:spPr>
          <a:xfrm>
            <a:off x="457200" y="1280160"/>
            <a:ext cx="8229600" cy="822960"/>
          </a:xfrm>
          <a:prstGeom prst="rect">
            <a:avLst/>
          </a:prstGeom>
          <a:noFill/>
          <a:ln/>
        </p:spPr>
        <p:txBody>
          <a:bodyPr wrap="square" rtlCol="0" anchor="ctr"/>
          <a:lstStyle/>
          <a:p>
            <a:pPr algn="ctr" indent="0" marL="0">
              <a:buNone/>
            </a:pPr>
            <a:r>
              <a:rPr lang="en-US" sz="5600" b="1" dirty="0">
                <a:solidFill>
                  <a:srgbClr val="FFFFFF"/>
                </a:solidFill>
                <a:latin typeface="Inter" pitchFamily="34" charset="0"/>
                <a:ea typeface="Inter" pitchFamily="34" charset="-122"/>
                <a:cs typeface="Inter" pitchFamily="34" charset="-120"/>
              </a:rPr>
              <a:t>Projet 11</a:t>
            </a:r>
            <a:endParaRPr lang="en-US" sz="5600" dirty="0"/>
          </a:p>
        </p:txBody>
      </p:sp>
      <p:sp>
        <p:nvSpPr>
          <p:cNvPr id="7" name="Shape 5"/>
          <p:cNvSpPr/>
          <p:nvPr/>
        </p:nvSpPr>
        <p:spPr>
          <a:xfrm>
            <a:off x="3474720" y="2148840"/>
            <a:ext cx="2194560" cy="36576"/>
          </a:xfrm>
          <a:prstGeom prst="rect">
            <a:avLst/>
          </a:prstGeom>
          <a:solidFill>
            <a:srgbClr val="38BDF8"/>
          </a:solidFill>
          <a:ln/>
        </p:spPr>
      </p:sp>
      <p:sp>
        <p:nvSpPr>
          <p:cNvPr id="8" name="Text 6"/>
          <p:cNvSpPr/>
          <p:nvPr/>
        </p:nvSpPr>
        <p:spPr>
          <a:xfrm>
            <a:off x="457200" y="2286000"/>
            <a:ext cx="8229600" cy="457200"/>
          </a:xfrm>
          <a:prstGeom prst="rect">
            <a:avLst/>
          </a:prstGeom>
          <a:noFill/>
          <a:ln/>
        </p:spPr>
        <p:txBody>
          <a:bodyPr wrap="square" rtlCol="0" anchor="ctr"/>
          <a:lstStyle/>
          <a:p>
            <a:pPr algn="ctr" indent="0" marL="0">
              <a:buNone/>
            </a:pPr>
            <a:r>
              <a:rPr lang="en-US" sz="2600" dirty="0">
                <a:solidFill>
                  <a:srgbClr val="38BDF8"/>
                </a:solidFill>
                <a:latin typeface="Inter" pitchFamily="34" charset="0"/>
                <a:ea typeface="Inter" pitchFamily="34" charset="-122"/>
                <a:cs typeface="Inter" pitchFamily="34" charset="-120"/>
              </a:rPr>
              <a:t>Cache Distribué avec Redis</a:t>
            </a:r>
            <a:endParaRPr lang="en-US" sz="2600" dirty="0"/>
          </a:p>
        </p:txBody>
      </p:sp>
      <p:sp>
        <p:nvSpPr>
          <p:cNvPr id="9" name="Shape 7"/>
          <p:cNvSpPr/>
          <p:nvPr/>
        </p:nvSpPr>
        <p:spPr>
          <a:xfrm>
            <a:off x="2286000" y="3017520"/>
            <a:ext cx="4572000" cy="640080"/>
          </a:xfrm>
          <a:prstGeom prst="roundRect">
            <a:avLst>
              <a:gd name="adj" fmla="val 21429"/>
            </a:avLst>
          </a:prstGeom>
          <a:solidFill>
            <a:srgbClr val="1B2838"/>
          </a:solidFill>
          <a:ln w="12700">
            <a:solidFill>
              <a:srgbClr val="1E293B"/>
            </a:solidFill>
            <a:prstDash val="solid"/>
          </a:ln>
        </p:spPr>
      </p:sp>
      <p:sp>
        <p:nvSpPr>
          <p:cNvPr id="10" name="Text 8"/>
          <p:cNvSpPr/>
          <p:nvPr/>
        </p:nvSpPr>
        <p:spPr>
          <a:xfrm>
            <a:off x="2286000" y="3017520"/>
            <a:ext cx="4572000" cy="640080"/>
          </a:xfrm>
          <a:prstGeom prst="rect">
            <a:avLst/>
          </a:prstGeom>
          <a:noFill/>
          <a:ln/>
        </p:spPr>
        <p:txBody>
          <a:bodyPr wrap="square" rtlCol="0" anchor="ctr"/>
          <a:lstStyle/>
          <a:p>
            <a:pPr algn="ctr" indent="0" marL="0">
              <a:buNone/>
            </a:pPr>
            <a:r>
              <a:rPr lang="en-US" sz="1600" dirty="0">
                <a:solidFill>
                  <a:srgbClr val="94A3B8"/>
                </a:solidFill>
                <a:latin typeface="Inter" pitchFamily="34" charset="0"/>
                <a:ea typeface="Inter" pitchFamily="34" charset="-122"/>
                <a:cs typeface="Inter" pitchFamily="34" charset="-120"/>
              </a:rPr>
              <a:t>Présenté par Omar Sarsar &amp; Iliass Hariz</a:t>
            </a:r>
            <a:endParaRPr lang="en-US" sz="1600" dirty="0"/>
          </a:p>
        </p:txBody>
      </p:sp>
      <p:sp>
        <p:nvSpPr>
          <p:cNvPr id="11" name="Shape 9"/>
          <p:cNvSpPr/>
          <p:nvPr/>
        </p:nvSpPr>
        <p:spPr>
          <a:xfrm>
            <a:off x="8321040" y="4617720"/>
            <a:ext cx="457200" cy="320040"/>
          </a:xfrm>
          <a:prstGeom prst="roundRect">
            <a:avLst>
              <a:gd name="adj" fmla="val 28571"/>
            </a:avLst>
          </a:prstGeom>
          <a:solidFill>
            <a:srgbClr val="38BDF8"/>
          </a:solidFill>
          <a:ln/>
        </p:spPr>
      </p:sp>
      <p:sp>
        <p:nvSpPr>
          <p:cNvPr id="12" name="Text 10"/>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Contexte et Objectifs</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Text 3"/>
          <p:cNvSpPr/>
          <p:nvPr/>
        </p:nvSpPr>
        <p:spPr>
          <a:xfrm>
            <a:off x="640080" y="118872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Application marketplace SaaS</a:t>
            </a:r>
            <a:endParaRPr lang="en-US" sz="2200" dirty="0"/>
          </a:p>
        </p:txBody>
      </p:sp>
      <p:sp>
        <p:nvSpPr>
          <p:cNvPr id="6" name="Text 4"/>
          <p:cNvSpPr/>
          <p:nvPr/>
        </p:nvSpPr>
        <p:spPr>
          <a:xfrm>
            <a:off x="640080" y="173736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Ralentissements sur les pages</a:t>
            </a:r>
            <a:endParaRPr lang="en-US" sz="2200" dirty="0"/>
          </a:p>
        </p:txBody>
      </p:sp>
      <p:sp>
        <p:nvSpPr>
          <p:cNvPr id="7" name="Text 5"/>
          <p:cNvSpPr/>
          <p:nvPr/>
        </p:nvSpPr>
        <p:spPr>
          <a:xfrm>
            <a:off x="640080" y="228600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Solution: cache distribue Redis</a:t>
            </a:r>
            <a:endParaRPr lang="en-US" sz="2200" dirty="0"/>
          </a:p>
        </p:txBody>
      </p:sp>
      <p:sp>
        <p:nvSpPr>
          <p:cNvPr id="8" name="Text 6"/>
          <p:cNvSpPr/>
          <p:nvPr/>
        </p:nvSpPr>
        <p:spPr>
          <a:xfrm>
            <a:off x="640080" y="283464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Deploiement Docker Compose</a:t>
            </a:r>
            <a:endParaRPr lang="en-US" sz="2200" dirty="0"/>
          </a:p>
        </p:txBody>
      </p:sp>
      <p:sp>
        <p:nvSpPr>
          <p:cNvPr id="9" name="Text 7"/>
          <p:cNvSpPr/>
          <p:nvPr/>
        </p:nvSpPr>
        <p:spPr>
          <a:xfrm>
            <a:off x="640080" y="338328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Mesure des performances</a:t>
            </a:r>
            <a:endParaRPr lang="en-US" sz="2200" dirty="0"/>
          </a:p>
        </p:txBody>
      </p:sp>
      <p:sp>
        <p:nvSpPr>
          <p:cNvPr id="10" name="Shape 8"/>
          <p:cNvSpPr/>
          <p:nvPr/>
        </p:nvSpPr>
        <p:spPr>
          <a:xfrm>
            <a:off x="8321040" y="4617720"/>
            <a:ext cx="457200" cy="320040"/>
          </a:xfrm>
          <a:prstGeom prst="roundRect">
            <a:avLst>
              <a:gd name="adj" fmla="val 28571"/>
            </a:avLst>
          </a:prstGeom>
          <a:solidFill>
            <a:srgbClr val="38BDF8"/>
          </a:solidFill>
          <a:ln/>
        </p:spPr>
      </p:sp>
      <p:sp>
        <p:nvSpPr>
          <p:cNvPr id="11" name="Text 9"/>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Architecture du Systeme</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Text 3"/>
          <p:cNvSpPr/>
          <p:nvPr/>
        </p:nvSpPr>
        <p:spPr>
          <a:xfrm>
            <a:off x="640080" y="118872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Pattern Cache-Aside</a:t>
            </a:r>
            <a:endParaRPr lang="en-US" sz="2200" dirty="0"/>
          </a:p>
        </p:txBody>
      </p:sp>
      <p:sp>
        <p:nvSpPr>
          <p:cNvPr id="6" name="Text 4"/>
          <p:cNvSpPr/>
          <p:nvPr/>
        </p:nvSpPr>
        <p:spPr>
          <a:xfrm>
            <a:off x="640080" y="169164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Verification Redis avant DB</a:t>
            </a:r>
            <a:endParaRPr lang="en-US" sz="2200" dirty="0"/>
          </a:p>
        </p:txBody>
      </p:sp>
      <p:sp>
        <p:nvSpPr>
          <p:cNvPr id="7" name="Text 5"/>
          <p:cNvSpPr/>
          <p:nvPr/>
        </p:nvSpPr>
        <p:spPr>
          <a:xfrm>
            <a:off x="640080" y="219456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Stockage avec TTL configurable</a:t>
            </a:r>
            <a:endParaRPr lang="en-US" sz="2200" dirty="0"/>
          </a:p>
        </p:txBody>
      </p:sp>
      <p:sp>
        <p:nvSpPr>
          <p:cNvPr id="8" name="Text 6"/>
          <p:cNvSpPr/>
          <p:nvPr/>
        </p:nvSpPr>
        <p:spPr>
          <a:xfrm>
            <a:off x="640080" y="2697480"/>
            <a:ext cx="7863840" cy="457200"/>
          </a:xfrm>
          <a:prstGeom prst="rect">
            <a:avLst/>
          </a:prstGeom>
          <a:noFill/>
          <a:ln/>
        </p:spPr>
        <p:txBody>
          <a:bodyPr wrap="square" rtlCol="0" anchor="ctr"/>
          <a:lstStyle/>
          <a:p>
            <a:pPr algn="l" indent="0" marL="0">
              <a:buNone/>
            </a:pPr>
            <a:r>
              <a:rPr lang="en-US" sz="2200" dirty="0">
                <a:solidFill>
                  <a:srgbClr val="94A3B8"/>
                </a:solidFill>
                <a:latin typeface="Inter" pitchFamily="34" charset="0"/>
                <a:ea typeface="Inter" pitchFamily="34" charset="-122"/>
                <a:cs typeface="Inter" pitchFamily="34" charset="-120"/>
              </a:rPr>
              <a:t>Reduction du temps de reponse</a:t>
            </a:r>
            <a:endParaRPr lang="en-US" sz="2200" dirty="0"/>
          </a:p>
        </p:txBody>
      </p:sp>
      <p:sp>
        <p:nvSpPr>
          <p:cNvPr id="9" name="Shape 7"/>
          <p:cNvSpPr/>
          <p:nvPr/>
        </p:nvSpPr>
        <p:spPr>
          <a:xfrm>
            <a:off x="3200400" y="3291840"/>
            <a:ext cx="2743200" cy="594360"/>
          </a:xfrm>
          <a:prstGeom prst="roundRect">
            <a:avLst>
              <a:gd name="adj" fmla="val 15385"/>
            </a:avLst>
          </a:prstGeom>
          <a:solidFill>
            <a:srgbClr val="38BDF8"/>
          </a:solidFill>
          <a:ln/>
        </p:spPr>
      </p:sp>
      <p:sp>
        <p:nvSpPr>
          <p:cNvPr id="10" name="Text 8"/>
          <p:cNvSpPr/>
          <p:nvPr/>
        </p:nvSpPr>
        <p:spPr>
          <a:xfrm>
            <a:off x="3200400" y="3291840"/>
            <a:ext cx="2743200" cy="594360"/>
          </a:xfrm>
          <a:prstGeom prst="rect">
            <a:avLst/>
          </a:prstGeom>
          <a:noFill/>
          <a:ln/>
        </p:spPr>
        <p:txBody>
          <a:bodyPr wrap="square"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Next.js App</a:t>
            </a:r>
            <a:endParaRPr lang="en-US" sz="1600" dirty="0"/>
          </a:p>
        </p:txBody>
      </p:sp>
      <p:sp>
        <p:nvSpPr>
          <p:cNvPr id="11" name="Shape 9"/>
          <p:cNvSpPr/>
          <p:nvPr/>
        </p:nvSpPr>
        <p:spPr>
          <a:xfrm>
            <a:off x="457200" y="4114800"/>
            <a:ext cx="2743200" cy="594360"/>
          </a:xfrm>
          <a:prstGeom prst="roundRect">
            <a:avLst>
              <a:gd name="adj" fmla="val 15385"/>
            </a:avLst>
          </a:prstGeom>
          <a:solidFill>
            <a:srgbClr val="DC2626"/>
          </a:solidFill>
          <a:ln/>
        </p:spPr>
      </p:sp>
      <p:sp>
        <p:nvSpPr>
          <p:cNvPr id="12" name="Text 10"/>
          <p:cNvSpPr/>
          <p:nvPr/>
        </p:nvSpPr>
        <p:spPr>
          <a:xfrm>
            <a:off x="457200" y="4114800"/>
            <a:ext cx="2743200" cy="594360"/>
          </a:xfrm>
          <a:prstGeom prst="rect">
            <a:avLst/>
          </a:prstGeom>
          <a:noFill/>
          <a:ln/>
        </p:spPr>
        <p:txBody>
          <a:bodyPr wrap="square"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Redis Cache</a:t>
            </a:r>
            <a:endParaRPr lang="en-US" sz="1600" dirty="0"/>
          </a:p>
        </p:txBody>
      </p:sp>
      <p:sp>
        <p:nvSpPr>
          <p:cNvPr id="13" name="Shape 11"/>
          <p:cNvSpPr/>
          <p:nvPr/>
        </p:nvSpPr>
        <p:spPr>
          <a:xfrm>
            <a:off x="5943600" y="4114800"/>
            <a:ext cx="2743200" cy="594360"/>
          </a:xfrm>
          <a:prstGeom prst="roundRect">
            <a:avLst>
              <a:gd name="adj" fmla="val 15385"/>
            </a:avLst>
          </a:prstGeom>
          <a:solidFill>
            <a:srgbClr val="1B2838"/>
          </a:solidFill>
          <a:ln w="12700">
            <a:solidFill>
              <a:srgbClr val="1E293B"/>
            </a:solidFill>
            <a:prstDash val="solid"/>
          </a:ln>
        </p:spPr>
      </p:sp>
      <p:sp>
        <p:nvSpPr>
          <p:cNvPr id="14" name="Text 12"/>
          <p:cNvSpPr/>
          <p:nvPr/>
        </p:nvSpPr>
        <p:spPr>
          <a:xfrm>
            <a:off x="5943600" y="4114800"/>
            <a:ext cx="2743200" cy="594360"/>
          </a:xfrm>
          <a:prstGeom prst="rect">
            <a:avLst/>
          </a:prstGeom>
          <a:noFill/>
          <a:ln/>
        </p:spPr>
        <p:txBody>
          <a:bodyPr wrap="square"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PostgreSQL</a:t>
            </a:r>
            <a:endParaRPr lang="en-US" sz="1600" dirty="0"/>
          </a:p>
        </p:txBody>
      </p:sp>
      <p:sp>
        <p:nvSpPr>
          <p:cNvPr id="15" name="Shape 13"/>
          <p:cNvSpPr/>
          <p:nvPr/>
        </p:nvSpPr>
        <p:spPr>
          <a:xfrm>
            <a:off x="8321040" y="4617720"/>
            <a:ext cx="457200" cy="320040"/>
          </a:xfrm>
          <a:prstGeom prst="roundRect">
            <a:avLst>
              <a:gd name="adj" fmla="val 28571"/>
            </a:avLst>
          </a:prstGeom>
          <a:solidFill>
            <a:srgbClr val="38BDF8"/>
          </a:solidFill>
          <a:ln/>
        </p:spPr>
      </p:sp>
      <p:sp>
        <p:nvSpPr>
          <p:cNvPr id="16" name="Text 14"/>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Infrastructure Docker</a:t>
            </a:r>
            <a:endParaRPr lang="en-US" sz="3200" dirty="0"/>
          </a:p>
        </p:txBody>
      </p:sp>
      <p:sp>
        <p:nvSpPr>
          <p:cNvPr id="4" name="Shape 2"/>
          <p:cNvSpPr/>
          <p:nvPr/>
        </p:nvSpPr>
        <p:spPr>
          <a:xfrm>
            <a:off x="457200" y="914400"/>
            <a:ext cx="1828800" cy="36576"/>
          </a:xfrm>
          <a:prstGeom prst="rect">
            <a:avLst/>
          </a:prstGeom>
          <a:solidFill>
            <a:srgbClr val="38B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286000"/>
                <a:gridCol w="3200400"/>
                <a:gridCol w="2743200"/>
              </a:tblGrid>
              <a:tr h="0">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Service</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Image</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Port</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r>
              <a:tr h="0">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PostgreSQL</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postgres:16-alpine</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5434:5432</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r>
              <a:tr h="0">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Redis</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redis:7-alpine</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6379:6379</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r>
              <a:tr h="0">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Next.js</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Dockerfile.dev</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c>
                  <a:txBody>
                    <a:bodyPr/>
                    <a:lstStyle/>
                    <a:p>
                      <a:pPr algn="ctr" indent="0" marL="0">
                        <a:buNone/>
                      </a:pPr>
                      <a:r>
                        <a:rPr lang="en-US" sz="1800" dirty="0">
                          <a:solidFill>
                            <a:srgbClr val="94A3B8"/>
                          </a:solidFill>
                          <a:latin typeface="Inter" pitchFamily="34" charset="0"/>
                          <a:ea typeface="Inter" pitchFamily="34" charset="-122"/>
                          <a:cs typeface="Inter" pitchFamily="34" charset="-120"/>
                        </a:rPr>
                        <a:t>3000:3000</a:t>
                      </a:r>
                      <a:endParaRPr lang="en-US" sz="1800" dirty="0">
                        <a:latin typeface="Inter" charset="0"/>
                        <a:ea typeface="Inter" charset="0"/>
                        <a:cs typeface="Inter" charset="0"/>
                      </a:endParaRPr>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B2838"/>
                    </a:solidFill>
                  </a:tcPr>
                </a:tc>
              </a:tr>
            </a:tbl>
          </a:graphicData>
        </a:graphic>
      </p:graphicFrame>
      <p:sp>
        <p:nvSpPr>
          <p:cNvPr id="6" name="Text 3"/>
          <p:cNvSpPr/>
          <p:nvPr/>
        </p:nvSpPr>
        <p:spPr>
          <a:xfrm>
            <a:off x="640080" y="310896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Docker Compose pour l'orchestration</a:t>
            </a:r>
            <a:endParaRPr lang="en-US" sz="2000" dirty="0"/>
          </a:p>
        </p:txBody>
      </p:sp>
      <p:sp>
        <p:nvSpPr>
          <p:cNvPr id="7" name="Text 4"/>
          <p:cNvSpPr/>
          <p:nvPr/>
        </p:nvSpPr>
        <p:spPr>
          <a:xfrm>
            <a:off x="640080" y="356616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Volume persistant redis_data</a:t>
            </a:r>
            <a:endParaRPr lang="en-US" sz="2000" dirty="0"/>
          </a:p>
        </p:txBody>
      </p:sp>
      <p:sp>
        <p:nvSpPr>
          <p:cNvPr id="8" name="Text 5"/>
          <p:cNvSpPr/>
          <p:nvPr/>
        </p:nvSpPr>
        <p:spPr>
          <a:xfrm>
            <a:off x="640080" y="402336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Healthcheck integre pour Redis</a:t>
            </a:r>
            <a:endParaRPr lang="en-US" sz="2000" dirty="0"/>
          </a:p>
        </p:txBody>
      </p:sp>
      <p:sp>
        <p:nvSpPr>
          <p:cNvPr id="9" name="Text 6"/>
          <p:cNvSpPr/>
          <p:nvPr/>
        </p:nvSpPr>
        <p:spPr>
          <a:xfrm>
            <a:off x="640080" y="448056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Variable REDIS_URL pour la connexion</a:t>
            </a:r>
            <a:endParaRPr lang="en-US" sz="2000" dirty="0"/>
          </a:p>
        </p:txBody>
      </p:sp>
      <p:sp>
        <p:nvSpPr>
          <p:cNvPr id="10" name="Shape 7"/>
          <p:cNvSpPr/>
          <p:nvPr/>
        </p:nvSpPr>
        <p:spPr>
          <a:xfrm>
            <a:off x="8321040" y="4617720"/>
            <a:ext cx="457200" cy="320040"/>
          </a:xfrm>
          <a:prstGeom prst="roundRect">
            <a:avLst>
              <a:gd name="adj" fmla="val 28571"/>
            </a:avLst>
          </a:prstGeom>
          <a:solidFill>
            <a:srgbClr val="38BDF8"/>
          </a:solidFill>
          <a:ln/>
        </p:spPr>
      </p:sp>
      <p:sp>
        <p:nvSpPr>
          <p:cNvPr id="11" name="Text 8"/>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Couche d'Abstraction</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Text 3"/>
          <p:cNvSpPr/>
          <p:nvPr/>
        </p:nvSpPr>
        <p:spPr>
          <a:xfrm>
            <a:off x="640080" y="118872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src/lib/cache.ts</a:t>
            </a:r>
            <a:endParaRPr lang="en-US" sz="2000" dirty="0"/>
          </a:p>
        </p:txBody>
      </p:sp>
      <p:sp>
        <p:nvSpPr>
          <p:cNvPr id="6" name="Text 4"/>
          <p:cNvSpPr/>
          <p:nvPr/>
        </p:nvSpPr>
        <p:spPr>
          <a:xfrm>
            <a:off x="640080" y="169164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cacheGet : recuperation avec typage TypeScript</a:t>
            </a:r>
            <a:endParaRPr lang="en-US" sz="2000" dirty="0"/>
          </a:p>
        </p:txBody>
      </p:sp>
      <p:sp>
        <p:nvSpPr>
          <p:cNvPr id="7" name="Text 5"/>
          <p:cNvSpPr/>
          <p:nvPr/>
        </p:nvSpPr>
        <p:spPr>
          <a:xfrm>
            <a:off x="640080" y="219456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cacheSet : stockage avec TTL configurable</a:t>
            </a:r>
            <a:endParaRPr lang="en-US" sz="2000" dirty="0"/>
          </a:p>
        </p:txBody>
      </p:sp>
      <p:sp>
        <p:nvSpPr>
          <p:cNvPr id="8" name="Text 6"/>
          <p:cNvSpPr/>
          <p:nvPr/>
        </p:nvSpPr>
        <p:spPr>
          <a:xfrm>
            <a:off x="640080" y="269748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TTL par defaut : 300 secondes</a:t>
            </a:r>
            <a:endParaRPr lang="en-US" sz="2000" dirty="0"/>
          </a:p>
        </p:txBody>
      </p:sp>
      <p:sp>
        <p:nvSpPr>
          <p:cNvPr id="9" name="Text 7"/>
          <p:cNvSpPr/>
          <p:nvPr/>
        </p:nvSpPr>
        <p:spPr>
          <a:xfrm>
            <a:off x="640080" y="320040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Interface simple et reutilisable</a:t>
            </a:r>
            <a:endParaRPr lang="en-US" sz="2000" dirty="0"/>
          </a:p>
        </p:txBody>
      </p:sp>
      <p:sp>
        <p:nvSpPr>
          <p:cNvPr id="10" name="Shape 8"/>
          <p:cNvSpPr/>
          <p:nvPr/>
        </p:nvSpPr>
        <p:spPr>
          <a:xfrm>
            <a:off x="8321040" y="4617720"/>
            <a:ext cx="457200" cy="320040"/>
          </a:xfrm>
          <a:prstGeom prst="roundRect">
            <a:avLst>
              <a:gd name="adj" fmla="val 28571"/>
            </a:avLst>
          </a:prstGeom>
          <a:solidFill>
            <a:srgbClr val="38BDF8"/>
          </a:solidFill>
          <a:ln/>
        </p:spPr>
      </p:sp>
      <p:sp>
        <p:nvSpPr>
          <p:cNvPr id="11" name="Text 9"/>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Integration dans les Actions</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Text 3"/>
          <p:cNvSpPr/>
          <p:nvPr/>
        </p:nvSpPr>
        <p:spPr>
          <a:xfrm>
            <a:off x="640080" y="118872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1. Generation cle unique</a:t>
            </a:r>
            <a:endParaRPr lang="en-US" sz="2000" dirty="0"/>
          </a:p>
        </p:txBody>
      </p:sp>
      <p:sp>
        <p:nvSpPr>
          <p:cNvPr id="6" name="Text 4"/>
          <p:cNvSpPr/>
          <p:nvPr/>
        </p:nvSpPr>
        <p:spPr>
          <a:xfrm>
            <a:off x="640080" y="169164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2. Verification Redis</a:t>
            </a:r>
            <a:endParaRPr lang="en-US" sz="2000" dirty="0"/>
          </a:p>
        </p:txBody>
      </p:sp>
      <p:sp>
        <p:nvSpPr>
          <p:cNvPr id="7" name="Text 5"/>
          <p:cNvSpPr/>
          <p:nvPr/>
        </p:nvSpPr>
        <p:spPr>
          <a:xfrm>
            <a:off x="640080" y="219456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3. Cache Miss / Interroger DB</a:t>
            </a:r>
            <a:endParaRPr lang="en-US" sz="2000" dirty="0"/>
          </a:p>
        </p:txBody>
      </p:sp>
      <p:sp>
        <p:nvSpPr>
          <p:cNvPr id="8" name="Text 6"/>
          <p:cNvSpPr/>
          <p:nvPr/>
        </p:nvSpPr>
        <p:spPr>
          <a:xfrm>
            <a:off x="640080" y="269748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4. Stockage TTL</a:t>
            </a:r>
            <a:endParaRPr lang="en-US" sz="2000" dirty="0"/>
          </a:p>
        </p:txBody>
      </p:sp>
      <p:sp>
        <p:nvSpPr>
          <p:cNvPr id="9" name="Text 7"/>
          <p:cNvSpPr/>
          <p:nvPr/>
        </p:nvSpPr>
        <p:spPr>
          <a:xfrm>
            <a:off x="640080" y="320040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5. Application lectures</a:t>
            </a:r>
            <a:endParaRPr lang="en-US" sz="2000" dirty="0"/>
          </a:p>
        </p:txBody>
      </p:sp>
      <p:sp>
        <p:nvSpPr>
          <p:cNvPr id="10" name="Shape 8"/>
          <p:cNvSpPr/>
          <p:nvPr/>
        </p:nvSpPr>
        <p:spPr>
          <a:xfrm>
            <a:off x="8321040" y="4617720"/>
            <a:ext cx="457200" cy="320040"/>
          </a:xfrm>
          <a:prstGeom prst="roundRect">
            <a:avLst>
              <a:gd name="adj" fmla="val 28571"/>
            </a:avLst>
          </a:prstGeom>
          <a:solidFill>
            <a:srgbClr val="38BDF8"/>
          </a:solidFill>
          <a:ln/>
        </p:spPr>
      </p:sp>
      <p:sp>
        <p:nvSpPr>
          <p:cNvPr id="11" name="Text 9"/>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Invalidation du Cache</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Shape 3"/>
          <p:cNvSpPr/>
          <p:nvPr/>
        </p:nvSpPr>
        <p:spPr>
          <a:xfrm>
            <a:off x="457200" y="1188720"/>
            <a:ext cx="1828800" cy="365760"/>
          </a:xfrm>
          <a:prstGeom prst="roundRect">
            <a:avLst>
              <a:gd name="adj" fmla="val 50000"/>
            </a:avLst>
          </a:prstGeom>
          <a:solidFill>
            <a:srgbClr val="22C55E"/>
          </a:solidFill>
          <a:ln/>
        </p:spPr>
      </p:sp>
      <p:sp>
        <p:nvSpPr>
          <p:cNvPr id="6" name="Text 4"/>
          <p:cNvSpPr/>
          <p:nvPr/>
        </p:nvSpPr>
        <p:spPr>
          <a:xfrm>
            <a:off x="457200" y="1188720"/>
            <a:ext cx="1828800" cy="36576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Create</a:t>
            </a:r>
            <a:endParaRPr lang="en-US" sz="1400" dirty="0"/>
          </a:p>
        </p:txBody>
      </p:sp>
      <p:sp>
        <p:nvSpPr>
          <p:cNvPr id="7" name="Shape 5"/>
          <p:cNvSpPr/>
          <p:nvPr/>
        </p:nvSpPr>
        <p:spPr>
          <a:xfrm>
            <a:off x="2560320" y="1188720"/>
            <a:ext cx="1828800" cy="365760"/>
          </a:xfrm>
          <a:prstGeom prst="roundRect">
            <a:avLst>
              <a:gd name="adj" fmla="val 50000"/>
            </a:avLst>
          </a:prstGeom>
          <a:solidFill>
            <a:srgbClr val="38BDF8"/>
          </a:solidFill>
          <a:ln/>
        </p:spPr>
      </p:sp>
      <p:sp>
        <p:nvSpPr>
          <p:cNvPr id="8" name="Text 6"/>
          <p:cNvSpPr/>
          <p:nvPr/>
        </p:nvSpPr>
        <p:spPr>
          <a:xfrm>
            <a:off x="2560320" y="1188720"/>
            <a:ext cx="1828800" cy="36576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Update</a:t>
            </a:r>
            <a:endParaRPr lang="en-US" sz="1400" dirty="0"/>
          </a:p>
        </p:txBody>
      </p:sp>
      <p:sp>
        <p:nvSpPr>
          <p:cNvPr id="9" name="Shape 7"/>
          <p:cNvSpPr/>
          <p:nvPr/>
        </p:nvSpPr>
        <p:spPr>
          <a:xfrm>
            <a:off x="4663440" y="1188720"/>
            <a:ext cx="1828800" cy="365760"/>
          </a:xfrm>
          <a:prstGeom prst="roundRect">
            <a:avLst>
              <a:gd name="adj" fmla="val 50000"/>
            </a:avLst>
          </a:prstGeom>
          <a:solidFill>
            <a:srgbClr val="DC2626"/>
          </a:solidFill>
          <a:ln/>
        </p:spPr>
      </p:sp>
      <p:sp>
        <p:nvSpPr>
          <p:cNvPr id="10" name="Text 8"/>
          <p:cNvSpPr/>
          <p:nvPr/>
        </p:nvSpPr>
        <p:spPr>
          <a:xfrm>
            <a:off x="4663440" y="1188720"/>
            <a:ext cx="1828800" cy="36576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Delete</a:t>
            </a:r>
            <a:endParaRPr lang="en-US" sz="1400" dirty="0"/>
          </a:p>
        </p:txBody>
      </p:sp>
      <p:sp>
        <p:nvSpPr>
          <p:cNvPr id="11" name="Shape 9"/>
          <p:cNvSpPr/>
          <p:nvPr/>
        </p:nvSpPr>
        <p:spPr>
          <a:xfrm>
            <a:off x="6766560" y="1188720"/>
            <a:ext cx="1828800" cy="365760"/>
          </a:xfrm>
          <a:prstGeom prst="roundRect">
            <a:avLst>
              <a:gd name="adj" fmla="val 50000"/>
            </a:avLst>
          </a:prstGeom>
          <a:solidFill>
            <a:srgbClr val="94A3B8"/>
          </a:solidFill>
          <a:ln/>
        </p:spPr>
      </p:sp>
      <p:sp>
        <p:nvSpPr>
          <p:cNvPr id="12" name="Text 10"/>
          <p:cNvSpPr/>
          <p:nvPr/>
        </p:nvSpPr>
        <p:spPr>
          <a:xfrm>
            <a:off x="6766560" y="1188720"/>
            <a:ext cx="1828800" cy="36576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Upvote</a:t>
            </a:r>
            <a:endParaRPr lang="en-US" sz="1400" dirty="0"/>
          </a:p>
        </p:txBody>
      </p:sp>
      <p:sp>
        <p:nvSpPr>
          <p:cNvPr id="13" name="Shape 11"/>
          <p:cNvSpPr/>
          <p:nvPr/>
        </p:nvSpPr>
        <p:spPr>
          <a:xfrm rot="5400000">
            <a:off x="4114800" y="1691640"/>
            <a:ext cx="914400" cy="365760"/>
          </a:xfrm>
          <a:prstGeom prst="rightArrow">
            <a:avLst/>
          </a:prstGeom>
          <a:solidFill>
            <a:srgbClr val="38BDF8"/>
          </a:solidFill>
          <a:ln/>
        </p:spPr>
      </p:sp>
      <p:sp>
        <p:nvSpPr>
          <p:cNvPr id="14" name="Shape 12"/>
          <p:cNvSpPr/>
          <p:nvPr/>
        </p:nvSpPr>
        <p:spPr>
          <a:xfrm>
            <a:off x="2743200" y="2194560"/>
            <a:ext cx="3657600" cy="548640"/>
          </a:xfrm>
          <a:prstGeom prst="roundRect">
            <a:avLst>
              <a:gd name="adj" fmla="val 16667"/>
            </a:avLst>
          </a:prstGeom>
          <a:solidFill>
            <a:srgbClr val="1B2838"/>
          </a:solidFill>
          <a:ln w="12700">
            <a:solidFill>
              <a:srgbClr val="1E293B"/>
            </a:solidFill>
            <a:prstDash val="solid"/>
          </a:ln>
        </p:spPr>
      </p:sp>
      <p:sp>
        <p:nvSpPr>
          <p:cNvPr id="15" name="Text 13"/>
          <p:cNvSpPr/>
          <p:nvPr/>
        </p:nvSpPr>
        <p:spPr>
          <a:xfrm>
            <a:off x="2743200" y="2194560"/>
            <a:ext cx="3657600" cy="54864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invalidateCache()</a:t>
            </a:r>
            <a:endParaRPr lang="en-US" sz="1800" dirty="0"/>
          </a:p>
        </p:txBody>
      </p:sp>
      <p:sp>
        <p:nvSpPr>
          <p:cNvPr id="16" name="Text 14"/>
          <p:cNvSpPr/>
          <p:nvPr/>
        </p:nvSpPr>
        <p:spPr>
          <a:xfrm>
            <a:off x="640080" y="292608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Invalidation immediate sur ecriture</a:t>
            </a:r>
            <a:endParaRPr lang="en-US" sz="2000" dirty="0"/>
          </a:p>
        </p:txBody>
      </p:sp>
      <p:sp>
        <p:nvSpPr>
          <p:cNvPr id="17" name="Text 15"/>
          <p:cNvSpPr/>
          <p:nvPr/>
        </p:nvSpPr>
        <p:spPr>
          <a:xfrm>
            <a:off x="640080" y="338328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Suppression des cles correspondantes</a:t>
            </a:r>
            <a:endParaRPr lang="en-US" sz="2000" dirty="0"/>
          </a:p>
        </p:txBody>
      </p:sp>
      <p:sp>
        <p:nvSpPr>
          <p:cNvPr id="18" name="Text 16"/>
          <p:cNvSpPr/>
          <p:nvPr/>
        </p:nvSpPr>
        <p:spPr>
          <a:xfrm>
            <a:off x="640080" y="384048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TTL comme expiration automatique</a:t>
            </a:r>
            <a:endParaRPr lang="en-US" sz="2000" dirty="0"/>
          </a:p>
        </p:txBody>
      </p:sp>
      <p:sp>
        <p:nvSpPr>
          <p:cNvPr id="19" name="Text 17"/>
          <p:cNvSpPr/>
          <p:nvPr/>
        </p:nvSpPr>
        <p:spPr>
          <a:xfrm>
            <a:off x="640080" y="4297680"/>
            <a:ext cx="7863840" cy="41148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Maintien de la coherence des donnees</a:t>
            </a:r>
            <a:endParaRPr lang="en-US" sz="2000" dirty="0"/>
          </a:p>
        </p:txBody>
      </p:sp>
      <p:sp>
        <p:nvSpPr>
          <p:cNvPr id="20" name="Text 18"/>
          <p:cNvSpPr/>
          <p:nvPr/>
        </p:nvSpPr>
        <p:spPr>
          <a:xfrm>
            <a:off x="457200" y="4572000"/>
            <a:ext cx="8229600" cy="274320"/>
          </a:xfrm>
          <a:prstGeom prst="rect">
            <a:avLst/>
          </a:prstGeom>
          <a:noFill/>
          <a:ln/>
        </p:spPr>
        <p:txBody>
          <a:bodyPr wrap="square"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Transition : Iliass Hariz prend la suite.</a:t>
            </a:r>
            <a:endParaRPr lang="en-US" sz="1200" dirty="0"/>
          </a:p>
        </p:txBody>
      </p:sp>
      <p:sp>
        <p:nvSpPr>
          <p:cNvPr id="21" name="Shape 19"/>
          <p:cNvSpPr/>
          <p:nvPr/>
        </p:nvSpPr>
        <p:spPr>
          <a:xfrm>
            <a:off x="8321040" y="4617720"/>
            <a:ext cx="457200" cy="320040"/>
          </a:xfrm>
          <a:prstGeom prst="roundRect">
            <a:avLst>
              <a:gd name="adj" fmla="val 28571"/>
            </a:avLst>
          </a:prstGeom>
          <a:solidFill>
            <a:srgbClr val="38BDF8"/>
          </a:solidFill>
          <a:ln/>
        </p:spPr>
      </p:sp>
      <p:sp>
        <p:nvSpPr>
          <p:cNvPr id="22" name="Text 20"/>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Tests et Validation</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Shape 3"/>
          <p:cNvSpPr/>
          <p:nvPr/>
        </p:nvSpPr>
        <p:spPr>
          <a:xfrm>
            <a:off x="457200" y="1188720"/>
            <a:ext cx="8229600" cy="822960"/>
          </a:xfrm>
          <a:prstGeom prst="roundRect">
            <a:avLst>
              <a:gd name="adj" fmla="val 11111"/>
            </a:avLst>
          </a:prstGeom>
          <a:solidFill>
            <a:srgbClr val="22C55E"/>
          </a:solidFill>
          <a:ln/>
        </p:spPr>
      </p:sp>
      <p:sp>
        <p:nvSpPr>
          <p:cNvPr id="6" name="Text 4"/>
          <p:cNvSpPr/>
          <p:nvPr/>
        </p:nvSpPr>
        <p:spPr>
          <a:xfrm>
            <a:off x="457200" y="1188720"/>
            <a:ext cx="8229600" cy="822960"/>
          </a:xfrm>
          <a:prstGeom prst="rect">
            <a:avLst/>
          </a:prstGeom>
          <a:noFill/>
          <a:ln/>
        </p:spPr>
        <p:txBody>
          <a:bodyPr wrap="square" rtlCol="0" anchor="ctr"/>
          <a:lstStyle/>
          <a:p>
            <a:pPr algn="ctr" indent="0" marL="0">
              <a:buNone/>
            </a:pPr>
            <a:r>
              <a:rPr lang="en-US" sz="3200" b="1" dirty="0">
                <a:solidFill>
                  <a:srgbClr val="FFFFFF"/>
                </a:solidFill>
                <a:latin typeface="Inter" pitchFamily="34" charset="0"/>
                <a:ea typeface="Inter" pitchFamily="34" charset="-122"/>
                <a:cs typeface="Inter" pitchFamily="34" charset="-120"/>
              </a:rPr>
              <a:t>8/8 Tests Passes</a:t>
            </a:r>
            <a:endParaRPr lang="en-US" sz="3200" dirty="0"/>
          </a:p>
        </p:txBody>
      </p:sp>
      <p:sp>
        <p:nvSpPr>
          <p:cNvPr id="7" name="Text 5"/>
          <p:cNvSpPr/>
          <p:nvPr/>
        </p:nvSpPr>
        <p:spPr>
          <a:xfrm>
            <a:off x="640080" y="228600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Tests Jest avec instance Redis locale</a:t>
            </a:r>
            <a:endParaRPr lang="en-US" sz="2000" dirty="0"/>
          </a:p>
        </p:txBody>
      </p:sp>
      <p:sp>
        <p:nvSpPr>
          <p:cNvPr id="8" name="Text 6"/>
          <p:cNvSpPr/>
          <p:nvPr/>
        </p:nvSpPr>
        <p:spPr>
          <a:xfrm>
            <a:off x="640080" y="278892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Validation du set, get et invalidation</a:t>
            </a:r>
            <a:endParaRPr lang="en-US" sz="2000" dirty="0"/>
          </a:p>
        </p:txBody>
      </p:sp>
      <p:sp>
        <p:nvSpPr>
          <p:cNvPr id="9" name="Text 7"/>
          <p:cNvSpPr/>
          <p:nvPr/>
        </p:nvSpPr>
        <p:spPr>
          <a:xfrm>
            <a:off x="640080" y="329184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Gestion des cas limites (null, undefined)</a:t>
            </a:r>
            <a:endParaRPr lang="en-US" sz="2000" dirty="0"/>
          </a:p>
        </p:txBody>
      </p:sp>
      <p:sp>
        <p:nvSpPr>
          <p:cNvPr id="10" name="Text 8"/>
          <p:cNvSpPr/>
          <p:nvPr/>
        </p:nvSpPr>
        <p:spPr>
          <a:xfrm>
            <a:off x="640080" y="379476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Tests executes dans la pipeline CI</a:t>
            </a:r>
            <a:endParaRPr lang="en-US" sz="2000" dirty="0"/>
          </a:p>
        </p:txBody>
      </p:sp>
      <p:sp>
        <p:nvSpPr>
          <p:cNvPr id="11" name="Shape 9"/>
          <p:cNvSpPr/>
          <p:nvPr/>
        </p:nvSpPr>
        <p:spPr>
          <a:xfrm>
            <a:off x="8321040" y="4617720"/>
            <a:ext cx="457200" cy="320040"/>
          </a:xfrm>
          <a:prstGeom prst="roundRect">
            <a:avLst>
              <a:gd name="adj" fmla="val 28571"/>
            </a:avLst>
          </a:prstGeom>
          <a:solidFill>
            <a:srgbClr val="38BDF8"/>
          </a:solidFill>
          <a:ln/>
        </p:spPr>
      </p:sp>
      <p:sp>
        <p:nvSpPr>
          <p:cNvPr id="12" name="Text 10"/>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FFFFFF"/>
                </a:solidFill>
                <a:latin typeface="Inter" pitchFamily="34" charset="0"/>
                <a:ea typeface="Inter" pitchFamily="34" charset="-122"/>
                <a:cs typeface="Inter" pitchFamily="34" charset="-120"/>
              </a:rPr>
              <a:t>Performance</a:t>
            </a:r>
            <a:endParaRPr lang="en-US" sz="3200" dirty="0"/>
          </a:p>
        </p:txBody>
      </p:sp>
      <p:sp>
        <p:nvSpPr>
          <p:cNvPr id="4" name="Shape 2"/>
          <p:cNvSpPr/>
          <p:nvPr/>
        </p:nvSpPr>
        <p:spPr>
          <a:xfrm>
            <a:off x="457200" y="914400"/>
            <a:ext cx="1828800" cy="36576"/>
          </a:xfrm>
          <a:prstGeom prst="rect">
            <a:avLst/>
          </a:prstGeom>
          <a:solidFill>
            <a:srgbClr val="38BDF8"/>
          </a:solidFill>
          <a:ln/>
        </p:spPr>
      </p:sp>
      <p:sp>
        <p:nvSpPr>
          <p:cNvPr id="5" name="Shape 3"/>
          <p:cNvSpPr/>
          <p:nvPr/>
        </p:nvSpPr>
        <p:spPr>
          <a:xfrm>
            <a:off x="457200" y="1188720"/>
            <a:ext cx="2560320" cy="914400"/>
          </a:xfrm>
          <a:prstGeom prst="roundRect">
            <a:avLst>
              <a:gd name="adj" fmla="val 10000"/>
            </a:avLst>
          </a:prstGeom>
          <a:solidFill>
            <a:srgbClr val="1B2838"/>
          </a:solidFill>
          <a:ln w="12700">
            <a:solidFill>
              <a:srgbClr val="1E293B"/>
            </a:solidFill>
            <a:prstDash val="solid"/>
          </a:ln>
        </p:spPr>
      </p:sp>
      <p:sp>
        <p:nvSpPr>
          <p:cNvPr id="6" name="Text 4"/>
          <p:cNvSpPr/>
          <p:nvPr/>
        </p:nvSpPr>
        <p:spPr>
          <a:xfrm>
            <a:off x="457200" y="1234440"/>
            <a:ext cx="2560320" cy="457200"/>
          </a:xfrm>
          <a:prstGeom prst="rect">
            <a:avLst/>
          </a:prstGeom>
          <a:noFill/>
          <a:ln/>
        </p:spPr>
        <p:txBody>
          <a:bodyPr wrap="square" rtlCol="0" anchor="ctr"/>
          <a:lstStyle/>
          <a:p>
            <a:pPr algn="ctr" indent="0" marL="0">
              <a:buNone/>
            </a:pPr>
            <a:r>
              <a:rPr lang="en-US" sz="3600" b="1" dirty="0">
                <a:solidFill>
                  <a:srgbClr val="38BDF8"/>
                </a:solidFill>
                <a:latin typeface="Inter" pitchFamily="34" charset="0"/>
                <a:ea typeface="Inter" pitchFamily="34" charset="-122"/>
                <a:cs typeface="Inter" pitchFamily="34" charset="-120"/>
              </a:rPr>
              <a:t>12ms</a:t>
            </a:r>
            <a:endParaRPr lang="en-US" sz="3600" dirty="0"/>
          </a:p>
        </p:txBody>
      </p:sp>
      <p:sp>
        <p:nvSpPr>
          <p:cNvPr id="7" name="Text 5"/>
          <p:cNvSpPr/>
          <p:nvPr/>
        </p:nvSpPr>
        <p:spPr>
          <a:xfrm>
            <a:off x="457200" y="1737360"/>
            <a:ext cx="2560320" cy="274320"/>
          </a:xfrm>
          <a:prstGeom prst="rect">
            <a:avLst/>
          </a:prstGeom>
          <a:noFill/>
          <a:ln/>
        </p:spPr>
        <p:txBody>
          <a:bodyPr wrap="square" rtlCol="0" anchor="ctr"/>
          <a:lstStyle/>
          <a:p>
            <a:pPr algn="ctr" indent="0" marL="0">
              <a:buNone/>
            </a:pPr>
            <a:r>
              <a:rPr lang="en-US" sz="1600" dirty="0">
                <a:solidFill>
                  <a:srgbClr val="FFFFFF"/>
                </a:solidFill>
                <a:latin typeface="Inter" pitchFamily="34" charset="0"/>
                <a:ea typeface="Inter" pitchFamily="34" charset="-122"/>
                <a:cs typeface="Inter" pitchFamily="34" charset="-120"/>
              </a:rPr>
              <a:t>Avec Cache</a:t>
            </a:r>
            <a:endParaRPr lang="en-US" sz="1600" dirty="0"/>
          </a:p>
        </p:txBody>
      </p:sp>
      <p:sp>
        <p:nvSpPr>
          <p:cNvPr id="8" name="Shape 6"/>
          <p:cNvSpPr/>
          <p:nvPr/>
        </p:nvSpPr>
        <p:spPr>
          <a:xfrm>
            <a:off x="3291840" y="1188720"/>
            <a:ext cx="2560320" cy="914400"/>
          </a:xfrm>
          <a:prstGeom prst="roundRect">
            <a:avLst>
              <a:gd name="adj" fmla="val 10000"/>
            </a:avLst>
          </a:prstGeom>
          <a:solidFill>
            <a:srgbClr val="1B2838"/>
          </a:solidFill>
          <a:ln w="12700">
            <a:solidFill>
              <a:srgbClr val="1E293B"/>
            </a:solidFill>
            <a:prstDash val="solid"/>
          </a:ln>
        </p:spPr>
      </p:sp>
      <p:sp>
        <p:nvSpPr>
          <p:cNvPr id="9" name="Text 7"/>
          <p:cNvSpPr/>
          <p:nvPr/>
        </p:nvSpPr>
        <p:spPr>
          <a:xfrm>
            <a:off x="3291840" y="1234440"/>
            <a:ext cx="2560320" cy="457200"/>
          </a:xfrm>
          <a:prstGeom prst="rect">
            <a:avLst/>
          </a:prstGeom>
          <a:noFill/>
          <a:ln/>
        </p:spPr>
        <p:txBody>
          <a:bodyPr wrap="square" rtlCol="0" anchor="ctr"/>
          <a:lstStyle/>
          <a:p>
            <a:pPr algn="ctr" indent="0" marL="0">
              <a:buNone/>
            </a:pPr>
            <a:r>
              <a:rPr lang="en-US" sz="3600" b="1" dirty="0">
                <a:solidFill>
                  <a:srgbClr val="38BDF8"/>
                </a:solidFill>
                <a:latin typeface="Inter" pitchFamily="34" charset="0"/>
                <a:ea typeface="Inter" pitchFamily="34" charset="-122"/>
                <a:cs typeface="Inter" pitchFamily="34" charset="-120"/>
              </a:rPr>
              <a:t>856ms</a:t>
            </a:r>
            <a:endParaRPr lang="en-US" sz="3600" dirty="0"/>
          </a:p>
        </p:txBody>
      </p:sp>
      <p:sp>
        <p:nvSpPr>
          <p:cNvPr id="10" name="Text 8"/>
          <p:cNvSpPr/>
          <p:nvPr/>
        </p:nvSpPr>
        <p:spPr>
          <a:xfrm>
            <a:off x="3291840" y="1737360"/>
            <a:ext cx="2560320" cy="274320"/>
          </a:xfrm>
          <a:prstGeom prst="rect">
            <a:avLst/>
          </a:prstGeom>
          <a:noFill/>
          <a:ln/>
        </p:spPr>
        <p:txBody>
          <a:bodyPr wrap="square" rtlCol="0" anchor="ctr"/>
          <a:lstStyle/>
          <a:p>
            <a:pPr algn="ctr" indent="0" marL="0">
              <a:buNone/>
            </a:pPr>
            <a:r>
              <a:rPr lang="en-US" sz="1600" dirty="0">
                <a:solidFill>
                  <a:srgbClr val="FFFFFF"/>
                </a:solidFill>
                <a:latin typeface="Inter" pitchFamily="34" charset="0"/>
                <a:ea typeface="Inter" pitchFamily="34" charset="-122"/>
                <a:cs typeface="Inter" pitchFamily="34" charset="-120"/>
              </a:rPr>
              <a:t>Sans Cache</a:t>
            </a:r>
            <a:endParaRPr lang="en-US" sz="1600" dirty="0"/>
          </a:p>
        </p:txBody>
      </p:sp>
      <p:sp>
        <p:nvSpPr>
          <p:cNvPr id="11" name="Shape 9"/>
          <p:cNvSpPr/>
          <p:nvPr/>
        </p:nvSpPr>
        <p:spPr>
          <a:xfrm>
            <a:off x="6126480" y="1188720"/>
            <a:ext cx="2560320" cy="914400"/>
          </a:xfrm>
          <a:prstGeom prst="roundRect">
            <a:avLst>
              <a:gd name="adj" fmla="val 10000"/>
            </a:avLst>
          </a:prstGeom>
          <a:solidFill>
            <a:srgbClr val="1B2838"/>
          </a:solidFill>
          <a:ln w="12700">
            <a:solidFill>
              <a:srgbClr val="1E293B"/>
            </a:solidFill>
            <a:prstDash val="solid"/>
          </a:ln>
        </p:spPr>
      </p:sp>
      <p:sp>
        <p:nvSpPr>
          <p:cNvPr id="12" name="Text 10"/>
          <p:cNvSpPr/>
          <p:nvPr/>
        </p:nvSpPr>
        <p:spPr>
          <a:xfrm>
            <a:off x="6126480" y="1234440"/>
            <a:ext cx="2560320" cy="457200"/>
          </a:xfrm>
          <a:prstGeom prst="rect">
            <a:avLst/>
          </a:prstGeom>
          <a:noFill/>
          <a:ln/>
        </p:spPr>
        <p:txBody>
          <a:bodyPr wrap="square" rtlCol="0" anchor="ctr"/>
          <a:lstStyle/>
          <a:p>
            <a:pPr algn="ctr" indent="0" marL="0">
              <a:buNone/>
            </a:pPr>
            <a:r>
              <a:rPr lang="en-US" sz="3600" b="1" dirty="0">
                <a:solidFill>
                  <a:srgbClr val="38BDF8"/>
                </a:solidFill>
                <a:latin typeface="Inter" pitchFamily="34" charset="0"/>
                <a:ea typeface="Inter" pitchFamily="34" charset="-122"/>
                <a:cs typeface="Inter" pitchFamily="34" charset="-120"/>
              </a:rPr>
              <a:t>99%</a:t>
            </a:r>
            <a:endParaRPr lang="en-US" sz="3600" dirty="0"/>
          </a:p>
        </p:txBody>
      </p:sp>
      <p:sp>
        <p:nvSpPr>
          <p:cNvPr id="13" name="Text 11"/>
          <p:cNvSpPr/>
          <p:nvPr/>
        </p:nvSpPr>
        <p:spPr>
          <a:xfrm>
            <a:off x="6126480" y="1737360"/>
            <a:ext cx="2560320" cy="274320"/>
          </a:xfrm>
          <a:prstGeom prst="rect">
            <a:avLst/>
          </a:prstGeom>
          <a:noFill/>
          <a:ln/>
        </p:spPr>
        <p:txBody>
          <a:bodyPr wrap="square" rtlCol="0" anchor="ctr"/>
          <a:lstStyle/>
          <a:p>
            <a:pPr algn="ctr" indent="0" marL="0">
              <a:buNone/>
            </a:pPr>
            <a:r>
              <a:rPr lang="en-US" sz="1600" dirty="0">
                <a:solidFill>
                  <a:srgbClr val="FFFFFF"/>
                </a:solidFill>
                <a:latin typeface="Inter" pitchFamily="34" charset="0"/>
                <a:ea typeface="Inter" pitchFamily="34" charset="-122"/>
                <a:cs typeface="Inter" pitchFamily="34" charset="-120"/>
              </a:rPr>
              <a:t>Amelioration</a:t>
            </a:r>
            <a:endParaRPr lang="en-US" sz="1600" dirty="0"/>
          </a:p>
        </p:txBody>
      </p:sp>
      <p:sp>
        <p:nvSpPr>
          <p:cNvPr id="14" name="Text 12"/>
          <p:cNvSpPr/>
          <p:nvPr/>
        </p:nvSpPr>
        <p:spPr>
          <a:xfrm>
            <a:off x="640080" y="237744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getLaunches : 856ms -&gt; 12ms (99.2%)</a:t>
            </a:r>
            <a:endParaRPr lang="en-US" sz="2000" dirty="0"/>
          </a:p>
        </p:txBody>
      </p:sp>
      <p:sp>
        <p:nvSpPr>
          <p:cNvPr id="15" name="Text 13"/>
          <p:cNvSpPr/>
          <p:nvPr/>
        </p:nvSpPr>
        <p:spPr>
          <a:xfrm>
            <a:off x="640080" y="288036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getPosts : 643ms -&gt; 15ms (97.7%)</a:t>
            </a:r>
            <a:endParaRPr lang="en-US" sz="2000" dirty="0"/>
          </a:p>
        </p:txBody>
      </p:sp>
      <p:sp>
        <p:nvSpPr>
          <p:cNvPr id="16" name="Text 14"/>
          <p:cNvSpPr/>
          <p:nvPr/>
        </p:nvSpPr>
        <p:spPr>
          <a:xfrm>
            <a:off x="640080" y="338328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getLaunchBySlug : 234ms -&gt; 8ms (96.6%)</a:t>
            </a:r>
            <a:endParaRPr lang="en-US" sz="2000" dirty="0"/>
          </a:p>
        </p:txBody>
      </p:sp>
      <p:sp>
        <p:nvSpPr>
          <p:cNvPr id="17" name="Text 15"/>
          <p:cNvSpPr/>
          <p:nvPr/>
        </p:nvSpPr>
        <p:spPr>
          <a:xfrm>
            <a:off x="640080" y="3886200"/>
            <a:ext cx="7863840" cy="457200"/>
          </a:xfrm>
          <a:prstGeom prst="rect">
            <a:avLst/>
          </a:prstGeom>
          <a:noFill/>
          <a:ln/>
        </p:spPr>
        <p:txBody>
          <a:bodyPr wrap="square" rtlCol="0" anchor="ctr"/>
          <a:lstStyle/>
          <a:p>
            <a:pPr algn="l" indent="0" marL="0">
              <a:buNone/>
            </a:pPr>
            <a:r>
              <a:rPr lang="en-US" sz="2000" dirty="0">
                <a:solidFill>
                  <a:srgbClr val="94A3B8"/>
                </a:solidFill>
                <a:latin typeface="Inter" pitchFamily="34" charset="0"/>
                <a:ea typeface="Inter" pitchFamily="34" charset="-122"/>
                <a:cs typeface="Inter" pitchFamily="34" charset="-120"/>
              </a:rPr>
              <a:t>getCategories : 189ms -&gt; 5ms (97.4%)</a:t>
            </a:r>
            <a:endParaRPr lang="en-US" sz="2000" dirty="0"/>
          </a:p>
        </p:txBody>
      </p:sp>
      <p:sp>
        <p:nvSpPr>
          <p:cNvPr id="18" name="Shape 16"/>
          <p:cNvSpPr/>
          <p:nvPr/>
        </p:nvSpPr>
        <p:spPr>
          <a:xfrm>
            <a:off x="8321040" y="4617720"/>
            <a:ext cx="457200" cy="320040"/>
          </a:xfrm>
          <a:prstGeom prst="roundRect">
            <a:avLst>
              <a:gd name="adj" fmla="val 28571"/>
            </a:avLst>
          </a:prstGeom>
          <a:solidFill>
            <a:srgbClr val="38BDF8"/>
          </a:solidFill>
          <a:ln/>
        </p:spPr>
      </p:sp>
      <p:sp>
        <p:nvSpPr>
          <p:cNvPr id="19" name="Text 17"/>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p:spPr>
      </p:sp>
      <p:sp>
        <p:nvSpPr>
          <p:cNvPr id="3" name="Text 1"/>
          <p:cNvSpPr/>
          <p:nvPr/>
        </p:nvSpPr>
        <p:spPr>
          <a:xfrm>
            <a:off x="457200" y="1097280"/>
            <a:ext cx="8229600" cy="914400"/>
          </a:xfrm>
          <a:prstGeom prst="rect">
            <a:avLst/>
          </a:prstGeom>
          <a:noFill/>
          <a:ln/>
        </p:spPr>
        <p:txBody>
          <a:bodyPr wrap="square" rtlCol="0" anchor="ctr"/>
          <a:lstStyle/>
          <a:p>
            <a:pPr algn="ctr" indent="0" marL="0">
              <a:buNone/>
            </a:pPr>
            <a:r>
              <a:rPr lang="en-US" sz="5600" b="1" dirty="0">
                <a:solidFill>
                  <a:srgbClr val="FFFFFF"/>
                </a:solidFill>
                <a:latin typeface="Inter" pitchFamily="34" charset="0"/>
                <a:ea typeface="Inter" pitchFamily="34" charset="-122"/>
                <a:cs typeface="Inter" pitchFamily="34" charset="-120"/>
              </a:rPr>
              <a:t>Merci</a:t>
            </a:r>
            <a:endParaRPr lang="en-US" sz="5600" dirty="0"/>
          </a:p>
        </p:txBody>
      </p:sp>
      <p:sp>
        <p:nvSpPr>
          <p:cNvPr id="4" name="Shape 2"/>
          <p:cNvSpPr/>
          <p:nvPr/>
        </p:nvSpPr>
        <p:spPr>
          <a:xfrm>
            <a:off x="3657600" y="2011680"/>
            <a:ext cx="1828800" cy="36576"/>
          </a:xfrm>
          <a:prstGeom prst="rect">
            <a:avLst/>
          </a:prstGeom>
          <a:solidFill>
            <a:srgbClr val="38BDF8"/>
          </a:solidFill>
          <a:ln/>
        </p:spPr>
      </p:sp>
      <p:sp>
        <p:nvSpPr>
          <p:cNvPr id="5" name="Text 3"/>
          <p:cNvSpPr/>
          <p:nvPr/>
        </p:nvSpPr>
        <p:spPr>
          <a:xfrm>
            <a:off x="457200" y="2194560"/>
            <a:ext cx="8229600" cy="457200"/>
          </a:xfrm>
          <a:prstGeom prst="rect">
            <a:avLst/>
          </a:prstGeom>
          <a:noFill/>
          <a:ln/>
        </p:spPr>
        <p:txBody>
          <a:bodyPr wrap="square" rtlCol="0" anchor="ctr"/>
          <a:lstStyle/>
          <a:p>
            <a:pPr algn="ctr" indent="0" marL="0">
              <a:buNone/>
            </a:pPr>
            <a:r>
              <a:rPr lang="en-US" sz="2400" dirty="0">
                <a:solidFill>
                  <a:srgbClr val="94A3B8"/>
                </a:solidFill>
                <a:latin typeface="Inter" pitchFamily="34" charset="0"/>
                <a:ea typeface="Inter" pitchFamily="34" charset="-122"/>
                <a:cs typeface="Inter" pitchFamily="34" charset="-120"/>
              </a:rPr>
              <a:t>Questions et Discussion</a:t>
            </a:r>
            <a:endParaRPr lang="en-US" sz="2400" dirty="0"/>
          </a:p>
        </p:txBody>
      </p:sp>
      <p:sp>
        <p:nvSpPr>
          <p:cNvPr id="6" name="Shape 4"/>
          <p:cNvSpPr/>
          <p:nvPr/>
        </p:nvSpPr>
        <p:spPr>
          <a:xfrm>
            <a:off x="2286000" y="2926080"/>
            <a:ext cx="4572000" cy="822960"/>
          </a:xfrm>
          <a:prstGeom prst="roundRect">
            <a:avLst>
              <a:gd name="adj" fmla="val 16667"/>
            </a:avLst>
          </a:prstGeom>
          <a:solidFill>
            <a:srgbClr val="1B2838"/>
          </a:solidFill>
          <a:ln w="12700">
            <a:solidFill>
              <a:srgbClr val="1E293B"/>
            </a:solidFill>
            <a:prstDash val="solid"/>
          </a:ln>
        </p:spPr>
      </p:sp>
      <p:sp>
        <p:nvSpPr>
          <p:cNvPr id="7" name="Text 5"/>
          <p:cNvSpPr/>
          <p:nvPr/>
        </p:nvSpPr>
        <p:spPr>
          <a:xfrm>
            <a:off x="2286000" y="3017520"/>
            <a:ext cx="4572000" cy="365760"/>
          </a:xfrm>
          <a:prstGeom prst="rect">
            <a:avLst/>
          </a:prstGeom>
          <a:noFill/>
          <a:ln/>
        </p:spPr>
        <p:txBody>
          <a:bodyPr wrap="square"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Omar Sarsar &amp; Iliass Hariz</a:t>
            </a:r>
            <a:endParaRPr lang="en-US" sz="2000" dirty="0"/>
          </a:p>
        </p:txBody>
      </p:sp>
      <p:sp>
        <p:nvSpPr>
          <p:cNvPr id="8" name="Text 6"/>
          <p:cNvSpPr/>
          <p:nvPr/>
        </p:nvSpPr>
        <p:spPr>
          <a:xfrm>
            <a:off x="2286000" y="3383280"/>
            <a:ext cx="4572000" cy="274320"/>
          </a:xfrm>
          <a:prstGeom prst="rect">
            <a:avLst/>
          </a:prstGeom>
          <a:noFill/>
          <a:ln/>
        </p:spPr>
        <p:txBody>
          <a:bodyPr wrap="square" rtlCol="0" anchor="ctr"/>
          <a:lstStyle/>
          <a:p>
            <a:pPr algn="ctr" indent="0" marL="0">
              <a:buNone/>
            </a:pPr>
            <a:r>
              <a:rPr lang="en-US" sz="1600" dirty="0">
                <a:solidFill>
                  <a:srgbClr val="94A3B8"/>
                </a:solidFill>
                <a:latin typeface="Inter" pitchFamily="34" charset="0"/>
                <a:ea typeface="Inter" pitchFamily="34" charset="-122"/>
                <a:cs typeface="Inter" pitchFamily="34" charset="-120"/>
              </a:rPr>
              <a:t>2026</a:t>
            </a:r>
            <a:endParaRPr lang="en-US" sz="1600" dirty="0"/>
          </a:p>
        </p:txBody>
      </p:sp>
      <p:sp>
        <p:nvSpPr>
          <p:cNvPr id="9" name="Shape 7"/>
          <p:cNvSpPr/>
          <p:nvPr/>
        </p:nvSpPr>
        <p:spPr>
          <a:xfrm>
            <a:off x="8321040" y="4617720"/>
            <a:ext cx="457200" cy="320040"/>
          </a:xfrm>
          <a:prstGeom prst="roundRect">
            <a:avLst>
              <a:gd name="adj" fmla="val 28571"/>
            </a:avLst>
          </a:prstGeom>
          <a:solidFill>
            <a:srgbClr val="38BDF8"/>
          </a:solidFill>
          <a:ln/>
        </p:spPr>
      </p:sp>
      <p:sp>
        <p:nvSpPr>
          <p:cNvPr id="10" name="Text 8"/>
          <p:cNvSpPr/>
          <p:nvPr/>
        </p:nvSpPr>
        <p:spPr>
          <a:xfrm>
            <a:off x="8321040" y="4617720"/>
            <a:ext cx="457200" cy="320040"/>
          </a:xfrm>
          <a:prstGeom prst="rect">
            <a:avLst/>
          </a:prstGeom>
          <a:noFill/>
          <a:ln/>
        </p:spPr>
        <p:txBody>
          <a:bodyPr wrap="square" rtlCol="0" anchor="ctr"/>
          <a:lstStyle/>
          <a:p>
            <a:pPr algn="ctr" indent="0" marL="0">
              <a:buNone/>
            </a:pPr>
            <a:r>
              <a:rPr lang="en-US" sz="1200" b="1" dirty="0">
                <a:solidFill>
                  <a:srgbClr val="0D1B2A"/>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2026-05-21T19:47:19Z</dcterms:created>
  <dcterms:modified xsi:type="dcterms:W3CDTF">2026-05-21T19:47:19Z</dcterms:modified>
</cp:coreProperties>
</file>