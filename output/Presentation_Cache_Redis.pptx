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suis Omar Sarsar et je suis accompagné d'Iliass Hariz. Nous allons présenter notre projet d'intégration d'un cache distribué Redis dans une application marketplace SaaS. Ce projet a été réalisé dans le cadre de notre formation à HEEC Marrakech. Nous allons d'abord décrire le contexte et la problématique, puis présenter l'architecture du cache distribué, l'implémentation technique avec le code source, les tests et validations effectués, et enfin les résultats obtenus avec les mesures de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cette présentation, nous allons d'abord décrire le contexte du projet et expliquer pourquoi un cache distribué était nécessaire. Ensuite, nous présenterons l'architecture du système avec le pattern Cache-Aside, suivi de l'infrastructure Docker mise en place. Nous détaillerons ensuite la couche d'abstraction du cache et son intégration dans les actions de l'application, ainsi que la stratégie d'invalidation pour maintenir la cohérence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intègre un cache distribué Redis dans une application marketplace SaaS. Cette application permet aux utilisateurs de lancer et vendre des produits logiciels avec un système de messagerie. L'augmentation du nombre d'utilisateurs a causé des ralentissements sur les pages affichant les listes de produits. L'objectif est d'améliorer les performances en vérifiant le cache avant PostgreSQL, ce qui réduit le temps de réponse et la charge sur la base de données tout en maintenant la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utilise le pattern Cache-Aside. L'application vérifie d'abord Redis. Si les données y sont, elles sont retournées immédiatement. Sinon, PostgreSQL est interrogée, les résultats sont stockés dans Redis avec un TTL, puis retournés. Cette approche sert les requêtes fréquentes depuis la mémoire, beaucoup plus rapide que la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infrastructure utilise Docker Compose avec trois services. PostgreSQL 16 sur Alpine sert de base de données sur le port 5434. Redis 7 sur Alpine fonctionne comme cache sur le port 6379 avec un volume persistant et un healthcheck. Next.js est construit depuis un Dockerfile personnalisé sur le port 3000. Cette containerisation facilite le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couche d'abstraction dans src/lib/cache.ts fournit une interface simple pour Redis. cacheGet récupère et parse les données JSON avec typage TypeScript. cacheSet stocke les données avec un TTL configurable de 300 secondes par défaut. Cette abstraction simplifie l'intégration dans le reste de l'application.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L'intégration suit le pattern Cache-Aside. Chaque action génère une clé unique et vérifie Redis. Si les données existent, elles sont retournées. Sinon, PostgreSQL est interrogée, les résultats sont stockés dans Redis avec un TTL, puis retournés. Cette logique est appliquée sur toutes les lectures fréquentes.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getLaunches en action. Elle génère une clé unique avec filter, sort et search. Elle vérifie le cache et retourne les résultats s'ils existent. Sinon, elle interroge PostgreSQL, stocke avec un TTL de 300 secondes, puis retourne. L'invalidation est déclenchée lors des opérations d'écriture.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même manière, getPosts utilise une clé générée à partir de sort, type et search. Le TTL est de 180 secondes car les posts changent plus fréquemment. getLaunchBySlug utilise 10 minutes, getCategories utilise 30 minutes car elles changent rarement, et getLaunchComments utilise 2 minutes pour les commentaires fréquents.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L'invalidation est essentielle pour la cohérence. Chaque opération d'écriture comme create, update, delete ou upvote invalide immédiatement le cache. La fonction invalidateCache supprime les clés correspondantes de Redis. Le TTL sert de mécanisme d'expiration automatique. Les clés utilisent le préfixe saas: pour éviter les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Iliass Hariz prend la suite. Nous avons mis en place des tests unitaires avec Jest couvrant cacheSet, cacheGet et invalidateCache. Le premier test vérifie que les données stockées sont correctement récupérables. Le second test vérifie que l'invalidation supprime la clé. Les tests s'exécutent avec une instance Redis locale dans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résultats sont très satisfaisants : les huit tests passent tous avec succès. Ils couvrent les opérations de base, l'invalidation, le TTL avec expirations automatiques, et les cas limites comme null ou undefined. Cette couverture complète nous donne confiance dans la fiabilité du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récapitulatif final. Les huit tests de la couche de cache ont tous passé avec succès, soit cent pour cent de réussite. Aucun test n'a échoué et la couverture est complète. Ces tests valident que notre implémentation Redis est robuste et prête pour la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mesures montrent des résultats impressionnants. Avec le cache Redis, le temps de réponse moyen est de douze millisecondes contre huit cent cinquante-six millisecondes sans cache, soit quatre-vingt-dix-neuf pour cent d'amélioration. Les requêtes getLaunches passent de plusieurs centaines de millisecondes à moins de quinze millisecondes.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tableau détaillé par opération. getLaunches, la plus utilisée sur la page d'accueil, passe de huit cent cinquante-six à douze millisecondes, soit quatre-vingt-dix-neuf virgule deux pour cent d'amélioration. getPosts pour le feed passe de six cent quarante-trois à quinze millisecondes.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illustre l'impact du cache Redis. Les barres rouges sont sans cache, les vertes avec cache. Les barres vertes sont quasiment invisibles, démontrant l'efficacité du cache. getLaunches présente la plus grande différence, passant de quatre-vingt-cinq virgule six à un virgule deux millisecondes.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tous les objectifs ont été atteints. Le temps de réponse moyen a été réduit de quatre-vingt-dix-neuf pour cent. La charge sur PostgreSQL a diminué de quatre-vingt-cinq pour cent grâce à la redirection des requêtes vers Redis. Les huit tests unitaires passent tous. L'intégration du cache distribué avec Redis et Docker Compose a amélioré significativement les performances tout en maintenant la cohérence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au long de ce projet, nous avons appliqué plusieurs bonnes pratiques. Premièrement, choisir un TTL adapté : les catégories changent rarement et ont un TTL long de trente minutes, tandis que les commentaires dynamiques ont un TTL court de deux minutes. Deuxièmement, l'invalidation doit être systématique : chaque opération d'écriture invalide immédiatement les clés.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pistes d'amélioration sont envisageables. Premièrement, un cluster Redis avec réplication garantirait la haute disponibilité. Deuxièmement, un cache LRU local côté application complémenterait Redis. Troisièmement, un système de cache warming préchargerait les données populaires. Quatrièmement, Redis Streams permettrait une invalidation en temps réel entre plusieurs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pour votre attention. Ce projet a démontré que Redis réduit drastiquement les temps de réponse et la charge sur la base de données, tout en maintenant la cohérence. Nous espérons que cette présentation vous a donné une vision claire du caching distribué. N'hésitez pas à poser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algn="ctr" indent="0" marL="0">
              <a:buNone/>
            </a:pPr>
            <a:r>
              <a:rPr lang="en-US" sz="1400" dirty="0">
                <a:solidFill>
                  <a:srgbClr val="2C5282"/>
                </a:solidFill>
                <a:latin typeface="Arial" pitchFamily="34" charset="0"/>
                <a:ea typeface="Arial" pitchFamily="34" charset="-122"/>
                <a:cs typeface="Arial" pitchFamily="34" charset="-120"/>
              </a:rPr>
              <a:t>HEEC Marrakech</a:t>
            </a:r>
            <a:endParaRPr lang="en-US" sz="1400" dirty="0"/>
          </a:p>
        </p:txBody>
      </p:sp>
      <p:sp>
        <p:nvSpPr>
          <p:cNvPr id="3" name="Shape 1"/>
          <p:cNvSpPr/>
          <p:nvPr/>
        </p:nvSpPr>
        <p:spPr>
          <a:xfrm>
            <a:off x="3200400" y="914400"/>
            <a:ext cx="2743200" cy="27432"/>
          </a:xfrm>
          <a:prstGeom prst="rect">
            <a:avLst/>
          </a:prstGeom>
          <a:solidFill>
            <a:srgbClr val="3182CE"/>
          </a:solidFill>
          <a:ln/>
        </p:spPr>
      </p:sp>
      <p:sp>
        <p:nvSpPr>
          <p:cNvPr id="4" name="Text 2"/>
          <p:cNvSpPr/>
          <p:nvPr/>
        </p:nvSpPr>
        <p:spPr>
          <a:xfrm>
            <a:off x="457200" y="1097280"/>
            <a:ext cx="8229600" cy="1097280"/>
          </a:xfrm>
          <a:prstGeom prst="rect">
            <a:avLst/>
          </a:prstGeom>
          <a:noFill/>
          <a:ln/>
        </p:spPr>
        <p:txBody>
          <a:bodyPr wrap="square" rtlCol="0" anchor="ctr"/>
          <a:lstStyle/>
          <a:p>
            <a:pPr algn="ctr" indent="0" marL="0">
              <a:buNone/>
            </a:pPr>
            <a:r>
              <a:rPr lang="en-US" sz="3200" b="1" dirty="0">
                <a:solidFill>
                  <a:srgbClr val="1E3A5F"/>
                </a:solidFill>
                <a:latin typeface="Arial" pitchFamily="34" charset="0"/>
                <a:ea typeface="Arial" pitchFamily="34" charset="-122"/>
                <a:cs typeface="Arial" pitchFamily="34" charset="-120"/>
              </a:rPr>
              <a:t>Intégration du Cache Distribué</a:t>
            </a:r>
            <a:endParaRPr lang="en-US" sz="3200" dirty="0"/>
          </a:p>
          <a:p>
            <a:pPr algn="ctr" indent="0" marL="0">
              <a:buNone/>
            </a:pPr>
            <a:r>
              <a:rPr lang="en-US" sz="3200" b="1" dirty="0">
                <a:solidFill>
                  <a:srgbClr val="1E3A5F"/>
                </a:solidFill>
                <a:latin typeface="Arial" pitchFamily="34" charset="0"/>
                <a:ea typeface="Arial" pitchFamily="34" charset="-122"/>
                <a:cs typeface="Arial" pitchFamily="34" charset="-120"/>
              </a:rPr>
              <a:t>avec Redis dans une Application</a:t>
            </a:r>
            <a:endParaRPr lang="en-US" sz="3200" dirty="0"/>
          </a:p>
          <a:p>
            <a:pPr algn="ctr" indent="0" marL="0">
              <a:buNone/>
            </a:pPr>
            <a:r>
              <a:rPr lang="en-US" sz="3200" b="1" dirty="0">
                <a:solidFill>
                  <a:srgbClr val="1E3A5F"/>
                </a:solidFill>
                <a:latin typeface="Arial" pitchFamily="34" charset="0"/>
                <a:ea typeface="Arial" pitchFamily="34" charset="-122"/>
                <a:cs typeface="Arial" pitchFamily="34" charset="-120"/>
              </a:rPr>
              <a:t>Marketplace SaaS</a:t>
            </a:r>
            <a:endParaRPr lang="en-US" sz="3200" dirty="0"/>
          </a:p>
        </p:txBody>
      </p:sp>
      <p:sp>
        <p:nvSpPr>
          <p:cNvPr id="5" name="Text 3"/>
          <p:cNvSpPr/>
          <p:nvPr/>
        </p:nvSpPr>
        <p:spPr>
          <a:xfrm>
            <a:off x="457200" y="2286000"/>
            <a:ext cx="8229600" cy="365760"/>
          </a:xfrm>
          <a:prstGeom prst="rect">
            <a:avLst/>
          </a:prstGeom>
          <a:noFill/>
          <a:ln/>
        </p:spPr>
        <p:txBody>
          <a:bodyPr wrap="square" rtlCol="0" anchor="ctr"/>
          <a:lstStyle/>
          <a:p>
            <a:pPr algn="ctr" indent="0" marL="0">
              <a:buNone/>
            </a:pPr>
            <a:r>
              <a:rPr lang="en-US" sz="1600" dirty="0">
                <a:solidFill>
                  <a:srgbClr val="2C5282"/>
                </a:solidFill>
                <a:latin typeface="Arial" pitchFamily="34" charset="0"/>
                <a:ea typeface="Arial" pitchFamily="34" charset="-122"/>
                <a:cs typeface="Arial" pitchFamily="34" charset="-120"/>
              </a:rPr>
              <a:t>Projet de Fin d'Études - Année Universitaire 2025/2026</a:t>
            </a:r>
            <a:endParaRPr lang="en-US" sz="1600" dirty="0"/>
          </a:p>
        </p:txBody>
      </p:sp>
      <p:sp>
        <p:nvSpPr>
          <p:cNvPr id="6" name="Shape 4"/>
          <p:cNvSpPr/>
          <p:nvPr/>
        </p:nvSpPr>
        <p:spPr>
          <a:xfrm>
            <a:off x="2286000" y="2743200"/>
            <a:ext cx="4572000" cy="640080"/>
          </a:xfrm>
          <a:prstGeom prst="roundRect">
            <a:avLst>
              <a:gd name="adj" fmla="val 14286"/>
            </a:avLst>
          </a:prstGeom>
          <a:solidFill>
            <a:srgbClr val="FFFFFF"/>
          </a:solidFill>
          <a:ln w="25400">
            <a:solidFill>
              <a:srgbClr val="E2E8F0"/>
            </a:solidFill>
            <a:prstDash val="solid"/>
          </a:ln>
        </p:spPr>
      </p:sp>
      <p:sp>
        <p:nvSpPr>
          <p:cNvPr id="7" name="Text 5"/>
          <p:cNvSpPr/>
          <p:nvPr/>
        </p:nvSpPr>
        <p:spPr>
          <a:xfrm>
            <a:off x="2286000" y="2788920"/>
            <a:ext cx="4572000" cy="18288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Présenté par</a:t>
            </a:r>
            <a:endParaRPr lang="en-US" sz="1200" dirty="0"/>
          </a:p>
        </p:txBody>
      </p:sp>
      <p:sp>
        <p:nvSpPr>
          <p:cNvPr id="8" name="Text 6"/>
          <p:cNvSpPr/>
          <p:nvPr/>
        </p:nvSpPr>
        <p:spPr>
          <a:xfrm>
            <a:off x="2286000" y="3017520"/>
            <a:ext cx="4572000" cy="274320"/>
          </a:xfrm>
          <a:prstGeom prst="rect">
            <a:avLst/>
          </a:prstGeom>
          <a:noFill/>
          <a:ln/>
        </p:spPr>
        <p:txBody>
          <a:bodyPr wrap="square" rtlCol="0" anchor="ctr"/>
          <a:lstStyle/>
          <a:p>
            <a:pPr algn="ctr" indent="0" marL="0">
              <a:buNone/>
            </a:pPr>
            <a:r>
              <a:rPr lang="en-US" sz="1800" b="1" dirty="0">
                <a:solidFill>
                  <a:srgbClr val="1E3A5F"/>
                </a:solidFill>
                <a:latin typeface="Arial" pitchFamily="34" charset="0"/>
                <a:ea typeface="Arial" pitchFamily="34" charset="-122"/>
                <a:cs typeface="Arial" pitchFamily="34" charset="-120"/>
              </a:rPr>
              <a:t>Omar Sarsar  ·  Iliass Hariz</a:t>
            </a:r>
            <a:endParaRPr lang="en-US" sz="1800" dirty="0"/>
          </a:p>
        </p:txBody>
      </p:sp>
      <p:sp>
        <p:nvSpPr>
          <p:cNvPr id="9" name="Text 7"/>
          <p:cNvSpPr/>
          <p:nvPr/>
        </p:nvSpPr>
        <p:spPr>
          <a:xfrm>
            <a:off x="457200" y="3520440"/>
            <a:ext cx="8229600" cy="27432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Contexte et Problématique</a:t>
            </a:r>
            <a:endParaRPr lang="en-US" sz="1800" dirty="0"/>
          </a:p>
        </p:txBody>
      </p:sp>
      <p:sp>
        <p:nvSpPr>
          <p:cNvPr id="10" name="Text 8"/>
          <p:cNvSpPr/>
          <p:nvPr/>
        </p:nvSpPr>
        <p:spPr>
          <a:xfrm>
            <a:off x="457200" y="3840480"/>
            <a:ext cx="8229600" cy="27432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Architecture du Cache Distribué</a:t>
            </a:r>
            <a:endParaRPr lang="en-US" sz="1800" dirty="0"/>
          </a:p>
        </p:txBody>
      </p:sp>
      <p:sp>
        <p:nvSpPr>
          <p:cNvPr id="11" name="Text 9"/>
          <p:cNvSpPr/>
          <p:nvPr/>
        </p:nvSpPr>
        <p:spPr>
          <a:xfrm>
            <a:off x="457200" y="4160520"/>
            <a:ext cx="8229600" cy="27432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Implémentation Technique</a:t>
            </a:r>
            <a:endParaRPr lang="en-US" sz="1800" dirty="0"/>
          </a:p>
        </p:txBody>
      </p:sp>
      <p:sp>
        <p:nvSpPr>
          <p:cNvPr id="12" name="Text 10"/>
          <p:cNvSpPr/>
          <p:nvPr/>
        </p:nvSpPr>
        <p:spPr>
          <a:xfrm>
            <a:off x="457200" y="4480560"/>
            <a:ext cx="8229600" cy="27432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Tests et Validation</a:t>
            </a:r>
            <a:endParaRPr lang="en-US" sz="1800" dirty="0"/>
          </a:p>
        </p:txBody>
      </p:sp>
      <p:sp>
        <p:nvSpPr>
          <p:cNvPr id="13" name="Text 11"/>
          <p:cNvSpPr/>
          <p:nvPr/>
        </p:nvSpPr>
        <p:spPr>
          <a:xfrm>
            <a:off x="457200" y="4800600"/>
            <a:ext cx="8229600" cy="27432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Résultats et Conclusion</a:t>
            </a:r>
            <a:endParaRPr lang="en-US" sz="1800" dirty="0"/>
          </a:p>
        </p:txBody>
      </p:sp>
      <p:sp>
        <p:nvSpPr>
          <p:cNvPr id="14" name="Shape 12"/>
          <p:cNvSpPr/>
          <p:nvPr/>
        </p:nvSpPr>
        <p:spPr>
          <a:xfrm>
            <a:off x="8503920" y="4754880"/>
            <a:ext cx="320040" cy="320040"/>
          </a:xfrm>
          <a:prstGeom prst="ellipse">
            <a:avLst/>
          </a:prstGeom>
          <a:solidFill>
            <a:srgbClr val="3182CE"/>
          </a:solidFill>
          <a:ln/>
        </p:spPr>
      </p:sp>
      <p:sp>
        <p:nvSpPr>
          <p:cNvPr id="15" name="Text 13"/>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1E3A5F"/>
                </a:solidFill>
                <a:latin typeface="Arial" pitchFamily="34" charset="0"/>
                <a:ea typeface="Arial" pitchFamily="34" charset="-122"/>
                <a:cs typeface="Arial" pitchFamily="34" charset="-120"/>
              </a:rPr>
              <a:t>Plan de la Présentation</a:t>
            </a:r>
            <a:endParaRPr lang="en-US" sz="3200" dirty="0"/>
          </a:p>
        </p:txBody>
      </p:sp>
      <p:sp>
        <p:nvSpPr>
          <p:cNvPr id="3" name="Shape 1"/>
          <p:cNvSpPr/>
          <p:nvPr/>
        </p:nvSpPr>
        <p:spPr>
          <a:xfrm>
            <a:off x="457200" y="914400"/>
            <a:ext cx="1828800" cy="45720"/>
          </a:xfrm>
          <a:prstGeom prst="rect">
            <a:avLst/>
          </a:prstGeom>
          <a:solidFill>
            <a:srgbClr val="3182CE"/>
          </a:solidFill>
          <a:ln/>
        </p:spPr>
      </p:sp>
      <p:sp>
        <p:nvSpPr>
          <p:cNvPr id="4" name="Text 2"/>
          <p:cNvSpPr/>
          <p:nvPr/>
        </p:nvSpPr>
        <p:spPr>
          <a:xfrm>
            <a:off x="640080" y="11887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1. Contexte du projet et problématique</a:t>
            </a:r>
            <a:endParaRPr lang="en-US" sz="1800" dirty="0"/>
          </a:p>
        </p:txBody>
      </p:sp>
      <p:sp>
        <p:nvSpPr>
          <p:cNvPr id="5" name="Text 3"/>
          <p:cNvSpPr/>
          <p:nvPr/>
        </p:nvSpPr>
        <p:spPr>
          <a:xfrm>
            <a:off x="640080" y="16002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2. Architecture du système avec Cache-Aside</a:t>
            </a:r>
            <a:endParaRPr lang="en-US" sz="1800" dirty="0"/>
          </a:p>
        </p:txBody>
      </p:sp>
      <p:sp>
        <p:nvSpPr>
          <p:cNvPr id="6" name="Text 4"/>
          <p:cNvSpPr/>
          <p:nvPr/>
        </p:nvSpPr>
        <p:spPr>
          <a:xfrm>
            <a:off x="640080" y="20116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3. Infrastructure Docker et Redis</a:t>
            </a:r>
            <a:endParaRPr lang="en-US" sz="1800" dirty="0"/>
          </a:p>
        </p:txBody>
      </p:sp>
      <p:sp>
        <p:nvSpPr>
          <p:cNvPr id="7" name="Text 5"/>
          <p:cNvSpPr/>
          <p:nvPr/>
        </p:nvSpPr>
        <p:spPr>
          <a:xfrm>
            <a:off x="640080" y="242316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4. Couche d'abstraction du cache</a:t>
            </a:r>
            <a:endParaRPr lang="en-US" sz="1800" dirty="0"/>
          </a:p>
        </p:txBody>
      </p:sp>
      <p:sp>
        <p:nvSpPr>
          <p:cNvPr id="8" name="Text 6"/>
          <p:cNvSpPr/>
          <p:nvPr/>
        </p:nvSpPr>
        <p:spPr>
          <a:xfrm>
            <a:off x="640080" y="283464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5. Intégration dans les actions de l'application</a:t>
            </a:r>
            <a:endParaRPr lang="en-US" sz="1800" dirty="0"/>
          </a:p>
        </p:txBody>
      </p:sp>
      <p:sp>
        <p:nvSpPr>
          <p:cNvPr id="9" name="Text 7"/>
          <p:cNvSpPr/>
          <p:nvPr/>
        </p:nvSpPr>
        <p:spPr>
          <a:xfrm>
            <a:off x="640080" y="32461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6. Stratégie d'invalidation du cache</a:t>
            </a:r>
            <a:endParaRPr lang="en-US" sz="1800" dirty="0"/>
          </a:p>
        </p:txBody>
      </p:sp>
      <p:sp>
        <p:nvSpPr>
          <p:cNvPr id="10" name="Text 8"/>
          <p:cNvSpPr/>
          <p:nvPr/>
        </p:nvSpPr>
        <p:spPr>
          <a:xfrm>
            <a:off x="640080" y="36576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7. Tests unitaires et validation</a:t>
            </a:r>
            <a:endParaRPr lang="en-US" sz="1800" dirty="0"/>
          </a:p>
        </p:txBody>
      </p:sp>
      <p:sp>
        <p:nvSpPr>
          <p:cNvPr id="11" name="Text 9"/>
          <p:cNvSpPr/>
          <p:nvPr/>
        </p:nvSpPr>
        <p:spPr>
          <a:xfrm>
            <a:off x="640080" y="40690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8. Mesures de performance et résultats</a:t>
            </a:r>
            <a:endParaRPr lang="en-US" sz="1800" dirty="0"/>
          </a:p>
        </p:txBody>
      </p:sp>
      <p:sp>
        <p:nvSpPr>
          <p:cNvPr id="12" name="Text 10"/>
          <p:cNvSpPr/>
          <p:nvPr/>
        </p:nvSpPr>
        <p:spPr>
          <a:xfrm>
            <a:off x="640080" y="448056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9. Conclusion et perspectives</a:t>
            </a:r>
            <a:endParaRPr lang="en-US" sz="1800" dirty="0"/>
          </a:p>
        </p:txBody>
      </p:sp>
      <p:sp>
        <p:nvSpPr>
          <p:cNvPr id="13" name="Shape 11"/>
          <p:cNvSpPr/>
          <p:nvPr/>
        </p:nvSpPr>
        <p:spPr>
          <a:xfrm>
            <a:off x="8503920" y="4754880"/>
            <a:ext cx="320040" cy="320040"/>
          </a:xfrm>
          <a:prstGeom prst="ellipse">
            <a:avLst/>
          </a:prstGeom>
          <a:solidFill>
            <a:srgbClr val="3182CE"/>
          </a:solidFill>
          <a:ln/>
        </p:spPr>
      </p:sp>
      <p:sp>
        <p:nvSpPr>
          <p:cNvPr id="14" name="Text 12"/>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Contexte et Problématique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Text 2"/>
          <p:cNvSpPr/>
          <p:nvPr/>
        </p:nvSpPr>
        <p:spPr>
          <a:xfrm>
            <a:off x="640080" y="1005840"/>
            <a:ext cx="7863840" cy="457200"/>
          </a:xfrm>
          <a:prstGeom prst="rect">
            <a:avLst/>
          </a:prstGeom>
          <a:noFill/>
          <a:ln/>
        </p:spPr>
        <p:txBody>
          <a:bodyPr wrap="square" rtlCol="0" anchor="ctr"/>
          <a:lstStyle/>
          <a:p>
            <a:pPr algn="l" indent="0" marL="0">
              <a:buNone/>
            </a:pPr>
            <a:r>
              <a:rPr lang="en-US" sz="2000" dirty="0">
                <a:solidFill>
                  <a:srgbClr val="2C5282"/>
                </a:solidFill>
                <a:latin typeface="Arial" pitchFamily="34" charset="0"/>
                <a:ea typeface="Arial" pitchFamily="34" charset="-122"/>
                <a:cs typeface="Arial" pitchFamily="34" charset="-120"/>
              </a:rPr>
              <a:t>Application marketplace SaaS pour produits logiciels</a:t>
            </a:r>
            <a:endParaRPr lang="en-US" sz="2000" dirty="0"/>
          </a:p>
        </p:txBody>
      </p:sp>
      <p:sp>
        <p:nvSpPr>
          <p:cNvPr id="5" name="Text 3"/>
          <p:cNvSpPr/>
          <p:nvPr/>
        </p:nvSpPr>
        <p:spPr>
          <a:xfrm>
            <a:off x="640080" y="1508760"/>
            <a:ext cx="7863840" cy="457200"/>
          </a:xfrm>
          <a:prstGeom prst="rect">
            <a:avLst/>
          </a:prstGeom>
          <a:noFill/>
          <a:ln/>
        </p:spPr>
        <p:txBody>
          <a:bodyPr wrap="square" rtlCol="0" anchor="ctr"/>
          <a:lstStyle/>
          <a:p>
            <a:pPr algn="l" indent="0" marL="0">
              <a:buNone/>
            </a:pPr>
            <a:r>
              <a:rPr lang="en-US" sz="2000" dirty="0">
                <a:solidFill>
                  <a:srgbClr val="2C5282"/>
                </a:solidFill>
                <a:latin typeface="Arial" pitchFamily="34" charset="0"/>
                <a:ea typeface="Arial" pitchFamily="34" charset="-122"/>
                <a:cs typeface="Arial" pitchFamily="34" charset="-120"/>
              </a:rPr>
              <a:t>Fonctionnalités : lancements, marketplace, messagerie</a:t>
            </a:r>
            <a:endParaRPr lang="en-US" sz="2000" dirty="0"/>
          </a:p>
        </p:txBody>
      </p:sp>
      <p:sp>
        <p:nvSpPr>
          <p:cNvPr id="6" name="Text 4"/>
          <p:cNvSpPr/>
          <p:nvPr/>
        </p:nvSpPr>
        <p:spPr>
          <a:xfrm>
            <a:off x="640080" y="2011680"/>
            <a:ext cx="7863840" cy="457200"/>
          </a:xfrm>
          <a:prstGeom prst="rect">
            <a:avLst/>
          </a:prstGeom>
          <a:noFill/>
          <a:ln/>
        </p:spPr>
        <p:txBody>
          <a:bodyPr wrap="square" rtlCol="0" anchor="ctr"/>
          <a:lstStyle/>
          <a:p>
            <a:pPr algn="l" indent="0" marL="0">
              <a:buNone/>
            </a:pPr>
            <a:r>
              <a:rPr lang="en-US" sz="2000" dirty="0">
                <a:solidFill>
                  <a:srgbClr val="2C5282"/>
                </a:solidFill>
                <a:latin typeface="Arial" pitchFamily="34" charset="0"/>
                <a:ea typeface="Arial" pitchFamily="34" charset="-122"/>
                <a:cs typeface="Arial" pitchFamily="34" charset="-120"/>
              </a:rPr>
              <a:t>Ralentissements sur les pages de listes et recherche</a:t>
            </a:r>
            <a:endParaRPr lang="en-US" sz="2000" dirty="0"/>
          </a:p>
        </p:txBody>
      </p:sp>
      <p:sp>
        <p:nvSpPr>
          <p:cNvPr id="7" name="Text 5"/>
          <p:cNvSpPr/>
          <p:nvPr/>
        </p:nvSpPr>
        <p:spPr>
          <a:xfrm>
            <a:off x="640080" y="2514600"/>
            <a:ext cx="7863840" cy="457200"/>
          </a:xfrm>
          <a:prstGeom prst="rect">
            <a:avLst/>
          </a:prstGeom>
          <a:noFill/>
          <a:ln/>
        </p:spPr>
        <p:txBody>
          <a:bodyPr wrap="square" rtlCol="0" anchor="ctr"/>
          <a:lstStyle/>
          <a:p>
            <a:pPr algn="l" indent="0" marL="0">
              <a:buNone/>
            </a:pPr>
            <a:r>
              <a:rPr lang="en-US" sz="2000" dirty="0">
                <a:solidFill>
                  <a:srgbClr val="2C5282"/>
                </a:solidFill>
                <a:latin typeface="Arial" pitchFamily="34" charset="0"/>
                <a:ea typeface="Arial" pitchFamily="34" charset="-122"/>
                <a:cs typeface="Arial" pitchFamily="34" charset="-120"/>
              </a:rPr>
              <a:t>Nécessité d'améliorer les temps de réponse</a:t>
            </a:r>
            <a:endParaRPr lang="en-US" sz="2000" dirty="0"/>
          </a:p>
        </p:txBody>
      </p:sp>
      <p:sp>
        <p:nvSpPr>
          <p:cNvPr id="8" name="Text 6"/>
          <p:cNvSpPr/>
          <p:nvPr/>
        </p:nvSpPr>
        <p:spPr>
          <a:xfrm>
            <a:off x="640080" y="3017520"/>
            <a:ext cx="7863840" cy="457200"/>
          </a:xfrm>
          <a:prstGeom prst="rect">
            <a:avLst/>
          </a:prstGeom>
          <a:noFill/>
          <a:ln/>
        </p:spPr>
        <p:txBody>
          <a:bodyPr wrap="square" rtlCol="0" anchor="ctr"/>
          <a:lstStyle/>
          <a:p>
            <a:pPr algn="l" indent="0" marL="0">
              <a:buNone/>
            </a:pPr>
            <a:r>
              <a:rPr lang="en-US" sz="2000" dirty="0">
                <a:solidFill>
                  <a:srgbClr val="2C5282"/>
                </a:solidFill>
                <a:latin typeface="Arial" pitchFamily="34" charset="0"/>
                <a:ea typeface="Arial" pitchFamily="34" charset="-122"/>
                <a:cs typeface="Arial" pitchFamily="34" charset="-120"/>
              </a:rPr>
              <a:t>Solution : cache distribué avec Redis</a:t>
            </a:r>
            <a:endParaRPr lang="en-US" sz="2000" dirty="0"/>
          </a:p>
        </p:txBody>
      </p:sp>
      <p:sp>
        <p:nvSpPr>
          <p:cNvPr id="9" name="Shape 7"/>
          <p:cNvSpPr/>
          <p:nvPr/>
        </p:nvSpPr>
        <p:spPr>
          <a:xfrm>
            <a:off x="457200" y="3657600"/>
            <a:ext cx="8229600" cy="1097280"/>
          </a:xfrm>
          <a:prstGeom prst="roundRect">
            <a:avLst>
              <a:gd name="adj" fmla="val 8333"/>
            </a:avLst>
          </a:prstGeom>
          <a:solidFill>
            <a:srgbClr val="FFFFFF"/>
          </a:solidFill>
          <a:ln w="25400">
            <a:solidFill>
              <a:srgbClr val="E2E8F0"/>
            </a:solidFill>
            <a:prstDash val="solid"/>
          </a:ln>
        </p:spPr>
      </p:sp>
      <p:sp>
        <p:nvSpPr>
          <p:cNvPr id="10" name="Text 8"/>
          <p:cNvSpPr/>
          <p:nvPr/>
        </p:nvSpPr>
        <p:spPr>
          <a:xfrm>
            <a:off x="640080" y="3703320"/>
            <a:ext cx="7863840" cy="320040"/>
          </a:xfrm>
          <a:prstGeom prst="rect">
            <a:avLst/>
          </a:prstGeom>
          <a:noFill/>
          <a:ln/>
        </p:spPr>
        <p:txBody>
          <a:bodyPr wrap="square" rtlCol="0" anchor="ctr"/>
          <a:lstStyle/>
          <a:p>
            <a:pPr algn="l" indent="0" marL="0">
              <a:buNone/>
            </a:pPr>
            <a:r>
              <a:rPr lang="en-US" sz="2000" b="1" dirty="0">
                <a:solidFill>
                  <a:srgbClr val="1E3A5F"/>
                </a:solidFill>
                <a:latin typeface="Arial" pitchFamily="34" charset="0"/>
                <a:ea typeface="Arial" pitchFamily="34" charset="-122"/>
                <a:cs typeface="Arial" pitchFamily="34" charset="-120"/>
              </a:rPr>
              <a:t>Objectifs du Projet</a:t>
            </a:r>
            <a:endParaRPr lang="en-US" sz="2000" dirty="0"/>
          </a:p>
        </p:txBody>
      </p:sp>
      <p:sp>
        <p:nvSpPr>
          <p:cNvPr id="11" name="Text 9"/>
          <p:cNvSpPr/>
          <p:nvPr/>
        </p:nvSpPr>
        <p:spPr>
          <a:xfrm>
            <a:off x="640080" y="4069080"/>
            <a:ext cx="7863840" cy="640080"/>
          </a:xfrm>
          <a:prstGeom prst="rect">
            <a:avLst/>
          </a:prstGeom>
          <a:noFill/>
          <a:ln/>
        </p:spPr>
        <p:txBody>
          <a:bodyPr wrap="square" rtlCol="0" anchor="t"/>
          <a:lstStyle/>
          <a:p>
            <a:pPr algn="l" indent="0" marL="0">
              <a:buNone/>
            </a:pPr>
            <a:r>
              <a:rPr lang="en-US" sz="1600" dirty="0">
                <a:solidFill>
                  <a:srgbClr val="2C5282"/>
                </a:solidFill>
                <a:latin typeface="Arial" pitchFamily="34" charset="0"/>
                <a:ea typeface="Arial" pitchFamily="34" charset="-122"/>
                <a:cs typeface="Arial" pitchFamily="34" charset="-120"/>
              </a:rPr>
              <a:t>Déployer Redis avec Docker Compose, intégrer le cache dans les opérations de lecture/écriture, mesurer l'amélioration des performances</a:t>
            </a:r>
            <a:endParaRPr lang="en-US" sz="1600" dirty="0"/>
          </a:p>
        </p:txBody>
      </p:sp>
      <p:sp>
        <p:nvSpPr>
          <p:cNvPr id="12" name="Shape 10"/>
          <p:cNvSpPr/>
          <p:nvPr/>
        </p:nvSpPr>
        <p:spPr>
          <a:xfrm>
            <a:off x="8503920" y="4754880"/>
            <a:ext cx="320040" cy="320040"/>
          </a:xfrm>
          <a:prstGeom prst="ellipse">
            <a:avLst/>
          </a:prstGeom>
          <a:solidFill>
            <a:srgbClr val="3182CE"/>
          </a:solidFill>
          <a:ln/>
        </p:spPr>
      </p:sp>
      <p:sp>
        <p:nvSpPr>
          <p:cNvPr id="13" name="Text 11"/>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Architecture du Système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3200400" y="1188720"/>
            <a:ext cx="2743200" cy="731520"/>
          </a:xfrm>
          <a:prstGeom prst="roundRect">
            <a:avLst>
              <a:gd name="adj" fmla="val 12500"/>
            </a:avLst>
          </a:prstGeom>
          <a:solidFill>
            <a:srgbClr val="3182CE"/>
          </a:solidFill>
          <a:ln/>
        </p:spPr>
      </p:sp>
      <p:sp>
        <p:nvSpPr>
          <p:cNvPr id="5" name="Text 3"/>
          <p:cNvSpPr/>
          <p:nvPr/>
        </p:nvSpPr>
        <p:spPr>
          <a:xfrm>
            <a:off x="3200400" y="1188720"/>
            <a:ext cx="2743200" cy="7315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Next.js App</a:t>
            </a:r>
            <a:endParaRPr lang="en-US" sz="1800" dirty="0"/>
          </a:p>
        </p:txBody>
      </p:sp>
      <p:sp>
        <p:nvSpPr>
          <p:cNvPr id="6" name="Shape 4"/>
          <p:cNvSpPr/>
          <p:nvPr/>
        </p:nvSpPr>
        <p:spPr>
          <a:xfrm>
            <a:off x="457200" y="2560320"/>
            <a:ext cx="2743200" cy="731520"/>
          </a:xfrm>
          <a:prstGeom prst="roundRect">
            <a:avLst>
              <a:gd name="adj" fmla="val 12500"/>
            </a:avLst>
          </a:prstGeom>
          <a:solidFill>
            <a:srgbClr val="DC382D"/>
          </a:solidFill>
          <a:ln/>
        </p:spPr>
      </p:sp>
      <p:sp>
        <p:nvSpPr>
          <p:cNvPr id="7" name="Text 5"/>
          <p:cNvSpPr/>
          <p:nvPr/>
        </p:nvSpPr>
        <p:spPr>
          <a:xfrm>
            <a:off x="457200" y="2560320"/>
            <a:ext cx="2743200" cy="7315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Redis Cache</a:t>
            </a:r>
            <a:endParaRPr lang="en-US" sz="1800" dirty="0"/>
          </a:p>
        </p:txBody>
      </p:sp>
      <p:sp>
        <p:nvSpPr>
          <p:cNvPr id="8" name="Shape 6"/>
          <p:cNvSpPr/>
          <p:nvPr/>
        </p:nvSpPr>
        <p:spPr>
          <a:xfrm>
            <a:off x="5943600" y="2560320"/>
            <a:ext cx="2743200" cy="731520"/>
          </a:xfrm>
          <a:prstGeom prst="roundRect">
            <a:avLst>
              <a:gd name="adj" fmla="val 12500"/>
            </a:avLst>
          </a:prstGeom>
          <a:solidFill>
            <a:srgbClr val="2C5282"/>
          </a:solidFill>
          <a:ln/>
        </p:spPr>
      </p:sp>
      <p:sp>
        <p:nvSpPr>
          <p:cNvPr id="9" name="Text 7"/>
          <p:cNvSpPr/>
          <p:nvPr/>
        </p:nvSpPr>
        <p:spPr>
          <a:xfrm>
            <a:off x="5943600" y="2560320"/>
            <a:ext cx="2743200" cy="7315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PostgreSQL</a:t>
            </a:r>
            <a:endParaRPr lang="en-US" sz="1800" dirty="0"/>
          </a:p>
        </p:txBody>
      </p:sp>
      <p:sp>
        <p:nvSpPr>
          <p:cNvPr id="10" name="Text 8"/>
          <p:cNvSpPr/>
          <p:nvPr/>
        </p:nvSpPr>
        <p:spPr>
          <a:xfrm>
            <a:off x="1828800" y="1920240"/>
            <a:ext cx="1371600" cy="640080"/>
          </a:xfrm>
          <a:prstGeom prst="rect">
            <a:avLst/>
          </a:prstGeom>
          <a:noFill/>
          <a:ln/>
        </p:spPr>
        <p:txBody>
          <a:bodyPr wrap="square" rtlCol="0" anchor="ctr"/>
          <a:lstStyle/>
          <a:p>
            <a:pPr algn="ctr" indent="0" marL="0">
              <a:buNone/>
            </a:pPr>
            <a:r>
              <a:rPr lang="en-US" sz="4000" dirty="0">
                <a:solidFill>
                  <a:srgbClr val="E2E8F0"/>
                </a:solidFill>
                <a:latin typeface="Arial" pitchFamily="34" charset="0"/>
                <a:ea typeface="Arial" pitchFamily="34" charset="-122"/>
                <a:cs typeface="Arial" pitchFamily="34" charset="-120"/>
              </a:rPr>
              <a:t>↓</a:t>
            </a:r>
            <a:endParaRPr lang="en-US" sz="4000" dirty="0"/>
          </a:p>
        </p:txBody>
      </p:sp>
      <p:sp>
        <p:nvSpPr>
          <p:cNvPr id="11" name="Text 9"/>
          <p:cNvSpPr/>
          <p:nvPr/>
        </p:nvSpPr>
        <p:spPr>
          <a:xfrm>
            <a:off x="5943600" y="1920240"/>
            <a:ext cx="1371600" cy="640080"/>
          </a:xfrm>
          <a:prstGeom prst="rect">
            <a:avLst/>
          </a:prstGeom>
          <a:noFill/>
          <a:ln/>
        </p:spPr>
        <p:txBody>
          <a:bodyPr wrap="square" rtlCol="0" anchor="ctr"/>
          <a:lstStyle/>
          <a:p>
            <a:pPr algn="ctr" indent="0" marL="0">
              <a:buNone/>
            </a:pPr>
            <a:r>
              <a:rPr lang="en-US" sz="4000" dirty="0">
                <a:solidFill>
                  <a:srgbClr val="E2E8F0"/>
                </a:solidFill>
                <a:latin typeface="Arial" pitchFamily="34" charset="0"/>
                <a:ea typeface="Arial" pitchFamily="34" charset="-122"/>
                <a:cs typeface="Arial" pitchFamily="34" charset="-120"/>
              </a:rPr>
              <a:t>↓</a:t>
            </a:r>
            <a:endParaRPr lang="en-US" sz="4000" dirty="0"/>
          </a:p>
        </p:txBody>
      </p:sp>
      <p:sp>
        <p:nvSpPr>
          <p:cNvPr id="12" name="Text 10"/>
          <p:cNvSpPr/>
          <p:nvPr/>
        </p:nvSpPr>
        <p:spPr>
          <a:xfrm>
            <a:off x="640080" y="3383280"/>
            <a:ext cx="7863840" cy="3200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Pattern Cache-Aside (Lazy Loading)</a:t>
            </a:r>
            <a:endParaRPr lang="en-US" sz="1800" dirty="0"/>
          </a:p>
        </p:txBody>
      </p:sp>
      <p:sp>
        <p:nvSpPr>
          <p:cNvPr id="13" name="Text 11"/>
          <p:cNvSpPr/>
          <p:nvPr/>
        </p:nvSpPr>
        <p:spPr>
          <a:xfrm>
            <a:off x="640080" y="3749040"/>
            <a:ext cx="7863840" cy="3200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Vérification du cache avant la base de données</a:t>
            </a:r>
            <a:endParaRPr lang="en-US" sz="1800" dirty="0"/>
          </a:p>
        </p:txBody>
      </p:sp>
      <p:sp>
        <p:nvSpPr>
          <p:cNvPr id="14" name="Text 12"/>
          <p:cNvSpPr/>
          <p:nvPr/>
        </p:nvSpPr>
        <p:spPr>
          <a:xfrm>
            <a:off x="640080" y="4114800"/>
            <a:ext cx="7863840" cy="3200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Stockage des résultats avec TTL configurable</a:t>
            </a:r>
            <a:endParaRPr lang="en-US" sz="1800" dirty="0"/>
          </a:p>
        </p:txBody>
      </p:sp>
      <p:sp>
        <p:nvSpPr>
          <p:cNvPr id="15" name="Text 13"/>
          <p:cNvSpPr/>
          <p:nvPr/>
        </p:nvSpPr>
        <p:spPr>
          <a:xfrm>
            <a:off x="640080" y="4480560"/>
            <a:ext cx="7863840" cy="3200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Réduction drastique du temps de réponse</a:t>
            </a:r>
            <a:endParaRPr lang="en-US" sz="1800" dirty="0"/>
          </a:p>
        </p:txBody>
      </p:sp>
      <p:sp>
        <p:nvSpPr>
          <p:cNvPr id="16" name="Shape 14"/>
          <p:cNvSpPr/>
          <p:nvPr/>
        </p:nvSpPr>
        <p:spPr>
          <a:xfrm>
            <a:off x="8503920" y="4754880"/>
            <a:ext cx="320040" cy="320040"/>
          </a:xfrm>
          <a:prstGeom prst="ellipse">
            <a:avLst/>
          </a:prstGeom>
          <a:solidFill>
            <a:srgbClr val="3182CE"/>
          </a:solidFill>
          <a:ln/>
        </p:spPr>
      </p:sp>
      <p:sp>
        <p:nvSpPr>
          <p:cNvPr id="17" name="Text 15"/>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l" indent="0" marL="0">
              <a:buNone/>
            </a:pPr>
            <a:r>
              <a:rPr lang="en-US" sz="3200" b="1" dirty="0">
                <a:solidFill>
                  <a:srgbClr val="1E3A5F"/>
                </a:solidFill>
                <a:latin typeface="Arial" pitchFamily="34" charset="0"/>
                <a:ea typeface="Arial" pitchFamily="34" charset="-122"/>
                <a:cs typeface="Arial" pitchFamily="34" charset="-120"/>
              </a:rPr>
              <a:t>Infrastructure Docker</a:t>
            </a:r>
            <a:endParaRPr lang="en-US" sz="3200" dirty="0"/>
          </a:p>
        </p:txBody>
      </p:sp>
      <p:sp>
        <p:nvSpPr>
          <p:cNvPr id="3" name="Shape 1"/>
          <p:cNvSpPr/>
          <p:nvPr/>
        </p:nvSpPr>
        <p:spPr>
          <a:xfrm>
            <a:off x="457200" y="914400"/>
            <a:ext cx="1371600" cy="45720"/>
          </a:xfrm>
          <a:prstGeom prst="rect">
            <a:avLst/>
          </a:prstGeom>
          <a:solidFill>
            <a:srgbClr val="3182CE"/>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743200"/>
                <a:gridCol w="1828800"/>
                <a:gridCol w="1828800"/>
              </a:tblGrid>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Service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Image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Port</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Description</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PostgreSQL</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postgres:16-alpine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5434:5432</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Base de données principale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Redis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redis:7-alpine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6379:6379</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Cache distribué en mémoire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Next.js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Dockerfile.dev</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3000:3000</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Application web</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32004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Docker Compose pour l'orchestration</a:t>
            </a:r>
            <a:endParaRPr lang="en-US" sz="1800" dirty="0"/>
          </a:p>
        </p:txBody>
      </p:sp>
      <p:sp>
        <p:nvSpPr>
          <p:cNvPr id="6" name="Text 3"/>
          <p:cNvSpPr/>
          <p:nvPr/>
        </p:nvSpPr>
        <p:spPr>
          <a:xfrm>
            <a:off x="640080" y="36118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Volume persistant redis_data</a:t>
            </a:r>
            <a:endParaRPr lang="en-US" sz="1800" dirty="0"/>
          </a:p>
        </p:txBody>
      </p:sp>
      <p:sp>
        <p:nvSpPr>
          <p:cNvPr id="7" name="Text 4"/>
          <p:cNvSpPr/>
          <p:nvPr/>
        </p:nvSpPr>
        <p:spPr>
          <a:xfrm>
            <a:off x="640080" y="402336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Healthcheck intégré pour Redis</a:t>
            </a:r>
            <a:endParaRPr lang="en-US" sz="1800" dirty="0"/>
          </a:p>
        </p:txBody>
      </p:sp>
      <p:sp>
        <p:nvSpPr>
          <p:cNvPr id="8" name="Text 5"/>
          <p:cNvSpPr/>
          <p:nvPr/>
        </p:nvSpPr>
        <p:spPr>
          <a:xfrm>
            <a:off x="640080" y="443484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Variable REDIS_URL pour la connexion</a:t>
            </a:r>
            <a:endParaRPr lang="en-US" sz="1800" dirty="0"/>
          </a:p>
        </p:txBody>
      </p:sp>
      <p:sp>
        <p:nvSpPr>
          <p:cNvPr id="9" name="Shape 6"/>
          <p:cNvSpPr/>
          <p:nvPr/>
        </p:nvSpPr>
        <p:spPr>
          <a:xfrm>
            <a:off x="8503920" y="4754880"/>
            <a:ext cx="320040" cy="320040"/>
          </a:xfrm>
          <a:prstGeom prst="ellipse">
            <a:avLst/>
          </a:prstGeom>
          <a:solidFill>
            <a:srgbClr val="3182CE"/>
          </a:solidFill>
          <a:ln/>
        </p:spPr>
      </p:sp>
      <p:sp>
        <p:nvSpPr>
          <p:cNvPr id="10" name="Text 7"/>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Couche d'Abstraction du Cache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914400"/>
            <a:ext cx="8229600" cy="2560320"/>
          </a:xfrm>
          <a:prstGeom prst="roundRect">
            <a:avLst>
              <a:gd name="adj" fmla="val 1786"/>
            </a:avLst>
          </a:prstGeom>
          <a:solidFill>
            <a:srgbClr val="1A202C"/>
          </a:solidFill>
          <a:ln/>
        </p:spPr>
      </p:sp>
      <p:sp>
        <p:nvSpPr>
          <p:cNvPr id="5" name="Text 3"/>
          <p:cNvSpPr/>
          <p:nvPr/>
        </p:nvSpPr>
        <p:spPr>
          <a:xfrm>
            <a:off x="640080" y="1005840"/>
            <a:ext cx="7863840" cy="201168"/>
          </a:xfrm>
          <a:prstGeom prst="rect">
            <a:avLst/>
          </a:prstGeom>
          <a:noFill/>
          <a:ln/>
        </p:spPr>
        <p:txBody>
          <a:bodyPr wrap="square" rtlCol="0" anchor="ctr"/>
          <a:lstStyle/>
          <a:p>
            <a:pPr algn="l" indent="0" marL="0">
              <a:buNone/>
            </a:pPr>
            <a:r>
              <a:rPr lang="en-US" sz="1400" dirty="0">
                <a:solidFill>
                  <a:srgbClr val="718096"/>
                </a:solidFill>
                <a:latin typeface="Consolas" pitchFamily="34" charset="0"/>
                <a:ea typeface="Consolas" pitchFamily="34" charset="-122"/>
                <a:cs typeface="Consolas" pitchFamily="34" charset="-120"/>
              </a:rPr>
              <a:t>// src/lib/cache.ts</a:t>
            </a:r>
            <a:endParaRPr lang="en-US" sz="1400" dirty="0"/>
          </a:p>
        </p:txBody>
      </p:sp>
      <p:sp>
        <p:nvSpPr>
          <p:cNvPr id="6" name="Text 4"/>
          <p:cNvSpPr/>
          <p:nvPr/>
        </p:nvSpPr>
        <p:spPr>
          <a:xfrm>
            <a:off x="640080" y="1225296"/>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export async function cacheGet&lt;T&gt;(key: string) {</a:t>
            </a:r>
            <a:endParaRPr lang="en-US" sz="1400" dirty="0"/>
          </a:p>
        </p:txBody>
      </p:sp>
      <p:sp>
        <p:nvSpPr>
          <p:cNvPr id="7" name="Text 5"/>
          <p:cNvSpPr/>
          <p:nvPr/>
        </p:nvSpPr>
        <p:spPr>
          <a:xfrm>
            <a:off x="640080" y="1444752"/>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client = getRedisClient();</a:t>
            </a:r>
            <a:endParaRPr lang="en-US" sz="1400" dirty="0"/>
          </a:p>
        </p:txBody>
      </p:sp>
      <p:sp>
        <p:nvSpPr>
          <p:cNvPr id="8" name="Text 6"/>
          <p:cNvSpPr/>
          <p:nvPr/>
        </p:nvSpPr>
        <p:spPr>
          <a:xfrm>
            <a:off x="640080" y="1664208"/>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data = await client.get(key);</a:t>
            </a:r>
            <a:endParaRPr lang="en-US" sz="1400" dirty="0"/>
          </a:p>
        </p:txBody>
      </p:sp>
      <p:sp>
        <p:nvSpPr>
          <p:cNvPr id="9" name="Text 7"/>
          <p:cNvSpPr/>
          <p:nvPr/>
        </p:nvSpPr>
        <p:spPr>
          <a:xfrm>
            <a:off x="640080" y="1883664"/>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if (!data) return null;</a:t>
            </a:r>
            <a:endParaRPr lang="en-US" sz="1400" dirty="0"/>
          </a:p>
        </p:txBody>
      </p:sp>
      <p:sp>
        <p:nvSpPr>
          <p:cNvPr id="10" name="Text 8"/>
          <p:cNvSpPr/>
          <p:nvPr/>
        </p:nvSpPr>
        <p:spPr>
          <a:xfrm>
            <a:off x="640080" y="2103120"/>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return JSON.parse(data) as T;</a:t>
            </a:r>
            <a:endParaRPr lang="en-US" sz="1400" dirty="0"/>
          </a:p>
        </p:txBody>
      </p:sp>
      <p:sp>
        <p:nvSpPr>
          <p:cNvPr id="11" name="Text 9"/>
          <p:cNvSpPr/>
          <p:nvPr/>
        </p:nvSpPr>
        <p:spPr>
          <a:xfrm>
            <a:off x="640080" y="2322576"/>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2" name="Text 10"/>
          <p:cNvSpPr/>
          <p:nvPr/>
        </p:nvSpPr>
        <p:spPr>
          <a:xfrm>
            <a:off x="640080" y="2542032"/>
            <a:ext cx="7863840" cy="201168"/>
          </a:xfrm>
          <a:prstGeom prst="rect">
            <a:avLst/>
          </a:prstGeom>
          <a:noFill/>
          <a:ln/>
        </p:spPr>
        <p:txBody>
          <a:bodyPr wrap="square" rtlCol="0" anchor="ctr"/>
          <a:lstStyle/>
          <a:p>
            <a:pPr algn="l" indent="0" marL="0">
              <a:buNone/>
            </a:pPr>
            <a:endParaRPr lang="en-US" sz="1400" dirty="0"/>
          </a:p>
        </p:txBody>
      </p:sp>
      <p:sp>
        <p:nvSpPr>
          <p:cNvPr id="13" name="Text 11"/>
          <p:cNvSpPr/>
          <p:nvPr/>
        </p:nvSpPr>
        <p:spPr>
          <a:xfrm>
            <a:off x="640080" y="2761488"/>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export async function cacheSet(key, value, ttl = 300) {</a:t>
            </a:r>
            <a:endParaRPr lang="en-US" sz="1400" dirty="0"/>
          </a:p>
        </p:txBody>
      </p:sp>
      <p:sp>
        <p:nvSpPr>
          <p:cNvPr id="14" name="Text 12"/>
          <p:cNvSpPr/>
          <p:nvPr/>
        </p:nvSpPr>
        <p:spPr>
          <a:xfrm>
            <a:off x="640080" y="2980944"/>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client = getRedisClient();</a:t>
            </a:r>
            <a:endParaRPr lang="en-US" sz="1400" dirty="0"/>
          </a:p>
        </p:txBody>
      </p:sp>
      <p:sp>
        <p:nvSpPr>
          <p:cNvPr id="15" name="Text 13"/>
          <p:cNvSpPr/>
          <p:nvPr/>
        </p:nvSpPr>
        <p:spPr>
          <a:xfrm>
            <a:off x="640080" y="3200400"/>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await client.setex(key, ttl, JSON.stringify(value));</a:t>
            </a:r>
            <a:endParaRPr lang="en-US" sz="1400" dirty="0"/>
          </a:p>
        </p:txBody>
      </p:sp>
      <p:sp>
        <p:nvSpPr>
          <p:cNvPr id="16" name="Text 14"/>
          <p:cNvSpPr/>
          <p:nvPr/>
        </p:nvSpPr>
        <p:spPr>
          <a:xfrm>
            <a:off x="640080" y="3419856"/>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7" name="Text 15"/>
          <p:cNvSpPr/>
          <p:nvPr/>
        </p:nvSpPr>
        <p:spPr>
          <a:xfrm>
            <a:off x="640080" y="356616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Interface simple et réutilisable</a:t>
            </a:r>
            <a:endParaRPr lang="en-US" sz="1600" dirty="0"/>
          </a:p>
        </p:txBody>
      </p:sp>
      <p:sp>
        <p:nvSpPr>
          <p:cNvPr id="18" name="Text 16"/>
          <p:cNvSpPr/>
          <p:nvPr/>
        </p:nvSpPr>
        <p:spPr>
          <a:xfrm>
            <a:off x="640080" y="388620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Typage TypeScript avec génériques</a:t>
            </a:r>
            <a:endParaRPr lang="en-US" sz="1600" dirty="0"/>
          </a:p>
        </p:txBody>
      </p:sp>
      <p:sp>
        <p:nvSpPr>
          <p:cNvPr id="19" name="Text 17"/>
          <p:cNvSpPr/>
          <p:nvPr/>
        </p:nvSpPr>
        <p:spPr>
          <a:xfrm>
            <a:off x="640080" y="420624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Sérialisation JSON automatique</a:t>
            </a:r>
            <a:endParaRPr lang="en-US" sz="1600" dirty="0"/>
          </a:p>
        </p:txBody>
      </p:sp>
      <p:sp>
        <p:nvSpPr>
          <p:cNvPr id="20" name="Text 18"/>
          <p:cNvSpPr/>
          <p:nvPr/>
        </p:nvSpPr>
        <p:spPr>
          <a:xfrm>
            <a:off x="640080" y="452628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TTL configurable par défaut 300s</a:t>
            </a:r>
            <a:endParaRPr lang="en-US" sz="1600" dirty="0"/>
          </a:p>
        </p:txBody>
      </p:sp>
      <p:sp>
        <p:nvSpPr>
          <p:cNvPr id="21" name="Shape 19"/>
          <p:cNvSpPr/>
          <p:nvPr/>
        </p:nvSpPr>
        <p:spPr>
          <a:xfrm>
            <a:off x="8503920" y="4754880"/>
            <a:ext cx="320040" cy="320040"/>
          </a:xfrm>
          <a:prstGeom prst="ellipse">
            <a:avLst/>
          </a:prstGeom>
          <a:solidFill>
            <a:srgbClr val="3182CE"/>
          </a:solidFill>
          <a:ln/>
        </p:spPr>
      </p:sp>
      <p:sp>
        <p:nvSpPr>
          <p:cNvPr id="22" name="Text 20"/>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Intégration dans les Actions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280160"/>
            <a:ext cx="2286000" cy="548640"/>
          </a:xfrm>
          <a:prstGeom prst="roundRect">
            <a:avLst>
              <a:gd name="adj" fmla="val 16667"/>
            </a:avLst>
          </a:prstGeom>
          <a:solidFill>
            <a:srgbClr val="2C5282"/>
          </a:solidFill>
          <a:ln/>
        </p:spPr>
      </p:sp>
      <p:sp>
        <p:nvSpPr>
          <p:cNvPr id="5" name="Text 3"/>
          <p:cNvSpPr/>
          <p:nvPr/>
        </p:nvSpPr>
        <p:spPr>
          <a:xfrm>
            <a:off x="457200" y="1280160"/>
            <a:ext cx="2286000"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 Vérifier Cache</a:t>
            </a:r>
            <a:endParaRPr lang="en-US" sz="1600" dirty="0"/>
          </a:p>
        </p:txBody>
      </p:sp>
      <p:sp>
        <p:nvSpPr>
          <p:cNvPr id="6" name="Text 4"/>
          <p:cNvSpPr/>
          <p:nvPr/>
        </p:nvSpPr>
        <p:spPr>
          <a:xfrm>
            <a:off x="2834640" y="1280160"/>
            <a:ext cx="457200" cy="548640"/>
          </a:xfrm>
          <a:prstGeom prst="rect">
            <a:avLst/>
          </a:prstGeom>
          <a:noFill/>
          <a:ln/>
        </p:spPr>
        <p:txBody>
          <a:bodyPr wrap="square" rtlCol="0" anchor="ctr"/>
          <a:lstStyle/>
          <a:p>
            <a:pPr algn="ctr" indent="0" marL="0">
              <a:buNone/>
            </a:pPr>
            <a:r>
              <a:rPr lang="en-US" sz="2400" dirty="0">
                <a:solidFill>
                  <a:srgbClr val="3182CE"/>
                </a:solidFill>
                <a:latin typeface="Arial" pitchFamily="34" charset="0"/>
                <a:ea typeface="Arial" pitchFamily="34" charset="-122"/>
                <a:cs typeface="Arial" pitchFamily="34" charset="-120"/>
              </a:rPr>
              <a:t>→</a:t>
            </a:r>
            <a:endParaRPr lang="en-US" sz="2400" dirty="0"/>
          </a:p>
        </p:txBody>
      </p:sp>
      <p:sp>
        <p:nvSpPr>
          <p:cNvPr id="7" name="Shape 5"/>
          <p:cNvSpPr/>
          <p:nvPr/>
        </p:nvSpPr>
        <p:spPr>
          <a:xfrm>
            <a:off x="3383280" y="1280160"/>
            <a:ext cx="2286000" cy="548640"/>
          </a:xfrm>
          <a:prstGeom prst="roundRect">
            <a:avLst>
              <a:gd name="adj" fmla="val 16667"/>
            </a:avLst>
          </a:prstGeom>
          <a:solidFill>
            <a:srgbClr val="059669"/>
          </a:solidFill>
          <a:ln/>
        </p:spPr>
      </p:sp>
      <p:sp>
        <p:nvSpPr>
          <p:cNvPr id="8" name="Text 6"/>
          <p:cNvSpPr/>
          <p:nvPr/>
        </p:nvSpPr>
        <p:spPr>
          <a:xfrm>
            <a:off x="3383280" y="1280160"/>
            <a:ext cx="2286000"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 Cache Hit?</a:t>
            </a:r>
            <a:endParaRPr lang="en-US" sz="1600" dirty="0"/>
          </a:p>
        </p:txBody>
      </p:sp>
      <p:sp>
        <p:nvSpPr>
          <p:cNvPr id="9" name="Text 7"/>
          <p:cNvSpPr/>
          <p:nvPr/>
        </p:nvSpPr>
        <p:spPr>
          <a:xfrm>
            <a:off x="4297680" y="1828800"/>
            <a:ext cx="457200" cy="640080"/>
          </a:xfrm>
          <a:prstGeom prst="rect">
            <a:avLst/>
          </a:prstGeom>
          <a:noFill/>
          <a:ln/>
        </p:spPr>
        <p:txBody>
          <a:bodyPr wrap="square" rtlCol="0" anchor="ctr"/>
          <a:lstStyle/>
          <a:p>
            <a:pPr algn="ctr" indent="0" marL="0">
              <a:buNone/>
            </a:pPr>
            <a:r>
              <a:rPr lang="en-US" sz="2400" dirty="0">
                <a:solidFill>
                  <a:srgbClr val="059669"/>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3383280" y="2286000"/>
            <a:ext cx="2286000" cy="548640"/>
          </a:xfrm>
          <a:prstGeom prst="roundRect">
            <a:avLst>
              <a:gd name="adj" fmla="val 16667"/>
            </a:avLst>
          </a:prstGeom>
          <a:solidFill>
            <a:srgbClr val="10B981"/>
          </a:solidFill>
          <a:ln/>
        </p:spPr>
      </p:sp>
      <p:sp>
        <p:nvSpPr>
          <p:cNvPr id="11" name="Text 9"/>
          <p:cNvSpPr/>
          <p:nvPr/>
        </p:nvSpPr>
        <p:spPr>
          <a:xfrm>
            <a:off x="3383280" y="2286000"/>
            <a:ext cx="228600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Oui: Retourner</a:t>
            </a:r>
            <a:endParaRPr lang="en-US" sz="1400" dirty="0"/>
          </a:p>
        </p:txBody>
      </p:sp>
      <p:sp>
        <p:nvSpPr>
          <p:cNvPr id="12" name="Text 10"/>
          <p:cNvSpPr/>
          <p:nvPr/>
        </p:nvSpPr>
        <p:spPr>
          <a:xfrm>
            <a:off x="5760720" y="1280160"/>
            <a:ext cx="457200" cy="548640"/>
          </a:xfrm>
          <a:prstGeom prst="rect">
            <a:avLst/>
          </a:prstGeom>
          <a:noFill/>
          <a:ln/>
        </p:spPr>
        <p:txBody>
          <a:bodyPr wrap="square" rtlCol="0" anchor="ctr"/>
          <a:lstStyle/>
          <a:p>
            <a:pPr algn="ctr" indent="0" marL="0">
              <a:buNone/>
            </a:pPr>
            <a:r>
              <a:rPr lang="en-US" sz="2400" dirty="0">
                <a:solidFill>
                  <a:srgbClr val="3182CE"/>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6309360" y="1280160"/>
            <a:ext cx="2286000" cy="548640"/>
          </a:xfrm>
          <a:prstGeom prst="roundRect">
            <a:avLst>
              <a:gd name="adj" fmla="val 16667"/>
            </a:avLst>
          </a:prstGeom>
          <a:solidFill>
            <a:srgbClr val="DC2626"/>
          </a:solidFill>
          <a:ln/>
        </p:spPr>
      </p:sp>
      <p:sp>
        <p:nvSpPr>
          <p:cNvPr id="14" name="Text 12"/>
          <p:cNvSpPr/>
          <p:nvPr/>
        </p:nvSpPr>
        <p:spPr>
          <a:xfrm>
            <a:off x="6309360" y="1280160"/>
            <a:ext cx="2286000" cy="5486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 Cache Miss</a:t>
            </a:r>
            <a:endParaRPr lang="en-US" sz="1600" dirty="0"/>
          </a:p>
        </p:txBody>
      </p:sp>
      <p:sp>
        <p:nvSpPr>
          <p:cNvPr id="15" name="Text 13"/>
          <p:cNvSpPr/>
          <p:nvPr/>
        </p:nvSpPr>
        <p:spPr>
          <a:xfrm>
            <a:off x="7223760" y="1828800"/>
            <a:ext cx="457200" cy="640080"/>
          </a:xfrm>
          <a:prstGeom prst="rect">
            <a:avLst/>
          </a:prstGeom>
          <a:noFill/>
          <a:ln/>
        </p:spPr>
        <p:txBody>
          <a:bodyPr wrap="square" rtlCol="0" anchor="ctr"/>
          <a:lstStyle/>
          <a:p>
            <a:pPr algn="ctr" indent="0" marL="0">
              <a:buNone/>
            </a:pPr>
            <a:r>
              <a:rPr lang="en-US" sz="2400" dirty="0">
                <a:solidFill>
                  <a:srgbClr val="DC2626"/>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6309360" y="2286000"/>
            <a:ext cx="2286000" cy="548640"/>
          </a:xfrm>
          <a:prstGeom prst="roundRect">
            <a:avLst>
              <a:gd name="adj" fmla="val 16667"/>
            </a:avLst>
          </a:prstGeom>
          <a:solidFill>
            <a:srgbClr val="2C5282"/>
          </a:solidFill>
          <a:ln/>
        </p:spPr>
      </p:sp>
      <p:sp>
        <p:nvSpPr>
          <p:cNvPr id="17" name="Text 15"/>
          <p:cNvSpPr/>
          <p:nvPr/>
        </p:nvSpPr>
        <p:spPr>
          <a:xfrm>
            <a:off x="6309360" y="2286000"/>
            <a:ext cx="228600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 Interroger DB</a:t>
            </a:r>
            <a:endParaRPr lang="en-US" sz="1400" dirty="0"/>
          </a:p>
        </p:txBody>
      </p:sp>
      <p:sp>
        <p:nvSpPr>
          <p:cNvPr id="18" name="Text 16"/>
          <p:cNvSpPr/>
          <p:nvPr/>
        </p:nvSpPr>
        <p:spPr>
          <a:xfrm>
            <a:off x="640080" y="292608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Génération de clé unique par requête</a:t>
            </a:r>
            <a:endParaRPr lang="en-US" sz="1600" dirty="0"/>
          </a:p>
        </p:txBody>
      </p:sp>
      <p:sp>
        <p:nvSpPr>
          <p:cNvPr id="19" name="Text 17"/>
          <p:cNvSpPr/>
          <p:nvPr/>
        </p:nvSpPr>
        <p:spPr>
          <a:xfrm>
            <a:off x="640080" y="329184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Vérification Redis avant PostgreSQL</a:t>
            </a:r>
            <a:endParaRPr lang="en-US" sz="1600" dirty="0"/>
          </a:p>
        </p:txBody>
      </p:sp>
      <p:sp>
        <p:nvSpPr>
          <p:cNvPr id="20" name="Text 18"/>
          <p:cNvSpPr/>
          <p:nvPr/>
        </p:nvSpPr>
        <p:spPr>
          <a:xfrm>
            <a:off x="640080" y="365760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Stockage automatique avec TTL approprié</a:t>
            </a:r>
            <a:endParaRPr lang="en-US" sz="1600" dirty="0"/>
          </a:p>
        </p:txBody>
      </p:sp>
      <p:sp>
        <p:nvSpPr>
          <p:cNvPr id="21" name="Text 19"/>
          <p:cNvSpPr/>
          <p:nvPr/>
        </p:nvSpPr>
        <p:spPr>
          <a:xfrm>
            <a:off x="640080" y="402336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Application cohérente sur toutes les lectures</a:t>
            </a:r>
            <a:endParaRPr lang="en-US" sz="1600" dirty="0"/>
          </a:p>
        </p:txBody>
      </p:sp>
      <p:sp>
        <p:nvSpPr>
          <p:cNvPr id="22" name="Shape 20"/>
          <p:cNvSpPr/>
          <p:nvPr/>
        </p:nvSpPr>
        <p:spPr>
          <a:xfrm>
            <a:off x="8503920" y="4754880"/>
            <a:ext cx="320040" cy="320040"/>
          </a:xfrm>
          <a:prstGeom prst="ellipse">
            <a:avLst/>
          </a:prstGeom>
          <a:solidFill>
            <a:srgbClr val="3182CE"/>
          </a:solidFill>
          <a:ln/>
        </p:spPr>
      </p:sp>
      <p:sp>
        <p:nvSpPr>
          <p:cNvPr id="23" name="Text 21"/>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Cache dans Launch Actions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914400"/>
            <a:ext cx="8229600" cy="2560320"/>
          </a:xfrm>
          <a:prstGeom prst="roundRect">
            <a:avLst>
              <a:gd name="adj" fmla="val 1786"/>
            </a:avLst>
          </a:prstGeom>
          <a:solidFill>
            <a:srgbClr val="1A202C"/>
          </a:solidFill>
          <a:ln/>
        </p:spPr>
      </p:sp>
      <p:sp>
        <p:nvSpPr>
          <p:cNvPr id="5" name="Text 3"/>
          <p:cNvSpPr/>
          <p:nvPr/>
        </p:nvSpPr>
        <p:spPr>
          <a:xfrm>
            <a:off x="640080" y="1005840"/>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export async function getLaunches({ filter, sort, search }) {</a:t>
            </a:r>
            <a:endParaRPr lang="en-US" sz="1400" dirty="0"/>
          </a:p>
        </p:txBody>
      </p:sp>
      <p:sp>
        <p:nvSpPr>
          <p:cNvPr id="6" name="Text 4"/>
          <p:cNvSpPr/>
          <p:nvPr/>
        </p:nvSpPr>
        <p:spPr>
          <a:xfrm>
            <a:off x="640080" y="1207008"/>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cacheKey = buildLaunchesKey(filter, sort, search);</a:t>
            </a:r>
            <a:endParaRPr lang="en-US" sz="1400" dirty="0"/>
          </a:p>
        </p:txBody>
      </p:sp>
      <p:sp>
        <p:nvSpPr>
          <p:cNvPr id="7" name="Text 5"/>
          <p:cNvSpPr/>
          <p:nvPr/>
        </p:nvSpPr>
        <p:spPr>
          <a:xfrm>
            <a:off x="640080" y="1408176"/>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8" name="Text 6"/>
          <p:cNvSpPr/>
          <p:nvPr/>
        </p:nvSpPr>
        <p:spPr>
          <a:xfrm>
            <a:off x="640080" y="1609344"/>
            <a:ext cx="7863840" cy="201168"/>
          </a:xfrm>
          <a:prstGeom prst="rect">
            <a:avLst/>
          </a:prstGeom>
          <a:noFill/>
          <a:ln/>
        </p:spPr>
        <p:txBody>
          <a:bodyPr wrap="square" rtlCol="0" anchor="ctr"/>
          <a:lstStyle/>
          <a:p>
            <a:pPr algn="l" indent="0" marL="0">
              <a:buNone/>
            </a:pPr>
            <a:r>
              <a:rPr lang="en-US" sz="1400" dirty="0">
                <a:solidFill>
                  <a:srgbClr val="718096"/>
                </a:solidFill>
                <a:latin typeface="Consolas" pitchFamily="34" charset="0"/>
                <a:ea typeface="Consolas" pitchFamily="34" charset="-122"/>
                <a:cs typeface="Consolas" pitchFamily="34" charset="-120"/>
              </a:rPr>
              <a:t>  // 1. Vérifier le cache</a:t>
            </a:r>
            <a:endParaRPr lang="en-US" sz="1400" dirty="0"/>
          </a:p>
        </p:txBody>
      </p:sp>
      <p:sp>
        <p:nvSpPr>
          <p:cNvPr id="9" name="Text 7"/>
          <p:cNvSpPr/>
          <p:nvPr/>
        </p:nvSpPr>
        <p:spPr>
          <a:xfrm>
            <a:off x="640080" y="1810512"/>
            <a:ext cx="7863840" cy="201168"/>
          </a:xfrm>
          <a:prstGeom prst="rect">
            <a:avLst/>
          </a:prstGeom>
          <a:noFill/>
          <a:ln/>
        </p:spPr>
        <p:txBody>
          <a:bodyPr wrap="square" rtlCol="0" anchor="ctr"/>
          <a:lstStyle/>
          <a:p>
            <a:pPr algn="l" indent="0" marL="0">
              <a:buNone/>
            </a:pPr>
            <a:r>
              <a:rPr lang="en-US" sz="1400" dirty="0">
                <a:solidFill>
                  <a:srgbClr val="FBBF24"/>
                </a:solidFill>
                <a:latin typeface="Consolas" pitchFamily="34" charset="0"/>
                <a:ea typeface="Consolas" pitchFamily="34" charset="-122"/>
                <a:cs typeface="Consolas" pitchFamily="34" charset="-120"/>
              </a:rPr>
              <a:t>  const cached = await cacheGet(cacheKey);</a:t>
            </a:r>
            <a:endParaRPr lang="en-US" sz="1400" dirty="0"/>
          </a:p>
        </p:txBody>
      </p:sp>
      <p:sp>
        <p:nvSpPr>
          <p:cNvPr id="10" name="Text 8"/>
          <p:cNvSpPr/>
          <p:nvPr/>
        </p:nvSpPr>
        <p:spPr>
          <a:xfrm>
            <a:off x="640080" y="2011680"/>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if (cached) return cached;</a:t>
            </a:r>
            <a:endParaRPr lang="en-US" sz="1400" dirty="0"/>
          </a:p>
        </p:txBody>
      </p:sp>
      <p:sp>
        <p:nvSpPr>
          <p:cNvPr id="11" name="Text 9"/>
          <p:cNvSpPr/>
          <p:nvPr/>
        </p:nvSpPr>
        <p:spPr>
          <a:xfrm>
            <a:off x="640080" y="2212848"/>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12" name="Text 10"/>
          <p:cNvSpPr/>
          <p:nvPr/>
        </p:nvSpPr>
        <p:spPr>
          <a:xfrm>
            <a:off x="640080" y="2414016"/>
            <a:ext cx="7863840" cy="201168"/>
          </a:xfrm>
          <a:prstGeom prst="rect">
            <a:avLst/>
          </a:prstGeom>
          <a:noFill/>
          <a:ln/>
        </p:spPr>
        <p:txBody>
          <a:bodyPr wrap="square" rtlCol="0" anchor="ctr"/>
          <a:lstStyle/>
          <a:p>
            <a:pPr algn="l" indent="0" marL="0">
              <a:buNone/>
            </a:pPr>
            <a:r>
              <a:rPr lang="en-US" sz="1400" dirty="0">
                <a:solidFill>
                  <a:srgbClr val="718096"/>
                </a:solidFill>
                <a:latin typeface="Consolas" pitchFamily="34" charset="0"/>
                <a:ea typeface="Consolas" pitchFamily="34" charset="-122"/>
                <a:cs typeface="Consolas" pitchFamily="34" charset="-120"/>
              </a:rPr>
              <a:t>  // 2. Interroger la base de données</a:t>
            </a:r>
            <a:endParaRPr lang="en-US" sz="1400" dirty="0"/>
          </a:p>
        </p:txBody>
      </p:sp>
      <p:sp>
        <p:nvSpPr>
          <p:cNvPr id="13" name="Text 11"/>
          <p:cNvSpPr/>
          <p:nvPr/>
        </p:nvSpPr>
        <p:spPr>
          <a:xfrm>
            <a:off x="640080" y="2615184"/>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results = await db.query(...);</a:t>
            </a:r>
            <a:endParaRPr lang="en-US" sz="1400" dirty="0"/>
          </a:p>
        </p:txBody>
      </p:sp>
      <p:sp>
        <p:nvSpPr>
          <p:cNvPr id="14" name="Text 12"/>
          <p:cNvSpPr/>
          <p:nvPr/>
        </p:nvSpPr>
        <p:spPr>
          <a:xfrm>
            <a:off x="640080" y="2816352"/>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15" name="Text 13"/>
          <p:cNvSpPr/>
          <p:nvPr/>
        </p:nvSpPr>
        <p:spPr>
          <a:xfrm>
            <a:off x="640080" y="3017520"/>
            <a:ext cx="7863840" cy="201168"/>
          </a:xfrm>
          <a:prstGeom prst="rect">
            <a:avLst/>
          </a:prstGeom>
          <a:noFill/>
          <a:ln/>
        </p:spPr>
        <p:txBody>
          <a:bodyPr wrap="square" rtlCol="0" anchor="ctr"/>
          <a:lstStyle/>
          <a:p>
            <a:pPr algn="l" indent="0" marL="0">
              <a:buNone/>
            </a:pPr>
            <a:r>
              <a:rPr lang="en-US" sz="1400" dirty="0">
                <a:solidFill>
                  <a:srgbClr val="718096"/>
                </a:solidFill>
                <a:latin typeface="Consolas" pitchFamily="34" charset="0"/>
                <a:ea typeface="Consolas" pitchFamily="34" charset="-122"/>
                <a:cs typeface="Consolas" pitchFamily="34" charset="-120"/>
              </a:rPr>
              <a:t>  // 3. Stocker dans le cache</a:t>
            </a:r>
            <a:endParaRPr lang="en-US" sz="1400" dirty="0"/>
          </a:p>
        </p:txBody>
      </p:sp>
      <p:sp>
        <p:nvSpPr>
          <p:cNvPr id="16" name="Text 14"/>
          <p:cNvSpPr/>
          <p:nvPr/>
        </p:nvSpPr>
        <p:spPr>
          <a:xfrm>
            <a:off x="640080" y="3218688"/>
            <a:ext cx="7863840" cy="201168"/>
          </a:xfrm>
          <a:prstGeom prst="rect">
            <a:avLst/>
          </a:prstGeom>
          <a:noFill/>
          <a:ln/>
        </p:spPr>
        <p:txBody>
          <a:bodyPr wrap="square" rtlCol="0" anchor="ctr"/>
          <a:lstStyle/>
          <a:p>
            <a:pPr algn="l" indent="0" marL="0">
              <a:buNone/>
            </a:pPr>
            <a:r>
              <a:rPr lang="en-US" sz="1400" dirty="0">
                <a:solidFill>
                  <a:srgbClr val="FBBF24"/>
                </a:solidFill>
                <a:latin typeface="Consolas" pitchFamily="34" charset="0"/>
                <a:ea typeface="Consolas" pitchFamily="34" charset="-122"/>
                <a:cs typeface="Consolas" pitchFamily="34" charset="-120"/>
              </a:rPr>
              <a:t>  await cacheSet(cacheKey, results, 300);</a:t>
            </a:r>
            <a:endParaRPr lang="en-US" sz="1400" dirty="0"/>
          </a:p>
        </p:txBody>
      </p:sp>
      <p:sp>
        <p:nvSpPr>
          <p:cNvPr id="17" name="Text 15"/>
          <p:cNvSpPr/>
          <p:nvPr/>
        </p:nvSpPr>
        <p:spPr>
          <a:xfrm>
            <a:off x="640080" y="3419856"/>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return results;</a:t>
            </a:r>
            <a:endParaRPr lang="en-US" sz="1400" dirty="0"/>
          </a:p>
        </p:txBody>
      </p:sp>
      <p:sp>
        <p:nvSpPr>
          <p:cNvPr id="18" name="Text 16"/>
          <p:cNvSpPr/>
          <p:nvPr/>
        </p:nvSpPr>
        <p:spPr>
          <a:xfrm>
            <a:off x="640080" y="3621024"/>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9" name="Text 17"/>
          <p:cNvSpPr/>
          <p:nvPr/>
        </p:nvSpPr>
        <p:spPr>
          <a:xfrm>
            <a:off x="640080" y="3566160"/>
            <a:ext cx="7863840" cy="256032"/>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Clé unique générée avec filter, sort, search</a:t>
            </a:r>
            <a:endParaRPr lang="en-US" sz="1600" dirty="0"/>
          </a:p>
        </p:txBody>
      </p:sp>
      <p:sp>
        <p:nvSpPr>
          <p:cNvPr id="20" name="Text 18"/>
          <p:cNvSpPr/>
          <p:nvPr/>
        </p:nvSpPr>
        <p:spPr>
          <a:xfrm>
            <a:off x="640080" y="3858768"/>
            <a:ext cx="7863840" cy="256032"/>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TTL de 300 secondes pour les lancements</a:t>
            </a:r>
            <a:endParaRPr lang="en-US" sz="1600" dirty="0"/>
          </a:p>
        </p:txBody>
      </p:sp>
      <p:sp>
        <p:nvSpPr>
          <p:cNvPr id="21" name="Text 19"/>
          <p:cNvSpPr/>
          <p:nvPr/>
        </p:nvSpPr>
        <p:spPr>
          <a:xfrm>
            <a:off x="640080" y="4151376"/>
            <a:ext cx="7863840" cy="256032"/>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Invalidation déclenchée lors des écritures</a:t>
            </a:r>
            <a:endParaRPr lang="en-US" sz="1600" dirty="0"/>
          </a:p>
        </p:txBody>
      </p:sp>
      <p:sp>
        <p:nvSpPr>
          <p:cNvPr id="22" name="Text 20"/>
          <p:cNvSpPr/>
          <p:nvPr/>
        </p:nvSpPr>
        <p:spPr>
          <a:xfrm>
            <a:off x="640080" y="4443984"/>
            <a:ext cx="7863840" cy="256032"/>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Opérations similaires pour getPosts, getCategories</a:t>
            </a:r>
            <a:endParaRPr lang="en-US" sz="1600" dirty="0"/>
          </a:p>
        </p:txBody>
      </p:sp>
      <p:sp>
        <p:nvSpPr>
          <p:cNvPr id="23" name="Shape 21"/>
          <p:cNvSpPr/>
          <p:nvPr/>
        </p:nvSpPr>
        <p:spPr>
          <a:xfrm>
            <a:off x="8503920" y="4754880"/>
            <a:ext cx="320040" cy="320040"/>
          </a:xfrm>
          <a:prstGeom prst="ellipse">
            <a:avLst/>
          </a:prstGeom>
          <a:solidFill>
            <a:srgbClr val="3182CE"/>
          </a:solidFill>
          <a:ln/>
        </p:spPr>
      </p:sp>
      <p:sp>
        <p:nvSpPr>
          <p:cNvPr id="24" name="Text 22"/>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Cache dans Post Actions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914400"/>
            <a:ext cx="8229600" cy="2011680"/>
          </a:xfrm>
          <a:prstGeom prst="roundRect">
            <a:avLst>
              <a:gd name="adj" fmla="val 2273"/>
            </a:avLst>
          </a:prstGeom>
          <a:solidFill>
            <a:srgbClr val="1A202C"/>
          </a:solidFill>
          <a:ln/>
        </p:spPr>
      </p:sp>
      <p:sp>
        <p:nvSpPr>
          <p:cNvPr id="5" name="Text 3"/>
          <p:cNvSpPr/>
          <p:nvPr/>
        </p:nvSpPr>
        <p:spPr>
          <a:xfrm>
            <a:off x="640080" y="1005840"/>
            <a:ext cx="7863840" cy="219456"/>
          </a:xfrm>
          <a:prstGeom prst="rect">
            <a:avLst/>
          </a:prstGeom>
          <a:noFill/>
          <a:ln/>
        </p:spPr>
        <p:txBody>
          <a:bodyPr wrap="square" rtlCol="0" anchor="ctr"/>
          <a:lstStyle/>
          <a:p>
            <a:pPr algn="l" indent="0" marL="0">
              <a:buNone/>
            </a:pPr>
            <a:r>
              <a:rPr lang="en-US" sz="1500" dirty="0">
                <a:solidFill>
                  <a:srgbClr val="63B3ED"/>
                </a:solidFill>
                <a:latin typeface="Consolas" pitchFamily="34" charset="0"/>
                <a:ea typeface="Consolas" pitchFamily="34" charset="-122"/>
                <a:cs typeface="Consolas" pitchFamily="34" charset="-120"/>
              </a:rPr>
              <a:t>export async function getPosts({ sort, type, search }) {</a:t>
            </a:r>
            <a:endParaRPr lang="en-US" sz="1500" dirty="0"/>
          </a:p>
        </p:txBody>
      </p:sp>
      <p:sp>
        <p:nvSpPr>
          <p:cNvPr id="6" name="Text 4"/>
          <p:cNvSpPr/>
          <p:nvPr/>
        </p:nvSpPr>
        <p:spPr>
          <a:xfrm>
            <a:off x="640080" y="1234440"/>
            <a:ext cx="7863840" cy="219456"/>
          </a:xfrm>
          <a:prstGeom prst="rect">
            <a:avLst/>
          </a:prstGeom>
          <a:noFill/>
          <a:ln/>
        </p:spPr>
        <p:txBody>
          <a:bodyPr wrap="square" rtlCol="0" anchor="ctr"/>
          <a:lstStyle/>
          <a:p>
            <a:pPr algn="l" indent="0" marL="0">
              <a:buNone/>
            </a:pPr>
            <a:r>
              <a:rPr lang="en-US" sz="1500" dirty="0">
                <a:solidFill>
                  <a:srgbClr val="63B3ED"/>
                </a:solidFill>
                <a:latin typeface="Consolas" pitchFamily="34" charset="0"/>
                <a:ea typeface="Consolas" pitchFamily="34" charset="-122"/>
                <a:cs typeface="Consolas" pitchFamily="34" charset="-120"/>
              </a:rPr>
              <a:t>  const cacheKey = buildPostsKey(sort, type, search);</a:t>
            </a:r>
            <a:endParaRPr lang="en-US" sz="1500" dirty="0"/>
          </a:p>
        </p:txBody>
      </p:sp>
      <p:sp>
        <p:nvSpPr>
          <p:cNvPr id="7" name="Text 5"/>
          <p:cNvSpPr/>
          <p:nvPr/>
        </p:nvSpPr>
        <p:spPr>
          <a:xfrm>
            <a:off x="640080" y="1463040"/>
            <a:ext cx="7863840" cy="219456"/>
          </a:xfrm>
          <a:prstGeom prst="rect">
            <a:avLst/>
          </a:prstGeom>
          <a:noFill/>
          <a:ln/>
        </p:spPr>
        <p:txBody>
          <a:bodyPr wrap="square" rtlCol="0" anchor="ctr"/>
          <a:lstStyle/>
          <a:p>
            <a:pPr algn="l" indent="0" marL="0">
              <a:buNone/>
            </a:pPr>
            <a:r>
              <a:rPr lang="en-US" sz="1500" dirty="0">
                <a:solidFill>
                  <a:srgbClr val="E2E8F0"/>
                </a:solidFill>
                <a:latin typeface="Consolas" pitchFamily="34" charset="0"/>
                <a:ea typeface="Consolas" pitchFamily="34" charset="-122"/>
                <a:cs typeface="Consolas" pitchFamily="34" charset="-120"/>
              </a:rPr>
              <a:t>  </a:t>
            </a:r>
            <a:endParaRPr lang="en-US" sz="1500" dirty="0"/>
          </a:p>
        </p:txBody>
      </p:sp>
      <p:sp>
        <p:nvSpPr>
          <p:cNvPr id="8" name="Text 6"/>
          <p:cNvSpPr/>
          <p:nvPr/>
        </p:nvSpPr>
        <p:spPr>
          <a:xfrm>
            <a:off x="640080" y="1691640"/>
            <a:ext cx="7863840" cy="219456"/>
          </a:xfrm>
          <a:prstGeom prst="rect">
            <a:avLst/>
          </a:prstGeom>
          <a:noFill/>
          <a:ln/>
        </p:spPr>
        <p:txBody>
          <a:bodyPr wrap="square" rtlCol="0" anchor="ctr"/>
          <a:lstStyle/>
          <a:p>
            <a:pPr algn="l" indent="0" marL="0">
              <a:buNone/>
            </a:pPr>
            <a:r>
              <a:rPr lang="en-US" sz="1500" dirty="0">
                <a:solidFill>
                  <a:srgbClr val="FBBF24"/>
                </a:solidFill>
                <a:latin typeface="Consolas" pitchFamily="34" charset="0"/>
                <a:ea typeface="Consolas" pitchFamily="34" charset="-122"/>
                <a:cs typeface="Consolas" pitchFamily="34" charset="-120"/>
              </a:rPr>
              <a:t>  const cached = await cacheGet(cacheKey);</a:t>
            </a:r>
            <a:endParaRPr lang="en-US" sz="1500" dirty="0"/>
          </a:p>
        </p:txBody>
      </p:sp>
      <p:sp>
        <p:nvSpPr>
          <p:cNvPr id="9" name="Text 7"/>
          <p:cNvSpPr/>
          <p:nvPr/>
        </p:nvSpPr>
        <p:spPr>
          <a:xfrm>
            <a:off x="640080" y="1920240"/>
            <a:ext cx="7863840" cy="219456"/>
          </a:xfrm>
          <a:prstGeom prst="rect">
            <a:avLst/>
          </a:prstGeom>
          <a:noFill/>
          <a:ln/>
        </p:spPr>
        <p:txBody>
          <a:bodyPr wrap="square" rtlCol="0" anchor="ctr"/>
          <a:lstStyle/>
          <a:p>
            <a:pPr algn="l" indent="0" marL="0">
              <a:buNone/>
            </a:pPr>
            <a:r>
              <a:rPr lang="en-US" sz="1500" dirty="0">
                <a:solidFill>
                  <a:srgbClr val="63B3ED"/>
                </a:solidFill>
                <a:latin typeface="Consolas" pitchFamily="34" charset="0"/>
                <a:ea typeface="Consolas" pitchFamily="34" charset="-122"/>
                <a:cs typeface="Consolas" pitchFamily="34" charset="-120"/>
              </a:rPr>
              <a:t>  if (cached) return cached;</a:t>
            </a:r>
            <a:endParaRPr lang="en-US" sz="1500" dirty="0"/>
          </a:p>
        </p:txBody>
      </p:sp>
      <p:sp>
        <p:nvSpPr>
          <p:cNvPr id="10" name="Text 8"/>
          <p:cNvSpPr/>
          <p:nvPr/>
        </p:nvSpPr>
        <p:spPr>
          <a:xfrm>
            <a:off x="640080" y="2148840"/>
            <a:ext cx="7863840" cy="219456"/>
          </a:xfrm>
          <a:prstGeom prst="rect">
            <a:avLst/>
          </a:prstGeom>
          <a:noFill/>
          <a:ln/>
        </p:spPr>
        <p:txBody>
          <a:bodyPr wrap="square" rtlCol="0" anchor="ctr"/>
          <a:lstStyle/>
          <a:p>
            <a:pPr algn="l" indent="0" marL="0">
              <a:buNone/>
            </a:pPr>
            <a:r>
              <a:rPr lang="en-US" sz="1500" dirty="0">
                <a:solidFill>
                  <a:srgbClr val="E2E8F0"/>
                </a:solidFill>
                <a:latin typeface="Consolas" pitchFamily="34" charset="0"/>
                <a:ea typeface="Consolas" pitchFamily="34" charset="-122"/>
                <a:cs typeface="Consolas" pitchFamily="34" charset="-120"/>
              </a:rPr>
              <a:t>  </a:t>
            </a:r>
            <a:endParaRPr lang="en-US" sz="1500" dirty="0"/>
          </a:p>
        </p:txBody>
      </p:sp>
      <p:sp>
        <p:nvSpPr>
          <p:cNvPr id="11" name="Text 9"/>
          <p:cNvSpPr/>
          <p:nvPr/>
        </p:nvSpPr>
        <p:spPr>
          <a:xfrm>
            <a:off x="640080" y="2377440"/>
            <a:ext cx="7863840" cy="219456"/>
          </a:xfrm>
          <a:prstGeom prst="rect">
            <a:avLst/>
          </a:prstGeom>
          <a:noFill/>
          <a:ln/>
        </p:spPr>
        <p:txBody>
          <a:bodyPr wrap="square" rtlCol="0" anchor="ctr"/>
          <a:lstStyle/>
          <a:p>
            <a:pPr algn="l" indent="0" marL="0">
              <a:buNone/>
            </a:pPr>
            <a:r>
              <a:rPr lang="en-US" sz="1500" dirty="0">
                <a:solidFill>
                  <a:srgbClr val="63B3ED"/>
                </a:solidFill>
                <a:latin typeface="Consolas" pitchFamily="34" charset="0"/>
                <a:ea typeface="Consolas" pitchFamily="34" charset="-122"/>
                <a:cs typeface="Consolas" pitchFamily="34" charset="-120"/>
              </a:rPr>
              <a:t>  const results = await db.query(...);</a:t>
            </a:r>
            <a:endParaRPr lang="en-US" sz="1500" dirty="0"/>
          </a:p>
        </p:txBody>
      </p:sp>
      <p:sp>
        <p:nvSpPr>
          <p:cNvPr id="12" name="Text 10"/>
          <p:cNvSpPr/>
          <p:nvPr/>
        </p:nvSpPr>
        <p:spPr>
          <a:xfrm>
            <a:off x="640080" y="2606040"/>
            <a:ext cx="7863840" cy="219456"/>
          </a:xfrm>
          <a:prstGeom prst="rect">
            <a:avLst/>
          </a:prstGeom>
          <a:noFill/>
          <a:ln/>
        </p:spPr>
        <p:txBody>
          <a:bodyPr wrap="square" rtlCol="0" anchor="ctr"/>
          <a:lstStyle/>
          <a:p>
            <a:pPr algn="l" indent="0" marL="0">
              <a:buNone/>
            </a:pPr>
            <a:r>
              <a:rPr lang="en-US" sz="1500" dirty="0">
                <a:solidFill>
                  <a:srgbClr val="FBBF24"/>
                </a:solidFill>
                <a:latin typeface="Consolas" pitchFamily="34" charset="0"/>
                <a:ea typeface="Consolas" pitchFamily="34" charset="-122"/>
                <a:cs typeface="Consolas" pitchFamily="34" charset="-120"/>
              </a:rPr>
              <a:t>  await cacheSet(cacheKey, results, 180);</a:t>
            </a:r>
            <a:endParaRPr lang="en-US" sz="1500" dirty="0"/>
          </a:p>
        </p:txBody>
      </p:sp>
      <p:sp>
        <p:nvSpPr>
          <p:cNvPr id="13" name="Text 11"/>
          <p:cNvSpPr/>
          <p:nvPr/>
        </p:nvSpPr>
        <p:spPr>
          <a:xfrm>
            <a:off x="640080" y="2834640"/>
            <a:ext cx="7863840" cy="219456"/>
          </a:xfrm>
          <a:prstGeom prst="rect">
            <a:avLst/>
          </a:prstGeom>
          <a:noFill/>
          <a:ln/>
        </p:spPr>
        <p:txBody>
          <a:bodyPr wrap="square" rtlCol="0" anchor="ctr"/>
          <a:lstStyle/>
          <a:p>
            <a:pPr algn="l" indent="0" marL="0">
              <a:buNone/>
            </a:pPr>
            <a:r>
              <a:rPr lang="en-US" sz="1500" dirty="0">
                <a:solidFill>
                  <a:srgbClr val="63B3ED"/>
                </a:solidFill>
                <a:latin typeface="Consolas" pitchFamily="34" charset="0"/>
                <a:ea typeface="Consolas" pitchFamily="34" charset="-122"/>
                <a:cs typeface="Consolas" pitchFamily="34" charset="-120"/>
              </a:rPr>
              <a:t>  return results;</a:t>
            </a:r>
            <a:endParaRPr lang="en-US" sz="1500" dirty="0"/>
          </a:p>
        </p:txBody>
      </p:sp>
      <p:sp>
        <p:nvSpPr>
          <p:cNvPr id="14" name="Text 12"/>
          <p:cNvSpPr/>
          <p:nvPr/>
        </p:nvSpPr>
        <p:spPr>
          <a:xfrm>
            <a:off x="640080" y="3063240"/>
            <a:ext cx="7863840" cy="219456"/>
          </a:xfrm>
          <a:prstGeom prst="rect">
            <a:avLst/>
          </a:prstGeom>
          <a:noFill/>
          <a:ln/>
        </p:spPr>
        <p:txBody>
          <a:bodyPr wrap="square" rtlCol="0" anchor="ctr"/>
          <a:lstStyle/>
          <a:p>
            <a:pPr algn="l" indent="0" marL="0">
              <a:buNone/>
            </a:pPr>
            <a:r>
              <a:rPr lang="en-US" sz="1500" dirty="0">
                <a:solidFill>
                  <a:srgbClr val="E2E8F0"/>
                </a:solidFill>
                <a:latin typeface="Consolas" pitchFamily="34" charset="0"/>
                <a:ea typeface="Consolas" pitchFamily="34" charset="-122"/>
                <a:cs typeface="Consolas" pitchFamily="34" charset="-120"/>
              </a:rPr>
              <a:t>}</a:t>
            </a:r>
            <a:endParaRPr lang="en-US" sz="1500" dirty="0"/>
          </a:p>
        </p:txBody>
      </p:sp>
      <p:sp>
        <p:nvSpPr>
          <p:cNvPr id="15" name="Text 13"/>
          <p:cNvSpPr/>
          <p:nvPr/>
        </p:nvSpPr>
        <p:spPr>
          <a:xfrm>
            <a:off x="640080" y="310896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Clé générée à partir de sort, type et search</a:t>
            </a:r>
            <a:endParaRPr lang="en-US" sz="1600" dirty="0"/>
          </a:p>
        </p:txBody>
      </p:sp>
      <p:sp>
        <p:nvSpPr>
          <p:cNvPr id="16" name="Text 14"/>
          <p:cNvSpPr/>
          <p:nvPr/>
        </p:nvSpPr>
        <p:spPr>
          <a:xfrm>
            <a:off x="640080" y="342900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TTL de 180s car les posts changent fréquemment</a:t>
            </a:r>
            <a:endParaRPr lang="en-US" sz="1600" dirty="0"/>
          </a:p>
        </p:txBody>
      </p:sp>
      <p:sp>
        <p:nvSpPr>
          <p:cNvPr id="17" name="Text 15"/>
          <p:cNvSpPr/>
          <p:nvPr/>
        </p:nvSpPr>
        <p:spPr>
          <a:xfrm>
            <a:off x="640080" y="374904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getLaunchBySlug : 10 minutes</a:t>
            </a:r>
            <a:endParaRPr lang="en-US" sz="1600" dirty="0"/>
          </a:p>
        </p:txBody>
      </p:sp>
      <p:sp>
        <p:nvSpPr>
          <p:cNvPr id="18" name="Text 16"/>
          <p:cNvSpPr/>
          <p:nvPr/>
        </p:nvSpPr>
        <p:spPr>
          <a:xfrm>
            <a:off x="640080" y="406908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getCategories : 30 minutes</a:t>
            </a:r>
            <a:endParaRPr lang="en-US" sz="1600" dirty="0"/>
          </a:p>
        </p:txBody>
      </p:sp>
      <p:sp>
        <p:nvSpPr>
          <p:cNvPr id="19" name="Text 17"/>
          <p:cNvSpPr/>
          <p:nvPr/>
        </p:nvSpPr>
        <p:spPr>
          <a:xfrm>
            <a:off x="640080" y="438912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getLaunchComments : 2 minutes</a:t>
            </a:r>
            <a:endParaRPr lang="en-US" sz="1600" dirty="0"/>
          </a:p>
        </p:txBody>
      </p:sp>
      <p:sp>
        <p:nvSpPr>
          <p:cNvPr id="20" name="Shape 18"/>
          <p:cNvSpPr/>
          <p:nvPr/>
        </p:nvSpPr>
        <p:spPr>
          <a:xfrm>
            <a:off x="8503920" y="4754880"/>
            <a:ext cx="320040" cy="320040"/>
          </a:xfrm>
          <a:prstGeom prst="ellipse">
            <a:avLst/>
          </a:prstGeom>
          <a:solidFill>
            <a:srgbClr val="3182CE"/>
          </a:solidFill>
          <a:ln/>
        </p:spPr>
      </p:sp>
      <p:sp>
        <p:nvSpPr>
          <p:cNvPr id="21" name="Text 19"/>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Stratégie d'Invalidation</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097280"/>
            <a:ext cx="1828800" cy="457200"/>
          </a:xfrm>
          <a:prstGeom prst="roundRect">
            <a:avLst>
              <a:gd name="adj" fmla="val 20000"/>
            </a:avLst>
          </a:prstGeom>
          <a:solidFill>
            <a:srgbClr val="DC2626"/>
          </a:solidFill>
          <a:ln/>
        </p:spPr>
      </p:sp>
      <p:sp>
        <p:nvSpPr>
          <p:cNvPr id="5" name="Text 3"/>
          <p:cNvSpPr/>
          <p:nvPr/>
        </p:nvSpPr>
        <p:spPr>
          <a:xfrm>
            <a:off x="457200" y="1097280"/>
            <a:ext cx="18288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Create</a:t>
            </a:r>
            <a:endParaRPr lang="en-US" sz="1400" dirty="0"/>
          </a:p>
        </p:txBody>
      </p:sp>
      <p:sp>
        <p:nvSpPr>
          <p:cNvPr id="6" name="Shape 4"/>
          <p:cNvSpPr/>
          <p:nvPr/>
        </p:nvSpPr>
        <p:spPr>
          <a:xfrm>
            <a:off x="2560320" y="1097280"/>
            <a:ext cx="1828800" cy="457200"/>
          </a:xfrm>
          <a:prstGeom prst="roundRect">
            <a:avLst>
              <a:gd name="adj" fmla="val 20000"/>
            </a:avLst>
          </a:prstGeom>
          <a:solidFill>
            <a:srgbClr val="DC2626"/>
          </a:solidFill>
          <a:ln/>
        </p:spPr>
      </p:sp>
      <p:sp>
        <p:nvSpPr>
          <p:cNvPr id="7" name="Text 5"/>
          <p:cNvSpPr/>
          <p:nvPr/>
        </p:nvSpPr>
        <p:spPr>
          <a:xfrm>
            <a:off x="2560320" y="1097280"/>
            <a:ext cx="18288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Update</a:t>
            </a:r>
            <a:endParaRPr lang="en-US" sz="1400" dirty="0"/>
          </a:p>
        </p:txBody>
      </p:sp>
      <p:sp>
        <p:nvSpPr>
          <p:cNvPr id="8" name="Shape 6"/>
          <p:cNvSpPr/>
          <p:nvPr/>
        </p:nvSpPr>
        <p:spPr>
          <a:xfrm>
            <a:off x="4663440" y="1097280"/>
            <a:ext cx="1828800" cy="457200"/>
          </a:xfrm>
          <a:prstGeom prst="roundRect">
            <a:avLst>
              <a:gd name="adj" fmla="val 20000"/>
            </a:avLst>
          </a:prstGeom>
          <a:solidFill>
            <a:srgbClr val="DC2626"/>
          </a:solidFill>
          <a:ln/>
        </p:spPr>
      </p:sp>
      <p:sp>
        <p:nvSpPr>
          <p:cNvPr id="9" name="Text 7"/>
          <p:cNvSpPr/>
          <p:nvPr/>
        </p:nvSpPr>
        <p:spPr>
          <a:xfrm>
            <a:off x="4663440" y="1097280"/>
            <a:ext cx="18288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Delete</a:t>
            </a:r>
            <a:endParaRPr lang="en-US" sz="1400" dirty="0"/>
          </a:p>
        </p:txBody>
      </p:sp>
      <p:sp>
        <p:nvSpPr>
          <p:cNvPr id="10" name="Shape 8"/>
          <p:cNvSpPr/>
          <p:nvPr/>
        </p:nvSpPr>
        <p:spPr>
          <a:xfrm>
            <a:off x="6766560" y="1097280"/>
            <a:ext cx="1828800" cy="457200"/>
          </a:xfrm>
          <a:prstGeom prst="roundRect">
            <a:avLst>
              <a:gd name="adj" fmla="val 20000"/>
            </a:avLst>
          </a:prstGeom>
          <a:solidFill>
            <a:srgbClr val="DC2626"/>
          </a:solidFill>
          <a:ln/>
        </p:spPr>
      </p:sp>
      <p:sp>
        <p:nvSpPr>
          <p:cNvPr id="11" name="Text 9"/>
          <p:cNvSpPr/>
          <p:nvPr/>
        </p:nvSpPr>
        <p:spPr>
          <a:xfrm>
            <a:off x="6766560" y="1097280"/>
            <a:ext cx="18288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Upvote</a:t>
            </a:r>
            <a:endParaRPr lang="en-US" sz="1400" dirty="0"/>
          </a:p>
        </p:txBody>
      </p:sp>
      <p:sp>
        <p:nvSpPr>
          <p:cNvPr id="12" name="Text 10"/>
          <p:cNvSpPr/>
          <p:nvPr/>
        </p:nvSpPr>
        <p:spPr>
          <a:xfrm>
            <a:off x="1371600" y="1554480"/>
            <a:ext cx="457200" cy="640080"/>
          </a:xfrm>
          <a:prstGeom prst="rect">
            <a:avLst/>
          </a:prstGeom>
          <a:noFill/>
          <a:ln/>
        </p:spPr>
        <p:txBody>
          <a:bodyPr wrap="square" rtlCol="0" anchor="ctr"/>
          <a:lstStyle/>
          <a:p>
            <a:pPr algn="ctr" indent="0" marL="0">
              <a:buNone/>
            </a:pPr>
            <a:r>
              <a:rPr lang="en-US" sz="2400" dirty="0">
                <a:solidFill>
                  <a:srgbClr val="DC2626"/>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3474720" y="1554480"/>
            <a:ext cx="457200" cy="640080"/>
          </a:xfrm>
          <a:prstGeom prst="rect">
            <a:avLst/>
          </a:prstGeom>
          <a:noFill/>
          <a:ln/>
        </p:spPr>
        <p:txBody>
          <a:bodyPr wrap="square" rtlCol="0" anchor="ctr"/>
          <a:lstStyle/>
          <a:p>
            <a:pPr algn="ctr" indent="0" marL="0">
              <a:buNone/>
            </a:pPr>
            <a:r>
              <a:rPr lang="en-US" sz="2400" dirty="0">
                <a:solidFill>
                  <a:srgbClr val="DC2626"/>
                </a:solidFill>
                <a:latin typeface="Arial" pitchFamily="34" charset="0"/>
                <a:ea typeface="Arial" pitchFamily="34" charset="-122"/>
                <a:cs typeface="Arial" pitchFamily="34" charset="-120"/>
              </a:rPr>
              <a:t>↓</a:t>
            </a:r>
            <a:endParaRPr lang="en-US" sz="2400" dirty="0"/>
          </a:p>
        </p:txBody>
      </p:sp>
      <p:sp>
        <p:nvSpPr>
          <p:cNvPr id="14" name="Text 12"/>
          <p:cNvSpPr/>
          <p:nvPr/>
        </p:nvSpPr>
        <p:spPr>
          <a:xfrm>
            <a:off x="5577840" y="1554480"/>
            <a:ext cx="457200" cy="640080"/>
          </a:xfrm>
          <a:prstGeom prst="rect">
            <a:avLst/>
          </a:prstGeom>
          <a:noFill/>
          <a:ln/>
        </p:spPr>
        <p:txBody>
          <a:bodyPr wrap="square" rtlCol="0" anchor="ctr"/>
          <a:lstStyle/>
          <a:p>
            <a:pPr algn="ctr" indent="0" marL="0">
              <a:buNone/>
            </a:pPr>
            <a:r>
              <a:rPr lang="en-US" sz="2400" dirty="0">
                <a:solidFill>
                  <a:srgbClr val="DC2626"/>
                </a:solidFill>
                <a:latin typeface="Arial" pitchFamily="34" charset="0"/>
                <a:ea typeface="Arial" pitchFamily="34" charset="-122"/>
                <a:cs typeface="Arial" pitchFamily="34" charset="-120"/>
              </a:rPr>
              <a:t>↓</a:t>
            </a:r>
            <a:endParaRPr lang="en-US" sz="2400" dirty="0"/>
          </a:p>
        </p:txBody>
      </p:sp>
      <p:sp>
        <p:nvSpPr>
          <p:cNvPr id="15" name="Text 13"/>
          <p:cNvSpPr/>
          <p:nvPr/>
        </p:nvSpPr>
        <p:spPr>
          <a:xfrm>
            <a:off x="7680960" y="1554480"/>
            <a:ext cx="457200" cy="640080"/>
          </a:xfrm>
          <a:prstGeom prst="rect">
            <a:avLst/>
          </a:prstGeom>
          <a:noFill/>
          <a:ln/>
        </p:spPr>
        <p:txBody>
          <a:bodyPr wrap="square" rtlCol="0" anchor="ctr"/>
          <a:lstStyle/>
          <a:p>
            <a:pPr algn="ctr" indent="0" marL="0">
              <a:buNone/>
            </a:pPr>
            <a:r>
              <a:rPr lang="en-US" sz="2400" dirty="0">
                <a:solidFill>
                  <a:srgbClr val="DC2626"/>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2286000" y="2011680"/>
            <a:ext cx="4572000" cy="457200"/>
          </a:xfrm>
          <a:prstGeom prst="roundRect">
            <a:avLst>
              <a:gd name="adj" fmla="val 20000"/>
            </a:avLst>
          </a:prstGeom>
          <a:solidFill>
            <a:srgbClr val="7C3AED"/>
          </a:solidFill>
          <a:ln/>
        </p:spPr>
      </p:sp>
      <p:sp>
        <p:nvSpPr>
          <p:cNvPr id="17" name="Text 15"/>
          <p:cNvSpPr/>
          <p:nvPr/>
        </p:nvSpPr>
        <p:spPr>
          <a:xfrm>
            <a:off x="2286000" y="2011680"/>
            <a:ext cx="4572000" cy="457200"/>
          </a:xfrm>
          <a:prstGeom prst="rect">
            <a:avLst/>
          </a:prstGeom>
          <a:noFill/>
          <a:ln/>
        </p:spPr>
        <p:txBody>
          <a:bodyPr wrap="square"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invalidateCache(cacheKey)</a:t>
            </a:r>
            <a:endParaRPr lang="en-US" sz="1600" dirty="0"/>
          </a:p>
        </p:txBody>
      </p:sp>
      <p:sp>
        <p:nvSpPr>
          <p:cNvPr id="18" name="Text 16"/>
          <p:cNvSpPr/>
          <p:nvPr/>
        </p:nvSpPr>
        <p:spPr>
          <a:xfrm>
            <a:off x="640080" y="265176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Invalidation immédiate lors des opérations d'écriture</a:t>
            </a:r>
            <a:endParaRPr lang="en-US" sz="1600" dirty="0"/>
          </a:p>
        </p:txBody>
      </p:sp>
      <p:sp>
        <p:nvSpPr>
          <p:cNvPr id="19" name="Text 17"/>
          <p:cNvSpPr/>
          <p:nvPr/>
        </p:nvSpPr>
        <p:spPr>
          <a:xfrm>
            <a:off x="640080" y="301752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TTL comme mécanisme d'expiration automatique</a:t>
            </a:r>
            <a:endParaRPr lang="en-US" sz="1600" dirty="0"/>
          </a:p>
        </p:txBody>
      </p:sp>
      <p:sp>
        <p:nvSpPr>
          <p:cNvPr id="20" name="Text 18"/>
          <p:cNvSpPr/>
          <p:nvPr/>
        </p:nvSpPr>
        <p:spPr>
          <a:xfrm>
            <a:off x="640080" y="338328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Préfixe saas: pour éviter les collisions</a:t>
            </a:r>
            <a:endParaRPr lang="en-US" sz="1600" dirty="0"/>
          </a:p>
        </p:txBody>
      </p:sp>
      <p:sp>
        <p:nvSpPr>
          <p:cNvPr id="21" name="Text 19"/>
          <p:cNvSpPr/>
          <p:nvPr/>
        </p:nvSpPr>
        <p:spPr>
          <a:xfrm>
            <a:off x="640080" y="374904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Maintien de la cohérence des données</a:t>
            </a:r>
            <a:endParaRPr lang="en-US" sz="1600" dirty="0"/>
          </a:p>
        </p:txBody>
      </p:sp>
      <p:sp>
        <p:nvSpPr>
          <p:cNvPr id="22" name="Shape 20"/>
          <p:cNvSpPr/>
          <p:nvPr/>
        </p:nvSpPr>
        <p:spPr>
          <a:xfrm>
            <a:off x="8503920" y="4754880"/>
            <a:ext cx="320040" cy="320040"/>
          </a:xfrm>
          <a:prstGeom prst="ellipse">
            <a:avLst/>
          </a:prstGeom>
          <a:solidFill>
            <a:srgbClr val="3182CE"/>
          </a:solidFill>
          <a:ln/>
        </p:spPr>
      </p:sp>
      <p:sp>
        <p:nvSpPr>
          <p:cNvPr id="23" name="Text 21"/>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Tests Unitaires du Cache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914400"/>
            <a:ext cx="8229600" cy="2194560"/>
          </a:xfrm>
          <a:prstGeom prst="roundRect">
            <a:avLst>
              <a:gd name="adj" fmla="val 2083"/>
            </a:avLst>
          </a:prstGeom>
          <a:solidFill>
            <a:srgbClr val="1A202C"/>
          </a:solidFill>
          <a:ln/>
        </p:spPr>
      </p:sp>
      <p:sp>
        <p:nvSpPr>
          <p:cNvPr id="5" name="Text 3"/>
          <p:cNvSpPr/>
          <p:nvPr/>
        </p:nvSpPr>
        <p:spPr>
          <a:xfrm>
            <a:off x="640080" y="1005840"/>
            <a:ext cx="7863840" cy="201168"/>
          </a:xfrm>
          <a:prstGeom prst="rect">
            <a:avLst/>
          </a:prstGeom>
          <a:noFill/>
          <a:ln/>
        </p:spPr>
        <p:txBody>
          <a:bodyPr wrap="square" rtlCol="0" anchor="ctr"/>
          <a:lstStyle/>
          <a:p>
            <a:pPr algn="l" indent="0" marL="0">
              <a:buNone/>
            </a:pPr>
            <a:r>
              <a:rPr lang="en-US" sz="1400" dirty="0">
                <a:solidFill>
                  <a:srgbClr val="FBBF24"/>
                </a:solidFill>
                <a:latin typeface="Consolas" pitchFamily="34" charset="0"/>
                <a:ea typeface="Consolas" pitchFamily="34" charset="-122"/>
                <a:cs typeface="Consolas" pitchFamily="34" charset="-120"/>
              </a:rPr>
              <a:t>describe('Cache', () =&gt; {</a:t>
            </a:r>
            <a:endParaRPr lang="en-US" sz="1400" dirty="0"/>
          </a:p>
        </p:txBody>
      </p:sp>
      <p:sp>
        <p:nvSpPr>
          <p:cNvPr id="6" name="Text 4"/>
          <p:cNvSpPr/>
          <p:nvPr/>
        </p:nvSpPr>
        <p:spPr>
          <a:xfrm>
            <a:off x="640080" y="1207008"/>
            <a:ext cx="7863840" cy="201168"/>
          </a:xfrm>
          <a:prstGeom prst="rect">
            <a:avLst/>
          </a:prstGeom>
          <a:noFill/>
          <a:ln/>
        </p:spPr>
        <p:txBody>
          <a:bodyPr wrap="square" rtlCol="0" anchor="ctr"/>
          <a:lstStyle/>
          <a:p>
            <a:pPr algn="l" indent="0" marL="0">
              <a:buNone/>
            </a:pPr>
            <a:r>
              <a:rPr lang="en-US" sz="1400" dirty="0">
                <a:solidFill>
                  <a:srgbClr val="FBBF24"/>
                </a:solidFill>
                <a:latin typeface="Consolas" pitchFamily="34" charset="0"/>
                <a:ea typeface="Consolas" pitchFamily="34" charset="-122"/>
                <a:cs typeface="Consolas" pitchFamily="34" charset="-120"/>
              </a:rPr>
              <a:t>  test('set &amp; get', async () =&gt; {</a:t>
            </a:r>
            <a:endParaRPr lang="en-US" sz="1400" dirty="0"/>
          </a:p>
        </p:txBody>
      </p:sp>
      <p:sp>
        <p:nvSpPr>
          <p:cNvPr id="7" name="Text 5"/>
          <p:cNvSpPr/>
          <p:nvPr/>
        </p:nvSpPr>
        <p:spPr>
          <a:xfrm>
            <a:off x="640080" y="1408176"/>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data = { foo: 'bar' };</a:t>
            </a:r>
            <a:endParaRPr lang="en-US" sz="1400" dirty="0"/>
          </a:p>
        </p:txBody>
      </p:sp>
      <p:sp>
        <p:nvSpPr>
          <p:cNvPr id="8" name="Text 6"/>
          <p:cNvSpPr/>
          <p:nvPr/>
        </p:nvSpPr>
        <p:spPr>
          <a:xfrm>
            <a:off x="640080" y="1609344"/>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await cacheSet('test', data);</a:t>
            </a:r>
            <a:endParaRPr lang="en-US" sz="1400" dirty="0"/>
          </a:p>
        </p:txBody>
      </p:sp>
      <p:sp>
        <p:nvSpPr>
          <p:cNvPr id="9" name="Text 7"/>
          <p:cNvSpPr/>
          <p:nvPr/>
        </p:nvSpPr>
        <p:spPr>
          <a:xfrm>
            <a:off x="640080" y="1810512"/>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result = await cacheGet('test');</a:t>
            </a:r>
            <a:endParaRPr lang="en-US" sz="1400" dirty="0"/>
          </a:p>
        </p:txBody>
      </p:sp>
      <p:sp>
        <p:nvSpPr>
          <p:cNvPr id="10" name="Text 8"/>
          <p:cNvSpPr/>
          <p:nvPr/>
        </p:nvSpPr>
        <p:spPr>
          <a:xfrm>
            <a:off x="640080" y="2011680"/>
            <a:ext cx="7863840" cy="201168"/>
          </a:xfrm>
          <a:prstGeom prst="rect">
            <a:avLst/>
          </a:prstGeom>
          <a:noFill/>
          <a:ln/>
        </p:spPr>
        <p:txBody>
          <a:bodyPr wrap="square" rtlCol="0" anchor="ctr"/>
          <a:lstStyle/>
          <a:p>
            <a:pPr algn="l" indent="0" marL="0">
              <a:buNone/>
            </a:pPr>
            <a:r>
              <a:rPr lang="en-US" sz="1400" dirty="0">
                <a:solidFill>
                  <a:srgbClr val="A78BFA"/>
                </a:solidFill>
                <a:latin typeface="Consolas" pitchFamily="34" charset="0"/>
                <a:ea typeface="Consolas" pitchFamily="34" charset="-122"/>
                <a:cs typeface="Consolas" pitchFamily="34" charset="-120"/>
              </a:rPr>
              <a:t>    expect(result).toEqual(data);</a:t>
            </a:r>
            <a:endParaRPr lang="en-US" sz="1400" dirty="0"/>
          </a:p>
        </p:txBody>
      </p:sp>
      <p:sp>
        <p:nvSpPr>
          <p:cNvPr id="11" name="Text 9"/>
          <p:cNvSpPr/>
          <p:nvPr/>
        </p:nvSpPr>
        <p:spPr>
          <a:xfrm>
            <a:off x="640080" y="2212848"/>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12" name="Text 10"/>
          <p:cNvSpPr/>
          <p:nvPr/>
        </p:nvSpPr>
        <p:spPr>
          <a:xfrm>
            <a:off x="640080" y="2414016"/>
            <a:ext cx="7863840" cy="201168"/>
          </a:xfrm>
          <a:prstGeom prst="rect">
            <a:avLst/>
          </a:prstGeom>
          <a:noFill/>
          <a:ln/>
        </p:spPr>
        <p:txBody>
          <a:bodyPr wrap="square" rtlCol="0" anchor="ctr"/>
          <a:lstStyle/>
          <a:p>
            <a:pPr algn="l" indent="0" marL="0">
              <a:buNone/>
            </a:pPr>
            <a:endParaRPr lang="en-US" sz="1400" dirty="0"/>
          </a:p>
        </p:txBody>
      </p:sp>
      <p:sp>
        <p:nvSpPr>
          <p:cNvPr id="13" name="Text 11"/>
          <p:cNvSpPr/>
          <p:nvPr/>
        </p:nvSpPr>
        <p:spPr>
          <a:xfrm>
            <a:off x="640080" y="2615184"/>
            <a:ext cx="7863840" cy="201168"/>
          </a:xfrm>
          <a:prstGeom prst="rect">
            <a:avLst/>
          </a:prstGeom>
          <a:noFill/>
          <a:ln/>
        </p:spPr>
        <p:txBody>
          <a:bodyPr wrap="square" rtlCol="0" anchor="ctr"/>
          <a:lstStyle/>
          <a:p>
            <a:pPr algn="l" indent="0" marL="0">
              <a:buNone/>
            </a:pPr>
            <a:r>
              <a:rPr lang="en-US" sz="1400" dirty="0">
                <a:solidFill>
                  <a:srgbClr val="FBBF24"/>
                </a:solidFill>
                <a:latin typeface="Consolas" pitchFamily="34" charset="0"/>
                <a:ea typeface="Consolas" pitchFamily="34" charset="-122"/>
                <a:cs typeface="Consolas" pitchFamily="34" charset="-120"/>
              </a:rPr>
              <a:t>  test('invalidation', async () =&gt; {</a:t>
            </a:r>
            <a:endParaRPr lang="en-US" sz="1400" dirty="0"/>
          </a:p>
        </p:txBody>
      </p:sp>
      <p:sp>
        <p:nvSpPr>
          <p:cNvPr id="14" name="Text 12"/>
          <p:cNvSpPr/>
          <p:nvPr/>
        </p:nvSpPr>
        <p:spPr>
          <a:xfrm>
            <a:off x="640080" y="2816352"/>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await cacheSet('temp', 'value');</a:t>
            </a:r>
            <a:endParaRPr lang="en-US" sz="1400" dirty="0"/>
          </a:p>
        </p:txBody>
      </p:sp>
      <p:sp>
        <p:nvSpPr>
          <p:cNvPr id="15" name="Text 13"/>
          <p:cNvSpPr/>
          <p:nvPr/>
        </p:nvSpPr>
        <p:spPr>
          <a:xfrm>
            <a:off x="640080" y="3017520"/>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await invalidateCache('temp');</a:t>
            </a:r>
            <a:endParaRPr lang="en-US" sz="1400" dirty="0"/>
          </a:p>
        </p:txBody>
      </p:sp>
      <p:sp>
        <p:nvSpPr>
          <p:cNvPr id="16" name="Text 14"/>
          <p:cNvSpPr/>
          <p:nvPr/>
        </p:nvSpPr>
        <p:spPr>
          <a:xfrm>
            <a:off x="640080" y="3218688"/>
            <a:ext cx="7863840" cy="201168"/>
          </a:xfrm>
          <a:prstGeom prst="rect">
            <a:avLst/>
          </a:prstGeom>
          <a:noFill/>
          <a:ln/>
        </p:spPr>
        <p:txBody>
          <a:bodyPr wrap="square" rtlCol="0" anchor="ctr"/>
          <a:lstStyle/>
          <a:p>
            <a:pPr algn="l" indent="0" marL="0">
              <a:buNone/>
            </a:pPr>
            <a:r>
              <a:rPr lang="en-US" sz="1400" dirty="0">
                <a:solidFill>
                  <a:srgbClr val="63B3ED"/>
                </a:solidFill>
                <a:latin typeface="Consolas" pitchFamily="34" charset="0"/>
                <a:ea typeface="Consolas" pitchFamily="34" charset="-122"/>
                <a:cs typeface="Consolas" pitchFamily="34" charset="-120"/>
              </a:rPr>
              <a:t>    const result = await cacheGet('temp');</a:t>
            </a:r>
            <a:endParaRPr lang="en-US" sz="1400" dirty="0"/>
          </a:p>
        </p:txBody>
      </p:sp>
      <p:sp>
        <p:nvSpPr>
          <p:cNvPr id="17" name="Text 15"/>
          <p:cNvSpPr/>
          <p:nvPr/>
        </p:nvSpPr>
        <p:spPr>
          <a:xfrm>
            <a:off x="640080" y="3419856"/>
            <a:ext cx="7863840" cy="201168"/>
          </a:xfrm>
          <a:prstGeom prst="rect">
            <a:avLst/>
          </a:prstGeom>
          <a:noFill/>
          <a:ln/>
        </p:spPr>
        <p:txBody>
          <a:bodyPr wrap="square" rtlCol="0" anchor="ctr"/>
          <a:lstStyle/>
          <a:p>
            <a:pPr algn="l" indent="0" marL="0">
              <a:buNone/>
            </a:pPr>
            <a:r>
              <a:rPr lang="en-US" sz="1400" dirty="0">
                <a:solidFill>
                  <a:srgbClr val="A78BFA"/>
                </a:solidFill>
                <a:latin typeface="Consolas" pitchFamily="34" charset="0"/>
                <a:ea typeface="Consolas" pitchFamily="34" charset="-122"/>
                <a:cs typeface="Consolas" pitchFamily="34" charset="-120"/>
              </a:rPr>
              <a:t>    expect(result).toBeNull();</a:t>
            </a:r>
            <a:endParaRPr lang="en-US" sz="1400" dirty="0"/>
          </a:p>
        </p:txBody>
      </p:sp>
      <p:sp>
        <p:nvSpPr>
          <p:cNvPr id="18" name="Text 16"/>
          <p:cNvSpPr/>
          <p:nvPr/>
        </p:nvSpPr>
        <p:spPr>
          <a:xfrm>
            <a:off x="640080" y="3621024"/>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19" name="Text 17"/>
          <p:cNvSpPr/>
          <p:nvPr/>
        </p:nvSpPr>
        <p:spPr>
          <a:xfrm>
            <a:off x="640080" y="3822192"/>
            <a:ext cx="7863840" cy="201168"/>
          </a:xfrm>
          <a:prstGeom prst="rect">
            <a:avLst/>
          </a:prstGeom>
          <a:noFill/>
          <a:ln/>
        </p:spPr>
        <p:txBody>
          <a:bodyPr wrap="square" rtlCol="0" anchor="ctr"/>
          <a:lstStyle/>
          <a:p>
            <a:pPr algn="l"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20" name="Text 18"/>
          <p:cNvSpPr/>
          <p:nvPr/>
        </p:nvSpPr>
        <p:spPr>
          <a:xfrm>
            <a:off x="640080" y="320040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Tests Jest couvrant cacheSet, cacheGet, invalidateCache</a:t>
            </a:r>
            <a:endParaRPr lang="en-US" sz="1600" dirty="0"/>
          </a:p>
        </p:txBody>
      </p:sp>
      <p:sp>
        <p:nvSpPr>
          <p:cNvPr id="21" name="Text 19"/>
          <p:cNvSpPr/>
          <p:nvPr/>
        </p:nvSpPr>
        <p:spPr>
          <a:xfrm>
            <a:off x="640080" y="352044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Vérification des données stockées et récupérées</a:t>
            </a:r>
            <a:endParaRPr lang="en-US" sz="1600" dirty="0"/>
          </a:p>
        </p:txBody>
      </p:sp>
      <p:sp>
        <p:nvSpPr>
          <p:cNvPr id="22" name="Text 20"/>
          <p:cNvSpPr/>
          <p:nvPr/>
        </p:nvSpPr>
        <p:spPr>
          <a:xfrm>
            <a:off x="640080" y="384048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Vérification de la suppression par invalidation</a:t>
            </a:r>
            <a:endParaRPr lang="en-US" sz="1600" dirty="0"/>
          </a:p>
        </p:txBody>
      </p:sp>
      <p:sp>
        <p:nvSpPr>
          <p:cNvPr id="23" name="Text 21"/>
          <p:cNvSpPr/>
          <p:nvPr/>
        </p:nvSpPr>
        <p:spPr>
          <a:xfrm>
            <a:off x="640080" y="416052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Exécution avec instance Redis locale dans Docker</a:t>
            </a:r>
            <a:endParaRPr lang="en-US" sz="1600" dirty="0"/>
          </a:p>
        </p:txBody>
      </p:sp>
      <p:sp>
        <p:nvSpPr>
          <p:cNvPr id="24" name="Shape 22"/>
          <p:cNvSpPr/>
          <p:nvPr/>
        </p:nvSpPr>
        <p:spPr>
          <a:xfrm>
            <a:off x="8503920" y="4754880"/>
            <a:ext cx="320040" cy="320040"/>
          </a:xfrm>
          <a:prstGeom prst="ellipse">
            <a:avLst/>
          </a:prstGeom>
          <a:solidFill>
            <a:srgbClr val="3182CE"/>
          </a:solidFill>
          <a:ln/>
        </p:spPr>
      </p:sp>
      <p:sp>
        <p:nvSpPr>
          <p:cNvPr id="25" name="Text 23"/>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Résultats des Tests Unitaires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097280"/>
            <a:ext cx="8229600" cy="1097280"/>
          </a:xfrm>
          <a:prstGeom prst="roundRect">
            <a:avLst>
              <a:gd name="adj" fmla="val 8333"/>
            </a:avLst>
          </a:prstGeom>
          <a:solidFill>
            <a:srgbClr val="10B981"/>
          </a:solidFill>
          <a:ln/>
        </p:spPr>
      </p:sp>
      <p:sp>
        <p:nvSpPr>
          <p:cNvPr id="5" name="Text 3"/>
          <p:cNvSpPr/>
          <p:nvPr/>
        </p:nvSpPr>
        <p:spPr>
          <a:xfrm>
            <a:off x="457200" y="1143000"/>
            <a:ext cx="8229600" cy="45720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 Tous les tests passent avec succès</a:t>
            </a:r>
            <a:endParaRPr lang="en-US" sz="2800" dirty="0"/>
          </a:p>
        </p:txBody>
      </p:sp>
      <p:sp>
        <p:nvSpPr>
          <p:cNvPr id="6" name="Text 4"/>
          <p:cNvSpPr/>
          <p:nvPr/>
        </p:nvSpPr>
        <p:spPr>
          <a:xfrm>
            <a:off x="457200" y="1645920"/>
            <a:ext cx="8229600" cy="365760"/>
          </a:xfrm>
          <a:prstGeom prst="rect">
            <a:avLst/>
          </a:prstGeom>
          <a:noFill/>
          <a:ln/>
        </p:spPr>
        <p:txBody>
          <a:bodyPr wrap="square"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8 tests / 8 passés  -  Couverture : cacheGet, cacheSet, invalidate, TTL, edge cases</a:t>
            </a:r>
            <a:endParaRPr lang="en-US" sz="1800" dirty="0"/>
          </a:p>
        </p:txBody>
      </p:sp>
      <p:sp>
        <p:nvSpPr>
          <p:cNvPr id="7" name="Text 5"/>
          <p:cNvSpPr/>
          <p:nvPr/>
        </p:nvSpPr>
        <p:spPr>
          <a:xfrm>
            <a:off x="640080" y="24688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Opérations de base : cacheSet et cacheGet</a:t>
            </a:r>
            <a:endParaRPr lang="en-US" sz="1800" dirty="0"/>
          </a:p>
        </p:txBody>
      </p:sp>
      <p:sp>
        <p:nvSpPr>
          <p:cNvPr id="8" name="Text 6"/>
          <p:cNvSpPr/>
          <p:nvPr/>
        </p:nvSpPr>
        <p:spPr>
          <a:xfrm>
            <a:off x="640080" y="288036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Invalidation et suppression de clés</a:t>
            </a:r>
            <a:endParaRPr lang="en-US" sz="1800" dirty="0"/>
          </a:p>
        </p:txBody>
      </p:sp>
      <p:sp>
        <p:nvSpPr>
          <p:cNvPr id="9" name="Text 7"/>
          <p:cNvSpPr/>
          <p:nvPr/>
        </p:nvSpPr>
        <p:spPr>
          <a:xfrm>
            <a:off x="640080" y="329184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TTL et expirations automatiques</a:t>
            </a:r>
            <a:endParaRPr lang="en-US" sz="1800" dirty="0"/>
          </a:p>
        </p:txBody>
      </p:sp>
      <p:sp>
        <p:nvSpPr>
          <p:cNvPr id="10" name="Text 8"/>
          <p:cNvSpPr/>
          <p:nvPr/>
        </p:nvSpPr>
        <p:spPr>
          <a:xfrm>
            <a:off x="640080" y="37033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Cas limites : null, undefined, données invalides</a:t>
            </a:r>
            <a:endParaRPr lang="en-US" sz="1800" dirty="0"/>
          </a:p>
        </p:txBody>
      </p:sp>
      <p:sp>
        <p:nvSpPr>
          <p:cNvPr id="11" name="Shape 9"/>
          <p:cNvSpPr/>
          <p:nvPr/>
        </p:nvSpPr>
        <p:spPr>
          <a:xfrm>
            <a:off x="8503920" y="4754880"/>
            <a:ext cx="320040" cy="320040"/>
          </a:xfrm>
          <a:prstGeom prst="ellipse">
            <a:avLst/>
          </a:prstGeom>
          <a:solidFill>
            <a:srgbClr val="3182CE"/>
          </a:solidFill>
          <a:ln/>
        </p:spPr>
      </p:sp>
      <p:sp>
        <p:nvSpPr>
          <p:cNvPr id="12" name="Text 10"/>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Résultats des Tests Unitaires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097280"/>
            <a:ext cx="2560320" cy="731520"/>
          </a:xfrm>
          <a:prstGeom prst="roundRect">
            <a:avLst>
              <a:gd name="adj" fmla="val 12500"/>
            </a:avLst>
          </a:prstGeom>
          <a:solidFill>
            <a:srgbClr val="10B981"/>
          </a:solidFill>
          <a:ln/>
        </p:spPr>
      </p:sp>
      <p:sp>
        <p:nvSpPr>
          <p:cNvPr id="5" name="Text 3"/>
          <p:cNvSpPr/>
          <p:nvPr/>
        </p:nvSpPr>
        <p:spPr>
          <a:xfrm>
            <a:off x="457200" y="1143000"/>
            <a:ext cx="256032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Tests Passés</a:t>
            </a:r>
            <a:endParaRPr lang="en-US" sz="1400" dirty="0"/>
          </a:p>
        </p:txBody>
      </p:sp>
      <p:sp>
        <p:nvSpPr>
          <p:cNvPr id="6" name="Text 4"/>
          <p:cNvSpPr/>
          <p:nvPr/>
        </p:nvSpPr>
        <p:spPr>
          <a:xfrm>
            <a:off x="457200" y="1417320"/>
            <a:ext cx="2560320" cy="3200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8/8</a:t>
            </a:r>
            <a:endParaRPr lang="en-US" sz="2800" dirty="0"/>
          </a:p>
        </p:txBody>
      </p:sp>
      <p:sp>
        <p:nvSpPr>
          <p:cNvPr id="7" name="Shape 5"/>
          <p:cNvSpPr/>
          <p:nvPr/>
        </p:nvSpPr>
        <p:spPr>
          <a:xfrm>
            <a:off x="3291840" y="1097280"/>
            <a:ext cx="2560320" cy="731520"/>
          </a:xfrm>
          <a:prstGeom prst="roundRect">
            <a:avLst>
              <a:gd name="adj" fmla="val 12500"/>
            </a:avLst>
          </a:prstGeom>
          <a:solidFill>
            <a:srgbClr val="EF4444"/>
          </a:solidFill>
          <a:ln/>
        </p:spPr>
      </p:sp>
      <p:sp>
        <p:nvSpPr>
          <p:cNvPr id="8" name="Text 6"/>
          <p:cNvSpPr/>
          <p:nvPr/>
        </p:nvSpPr>
        <p:spPr>
          <a:xfrm>
            <a:off x="3291840" y="1143000"/>
            <a:ext cx="256032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Tests Échoués</a:t>
            </a:r>
            <a:endParaRPr lang="en-US" sz="1400" dirty="0"/>
          </a:p>
        </p:txBody>
      </p:sp>
      <p:sp>
        <p:nvSpPr>
          <p:cNvPr id="9" name="Text 7"/>
          <p:cNvSpPr/>
          <p:nvPr/>
        </p:nvSpPr>
        <p:spPr>
          <a:xfrm>
            <a:off x="3291840" y="1417320"/>
            <a:ext cx="2560320" cy="3200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0</a:t>
            </a:r>
            <a:endParaRPr lang="en-US" sz="2800" dirty="0"/>
          </a:p>
        </p:txBody>
      </p:sp>
      <p:sp>
        <p:nvSpPr>
          <p:cNvPr id="10" name="Shape 8"/>
          <p:cNvSpPr/>
          <p:nvPr/>
        </p:nvSpPr>
        <p:spPr>
          <a:xfrm>
            <a:off x="6126480" y="1097280"/>
            <a:ext cx="2560320" cy="731520"/>
          </a:xfrm>
          <a:prstGeom prst="roundRect">
            <a:avLst>
              <a:gd name="adj" fmla="val 12500"/>
            </a:avLst>
          </a:prstGeom>
          <a:solidFill>
            <a:srgbClr val="3182CE"/>
          </a:solidFill>
          <a:ln/>
        </p:spPr>
      </p:sp>
      <p:sp>
        <p:nvSpPr>
          <p:cNvPr id="11" name="Text 9"/>
          <p:cNvSpPr/>
          <p:nvPr/>
        </p:nvSpPr>
        <p:spPr>
          <a:xfrm>
            <a:off x="6126480" y="1143000"/>
            <a:ext cx="256032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 Couverture</a:t>
            </a:r>
            <a:endParaRPr lang="en-US" sz="1400" dirty="0"/>
          </a:p>
        </p:txBody>
      </p:sp>
      <p:sp>
        <p:nvSpPr>
          <p:cNvPr id="12" name="Text 10"/>
          <p:cNvSpPr/>
          <p:nvPr/>
        </p:nvSpPr>
        <p:spPr>
          <a:xfrm>
            <a:off x="6126480" y="1417320"/>
            <a:ext cx="2560320" cy="3200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100%</a:t>
            </a:r>
            <a:endParaRPr lang="en-US" sz="2800" dirty="0"/>
          </a:p>
        </p:txBody>
      </p:sp>
      <p:sp>
        <p:nvSpPr>
          <p:cNvPr id="13" name="Text 11"/>
          <p:cNvSpPr/>
          <p:nvPr/>
        </p:nvSpPr>
        <p:spPr>
          <a:xfrm>
            <a:off x="640080" y="21031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Taux de réussite de cent pour cent</a:t>
            </a:r>
            <a:endParaRPr lang="en-US" sz="1800" dirty="0"/>
          </a:p>
        </p:txBody>
      </p:sp>
      <p:sp>
        <p:nvSpPr>
          <p:cNvPr id="14" name="Text 12"/>
          <p:cNvSpPr/>
          <p:nvPr/>
        </p:nvSpPr>
        <p:spPr>
          <a:xfrm>
            <a:off x="640080" y="25146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Couverture complète des fonctions principales</a:t>
            </a:r>
            <a:endParaRPr lang="en-US" sz="1800" dirty="0"/>
          </a:p>
        </p:txBody>
      </p:sp>
      <p:sp>
        <p:nvSpPr>
          <p:cNvPr id="15" name="Text 13"/>
          <p:cNvSpPr/>
          <p:nvPr/>
        </p:nvSpPr>
        <p:spPr>
          <a:xfrm>
            <a:off x="640080" y="29260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Validation de la robustesse de l'implémentation Redis</a:t>
            </a:r>
            <a:endParaRPr lang="en-US" sz="1800" dirty="0"/>
          </a:p>
        </p:txBody>
      </p:sp>
      <p:sp>
        <p:nvSpPr>
          <p:cNvPr id="16" name="Text 14"/>
          <p:cNvSpPr/>
          <p:nvPr/>
        </p:nvSpPr>
        <p:spPr>
          <a:xfrm>
            <a:off x="640080" y="333756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Base solide pour évoluer en toute sécurité</a:t>
            </a:r>
            <a:endParaRPr lang="en-US" sz="1800" dirty="0"/>
          </a:p>
        </p:txBody>
      </p:sp>
      <p:sp>
        <p:nvSpPr>
          <p:cNvPr id="17" name="Shape 15"/>
          <p:cNvSpPr/>
          <p:nvPr/>
        </p:nvSpPr>
        <p:spPr>
          <a:xfrm>
            <a:off x="8503920" y="4754880"/>
            <a:ext cx="320040" cy="320040"/>
          </a:xfrm>
          <a:prstGeom prst="ellipse">
            <a:avLst/>
          </a:prstGeom>
          <a:solidFill>
            <a:srgbClr val="3182CE"/>
          </a:solidFill>
          <a:ln/>
        </p:spPr>
      </p:sp>
      <p:sp>
        <p:nvSpPr>
          <p:cNvPr id="18" name="Text 16"/>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Mesures de Performance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097280"/>
            <a:ext cx="2560320" cy="1097280"/>
          </a:xfrm>
          <a:prstGeom prst="roundRect">
            <a:avLst>
              <a:gd name="adj" fmla="val 8333"/>
            </a:avLst>
          </a:prstGeom>
          <a:solidFill>
            <a:srgbClr val="FFFFFF"/>
          </a:solidFill>
          <a:ln w="25400">
            <a:solidFill>
              <a:srgbClr val="E2E8F0"/>
            </a:solidFill>
            <a:prstDash val="solid"/>
          </a:ln>
        </p:spPr>
      </p:sp>
      <p:sp>
        <p:nvSpPr>
          <p:cNvPr id="5" name="Text 3"/>
          <p:cNvSpPr/>
          <p:nvPr/>
        </p:nvSpPr>
        <p:spPr>
          <a:xfrm>
            <a:off x="457200" y="1143000"/>
            <a:ext cx="2560320" cy="457200"/>
          </a:xfrm>
          <a:prstGeom prst="rect">
            <a:avLst/>
          </a:prstGeom>
          <a:noFill/>
          <a:ln/>
        </p:spPr>
        <p:txBody>
          <a:bodyPr wrap="square" rtlCol="0" anchor="ctr"/>
          <a:lstStyle/>
          <a:p>
            <a:pPr algn="ctr" indent="0" marL="0">
              <a:buNone/>
            </a:pPr>
            <a:r>
              <a:rPr lang="en-US" sz="3600" b="1" dirty="0">
                <a:solidFill>
                  <a:srgbClr val="1E3A5F"/>
                </a:solidFill>
                <a:latin typeface="Arial" pitchFamily="34" charset="0"/>
                <a:ea typeface="Arial" pitchFamily="34" charset="-122"/>
                <a:cs typeface="Arial" pitchFamily="34" charset="-120"/>
              </a:rPr>
              <a:t>12ms</a:t>
            </a:r>
            <a:endParaRPr lang="en-US" sz="3600" dirty="0"/>
          </a:p>
        </p:txBody>
      </p:sp>
      <p:sp>
        <p:nvSpPr>
          <p:cNvPr id="6" name="Text 4"/>
          <p:cNvSpPr/>
          <p:nvPr/>
        </p:nvSpPr>
        <p:spPr>
          <a:xfrm>
            <a:off x="457200" y="1645920"/>
            <a:ext cx="2560320" cy="228600"/>
          </a:xfrm>
          <a:prstGeom prst="rect">
            <a:avLst/>
          </a:prstGeom>
          <a:noFill/>
          <a:ln/>
        </p:spPr>
        <p:txBody>
          <a:bodyPr wrap="square" rtlCol="0" anchor="ctr"/>
          <a:lstStyle/>
          <a:p>
            <a:pPr algn="ctr" indent="0" marL="0">
              <a:buNone/>
            </a:pPr>
            <a:r>
              <a:rPr lang="en-US" sz="1400" dirty="0">
                <a:solidFill>
                  <a:srgbClr val="2C5282"/>
                </a:solidFill>
                <a:latin typeface="Arial" pitchFamily="34" charset="0"/>
                <a:ea typeface="Arial" pitchFamily="34" charset="-122"/>
                <a:cs typeface="Arial" pitchFamily="34" charset="-120"/>
              </a:rPr>
              <a:t>Avec Cache</a:t>
            </a:r>
            <a:endParaRPr lang="en-US" sz="1400" dirty="0"/>
          </a:p>
        </p:txBody>
      </p:sp>
      <p:sp>
        <p:nvSpPr>
          <p:cNvPr id="7" name="Text 5"/>
          <p:cNvSpPr/>
          <p:nvPr/>
        </p:nvSpPr>
        <p:spPr>
          <a:xfrm>
            <a:off x="45720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moyenne</a:t>
            </a:r>
            <a:endParaRPr lang="en-US" sz="1200" dirty="0"/>
          </a:p>
        </p:txBody>
      </p:sp>
      <p:sp>
        <p:nvSpPr>
          <p:cNvPr id="8" name="Shape 6"/>
          <p:cNvSpPr/>
          <p:nvPr/>
        </p:nvSpPr>
        <p:spPr>
          <a:xfrm>
            <a:off x="3291840" y="1097280"/>
            <a:ext cx="2560320" cy="1097280"/>
          </a:xfrm>
          <a:prstGeom prst="roundRect">
            <a:avLst>
              <a:gd name="adj" fmla="val 8333"/>
            </a:avLst>
          </a:prstGeom>
          <a:solidFill>
            <a:srgbClr val="FFFFFF"/>
          </a:solidFill>
          <a:ln w="25400">
            <a:solidFill>
              <a:srgbClr val="E2E8F0"/>
            </a:solidFill>
            <a:prstDash val="solid"/>
          </a:ln>
        </p:spPr>
      </p:sp>
      <p:sp>
        <p:nvSpPr>
          <p:cNvPr id="9" name="Text 7"/>
          <p:cNvSpPr/>
          <p:nvPr/>
        </p:nvSpPr>
        <p:spPr>
          <a:xfrm>
            <a:off x="3291840" y="1143000"/>
            <a:ext cx="2560320" cy="457200"/>
          </a:xfrm>
          <a:prstGeom prst="rect">
            <a:avLst/>
          </a:prstGeom>
          <a:noFill/>
          <a:ln/>
        </p:spPr>
        <p:txBody>
          <a:bodyPr wrap="square" rtlCol="0" anchor="ctr"/>
          <a:lstStyle/>
          <a:p>
            <a:pPr algn="ctr" indent="0" marL="0">
              <a:buNone/>
            </a:pPr>
            <a:r>
              <a:rPr lang="en-US" sz="3600" b="1" dirty="0">
                <a:solidFill>
                  <a:srgbClr val="1E3A5F"/>
                </a:solidFill>
                <a:latin typeface="Arial" pitchFamily="34" charset="0"/>
                <a:ea typeface="Arial" pitchFamily="34" charset="-122"/>
                <a:cs typeface="Arial" pitchFamily="34" charset="-120"/>
              </a:rPr>
              <a:t>856ms</a:t>
            </a:r>
            <a:endParaRPr lang="en-US" sz="3600" dirty="0"/>
          </a:p>
        </p:txBody>
      </p:sp>
      <p:sp>
        <p:nvSpPr>
          <p:cNvPr id="10" name="Text 8"/>
          <p:cNvSpPr/>
          <p:nvPr/>
        </p:nvSpPr>
        <p:spPr>
          <a:xfrm>
            <a:off x="3291840" y="1645920"/>
            <a:ext cx="2560320" cy="228600"/>
          </a:xfrm>
          <a:prstGeom prst="rect">
            <a:avLst/>
          </a:prstGeom>
          <a:noFill/>
          <a:ln/>
        </p:spPr>
        <p:txBody>
          <a:bodyPr wrap="square" rtlCol="0" anchor="ctr"/>
          <a:lstStyle/>
          <a:p>
            <a:pPr algn="ctr" indent="0" marL="0">
              <a:buNone/>
            </a:pPr>
            <a:r>
              <a:rPr lang="en-US" sz="1400" dirty="0">
                <a:solidFill>
                  <a:srgbClr val="2C5282"/>
                </a:solidFill>
                <a:latin typeface="Arial" pitchFamily="34" charset="0"/>
                <a:ea typeface="Arial" pitchFamily="34" charset="-122"/>
                <a:cs typeface="Arial" pitchFamily="34" charset="-120"/>
              </a:rPr>
              <a:t>Sans Cache</a:t>
            </a:r>
            <a:endParaRPr lang="en-US" sz="1400" dirty="0"/>
          </a:p>
        </p:txBody>
      </p:sp>
      <p:sp>
        <p:nvSpPr>
          <p:cNvPr id="11" name="Text 9"/>
          <p:cNvSpPr/>
          <p:nvPr/>
        </p:nvSpPr>
        <p:spPr>
          <a:xfrm>
            <a:off x="329184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moyenne</a:t>
            </a:r>
            <a:endParaRPr lang="en-US" sz="1200" dirty="0"/>
          </a:p>
        </p:txBody>
      </p:sp>
      <p:sp>
        <p:nvSpPr>
          <p:cNvPr id="12" name="Shape 10"/>
          <p:cNvSpPr/>
          <p:nvPr/>
        </p:nvSpPr>
        <p:spPr>
          <a:xfrm>
            <a:off x="6126480" y="1097280"/>
            <a:ext cx="2560320" cy="1097280"/>
          </a:xfrm>
          <a:prstGeom prst="roundRect">
            <a:avLst>
              <a:gd name="adj" fmla="val 8333"/>
            </a:avLst>
          </a:prstGeom>
          <a:solidFill>
            <a:srgbClr val="FFFFFF"/>
          </a:solidFill>
          <a:ln w="25400">
            <a:solidFill>
              <a:srgbClr val="10B981"/>
            </a:solidFill>
            <a:prstDash val="solid"/>
          </a:ln>
        </p:spPr>
      </p:sp>
      <p:sp>
        <p:nvSpPr>
          <p:cNvPr id="13" name="Text 11"/>
          <p:cNvSpPr/>
          <p:nvPr/>
        </p:nvSpPr>
        <p:spPr>
          <a:xfrm>
            <a:off x="6126480" y="1143000"/>
            <a:ext cx="2560320" cy="457200"/>
          </a:xfrm>
          <a:prstGeom prst="rect">
            <a:avLst/>
          </a:prstGeom>
          <a:noFill/>
          <a:ln/>
        </p:spPr>
        <p:txBody>
          <a:bodyPr wrap="square" rtlCol="0" anchor="ctr"/>
          <a:lstStyle/>
          <a:p>
            <a:pPr algn="ctr" indent="0" marL="0">
              <a:buNone/>
            </a:pPr>
            <a:r>
              <a:rPr lang="en-US" sz="3600" b="1" dirty="0">
                <a:solidFill>
                  <a:srgbClr val="10B981"/>
                </a:solidFill>
                <a:latin typeface="Arial" pitchFamily="34" charset="0"/>
                <a:ea typeface="Arial" pitchFamily="34" charset="-122"/>
                <a:cs typeface="Arial" pitchFamily="34" charset="-120"/>
              </a:rPr>
              <a:t>99%</a:t>
            </a:r>
            <a:endParaRPr lang="en-US" sz="3600" dirty="0"/>
          </a:p>
        </p:txBody>
      </p:sp>
      <p:sp>
        <p:nvSpPr>
          <p:cNvPr id="14" name="Text 12"/>
          <p:cNvSpPr/>
          <p:nvPr/>
        </p:nvSpPr>
        <p:spPr>
          <a:xfrm>
            <a:off x="6126480" y="1645920"/>
            <a:ext cx="2560320" cy="228600"/>
          </a:xfrm>
          <a:prstGeom prst="rect">
            <a:avLst/>
          </a:prstGeom>
          <a:noFill/>
          <a:ln/>
        </p:spPr>
        <p:txBody>
          <a:bodyPr wrap="square" rtlCol="0" anchor="ctr"/>
          <a:lstStyle/>
          <a:p>
            <a:pPr algn="ctr" indent="0" marL="0">
              <a:buNone/>
            </a:pPr>
            <a:r>
              <a:rPr lang="en-US" sz="1400" dirty="0">
                <a:solidFill>
                  <a:srgbClr val="2C5282"/>
                </a:solidFill>
                <a:latin typeface="Arial" pitchFamily="34" charset="0"/>
                <a:ea typeface="Arial" pitchFamily="34" charset="-122"/>
                <a:cs typeface="Arial" pitchFamily="34" charset="-120"/>
              </a:rPr>
              <a:t>Amélioration</a:t>
            </a:r>
            <a:endParaRPr lang="en-US" sz="1400" dirty="0"/>
          </a:p>
        </p:txBody>
      </p:sp>
      <p:sp>
        <p:nvSpPr>
          <p:cNvPr id="15" name="Text 13"/>
          <p:cNvSpPr/>
          <p:nvPr/>
        </p:nvSpPr>
        <p:spPr>
          <a:xfrm>
            <a:off x="612648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plus rapide</a:t>
            </a:r>
            <a:endParaRPr lang="en-US" sz="1200" dirty="0"/>
          </a:p>
        </p:txBody>
      </p:sp>
      <p:sp>
        <p:nvSpPr>
          <p:cNvPr id="16" name="Text 14"/>
          <p:cNvSpPr/>
          <p:nvPr/>
        </p:nvSpPr>
        <p:spPr>
          <a:xfrm>
            <a:off x="640080" y="237744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Temps de réponse moyen réduit de 856ms à 12ms</a:t>
            </a:r>
            <a:endParaRPr lang="en-US" sz="1800" dirty="0"/>
          </a:p>
        </p:txBody>
      </p:sp>
      <p:sp>
        <p:nvSpPr>
          <p:cNvPr id="17" name="Text 15"/>
          <p:cNvSpPr/>
          <p:nvPr/>
        </p:nvSpPr>
        <p:spPr>
          <a:xfrm>
            <a:off x="640080" y="27889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Amélioration de quatre-vingt-dix-neuf pour cent</a:t>
            </a:r>
            <a:endParaRPr lang="en-US" sz="1800" dirty="0"/>
          </a:p>
        </p:txBody>
      </p:sp>
      <p:sp>
        <p:nvSpPr>
          <p:cNvPr id="18" name="Text 16"/>
          <p:cNvSpPr/>
          <p:nvPr/>
        </p:nvSpPr>
        <p:spPr>
          <a:xfrm>
            <a:off x="640080" y="32004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getLaunches : de plusieurs centaines à moins de 15ms</a:t>
            </a:r>
            <a:endParaRPr lang="en-US" sz="1800" dirty="0"/>
          </a:p>
        </p:txBody>
      </p:sp>
      <p:sp>
        <p:nvSpPr>
          <p:cNvPr id="19" name="Text 17"/>
          <p:cNvSpPr/>
          <p:nvPr/>
        </p:nvSpPr>
        <p:spPr>
          <a:xfrm>
            <a:off x="640080" y="36118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Chargement presque instantané après première visite</a:t>
            </a:r>
            <a:endParaRPr lang="en-US" sz="1800" dirty="0"/>
          </a:p>
        </p:txBody>
      </p:sp>
      <p:sp>
        <p:nvSpPr>
          <p:cNvPr id="20" name="Shape 18"/>
          <p:cNvSpPr/>
          <p:nvPr/>
        </p:nvSpPr>
        <p:spPr>
          <a:xfrm>
            <a:off x="8503920" y="4754880"/>
            <a:ext cx="320040" cy="320040"/>
          </a:xfrm>
          <a:prstGeom prst="ellipse">
            <a:avLst/>
          </a:prstGeom>
          <a:solidFill>
            <a:srgbClr val="3182CE"/>
          </a:solidFill>
          <a:ln/>
        </p:spPr>
      </p:sp>
      <p:sp>
        <p:nvSpPr>
          <p:cNvPr id="21" name="Text 19"/>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Mesures de Performance (Suite)</a:t>
            </a:r>
            <a:endParaRPr lang="en-US" sz="2800" dirty="0"/>
          </a:p>
        </p:txBody>
      </p:sp>
      <p:sp>
        <p:nvSpPr>
          <p:cNvPr id="3" name="Shape 1"/>
          <p:cNvSpPr/>
          <p:nvPr/>
        </p:nvSpPr>
        <p:spPr>
          <a:xfrm>
            <a:off x="457200" y="731520"/>
            <a:ext cx="1371600" cy="45720"/>
          </a:xfrm>
          <a:prstGeom prst="rect">
            <a:avLst/>
          </a:prstGeom>
          <a:solidFill>
            <a:srgbClr val="3182CE"/>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286000"/>
                <a:gridCol w="2011680"/>
                <a:gridCol w="2011680"/>
                <a:gridCol w="1920240"/>
              </a:tblGrid>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Opération</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Sans Cache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Avec Cache</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Amélioration</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getLaunches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856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12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99.2%</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getPosts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643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15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97.7%</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getLaunchBySlug</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234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8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96.6%</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getCategories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189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5 ms</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C5282"/>
                          </a:solidFill>
                          <a:latin typeface="Arial" pitchFamily="34" charset="0"/>
                          <a:ea typeface="Arial" pitchFamily="34" charset="-122"/>
                          <a:cs typeface="Arial" pitchFamily="34" charset="-120"/>
                        </a:rPr>
                        <a:t>97.4%</a:t>
                      </a:r>
                      <a:endParaRPr lang="en-US" sz="16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274320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getLaunches : opération la plus utilisée sur la page d'accueil</a:t>
            </a:r>
            <a:endParaRPr lang="en-US" sz="1600" dirty="0"/>
          </a:p>
        </p:txBody>
      </p:sp>
      <p:sp>
        <p:nvSpPr>
          <p:cNvPr id="6" name="Text 3"/>
          <p:cNvSpPr/>
          <p:nvPr/>
        </p:nvSpPr>
        <p:spPr>
          <a:xfrm>
            <a:off x="640080" y="310896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getPosts : feed avec changements fréquents</a:t>
            </a:r>
            <a:endParaRPr lang="en-US" sz="1600" dirty="0"/>
          </a:p>
        </p:txBody>
      </p:sp>
      <p:sp>
        <p:nvSpPr>
          <p:cNvPr id="7" name="Text 4"/>
          <p:cNvSpPr/>
          <p:nvPr/>
        </p:nvSpPr>
        <p:spPr>
          <a:xfrm>
            <a:off x="640080" y="347472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getLaunchBySlug : page détaillée d'un produit</a:t>
            </a:r>
            <a:endParaRPr lang="en-US" sz="1600" dirty="0"/>
          </a:p>
        </p:txBody>
      </p:sp>
      <p:sp>
        <p:nvSpPr>
          <p:cNvPr id="8" name="Text 5"/>
          <p:cNvSpPr/>
          <p:nvPr/>
        </p:nvSpPr>
        <p:spPr>
          <a:xfrm>
            <a:off x="640080" y="3840480"/>
            <a:ext cx="7863840" cy="32004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getCategories : données stables avec TTL long</a:t>
            </a:r>
            <a:endParaRPr lang="en-US" sz="1600" dirty="0"/>
          </a:p>
        </p:txBody>
      </p:sp>
      <p:sp>
        <p:nvSpPr>
          <p:cNvPr id="9" name="Shape 6"/>
          <p:cNvSpPr/>
          <p:nvPr/>
        </p:nvSpPr>
        <p:spPr>
          <a:xfrm>
            <a:off x="8503920" y="4754880"/>
            <a:ext cx="320040" cy="320040"/>
          </a:xfrm>
          <a:prstGeom prst="ellipse">
            <a:avLst/>
          </a:prstGeom>
          <a:solidFill>
            <a:srgbClr val="3182CE"/>
          </a:solidFill>
          <a:ln/>
        </p:spPr>
      </p:sp>
      <p:sp>
        <p:nvSpPr>
          <p:cNvPr id="10" name="Text 7"/>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Comparaison Graphique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640080" y="731520"/>
            <a:ext cx="731520" cy="2286000"/>
          </a:xfrm>
          <a:prstGeom prst="rect">
            <a:avLst/>
          </a:prstGeom>
          <a:solidFill>
            <a:srgbClr val="EF4444"/>
          </a:solidFill>
          <a:ln/>
        </p:spPr>
      </p:sp>
      <p:sp>
        <p:nvSpPr>
          <p:cNvPr id="5" name="Shape 3"/>
          <p:cNvSpPr/>
          <p:nvPr/>
        </p:nvSpPr>
        <p:spPr>
          <a:xfrm>
            <a:off x="1554480" y="2985473"/>
            <a:ext cx="731520" cy="32047"/>
          </a:xfrm>
          <a:prstGeom prst="rect">
            <a:avLst/>
          </a:prstGeom>
          <a:solidFill>
            <a:srgbClr val="10B981"/>
          </a:solidFill>
          <a:ln/>
        </p:spPr>
      </p:sp>
      <p:sp>
        <p:nvSpPr>
          <p:cNvPr id="6" name="Text 4"/>
          <p:cNvSpPr/>
          <p:nvPr/>
        </p:nvSpPr>
        <p:spPr>
          <a:xfrm>
            <a:off x="640080" y="3108960"/>
            <a:ext cx="1645920" cy="274320"/>
          </a:xfrm>
          <a:prstGeom prst="rect">
            <a:avLst/>
          </a:prstGeom>
          <a:noFill/>
          <a:ln/>
        </p:spPr>
        <p:txBody>
          <a:bodyPr wrap="square" rtlCol="0" anchor="t"/>
          <a:lstStyle/>
          <a:p>
            <a:pPr algn="ctr" indent="0" marL="0">
              <a:buNone/>
            </a:pPr>
            <a:r>
              <a:rPr lang="en-US" sz="1100" dirty="0">
                <a:solidFill>
                  <a:srgbClr val="2C5282"/>
                </a:solidFill>
                <a:latin typeface="Arial" pitchFamily="34" charset="0"/>
                <a:ea typeface="Arial" pitchFamily="34" charset="-122"/>
                <a:cs typeface="Arial" pitchFamily="34" charset="-120"/>
              </a:rPr>
              <a:t>getLaunches</a:t>
            </a:r>
            <a:endParaRPr lang="en-US" sz="1100" dirty="0"/>
          </a:p>
        </p:txBody>
      </p:sp>
      <p:sp>
        <p:nvSpPr>
          <p:cNvPr id="7" name="Shape 5"/>
          <p:cNvSpPr/>
          <p:nvPr/>
        </p:nvSpPr>
        <p:spPr>
          <a:xfrm>
            <a:off x="2743200" y="1300349"/>
            <a:ext cx="731520" cy="1717171"/>
          </a:xfrm>
          <a:prstGeom prst="rect">
            <a:avLst/>
          </a:prstGeom>
          <a:solidFill>
            <a:srgbClr val="EF4444"/>
          </a:solidFill>
          <a:ln/>
        </p:spPr>
      </p:sp>
      <p:sp>
        <p:nvSpPr>
          <p:cNvPr id="8" name="Shape 6"/>
          <p:cNvSpPr/>
          <p:nvPr/>
        </p:nvSpPr>
        <p:spPr>
          <a:xfrm>
            <a:off x="3657600" y="2977462"/>
            <a:ext cx="731520" cy="40058"/>
          </a:xfrm>
          <a:prstGeom prst="rect">
            <a:avLst/>
          </a:prstGeom>
          <a:solidFill>
            <a:srgbClr val="10B981"/>
          </a:solidFill>
          <a:ln/>
        </p:spPr>
      </p:sp>
      <p:sp>
        <p:nvSpPr>
          <p:cNvPr id="9" name="Text 7"/>
          <p:cNvSpPr/>
          <p:nvPr/>
        </p:nvSpPr>
        <p:spPr>
          <a:xfrm>
            <a:off x="2743200" y="3108960"/>
            <a:ext cx="1645920" cy="274320"/>
          </a:xfrm>
          <a:prstGeom prst="rect">
            <a:avLst/>
          </a:prstGeom>
          <a:noFill/>
          <a:ln/>
        </p:spPr>
        <p:txBody>
          <a:bodyPr wrap="square" rtlCol="0" anchor="t"/>
          <a:lstStyle/>
          <a:p>
            <a:pPr algn="ctr" indent="0" marL="0">
              <a:buNone/>
            </a:pPr>
            <a:r>
              <a:rPr lang="en-US" sz="1100" dirty="0">
                <a:solidFill>
                  <a:srgbClr val="2C5282"/>
                </a:solidFill>
                <a:latin typeface="Arial" pitchFamily="34" charset="0"/>
                <a:ea typeface="Arial" pitchFamily="34" charset="-122"/>
                <a:cs typeface="Arial" pitchFamily="34" charset="-120"/>
              </a:rPr>
              <a:t>getPosts</a:t>
            </a:r>
            <a:endParaRPr lang="en-US" sz="1100" dirty="0"/>
          </a:p>
        </p:txBody>
      </p:sp>
      <p:sp>
        <p:nvSpPr>
          <p:cNvPr id="10" name="Shape 8"/>
          <p:cNvSpPr/>
          <p:nvPr/>
        </p:nvSpPr>
        <p:spPr>
          <a:xfrm>
            <a:off x="4846320" y="2392609"/>
            <a:ext cx="731520" cy="624911"/>
          </a:xfrm>
          <a:prstGeom prst="rect">
            <a:avLst/>
          </a:prstGeom>
          <a:solidFill>
            <a:srgbClr val="EF4444"/>
          </a:solidFill>
          <a:ln/>
        </p:spPr>
      </p:sp>
      <p:sp>
        <p:nvSpPr>
          <p:cNvPr id="11" name="Shape 9"/>
          <p:cNvSpPr/>
          <p:nvPr/>
        </p:nvSpPr>
        <p:spPr>
          <a:xfrm>
            <a:off x="5760720" y="2996156"/>
            <a:ext cx="731520" cy="21364"/>
          </a:xfrm>
          <a:prstGeom prst="rect">
            <a:avLst/>
          </a:prstGeom>
          <a:solidFill>
            <a:srgbClr val="10B981"/>
          </a:solidFill>
          <a:ln/>
        </p:spPr>
      </p:sp>
      <p:sp>
        <p:nvSpPr>
          <p:cNvPr id="12" name="Text 10"/>
          <p:cNvSpPr/>
          <p:nvPr/>
        </p:nvSpPr>
        <p:spPr>
          <a:xfrm>
            <a:off x="4846320" y="3108960"/>
            <a:ext cx="1645920" cy="274320"/>
          </a:xfrm>
          <a:prstGeom prst="rect">
            <a:avLst/>
          </a:prstGeom>
          <a:noFill/>
          <a:ln/>
        </p:spPr>
        <p:txBody>
          <a:bodyPr wrap="square" rtlCol="0" anchor="t"/>
          <a:lstStyle/>
          <a:p>
            <a:pPr algn="ctr" indent="0" marL="0">
              <a:buNone/>
            </a:pPr>
            <a:r>
              <a:rPr lang="en-US" sz="1100" dirty="0">
                <a:solidFill>
                  <a:srgbClr val="2C5282"/>
                </a:solidFill>
                <a:latin typeface="Arial" pitchFamily="34" charset="0"/>
                <a:ea typeface="Arial" pitchFamily="34" charset="-122"/>
                <a:cs typeface="Arial" pitchFamily="34" charset="-120"/>
              </a:rPr>
              <a:t>getLaunchBySlug</a:t>
            </a:r>
            <a:endParaRPr lang="en-US" sz="1100" dirty="0"/>
          </a:p>
        </p:txBody>
      </p:sp>
      <p:sp>
        <p:nvSpPr>
          <p:cNvPr id="13" name="Shape 11"/>
          <p:cNvSpPr/>
          <p:nvPr/>
        </p:nvSpPr>
        <p:spPr>
          <a:xfrm>
            <a:off x="6949440" y="2512784"/>
            <a:ext cx="731520" cy="504736"/>
          </a:xfrm>
          <a:prstGeom prst="rect">
            <a:avLst/>
          </a:prstGeom>
          <a:solidFill>
            <a:srgbClr val="EF4444"/>
          </a:solidFill>
          <a:ln/>
        </p:spPr>
      </p:sp>
      <p:sp>
        <p:nvSpPr>
          <p:cNvPr id="14" name="Shape 12"/>
          <p:cNvSpPr/>
          <p:nvPr/>
        </p:nvSpPr>
        <p:spPr>
          <a:xfrm>
            <a:off x="7863840" y="3004167"/>
            <a:ext cx="731520" cy="13353"/>
          </a:xfrm>
          <a:prstGeom prst="rect">
            <a:avLst/>
          </a:prstGeom>
          <a:solidFill>
            <a:srgbClr val="10B981"/>
          </a:solidFill>
          <a:ln/>
        </p:spPr>
      </p:sp>
      <p:sp>
        <p:nvSpPr>
          <p:cNvPr id="15" name="Text 13"/>
          <p:cNvSpPr/>
          <p:nvPr/>
        </p:nvSpPr>
        <p:spPr>
          <a:xfrm>
            <a:off x="6949440" y="3108960"/>
            <a:ext cx="1645920" cy="274320"/>
          </a:xfrm>
          <a:prstGeom prst="rect">
            <a:avLst/>
          </a:prstGeom>
          <a:noFill/>
          <a:ln/>
        </p:spPr>
        <p:txBody>
          <a:bodyPr wrap="square" rtlCol="0" anchor="t"/>
          <a:lstStyle/>
          <a:p>
            <a:pPr algn="ctr" indent="0" marL="0">
              <a:buNone/>
            </a:pPr>
            <a:r>
              <a:rPr lang="en-US" sz="1100" dirty="0">
                <a:solidFill>
                  <a:srgbClr val="2C5282"/>
                </a:solidFill>
                <a:latin typeface="Arial" pitchFamily="34" charset="0"/>
                <a:ea typeface="Arial" pitchFamily="34" charset="-122"/>
                <a:cs typeface="Arial" pitchFamily="34" charset="-120"/>
              </a:rPr>
              <a:t>getCategories</a:t>
            </a:r>
            <a:endParaRPr lang="en-US" sz="1100" dirty="0"/>
          </a:p>
        </p:txBody>
      </p:sp>
      <p:sp>
        <p:nvSpPr>
          <p:cNvPr id="16" name="Shape 14"/>
          <p:cNvSpPr/>
          <p:nvPr/>
        </p:nvSpPr>
        <p:spPr>
          <a:xfrm>
            <a:off x="5943600" y="1097280"/>
            <a:ext cx="274320" cy="182880"/>
          </a:xfrm>
          <a:prstGeom prst="rect">
            <a:avLst/>
          </a:prstGeom>
          <a:solidFill>
            <a:srgbClr val="EF4444"/>
          </a:solidFill>
          <a:ln/>
        </p:spPr>
      </p:sp>
      <p:sp>
        <p:nvSpPr>
          <p:cNvPr id="17" name="Text 15"/>
          <p:cNvSpPr/>
          <p:nvPr/>
        </p:nvSpPr>
        <p:spPr>
          <a:xfrm>
            <a:off x="6309360" y="1051560"/>
            <a:ext cx="1828800" cy="274320"/>
          </a:xfrm>
          <a:prstGeom prst="rect">
            <a:avLst/>
          </a:prstGeom>
          <a:noFill/>
          <a:ln/>
        </p:spPr>
        <p:txBody>
          <a:bodyPr wrap="square" rtlCol="0" anchor="ctr"/>
          <a:lstStyle/>
          <a:p>
            <a:pPr algn="l" indent="0" marL="0">
              <a:buNone/>
            </a:pPr>
            <a:r>
              <a:rPr lang="en-US" sz="1200" dirty="0">
                <a:solidFill>
                  <a:srgbClr val="2C5282"/>
                </a:solidFill>
                <a:latin typeface="Arial" pitchFamily="34" charset="0"/>
                <a:ea typeface="Arial" pitchFamily="34" charset="-122"/>
                <a:cs typeface="Arial" pitchFamily="34" charset="-120"/>
              </a:rPr>
              <a:t>Sans Cache</a:t>
            </a:r>
            <a:endParaRPr lang="en-US" sz="1200" dirty="0"/>
          </a:p>
        </p:txBody>
      </p:sp>
      <p:sp>
        <p:nvSpPr>
          <p:cNvPr id="18" name="Shape 16"/>
          <p:cNvSpPr/>
          <p:nvPr/>
        </p:nvSpPr>
        <p:spPr>
          <a:xfrm>
            <a:off x="5943600" y="1371600"/>
            <a:ext cx="274320" cy="182880"/>
          </a:xfrm>
          <a:prstGeom prst="rect">
            <a:avLst/>
          </a:prstGeom>
          <a:solidFill>
            <a:srgbClr val="10B981"/>
          </a:solidFill>
          <a:ln/>
        </p:spPr>
      </p:sp>
      <p:sp>
        <p:nvSpPr>
          <p:cNvPr id="19" name="Text 17"/>
          <p:cNvSpPr/>
          <p:nvPr/>
        </p:nvSpPr>
        <p:spPr>
          <a:xfrm>
            <a:off x="6309360" y="1325880"/>
            <a:ext cx="1828800" cy="274320"/>
          </a:xfrm>
          <a:prstGeom prst="rect">
            <a:avLst/>
          </a:prstGeom>
          <a:noFill/>
          <a:ln/>
        </p:spPr>
        <p:txBody>
          <a:bodyPr wrap="square" rtlCol="0" anchor="ctr"/>
          <a:lstStyle/>
          <a:p>
            <a:pPr algn="l" indent="0" marL="0">
              <a:buNone/>
            </a:pPr>
            <a:r>
              <a:rPr lang="en-US" sz="1200" dirty="0">
                <a:solidFill>
                  <a:srgbClr val="2C5282"/>
                </a:solidFill>
                <a:latin typeface="Arial" pitchFamily="34" charset="0"/>
                <a:ea typeface="Arial" pitchFamily="34" charset="-122"/>
                <a:cs typeface="Arial" pitchFamily="34" charset="-120"/>
              </a:rPr>
              <a:t>Avec Cache</a:t>
            </a:r>
            <a:endParaRPr lang="en-US" sz="1200" dirty="0"/>
          </a:p>
        </p:txBody>
      </p:sp>
      <p:sp>
        <p:nvSpPr>
          <p:cNvPr id="20" name="Text 18"/>
          <p:cNvSpPr/>
          <p:nvPr/>
        </p:nvSpPr>
        <p:spPr>
          <a:xfrm>
            <a:off x="640080" y="338328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Barres rouges : temps sans cache</a:t>
            </a:r>
            <a:endParaRPr lang="en-US" sz="1600" dirty="0"/>
          </a:p>
        </p:txBody>
      </p:sp>
      <p:sp>
        <p:nvSpPr>
          <p:cNvPr id="21" name="Text 19"/>
          <p:cNvSpPr/>
          <p:nvPr/>
        </p:nvSpPr>
        <p:spPr>
          <a:xfrm>
            <a:off x="640080" y="370332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Barres vertes : temps avec cache</a:t>
            </a:r>
            <a:endParaRPr lang="en-US" sz="1600" dirty="0"/>
          </a:p>
        </p:txBody>
      </p:sp>
      <p:sp>
        <p:nvSpPr>
          <p:cNvPr id="22" name="Text 20"/>
          <p:cNvSpPr/>
          <p:nvPr/>
        </p:nvSpPr>
        <p:spPr>
          <a:xfrm>
            <a:off x="640080" y="402336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Différence spectaculaire sur getLaunches</a:t>
            </a:r>
            <a:endParaRPr lang="en-US" sz="1600" dirty="0"/>
          </a:p>
        </p:txBody>
      </p:sp>
      <p:sp>
        <p:nvSpPr>
          <p:cNvPr id="23" name="Text 21"/>
          <p:cNvSpPr/>
          <p:nvPr/>
        </p:nvSpPr>
        <p:spPr>
          <a:xfrm>
            <a:off x="640080" y="4343400"/>
            <a:ext cx="7863840" cy="274320"/>
          </a:xfrm>
          <a:prstGeom prst="rect">
            <a:avLst/>
          </a:prstGeom>
          <a:noFill/>
          <a:ln/>
        </p:spPr>
        <p:txBody>
          <a:bodyPr wrap="square" rtlCol="0" anchor="ctr"/>
          <a:lstStyle/>
          <a:p>
            <a:pPr algn="l" indent="0" marL="0">
              <a:buNone/>
            </a:pPr>
            <a:r>
              <a:rPr lang="en-US" sz="1600" dirty="0">
                <a:solidFill>
                  <a:srgbClr val="2C5282"/>
                </a:solidFill>
                <a:latin typeface="Arial" pitchFamily="34" charset="0"/>
                <a:ea typeface="Arial" pitchFamily="34" charset="-122"/>
                <a:cs typeface="Arial" pitchFamily="34" charset="-120"/>
              </a:rPr>
              <a:t>Efficacité du cache Redis confirmée</a:t>
            </a:r>
            <a:endParaRPr lang="en-US" sz="1600" dirty="0"/>
          </a:p>
        </p:txBody>
      </p:sp>
      <p:sp>
        <p:nvSpPr>
          <p:cNvPr id="24" name="Shape 22"/>
          <p:cNvSpPr/>
          <p:nvPr/>
        </p:nvSpPr>
        <p:spPr>
          <a:xfrm>
            <a:off x="8503920" y="4754880"/>
            <a:ext cx="320040" cy="320040"/>
          </a:xfrm>
          <a:prstGeom prst="ellipse">
            <a:avLst/>
          </a:prstGeom>
          <a:solidFill>
            <a:srgbClr val="3182CE"/>
          </a:solidFill>
          <a:ln/>
        </p:spPr>
      </p:sp>
      <p:sp>
        <p:nvSpPr>
          <p:cNvPr id="25" name="Text 23"/>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Conclusion et Résultats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Shape 2"/>
          <p:cNvSpPr/>
          <p:nvPr/>
        </p:nvSpPr>
        <p:spPr>
          <a:xfrm>
            <a:off x="457200" y="1097280"/>
            <a:ext cx="2560320" cy="1097280"/>
          </a:xfrm>
          <a:prstGeom prst="roundRect">
            <a:avLst>
              <a:gd name="adj" fmla="val 8333"/>
            </a:avLst>
          </a:prstGeom>
          <a:solidFill>
            <a:srgbClr val="FFFFFF"/>
          </a:solidFill>
          <a:ln w="25400">
            <a:solidFill>
              <a:srgbClr val="E2E8F0"/>
            </a:solidFill>
            <a:prstDash val="solid"/>
          </a:ln>
        </p:spPr>
      </p:sp>
      <p:sp>
        <p:nvSpPr>
          <p:cNvPr id="5" name="Text 3"/>
          <p:cNvSpPr/>
          <p:nvPr/>
        </p:nvSpPr>
        <p:spPr>
          <a:xfrm>
            <a:off x="457200" y="1143000"/>
            <a:ext cx="2560320" cy="457200"/>
          </a:xfrm>
          <a:prstGeom prst="rect">
            <a:avLst/>
          </a:prstGeom>
          <a:noFill/>
          <a:ln/>
        </p:spPr>
        <p:txBody>
          <a:bodyPr wrap="square" rtlCol="0" anchor="ctr"/>
          <a:lstStyle/>
          <a:p>
            <a:pPr algn="ctr" indent="0" marL="0">
              <a:buNone/>
            </a:pPr>
            <a:r>
              <a:rPr lang="en-US" sz="3200" b="1" dirty="0">
                <a:solidFill>
                  <a:srgbClr val="10B981"/>
                </a:solidFill>
                <a:latin typeface="Arial" pitchFamily="34" charset="0"/>
                <a:ea typeface="Arial" pitchFamily="34" charset="-122"/>
                <a:cs typeface="Arial" pitchFamily="34" charset="-120"/>
              </a:rPr>
              <a:t>-99%</a:t>
            </a:r>
            <a:endParaRPr lang="en-US" sz="3200" dirty="0"/>
          </a:p>
        </p:txBody>
      </p:sp>
      <p:sp>
        <p:nvSpPr>
          <p:cNvPr id="6" name="Text 4"/>
          <p:cNvSpPr/>
          <p:nvPr/>
        </p:nvSpPr>
        <p:spPr>
          <a:xfrm>
            <a:off x="457200" y="1645920"/>
            <a:ext cx="2560320" cy="228600"/>
          </a:xfrm>
          <a:prstGeom prst="rect">
            <a:avLst/>
          </a:prstGeom>
          <a:noFill/>
          <a:ln/>
        </p:spPr>
        <p:txBody>
          <a:bodyPr wrap="square" rtlCol="0" anchor="ctr"/>
          <a:lstStyle/>
          <a:p>
            <a:pPr algn="ctr" indent="0" marL="0">
              <a:buNone/>
            </a:pPr>
            <a:r>
              <a:rPr lang="en-US" sz="1400" b="1" dirty="0">
                <a:solidFill>
                  <a:srgbClr val="2C5282"/>
                </a:solidFill>
                <a:latin typeface="Arial" pitchFamily="34" charset="0"/>
                <a:ea typeface="Arial" pitchFamily="34" charset="-122"/>
                <a:cs typeface="Arial" pitchFamily="34" charset="-120"/>
              </a:rPr>
              <a:t>Temps de réponse</a:t>
            </a:r>
            <a:endParaRPr lang="en-US" sz="1400" dirty="0"/>
          </a:p>
        </p:txBody>
      </p:sp>
      <p:sp>
        <p:nvSpPr>
          <p:cNvPr id="7" name="Text 5"/>
          <p:cNvSpPr/>
          <p:nvPr/>
        </p:nvSpPr>
        <p:spPr>
          <a:xfrm>
            <a:off x="45720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en moyenne</a:t>
            </a:r>
            <a:endParaRPr lang="en-US" sz="1200" dirty="0"/>
          </a:p>
        </p:txBody>
      </p:sp>
      <p:sp>
        <p:nvSpPr>
          <p:cNvPr id="8" name="Shape 6"/>
          <p:cNvSpPr/>
          <p:nvPr/>
        </p:nvSpPr>
        <p:spPr>
          <a:xfrm>
            <a:off x="3291840" y="1097280"/>
            <a:ext cx="2560320" cy="1097280"/>
          </a:xfrm>
          <a:prstGeom prst="roundRect">
            <a:avLst>
              <a:gd name="adj" fmla="val 8333"/>
            </a:avLst>
          </a:prstGeom>
          <a:solidFill>
            <a:srgbClr val="FFFFFF"/>
          </a:solidFill>
          <a:ln w="25400">
            <a:solidFill>
              <a:srgbClr val="E2E8F0"/>
            </a:solidFill>
            <a:prstDash val="solid"/>
          </a:ln>
        </p:spPr>
      </p:sp>
      <p:sp>
        <p:nvSpPr>
          <p:cNvPr id="9" name="Text 7"/>
          <p:cNvSpPr/>
          <p:nvPr/>
        </p:nvSpPr>
        <p:spPr>
          <a:xfrm>
            <a:off x="3291840" y="1143000"/>
            <a:ext cx="2560320" cy="457200"/>
          </a:xfrm>
          <a:prstGeom prst="rect">
            <a:avLst/>
          </a:prstGeom>
          <a:noFill/>
          <a:ln/>
        </p:spPr>
        <p:txBody>
          <a:bodyPr wrap="square" rtlCol="0" anchor="ctr"/>
          <a:lstStyle/>
          <a:p>
            <a:pPr algn="ctr" indent="0" marL="0">
              <a:buNone/>
            </a:pPr>
            <a:r>
              <a:rPr lang="en-US" sz="3200" b="1" dirty="0">
                <a:solidFill>
                  <a:srgbClr val="10B981"/>
                </a:solidFill>
                <a:latin typeface="Arial" pitchFamily="34" charset="0"/>
                <a:ea typeface="Arial" pitchFamily="34" charset="-122"/>
                <a:cs typeface="Arial" pitchFamily="34" charset="-120"/>
              </a:rPr>
              <a:t>-85%</a:t>
            </a:r>
            <a:endParaRPr lang="en-US" sz="3200" dirty="0"/>
          </a:p>
        </p:txBody>
      </p:sp>
      <p:sp>
        <p:nvSpPr>
          <p:cNvPr id="10" name="Text 8"/>
          <p:cNvSpPr/>
          <p:nvPr/>
        </p:nvSpPr>
        <p:spPr>
          <a:xfrm>
            <a:off x="3291840" y="1645920"/>
            <a:ext cx="2560320" cy="228600"/>
          </a:xfrm>
          <a:prstGeom prst="rect">
            <a:avLst/>
          </a:prstGeom>
          <a:noFill/>
          <a:ln/>
        </p:spPr>
        <p:txBody>
          <a:bodyPr wrap="square" rtlCol="0" anchor="ctr"/>
          <a:lstStyle/>
          <a:p>
            <a:pPr algn="ctr" indent="0" marL="0">
              <a:buNone/>
            </a:pPr>
            <a:r>
              <a:rPr lang="en-US" sz="1400" b="1" dirty="0">
                <a:solidFill>
                  <a:srgbClr val="2C5282"/>
                </a:solidFill>
                <a:latin typeface="Arial" pitchFamily="34" charset="0"/>
                <a:ea typeface="Arial" pitchFamily="34" charset="-122"/>
                <a:cs typeface="Arial" pitchFamily="34" charset="-120"/>
              </a:rPr>
              <a:t>Charge DB</a:t>
            </a:r>
            <a:endParaRPr lang="en-US" sz="1400" dirty="0"/>
          </a:p>
        </p:txBody>
      </p:sp>
      <p:sp>
        <p:nvSpPr>
          <p:cNvPr id="11" name="Text 9"/>
          <p:cNvSpPr/>
          <p:nvPr/>
        </p:nvSpPr>
        <p:spPr>
          <a:xfrm>
            <a:off x="329184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requêtes réduites</a:t>
            </a:r>
            <a:endParaRPr lang="en-US" sz="1200" dirty="0"/>
          </a:p>
        </p:txBody>
      </p:sp>
      <p:sp>
        <p:nvSpPr>
          <p:cNvPr id="12" name="Shape 10"/>
          <p:cNvSpPr/>
          <p:nvPr/>
        </p:nvSpPr>
        <p:spPr>
          <a:xfrm>
            <a:off x="6126480" y="1097280"/>
            <a:ext cx="2560320" cy="1097280"/>
          </a:xfrm>
          <a:prstGeom prst="roundRect">
            <a:avLst>
              <a:gd name="adj" fmla="val 8333"/>
            </a:avLst>
          </a:prstGeom>
          <a:solidFill>
            <a:srgbClr val="FFFFFF"/>
          </a:solidFill>
          <a:ln w="25400">
            <a:solidFill>
              <a:srgbClr val="E2E8F0"/>
            </a:solidFill>
            <a:prstDash val="solid"/>
          </a:ln>
        </p:spPr>
      </p:sp>
      <p:sp>
        <p:nvSpPr>
          <p:cNvPr id="13" name="Text 11"/>
          <p:cNvSpPr/>
          <p:nvPr/>
        </p:nvSpPr>
        <p:spPr>
          <a:xfrm>
            <a:off x="6126480" y="1143000"/>
            <a:ext cx="2560320" cy="457200"/>
          </a:xfrm>
          <a:prstGeom prst="rect">
            <a:avLst/>
          </a:prstGeom>
          <a:noFill/>
          <a:ln/>
        </p:spPr>
        <p:txBody>
          <a:bodyPr wrap="square" rtlCol="0" anchor="ctr"/>
          <a:lstStyle/>
          <a:p>
            <a:pPr algn="ctr" indent="0" marL="0">
              <a:buNone/>
            </a:pPr>
            <a:r>
              <a:rPr lang="en-US" sz="3200" b="1" dirty="0">
                <a:solidFill>
                  <a:srgbClr val="10B981"/>
                </a:solidFill>
                <a:latin typeface="Arial" pitchFamily="34" charset="0"/>
                <a:ea typeface="Arial" pitchFamily="34" charset="-122"/>
                <a:cs typeface="Arial" pitchFamily="34" charset="-120"/>
              </a:rPr>
              <a:t>100%</a:t>
            </a:r>
            <a:endParaRPr lang="en-US" sz="3200" dirty="0"/>
          </a:p>
        </p:txBody>
      </p:sp>
      <p:sp>
        <p:nvSpPr>
          <p:cNvPr id="14" name="Text 12"/>
          <p:cNvSpPr/>
          <p:nvPr/>
        </p:nvSpPr>
        <p:spPr>
          <a:xfrm>
            <a:off x="6126480" y="1645920"/>
            <a:ext cx="2560320" cy="228600"/>
          </a:xfrm>
          <a:prstGeom prst="rect">
            <a:avLst/>
          </a:prstGeom>
          <a:noFill/>
          <a:ln/>
        </p:spPr>
        <p:txBody>
          <a:bodyPr wrap="square" rtlCol="0" anchor="ctr"/>
          <a:lstStyle/>
          <a:p>
            <a:pPr algn="ctr" indent="0" marL="0">
              <a:buNone/>
            </a:pPr>
            <a:r>
              <a:rPr lang="en-US" sz="1400" b="1" dirty="0">
                <a:solidFill>
                  <a:srgbClr val="2C5282"/>
                </a:solidFill>
                <a:latin typeface="Arial" pitchFamily="34" charset="0"/>
                <a:ea typeface="Arial" pitchFamily="34" charset="-122"/>
                <a:cs typeface="Arial" pitchFamily="34" charset="-120"/>
              </a:rPr>
              <a:t>Tests</a:t>
            </a:r>
            <a:endParaRPr lang="en-US" sz="1400" dirty="0"/>
          </a:p>
        </p:txBody>
      </p:sp>
      <p:sp>
        <p:nvSpPr>
          <p:cNvPr id="15" name="Text 13"/>
          <p:cNvSpPr/>
          <p:nvPr/>
        </p:nvSpPr>
        <p:spPr>
          <a:xfrm>
            <a:off x="6126480" y="1874520"/>
            <a:ext cx="2560320" cy="228600"/>
          </a:xfrm>
          <a:prstGeom prst="rect">
            <a:avLst/>
          </a:prstGeom>
          <a:noFill/>
          <a:ln/>
        </p:spPr>
        <p:txBody>
          <a:bodyPr wrap="square" rtlCol="0" anchor="ctr"/>
          <a:lstStyle/>
          <a:p>
            <a:pPr algn="ctr" indent="0" marL="0">
              <a:buNone/>
            </a:pPr>
            <a:r>
              <a:rPr lang="en-US" sz="1200" dirty="0">
                <a:solidFill>
                  <a:srgbClr val="2C5282"/>
                </a:solidFill>
                <a:latin typeface="Arial" pitchFamily="34" charset="0"/>
                <a:ea typeface="Arial" pitchFamily="34" charset="-122"/>
                <a:cs typeface="Arial" pitchFamily="34" charset="-120"/>
              </a:rPr>
              <a:t>tous passent</a:t>
            </a:r>
            <a:endParaRPr lang="en-US" sz="1200" dirty="0"/>
          </a:p>
        </p:txBody>
      </p:sp>
      <p:sp>
        <p:nvSpPr>
          <p:cNvPr id="16" name="Text 14"/>
          <p:cNvSpPr/>
          <p:nvPr/>
        </p:nvSpPr>
        <p:spPr>
          <a:xfrm>
            <a:off x="640080" y="237744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Objectifs atteints avec succès</a:t>
            </a:r>
            <a:endParaRPr lang="en-US" sz="1800" dirty="0"/>
          </a:p>
        </p:txBody>
      </p:sp>
      <p:sp>
        <p:nvSpPr>
          <p:cNvPr id="17" name="Text 15"/>
          <p:cNvSpPr/>
          <p:nvPr/>
        </p:nvSpPr>
        <p:spPr>
          <a:xfrm>
            <a:off x="640080" y="278892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Cache distribué Redis + Docker Compose</a:t>
            </a:r>
            <a:endParaRPr lang="en-US" sz="1800" dirty="0"/>
          </a:p>
        </p:txBody>
      </p:sp>
      <p:sp>
        <p:nvSpPr>
          <p:cNvPr id="18" name="Text 16"/>
          <p:cNvSpPr/>
          <p:nvPr/>
        </p:nvSpPr>
        <p:spPr>
          <a:xfrm>
            <a:off x="640080" y="320040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Cohérence des données maintenue</a:t>
            </a:r>
            <a:endParaRPr lang="en-US" sz="1800" dirty="0"/>
          </a:p>
        </p:txBody>
      </p:sp>
      <p:sp>
        <p:nvSpPr>
          <p:cNvPr id="19" name="Text 17"/>
          <p:cNvSpPr/>
          <p:nvPr/>
        </p:nvSpPr>
        <p:spPr>
          <a:xfrm>
            <a:off x="640080" y="3611880"/>
            <a:ext cx="7863840" cy="36576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Application marketplace SaaS optimisée</a:t>
            </a:r>
            <a:endParaRPr lang="en-US" sz="1800" dirty="0"/>
          </a:p>
        </p:txBody>
      </p:sp>
      <p:sp>
        <p:nvSpPr>
          <p:cNvPr id="20" name="Shape 18"/>
          <p:cNvSpPr/>
          <p:nvPr/>
        </p:nvSpPr>
        <p:spPr>
          <a:xfrm>
            <a:off x="8503920" y="4754880"/>
            <a:ext cx="320040" cy="320040"/>
          </a:xfrm>
          <a:prstGeom prst="ellipse">
            <a:avLst/>
          </a:prstGeom>
          <a:solidFill>
            <a:srgbClr val="3182CE"/>
          </a:solidFill>
          <a:ln/>
        </p:spPr>
      </p:sp>
      <p:sp>
        <p:nvSpPr>
          <p:cNvPr id="21" name="Text 19"/>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Bonnes Pratiques de Cache</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Text 2"/>
          <p:cNvSpPr/>
          <p:nvPr/>
        </p:nvSpPr>
        <p:spPr>
          <a:xfrm>
            <a:off x="640080" y="91440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Choisir un TTL adapté à chaque type de donnée</a:t>
            </a:r>
            <a:endParaRPr lang="en-US" sz="1800" dirty="0"/>
          </a:p>
        </p:txBody>
      </p:sp>
      <p:sp>
        <p:nvSpPr>
          <p:cNvPr id="5" name="Text 3"/>
          <p:cNvSpPr/>
          <p:nvPr/>
        </p:nvSpPr>
        <p:spPr>
          <a:xfrm>
            <a:off x="640080" y="141732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Catégories stables : TTL long de 30 minutes</a:t>
            </a:r>
            <a:endParaRPr lang="en-US" sz="1800" dirty="0"/>
          </a:p>
        </p:txBody>
      </p:sp>
      <p:sp>
        <p:nvSpPr>
          <p:cNvPr id="6" name="Text 4"/>
          <p:cNvSpPr/>
          <p:nvPr/>
        </p:nvSpPr>
        <p:spPr>
          <a:xfrm>
            <a:off x="640080" y="192024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Commentaires dynamiques : TTL court de 2 minutes</a:t>
            </a:r>
            <a:endParaRPr lang="en-US" sz="1800" dirty="0"/>
          </a:p>
        </p:txBody>
      </p:sp>
      <p:sp>
        <p:nvSpPr>
          <p:cNvPr id="7" name="Text 5"/>
          <p:cNvSpPr/>
          <p:nvPr/>
        </p:nvSpPr>
        <p:spPr>
          <a:xfrm>
            <a:off x="640080" y="242316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Invalidation systématique lors des écritures</a:t>
            </a:r>
            <a:endParaRPr lang="en-US" sz="1800" dirty="0"/>
          </a:p>
        </p:txBody>
      </p:sp>
      <p:sp>
        <p:nvSpPr>
          <p:cNvPr id="8" name="Text 6"/>
          <p:cNvSpPr/>
          <p:nvPr/>
        </p:nvSpPr>
        <p:spPr>
          <a:xfrm>
            <a:off x="640080" y="292608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Préfixe saas: pour éviter les collisions</a:t>
            </a:r>
            <a:endParaRPr lang="en-US" sz="1800" dirty="0"/>
          </a:p>
        </p:txBody>
      </p:sp>
      <p:sp>
        <p:nvSpPr>
          <p:cNvPr id="9" name="Text 7"/>
          <p:cNvSpPr/>
          <p:nvPr/>
        </p:nvSpPr>
        <p:spPr>
          <a:xfrm>
            <a:off x="640080" y="342900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Tests unitaires pour valider le comportement</a:t>
            </a:r>
            <a:endParaRPr lang="en-US" sz="1800" dirty="0"/>
          </a:p>
        </p:txBody>
      </p:sp>
      <p:sp>
        <p:nvSpPr>
          <p:cNvPr id="10" name="Text 8"/>
          <p:cNvSpPr/>
          <p:nvPr/>
        </p:nvSpPr>
        <p:spPr>
          <a:xfrm>
            <a:off x="640080" y="3931920"/>
            <a:ext cx="7863840" cy="45720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Monitoring et logs pour suivre l'utilisation</a:t>
            </a:r>
            <a:endParaRPr lang="en-US" sz="1800" dirty="0"/>
          </a:p>
        </p:txBody>
      </p:sp>
      <p:sp>
        <p:nvSpPr>
          <p:cNvPr id="11" name="Shape 9"/>
          <p:cNvSpPr/>
          <p:nvPr/>
        </p:nvSpPr>
        <p:spPr>
          <a:xfrm>
            <a:off x="8503920" y="4754880"/>
            <a:ext cx="320040" cy="320040"/>
          </a:xfrm>
          <a:prstGeom prst="ellipse">
            <a:avLst/>
          </a:prstGeom>
          <a:solidFill>
            <a:srgbClr val="3182CE"/>
          </a:solidFill>
          <a:ln/>
        </p:spPr>
      </p:sp>
      <p:sp>
        <p:nvSpPr>
          <p:cNvPr id="12" name="Text 10"/>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algn="l" indent="0" marL="0">
              <a:buNone/>
            </a:pPr>
            <a:r>
              <a:rPr lang="en-US" sz="2800" b="1" dirty="0">
                <a:solidFill>
                  <a:srgbClr val="1E3A5F"/>
                </a:solidFill>
                <a:latin typeface="Arial" pitchFamily="34" charset="0"/>
                <a:ea typeface="Arial" pitchFamily="34" charset="-122"/>
                <a:cs typeface="Arial" pitchFamily="34" charset="-120"/>
              </a:rPr>
              <a:t>Perspectives et Améliorations Futures</a:t>
            </a:r>
            <a:endParaRPr lang="en-US" sz="2800" dirty="0"/>
          </a:p>
        </p:txBody>
      </p:sp>
      <p:sp>
        <p:nvSpPr>
          <p:cNvPr id="3" name="Shape 1"/>
          <p:cNvSpPr/>
          <p:nvPr/>
        </p:nvSpPr>
        <p:spPr>
          <a:xfrm>
            <a:off x="457200" y="731520"/>
            <a:ext cx="1371600" cy="45720"/>
          </a:xfrm>
          <a:prstGeom prst="rect">
            <a:avLst/>
          </a:prstGeom>
          <a:solidFill>
            <a:srgbClr val="3182CE"/>
          </a:solidFill>
          <a:ln/>
        </p:spPr>
      </p:sp>
      <p:sp>
        <p:nvSpPr>
          <p:cNvPr id="4" name="Text 2"/>
          <p:cNvSpPr/>
          <p:nvPr/>
        </p:nvSpPr>
        <p:spPr>
          <a:xfrm>
            <a:off x="640080" y="914400"/>
            <a:ext cx="7863840" cy="5486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Cluster Redis avec réplication pour haute disponibilité</a:t>
            </a:r>
            <a:endParaRPr lang="en-US" sz="1800" dirty="0"/>
          </a:p>
        </p:txBody>
      </p:sp>
      <p:sp>
        <p:nvSpPr>
          <p:cNvPr id="5" name="Text 3"/>
          <p:cNvSpPr/>
          <p:nvPr/>
        </p:nvSpPr>
        <p:spPr>
          <a:xfrm>
            <a:off x="640080" y="1508760"/>
            <a:ext cx="7863840" cy="5486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Cache LRU local côté application pour réduire la latence</a:t>
            </a:r>
            <a:endParaRPr lang="en-US" sz="1800" dirty="0"/>
          </a:p>
        </p:txBody>
      </p:sp>
      <p:sp>
        <p:nvSpPr>
          <p:cNvPr id="6" name="Text 4"/>
          <p:cNvSpPr/>
          <p:nvPr/>
        </p:nvSpPr>
        <p:spPr>
          <a:xfrm>
            <a:off x="640080" y="2103120"/>
            <a:ext cx="7863840" cy="5486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Cache warming pour précharger les données populaires</a:t>
            </a:r>
            <a:endParaRPr lang="en-US" sz="1800" dirty="0"/>
          </a:p>
        </p:txBody>
      </p:sp>
      <p:sp>
        <p:nvSpPr>
          <p:cNvPr id="7" name="Text 5"/>
          <p:cNvSpPr/>
          <p:nvPr/>
        </p:nvSpPr>
        <p:spPr>
          <a:xfrm>
            <a:off x="640080" y="2697480"/>
            <a:ext cx="7863840" cy="5486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Redis Streams pour invalidation en temps réel multi-serveur</a:t>
            </a:r>
            <a:endParaRPr lang="en-US" sz="1800" dirty="0"/>
          </a:p>
        </p:txBody>
      </p:sp>
      <p:sp>
        <p:nvSpPr>
          <p:cNvPr id="8" name="Text 6"/>
          <p:cNvSpPr/>
          <p:nvPr/>
        </p:nvSpPr>
        <p:spPr>
          <a:xfrm>
            <a:off x="640080" y="3291840"/>
            <a:ext cx="7863840" cy="548640"/>
          </a:xfrm>
          <a:prstGeom prst="rect">
            <a:avLst/>
          </a:prstGeom>
          <a:noFill/>
          <a:ln/>
        </p:spPr>
        <p:txBody>
          <a:bodyPr wrap="square" rtlCol="0" anchor="ctr"/>
          <a:lstStyle/>
          <a:p>
            <a:pPr algn="l" indent="0" marL="0">
              <a:buNone/>
            </a:pPr>
            <a:r>
              <a:rPr lang="en-US" sz="1800" dirty="0">
                <a:solidFill>
                  <a:srgbClr val="2C5282"/>
                </a:solidFill>
                <a:latin typeface="Arial" pitchFamily="34" charset="0"/>
                <a:ea typeface="Arial" pitchFamily="34" charset="-122"/>
                <a:cs typeface="Arial" pitchFamily="34" charset="-120"/>
              </a:rPr>
              <a:t>Dashboard de monitoring des taux de hit et miss</a:t>
            </a:r>
            <a:endParaRPr lang="en-US" sz="1800" dirty="0"/>
          </a:p>
        </p:txBody>
      </p:sp>
      <p:sp>
        <p:nvSpPr>
          <p:cNvPr id="9" name="Shape 7"/>
          <p:cNvSpPr/>
          <p:nvPr/>
        </p:nvSpPr>
        <p:spPr>
          <a:xfrm>
            <a:off x="8503920" y="4754880"/>
            <a:ext cx="320040" cy="320040"/>
          </a:xfrm>
          <a:prstGeom prst="ellipse">
            <a:avLst/>
          </a:prstGeom>
          <a:solidFill>
            <a:srgbClr val="3182CE"/>
          </a:solidFill>
          <a:ln/>
        </p:spPr>
      </p:sp>
      <p:sp>
        <p:nvSpPr>
          <p:cNvPr id="10" name="Text 8"/>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ctr" indent="0" marL="0">
              <a:buNone/>
            </a:pPr>
            <a:r>
              <a:rPr lang="en-US" sz="3600" b="1" dirty="0">
                <a:solidFill>
                  <a:srgbClr val="1E3A5F"/>
                </a:solidFill>
                <a:latin typeface="Arial" pitchFamily="34" charset="0"/>
                <a:ea typeface="Arial" pitchFamily="34" charset="-122"/>
                <a:cs typeface="Arial" pitchFamily="34" charset="-120"/>
              </a:rPr>
              <a:t>Merci de votre attention</a:t>
            </a:r>
            <a:endParaRPr lang="en-US" sz="3600" dirty="0"/>
          </a:p>
        </p:txBody>
      </p:sp>
      <p:sp>
        <p:nvSpPr>
          <p:cNvPr id="3" name="Shape 1"/>
          <p:cNvSpPr/>
          <p:nvPr/>
        </p:nvSpPr>
        <p:spPr>
          <a:xfrm>
            <a:off x="3657600" y="1097280"/>
            <a:ext cx="1828800" cy="45720"/>
          </a:xfrm>
          <a:prstGeom prst="rect">
            <a:avLst/>
          </a:prstGeom>
          <a:solidFill>
            <a:srgbClr val="3182CE"/>
          </a:solidFill>
          <a:ln/>
        </p:spPr>
      </p:sp>
      <p:sp>
        <p:nvSpPr>
          <p:cNvPr id="4" name="Text 2"/>
          <p:cNvSpPr/>
          <p:nvPr/>
        </p:nvSpPr>
        <p:spPr>
          <a:xfrm>
            <a:off x="457200" y="1371600"/>
            <a:ext cx="8229600" cy="457200"/>
          </a:xfrm>
          <a:prstGeom prst="rect">
            <a:avLst/>
          </a:prstGeom>
          <a:noFill/>
          <a:ln/>
        </p:spPr>
        <p:txBody>
          <a:bodyPr wrap="square" rtlCol="0" anchor="ctr"/>
          <a:lstStyle/>
          <a:p>
            <a:pPr algn="ctr" indent="0" marL="0">
              <a:buNone/>
            </a:pPr>
            <a:r>
              <a:rPr lang="en-US" sz="2400" dirty="0">
                <a:solidFill>
                  <a:srgbClr val="2C5282"/>
                </a:solidFill>
                <a:latin typeface="Arial" pitchFamily="34" charset="0"/>
                <a:ea typeface="Arial" pitchFamily="34" charset="-122"/>
                <a:cs typeface="Arial" pitchFamily="34" charset="-120"/>
              </a:rPr>
              <a:t>Questions &amp; Discussion</a:t>
            </a:r>
            <a:endParaRPr lang="en-US" sz="2400" dirty="0"/>
          </a:p>
        </p:txBody>
      </p:sp>
      <p:sp>
        <p:nvSpPr>
          <p:cNvPr id="5" name="Shape 3"/>
          <p:cNvSpPr/>
          <p:nvPr/>
        </p:nvSpPr>
        <p:spPr>
          <a:xfrm>
            <a:off x="2286000" y="2103120"/>
            <a:ext cx="4572000" cy="1097280"/>
          </a:xfrm>
          <a:prstGeom prst="roundRect">
            <a:avLst>
              <a:gd name="adj" fmla="val 8333"/>
            </a:avLst>
          </a:prstGeom>
          <a:solidFill>
            <a:srgbClr val="FFFFFF"/>
          </a:solidFill>
          <a:ln w="25400">
            <a:solidFill>
              <a:srgbClr val="E2E8F0"/>
            </a:solidFill>
            <a:prstDash val="solid"/>
          </a:ln>
        </p:spPr>
      </p:sp>
      <p:sp>
        <p:nvSpPr>
          <p:cNvPr id="6" name="Text 4"/>
          <p:cNvSpPr/>
          <p:nvPr/>
        </p:nvSpPr>
        <p:spPr>
          <a:xfrm>
            <a:off x="2286000" y="2148840"/>
            <a:ext cx="4572000" cy="274320"/>
          </a:xfrm>
          <a:prstGeom prst="rect">
            <a:avLst/>
          </a:prstGeom>
          <a:noFill/>
          <a:ln/>
        </p:spPr>
        <p:txBody>
          <a:bodyPr wrap="square" rtlCol="0" anchor="ctr"/>
          <a:lstStyle/>
          <a:p>
            <a:pPr algn="ctr" indent="0" marL="0">
              <a:buNone/>
            </a:pPr>
            <a:r>
              <a:rPr lang="en-US" sz="1400" dirty="0">
                <a:solidFill>
                  <a:srgbClr val="2C5282"/>
                </a:solidFill>
                <a:latin typeface="Arial" pitchFamily="34" charset="0"/>
                <a:ea typeface="Arial" pitchFamily="34" charset="-122"/>
                <a:cs typeface="Arial" pitchFamily="34" charset="-120"/>
              </a:rPr>
              <a:t>Présenté par</a:t>
            </a:r>
            <a:endParaRPr lang="en-US" sz="1400" dirty="0"/>
          </a:p>
        </p:txBody>
      </p:sp>
      <p:sp>
        <p:nvSpPr>
          <p:cNvPr id="7" name="Text 5"/>
          <p:cNvSpPr/>
          <p:nvPr/>
        </p:nvSpPr>
        <p:spPr>
          <a:xfrm>
            <a:off x="2286000" y="2423160"/>
            <a:ext cx="4572000" cy="320040"/>
          </a:xfrm>
          <a:prstGeom prst="rect">
            <a:avLst/>
          </a:prstGeom>
          <a:noFill/>
          <a:ln/>
        </p:spPr>
        <p:txBody>
          <a:bodyPr wrap="square" rtlCol="0" anchor="ctr"/>
          <a:lstStyle/>
          <a:p>
            <a:pPr algn="ctr" indent="0" marL="0">
              <a:buNone/>
            </a:pPr>
            <a:r>
              <a:rPr lang="en-US" sz="2000" b="1" dirty="0">
                <a:solidFill>
                  <a:srgbClr val="1E3A5F"/>
                </a:solidFill>
                <a:latin typeface="Arial" pitchFamily="34" charset="0"/>
                <a:ea typeface="Arial" pitchFamily="34" charset="-122"/>
                <a:cs typeface="Arial" pitchFamily="34" charset="-120"/>
              </a:rPr>
              <a:t>Omar Sarsar · Iliass Hariz</a:t>
            </a:r>
            <a:endParaRPr lang="en-US" sz="2000" dirty="0"/>
          </a:p>
        </p:txBody>
      </p:sp>
      <p:sp>
        <p:nvSpPr>
          <p:cNvPr id="8" name="Text 6"/>
          <p:cNvSpPr/>
          <p:nvPr/>
        </p:nvSpPr>
        <p:spPr>
          <a:xfrm>
            <a:off x="2286000" y="2743200"/>
            <a:ext cx="4572000" cy="274320"/>
          </a:xfrm>
          <a:prstGeom prst="rect">
            <a:avLst/>
          </a:prstGeom>
          <a:noFill/>
          <a:ln/>
        </p:spPr>
        <p:txBody>
          <a:bodyPr wrap="square" rtlCol="0" anchor="ctr"/>
          <a:lstStyle/>
          <a:p>
            <a:pPr algn="ctr" indent="0" marL="0">
              <a:buNone/>
            </a:pPr>
            <a:r>
              <a:rPr lang="en-US" sz="1600" dirty="0">
                <a:solidFill>
                  <a:srgbClr val="2C5282"/>
                </a:solidFill>
                <a:latin typeface="Arial" pitchFamily="34" charset="0"/>
                <a:ea typeface="Arial" pitchFamily="34" charset="-122"/>
                <a:cs typeface="Arial" pitchFamily="34" charset="-120"/>
              </a:rPr>
              <a:t>HEEC Marrakech - 2026</a:t>
            </a:r>
            <a:endParaRPr lang="en-US" sz="1600" dirty="0"/>
          </a:p>
        </p:txBody>
      </p:sp>
      <p:sp>
        <p:nvSpPr>
          <p:cNvPr id="9" name="Text 7"/>
          <p:cNvSpPr/>
          <p:nvPr/>
        </p:nvSpPr>
        <p:spPr>
          <a:xfrm>
            <a:off x="457200" y="3383280"/>
            <a:ext cx="8229600" cy="36576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Merci pour votre attention</a:t>
            </a:r>
            <a:endParaRPr lang="en-US" sz="1800" dirty="0"/>
          </a:p>
        </p:txBody>
      </p:sp>
      <p:sp>
        <p:nvSpPr>
          <p:cNvPr id="10" name="Text 8"/>
          <p:cNvSpPr/>
          <p:nvPr/>
        </p:nvSpPr>
        <p:spPr>
          <a:xfrm>
            <a:off x="457200" y="3794760"/>
            <a:ext cx="8229600" cy="36576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Ce projet a démontré l'efficacité du cache distribué</a:t>
            </a:r>
            <a:endParaRPr lang="en-US" sz="1800" dirty="0"/>
          </a:p>
        </p:txBody>
      </p:sp>
      <p:sp>
        <p:nvSpPr>
          <p:cNvPr id="11" name="Text 9"/>
          <p:cNvSpPr/>
          <p:nvPr/>
        </p:nvSpPr>
        <p:spPr>
          <a:xfrm>
            <a:off x="457200" y="4206240"/>
            <a:ext cx="8229600" cy="365760"/>
          </a:xfrm>
          <a:prstGeom prst="rect">
            <a:avLst/>
          </a:prstGeom>
          <a:noFill/>
          <a:ln/>
        </p:spPr>
        <p:txBody>
          <a:bodyPr wrap="square" rtlCol="0" anchor="ctr"/>
          <a:lstStyle/>
          <a:p>
            <a:pPr algn="ctr" indent="0" marL="0">
              <a:buNone/>
            </a:pPr>
            <a:r>
              <a:rPr lang="en-US" sz="1800" dirty="0">
                <a:solidFill>
                  <a:srgbClr val="2C5282"/>
                </a:solidFill>
                <a:latin typeface="Arial" pitchFamily="34" charset="0"/>
                <a:ea typeface="Arial" pitchFamily="34" charset="-122"/>
                <a:cs typeface="Arial" pitchFamily="34" charset="-120"/>
              </a:rPr>
              <a:t>N'hésitez pas à poser vos questions</a:t>
            </a:r>
            <a:endParaRPr lang="en-US" sz="1800" dirty="0"/>
          </a:p>
        </p:txBody>
      </p:sp>
      <p:sp>
        <p:nvSpPr>
          <p:cNvPr id="12" name="Shape 10"/>
          <p:cNvSpPr/>
          <p:nvPr/>
        </p:nvSpPr>
        <p:spPr>
          <a:xfrm>
            <a:off x="8503920" y="4754880"/>
            <a:ext cx="320040" cy="320040"/>
          </a:xfrm>
          <a:prstGeom prst="ellipse">
            <a:avLst/>
          </a:prstGeom>
          <a:solidFill>
            <a:srgbClr val="3182CE"/>
          </a:solidFill>
          <a:ln/>
        </p:spPr>
      </p:sp>
      <p:sp>
        <p:nvSpPr>
          <p:cNvPr id="13" name="Text 11"/>
          <p:cNvSpPr/>
          <p:nvPr/>
        </p:nvSpPr>
        <p:spPr>
          <a:xfrm>
            <a:off x="8503920" y="47548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2026-05-21T18:18:09Z</dcterms:created>
  <dcterms:modified xsi:type="dcterms:W3CDTF">2026-05-21T18:18:09Z</dcterms:modified>
</cp:coreProperties>
</file>