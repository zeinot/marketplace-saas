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Bonjour, je suis Omar Sarsar et je suis accompagné d'Iliass Hariz. Nous allons présenter notre projet d'intégration d'un cache distribué Redis dans une application marketplace SaaS. Ce projet a été réalisé dans le cadre de notre formation. Nous allons décrire le contexte, l'architecture, l'implémentation, les tests et les résultats.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projet integre un cache distribue Redis dans une application marketplace SaaS. L'augmentation du nombre d'utilisateurs a cause des ralentissements sur les pages affichant les listes de produits. L'objectif est d'ameliorer les performances en verifiant le cache avant PostgreSQL, ce qui reduit le temps de reponse et la charge sur la base de donnees tout en maintenant la coherence via une strategie d'invalidation.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Notre architecture utilise le pattern Cache-Aside. L'application verifie d'abord Redis. Si les donnees y sont, elles sont retournees immediatement. Sinon, PostgreSQL est interrogee, les resultats sont stockes dans Redis avec un TTL, puis retournes.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L'infrastructure utilise Docker Compose avec trois services. PostgreSQL 16 sur Alpine sert de base de donnees sur le port 5434. Redis 7 sur Alpine fonctionne comme cache sur le port 6379 avec un volume persistant et un healthcheck. Next.js est construit depuis un Dockerfile personnalise sur le port 3000.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couche d'abstraction dans src/lib/cache.ts fournit une interface simple pour Redis. cacheGet recupere et parse les donnees JSON avec typage TypeScript. cacheSet stocke les donnees avec un TTL configurable de 300 secondes par defaut.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L'integration suit le pattern Cache-Aside. Chaque action genere une cle unique et verifie Redis. Si les donnees existent, elles sont retournees. Sinon, PostgreSQL est interrogee, les resultats sont stockes dans Redis avec un TTL, puis retournes.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strategie d'invalidation est essentielle pour maintenir la coherence. Chaque operation d'ecriture invalide immediatement le cache. La fonction invalidateCache supprime les cles correspondantes de Redis. Le TTL sert de mecanisme d'expiration automatique.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resultats sont tres satisfaisants : les huit tests passent tous avec succes, soit cent pour cent de reussite. Ces tests couvrent les operations de base, l'invalidation, le TTL avec expirations automatiques, et les cas limites comme null ou undefined.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mesures montrent des resultats impressionnants. Avec le cache Redis, le temps de reponse moyen est de douze millisecondes contre huit cent cinquante-six millisecondes sans cache, soit quatre-vingt-dix-neuf pour cent d'amelioration.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Nous vous remercions pour votre attention. Ce projet a demontre que Redis reduit drastiquement les temps de reponse et la charge sur la base de donnees, tout en maintenant la coherence. N'hesitez pas a poser vos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38BDF8"/>
          </a:solidFill>
          <a:ln/>
        </p:spPr>
      </p:sp>
      <p:sp>
        <p:nvSpPr>
          <p:cNvPr id="3" name="Shape 1"/>
          <p:cNvSpPr/>
          <p:nvPr/>
        </p:nvSpPr>
        <p:spPr>
          <a:xfrm>
            <a:off x="7772400" y="731520"/>
            <a:ext cx="1097280" cy="1097280"/>
          </a:xfrm>
          <a:prstGeom prst="ellipse">
            <a:avLst/>
          </a:prstGeom>
          <a:solidFill>
            <a:srgbClr val="38BDF8"/>
          </a:solidFill>
          <a:ln/>
        </p:spPr>
      </p:sp>
      <p:sp>
        <p:nvSpPr>
          <p:cNvPr id="4" name="Shape 2"/>
          <p:cNvSpPr/>
          <p:nvPr/>
        </p:nvSpPr>
        <p:spPr>
          <a:xfrm>
            <a:off x="274320" y="3200400"/>
            <a:ext cx="731520" cy="731520"/>
          </a:xfrm>
          <a:prstGeom prst="ellipse">
            <a:avLst/>
          </a:prstGeom>
          <a:solidFill>
            <a:srgbClr val="38BDF8"/>
          </a:solidFill>
          <a:ln/>
        </p:spPr>
      </p:sp>
      <p:sp>
        <p:nvSpPr>
          <p:cNvPr id="5" name="Text 3"/>
          <p:cNvSpPr/>
          <p:nvPr/>
        </p:nvSpPr>
        <p:spPr>
          <a:xfrm>
            <a:off x="457200" y="914400"/>
            <a:ext cx="8229600" cy="274320"/>
          </a:xfrm>
          <a:prstGeom prst="rect">
            <a:avLst/>
          </a:prstGeom>
          <a:noFill/>
          <a:ln/>
        </p:spPr>
        <p:txBody>
          <a:bodyPr wrap="square" rtlCol="0" anchor="ctr"/>
          <a:lstStyle/>
          <a:p>
            <a:pPr algn="ctr" indent="0" marL="0">
              <a:buNone/>
            </a:pPr>
            <a:r>
              <a:rPr lang="en-US" sz="1400" dirty="0">
                <a:solidFill>
                  <a:srgbClr val="94A3B8"/>
                </a:solidFill>
                <a:latin typeface="Inter" pitchFamily="34" charset="0"/>
                <a:ea typeface="Inter" pitchFamily="34" charset="-122"/>
                <a:cs typeface="Inter" pitchFamily="34" charset="-120"/>
              </a:rPr>
              <a:t>Projet de Fin d'Études 2025/2026</a:t>
            </a:r>
            <a:endParaRPr lang="en-US" sz="1400" dirty="0"/>
          </a:p>
        </p:txBody>
      </p:sp>
      <p:sp>
        <p:nvSpPr>
          <p:cNvPr id="6" name="Text 4"/>
          <p:cNvSpPr/>
          <p:nvPr/>
        </p:nvSpPr>
        <p:spPr>
          <a:xfrm>
            <a:off x="457200" y="1280160"/>
            <a:ext cx="8229600" cy="822960"/>
          </a:xfrm>
          <a:prstGeom prst="rect">
            <a:avLst/>
          </a:prstGeom>
          <a:noFill/>
          <a:ln/>
        </p:spPr>
        <p:txBody>
          <a:bodyPr wrap="square" rtlCol="0" anchor="ctr"/>
          <a:lstStyle/>
          <a:p>
            <a:pPr algn="ctr" indent="0" marL="0">
              <a:buNone/>
            </a:pPr>
            <a:r>
              <a:rPr lang="en-US" sz="5600" b="1" dirty="0">
                <a:solidFill>
                  <a:srgbClr val="FFFFFF"/>
                </a:solidFill>
                <a:latin typeface="Inter" pitchFamily="34" charset="0"/>
                <a:ea typeface="Inter" pitchFamily="34" charset="-122"/>
                <a:cs typeface="Inter" pitchFamily="34" charset="-120"/>
              </a:rPr>
              <a:t>Projet 11</a:t>
            </a:r>
            <a:endParaRPr lang="en-US" sz="5600" dirty="0"/>
          </a:p>
        </p:txBody>
      </p:sp>
      <p:sp>
        <p:nvSpPr>
          <p:cNvPr id="7" name="Shape 5"/>
          <p:cNvSpPr/>
          <p:nvPr/>
        </p:nvSpPr>
        <p:spPr>
          <a:xfrm>
            <a:off x="3474720" y="2148840"/>
            <a:ext cx="2194560" cy="36576"/>
          </a:xfrm>
          <a:prstGeom prst="rect">
            <a:avLst/>
          </a:prstGeom>
          <a:solidFill>
            <a:srgbClr val="38BDF8"/>
          </a:solidFill>
          <a:ln/>
        </p:spPr>
      </p:sp>
      <p:sp>
        <p:nvSpPr>
          <p:cNvPr id="8" name="Text 6"/>
          <p:cNvSpPr/>
          <p:nvPr/>
        </p:nvSpPr>
        <p:spPr>
          <a:xfrm>
            <a:off x="457200" y="2286000"/>
            <a:ext cx="8229600" cy="457200"/>
          </a:xfrm>
          <a:prstGeom prst="rect">
            <a:avLst/>
          </a:prstGeom>
          <a:noFill/>
          <a:ln/>
        </p:spPr>
        <p:txBody>
          <a:bodyPr wrap="square" rtlCol="0" anchor="ctr"/>
          <a:lstStyle/>
          <a:p>
            <a:pPr algn="ctr" indent="0" marL="0">
              <a:buNone/>
            </a:pPr>
            <a:r>
              <a:rPr lang="en-US" sz="2600" dirty="0">
                <a:solidFill>
                  <a:srgbClr val="38BDF8"/>
                </a:solidFill>
                <a:latin typeface="Inter" pitchFamily="34" charset="0"/>
                <a:ea typeface="Inter" pitchFamily="34" charset="-122"/>
                <a:cs typeface="Inter" pitchFamily="34" charset="-120"/>
              </a:rPr>
              <a:t>Cache Distribué avec Redis</a:t>
            </a:r>
            <a:endParaRPr lang="en-US" sz="2600" dirty="0"/>
          </a:p>
        </p:txBody>
      </p:sp>
      <p:sp>
        <p:nvSpPr>
          <p:cNvPr id="9" name="Shape 7"/>
          <p:cNvSpPr/>
          <p:nvPr/>
        </p:nvSpPr>
        <p:spPr>
          <a:xfrm>
            <a:off x="2286000" y="3017520"/>
            <a:ext cx="4572000" cy="640080"/>
          </a:xfrm>
          <a:prstGeom prst="roundRect">
            <a:avLst>
              <a:gd name="adj" fmla="val 21429"/>
            </a:avLst>
          </a:prstGeom>
          <a:solidFill>
            <a:srgbClr val="1B2838"/>
          </a:solidFill>
          <a:ln w="12700">
            <a:solidFill>
              <a:srgbClr val="1E293B"/>
            </a:solidFill>
            <a:prstDash val="solid"/>
          </a:ln>
        </p:spPr>
      </p:sp>
      <p:sp>
        <p:nvSpPr>
          <p:cNvPr id="10" name="Text 8"/>
          <p:cNvSpPr/>
          <p:nvPr/>
        </p:nvSpPr>
        <p:spPr>
          <a:xfrm>
            <a:off x="2286000" y="3017520"/>
            <a:ext cx="4572000" cy="640080"/>
          </a:xfrm>
          <a:prstGeom prst="rect">
            <a:avLst/>
          </a:prstGeom>
          <a:noFill/>
          <a:ln/>
        </p:spPr>
        <p:txBody>
          <a:bodyPr wrap="square" rtlCol="0" anchor="ctr"/>
          <a:lstStyle/>
          <a:p>
            <a:pPr algn="ctr" indent="0" marL="0">
              <a:buNone/>
            </a:pPr>
            <a:r>
              <a:rPr lang="en-US" sz="1600" dirty="0">
                <a:solidFill>
                  <a:srgbClr val="94A3B8"/>
                </a:solidFill>
                <a:latin typeface="Inter" pitchFamily="34" charset="0"/>
                <a:ea typeface="Inter" pitchFamily="34" charset="-122"/>
                <a:cs typeface="Inter" pitchFamily="34" charset="-120"/>
              </a:rPr>
              <a:t>Présenté par Omar Sarsar &amp; Iliass Hariz</a:t>
            </a:r>
            <a:endParaRPr lang="en-US" sz="1600" dirty="0"/>
          </a:p>
        </p:txBody>
      </p:sp>
      <p:sp>
        <p:nvSpPr>
          <p:cNvPr id="11" name="Shape 9"/>
          <p:cNvSpPr/>
          <p:nvPr/>
        </p:nvSpPr>
        <p:spPr>
          <a:xfrm>
            <a:off x="8321040" y="4617720"/>
            <a:ext cx="457200" cy="320040"/>
          </a:xfrm>
          <a:prstGeom prst="roundRect">
            <a:avLst>
              <a:gd name="adj" fmla="val 28571"/>
            </a:avLst>
          </a:prstGeom>
          <a:solidFill>
            <a:srgbClr val="38BDF8"/>
          </a:solidFill>
          <a:ln/>
        </p:spPr>
      </p:sp>
      <p:sp>
        <p:nvSpPr>
          <p:cNvPr id="12" name="Text 10"/>
          <p:cNvSpPr/>
          <p:nvPr/>
        </p:nvSpPr>
        <p:spPr>
          <a:xfrm>
            <a:off x="8321040" y="4617720"/>
            <a:ext cx="457200" cy="320040"/>
          </a:xfrm>
          <a:prstGeom prst="rect">
            <a:avLst/>
          </a:prstGeom>
          <a:noFill/>
          <a:ln/>
        </p:spPr>
        <p:txBody>
          <a:bodyPr wrap="square" rtlCol="0" anchor="ctr"/>
          <a:lstStyle/>
          <a:p>
            <a:pPr algn="ctr" indent="0" marL="0">
              <a:buNone/>
            </a:pPr>
            <a:r>
              <a:rPr lang="en-US" sz="1200" b="1" dirty="0">
                <a:solidFill>
                  <a:srgbClr val="0D1B2A"/>
                </a:solidFill>
                <a:latin typeface="Inter" pitchFamily="34" charset="0"/>
                <a:ea typeface="Inter" pitchFamily="34" charset="-122"/>
                <a:cs typeface="Inter" pitchFamily="34" charset="-120"/>
              </a:rPr>
              <a:t>1</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38BDF8"/>
          </a:solidFill>
          <a:ln/>
        </p:spPr>
      </p:sp>
      <p:sp>
        <p:nvSpPr>
          <p:cNvPr id="3" name="Text 1"/>
          <p:cNvSpPr/>
          <p:nvPr/>
        </p:nvSpPr>
        <p:spPr>
          <a:xfrm>
            <a:off x="457200" y="365760"/>
            <a:ext cx="8229600" cy="548640"/>
          </a:xfrm>
          <a:prstGeom prst="rect">
            <a:avLst/>
          </a:prstGeom>
          <a:noFill/>
          <a:ln/>
        </p:spPr>
        <p:txBody>
          <a:bodyPr wrap="square" rtlCol="0" anchor="ctr"/>
          <a:lstStyle/>
          <a:p>
            <a:pPr algn="l" indent="0" marL="0">
              <a:buNone/>
            </a:pPr>
            <a:r>
              <a:rPr lang="en-US" sz="3200" b="1" dirty="0">
                <a:solidFill>
                  <a:srgbClr val="FFFFFF"/>
                </a:solidFill>
                <a:latin typeface="Inter" pitchFamily="34" charset="0"/>
                <a:ea typeface="Inter" pitchFamily="34" charset="-122"/>
                <a:cs typeface="Inter" pitchFamily="34" charset="-120"/>
              </a:rPr>
              <a:t>Contexte et Objectifs</a:t>
            </a:r>
            <a:endParaRPr lang="en-US" sz="3200" dirty="0"/>
          </a:p>
        </p:txBody>
      </p:sp>
      <p:sp>
        <p:nvSpPr>
          <p:cNvPr id="4" name="Shape 2"/>
          <p:cNvSpPr/>
          <p:nvPr/>
        </p:nvSpPr>
        <p:spPr>
          <a:xfrm>
            <a:off x="457200" y="914400"/>
            <a:ext cx="1828800" cy="36576"/>
          </a:xfrm>
          <a:prstGeom prst="rect">
            <a:avLst/>
          </a:prstGeom>
          <a:solidFill>
            <a:srgbClr val="38BDF8"/>
          </a:solidFill>
          <a:ln/>
        </p:spPr>
      </p:sp>
      <p:sp>
        <p:nvSpPr>
          <p:cNvPr id="5" name="Text 3"/>
          <p:cNvSpPr/>
          <p:nvPr/>
        </p:nvSpPr>
        <p:spPr>
          <a:xfrm>
            <a:off x="640080" y="1188720"/>
            <a:ext cx="7863840" cy="457200"/>
          </a:xfrm>
          <a:prstGeom prst="rect">
            <a:avLst/>
          </a:prstGeom>
          <a:noFill/>
          <a:ln/>
        </p:spPr>
        <p:txBody>
          <a:bodyPr wrap="square" rtlCol="0" anchor="ctr"/>
          <a:lstStyle/>
          <a:p>
            <a:pPr algn="l" indent="0" marL="0">
              <a:buNone/>
            </a:pPr>
            <a:r>
              <a:rPr lang="en-US" sz="2200" dirty="0">
                <a:solidFill>
                  <a:srgbClr val="94A3B8"/>
                </a:solidFill>
                <a:latin typeface="Inter" pitchFamily="34" charset="0"/>
                <a:ea typeface="Inter" pitchFamily="34" charset="-122"/>
                <a:cs typeface="Inter" pitchFamily="34" charset="-120"/>
              </a:rPr>
              <a:t>Application marketplace SaaS</a:t>
            </a:r>
            <a:endParaRPr lang="en-US" sz="2200" dirty="0"/>
          </a:p>
        </p:txBody>
      </p:sp>
      <p:sp>
        <p:nvSpPr>
          <p:cNvPr id="6" name="Text 4"/>
          <p:cNvSpPr/>
          <p:nvPr/>
        </p:nvSpPr>
        <p:spPr>
          <a:xfrm>
            <a:off x="640080" y="1737360"/>
            <a:ext cx="7863840" cy="457200"/>
          </a:xfrm>
          <a:prstGeom prst="rect">
            <a:avLst/>
          </a:prstGeom>
          <a:noFill/>
          <a:ln/>
        </p:spPr>
        <p:txBody>
          <a:bodyPr wrap="square" rtlCol="0" anchor="ctr"/>
          <a:lstStyle/>
          <a:p>
            <a:pPr algn="l" indent="0" marL="0">
              <a:buNone/>
            </a:pPr>
            <a:r>
              <a:rPr lang="en-US" sz="2200" dirty="0">
                <a:solidFill>
                  <a:srgbClr val="94A3B8"/>
                </a:solidFill>
                <a:latin typeface="Inter" pitchFamily="34" charset="0"/>
                <a:ea typeface="Inter" pitchFamily="34" charset="-122"/>
                <a:cs typeface="Inter" pitchFamily="34" charset="-120"/>
              </a:rPr>
              <a:t>Ralentissements sur les pages</a:t>
            </a:r>
            <a:endParaRPr lang="en-US" sz="2200" dirty="0"/>
          </a:p>
        </p:txBody>
      </p:sp>
      <p:sp>
        <p:nvSpPr>
          <p:cNvPr id="7" name="Text 5"/>
          <p:cNvSpPr/>
          <p:nvPr/>
        </p:nvSpPr>
        <p:spPr>
          <a:xfrm>
            <a:off x="640080" y="2286000"/>
            <a:ext cx="7863840" cy="457200"/>
          </a:xfrm>
          <a:prstGeom prst="rect">
            <a:avLst/>
          </a:prstGeom>
          <a:noFill/>
          <a:ln/>
        </p:spPr>
        <p:txBody>
          <a:bodyPr wrap="square" rtlCol="0" anchor="ctr"/>
          <a:lstStyle/>
          <a:p>
            <a:pPr algn="l" indent="0" marL="0">
              <a:buNone/>
            </a:pPr>
            <a:r>
              <a:rPr lang="en-US" sz="2200" dirty="0">
                <a:solidFill>
                  <a:srgbClr val="94A3B8"/>
                </a:solidFill>
                <a:latin typeface="Inter" pitchFamily="34" charset="0"/>
                <a:ea typeface="Inter" pitchFamily="34" charset="-122"/>
                <a:cs typeface="Inter" pitchFamily="34" charset="-120"/>
              </a:rPr>
              <a:t>Solution: cache distribue Redis</a:t>
            </a:r>
            <a:endParaRPr lang="en-US" sz="2200" dirty="0"/>
          </a:p>
        </p:txBody>
      </p:sp>
      <p:sp>
        <p:nvSpPr>
          <p:cNvPr id="8" name="Text 6"/>
          <p:cNvSpPr/>
          <p:nvPr/>
        </p:nvSpPr>
        <p:spPr>
          <a:xfrm>
            <a:off x="640080" y="2834640"/>
            <a:ext cx="7863840" cy="457200"/>
          </a:xfrm>
          <a:prstGeom prst="rect">
            <a:avLst/>
          </a:prstGeom>
          <a:noFill/>
          <a:ln/>
        </p:spPr>
        <p:txBody>
          <a:bodyPr wrap="square" rtlCol="0" anchor="ctr"/>
          <a:lstStyle/>
          <a:p>
            <a:pPr algn="l" indent="0" marL="0">
              <a:buNone/>
            </a:pPr>
            <a:r>
              <a:rPr lang="en-US" sz="2200" dirty="0">
                <a:solidFill>
                  <a:srgbClr val="94A3B8"/>
                </a:solidFill>
                <a:latin typeface="Inter" pitchFamily="34" charset="0"/>
                <a:ea typeface="Inter" pitchFamily="34" charset="-122"/>
                <a:cs typeface="Inter" pitchFamily="34" charset="-120"/>
              </a:rPr>
              <a:t>Deploiement Docker Compose</a:t>
            </a:r>
            <a:endParaRPr lang="en-US" sz="2200" dirty="0"/>
          </a:p>
        </p:txBody>
      </p:sp>
      <p:sp>
        <p:nvSpPr>
          <p:cNvPr id="9" name="Text 7"/>
          <p:cNvSpPr/>
          <p:nvPr/>
        </p:nvSpPr>
        <p:spPr>
          <a:xfrm>
            <a:off x="640080" y="3383280"/>
            <a:ext cx="7863840" cy="457200"/>
          </a:xfrm>
          <a:prstGeom prst="rect">
            <a:avLst/>
          </a:prstGeom>
          <a:noFill/>
          <a:ln/>
        </p:spPr>
        <p:txBody>
          <a:bodyPr wrap="square" rtlCol="0" anchor="ctr"/>
          <a:lstStyle/>
          <a:p>
            <a:pPr algn="l" indent="0" marL="0">
              <a:buNone/>
            </a:pPr>
            <a:r>
              <a:rPr lang="en-US" sz="2200" dirty="0">
                <a:solidFill>
                  <a:srgbClr val="94A3B8"/>
                </a:solidFill>
                <a:latin typeface="Inter" pitchFamily="34" charset="0"/>
                <a:ea typeface="Inter" pitchFamily="34" charset="-122"/>
                <a:cs typeface="Inter" pitchFamily="34" charset="-120"/>
              </a:rPr>
              <a:t>Mesure des performances</a:t>
            </a:r>
            <a:endParaRPr lang="en-US" sz="2200" dirty="0"/>
          </a:p>
        </p:txBody>
      </p:sp>
      <p:sp>
        <p:nvSpPr>
          <p:cNvPr id="10" name="Shape 8"/>
          <p:cNvSpPr/>
          <p:nvPr/>
        </p:nvSpPr>
        <p:spPr>
          <a:xfrm>
            <a:off x="8321040" y="4617720"/>
            <a:ext cx="457200" cy="320040"/>
          </a:xfrm>
          <a:prstGeom prst="roundRect">
            <a:avLst>
              <a:gd name="adj" fmla="val 28571"/>
            </a:avLst>
          </a:prstGeom>
          <a:solidFill>
            <a:srgbClr val="38BDF8"/>
          </a:solidFill>
          <a:ln/>
        </p:spPr>
      </p:sp>
      <p:sp>
        <p:nvSpPr>
          <p:cNvPr id="11" name="Text 9"/>
          <p:cNvSpPr/>
          <p:nvPr/>
        </p:nvSpPr>
        <p:spPr>
          <a:xfrm>
            <a:off x="8321040" y="4617720"/>
            <a:ext cx="457200" cy="320040"/>
          </a:xfrm>
          <a:prstGeom prst="rect">
            <a:avLst/>
          </a:prstGeom>
          <a:noFill/>
          <a:ln/>
        </p:spPr>
        <p:txBody>
          <a:bodyPr wrap="square" rtlCol="0" anchor="ctr"/>
          <a:lstStyle/>
          <a:p>
            <a:pPr algn="ctr" indent="0" marL="0">
              <a:buNone/>
            </a:pPr>
            <a:r>
              <a:rPr lang="en-US" sz="1200" b="1" dirty="0">
                <a:solidFill>
                  <a:srgbClr val="0D1B2A"/>
                </a:solidFill>
                <a:latin typeface="Inter" pitchFamily="34" charset="0"/>
                <a:ea typeface="Inter" pitchFamily="34" charset="-122"/>
                <a:cs typeface="Inter"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38BDF8"/>
          </a:solidFill>
          <a:ln/>
        </p:spPr>
      </p:sp>
      <p:sp>
        <p:nvSpPr>
          <p:cNvPr id="3" name="Text 1"/>
          <p:cNvSpPr/>
          <p:nvPr/>
        </p:nvSpPr>
        <p:spPr>
          <a:xfrm>
            <a:off x="457200" y="365760"/>
            <a:ext cx="8229600" cy="548640"/>
          </a:xfrm>
          <a:prstGeom prst="rect">
            <a:avLst/>
          </a:prstGeom>
          <a:noFill/>
          <a:ln/>
        </p:spPr>
        <p:txBody>
          <a:bodyPr wrap="square" rtlCol="0" anchor="ctr"/>
          <a:lstStyle/>
          <a:p>
            <a:pPr algn="l" indent="0" marL="0">
              <a:buNone/>
            </a:pPr>
            <a:r>
              <a:rPr lang="en-US" sz="3200" b="1" dirty="0">
                <a:solidFill>
                  <a:srgbClr val="FFFFFF"/>
                </a:solidFill>
                <a:latin typeface="Inter" pitchFamily="34" charset="0"/>
                <a:ea typeface="Inter" pitchFamily="34" charset="-122"/>
                <a:cs typeface="Inter" pitchFamily="34" charset="-120"/>
              </a:rPr>
              <a:t>Architecture du Systeme</a:t>
            </a:r>
            <a:endParaRPr lang="en-US" sz="3200" dirty="0"/>
          </a:p>
        </p:txBody>
      </p:sp>
      <p:sp>
        <p:nvSpPr>
          <p:cNvPr id="4" name="Shape 2"/>
          <p:cNvSpPr/>
          <p:nvPr/>
        </p:nvSpPr>
        <p:spPr>
          <a:xfrm>
            <a:off x="457200" y="914400"/>
            <a:ext cx="1828800" cy="36576"/>
          </a:xfrm>
          <a:prstGeom prst="rect">
            <a:avLst/>
          </a:prstGeom>
          <a:solidFill>
            <a:srgbClr val="38BDF8"/>
          </a:solidFill>
          <a:ln/>
        </p:spPr>
      </p:sp>
      <p:sp>
        <p:nvSpPr>
          <p:cNvPr id="5" name="Text 3"/>
          <p:cNvSpPr/>
          <p:nvPr/>
        </p:nvSpPr>
        <p:spPr>
          <a:xfrm>
            <a:off x="640080" y="1188720"/>
            <a:ext cx="7863840" cy="457200"/>
          </a:xfrm>
          <a:prstGeom prst="rect">
            <a:avLst/>
          </a:prstGeom>
          <a:noFill/>
          <a:ln/>
        </p:spPr>
        <p:txBody>
          <a:bodyPr wrap="square" rtlCol="0" anchor="ctr"/>
          <a:lstStyle/>
          <a:p>
            <a:pPr algn="l" indent="0" marL="0">
              <a:buNone/>
            </a:pPr>
            <a:r>
              <a:rPr lang="en-US" sz="2200" dirty="0">
                <a:solidFill>
                  <a:srgbClr val="94A3B8"/>
                </a:solidFill>
                <a:latin typeface="Inter" pitchFamily="34" charset="0"/>
                <a:ea typeface="Inter" pitchFamily="34" charset="-122"/>
                <a:cs typeface="Inter" pitchFamily="34" charset="-120"/>
              </a:rPr>
              <a:t>Pattern Cache-Aside</a:t>
            </a:r>
            <a:endParaRPr lang="en-US" sz="2200" dirty="0"/>
          </a:p>
        </p:txBody>
      </p:sp>
      <p:sp>
        <p:nvSpPr>
          <p:cNvPr id="6" name="Text 4"/>
          <p:cNvSpPr/>
          <p:nvPr/>
        </p:nvSpPr>
        <p:spPr>
          <a:xfrm>
            <a:off x="640080" y="1691640"/>
            <a:ext cx="7863840" cy="457200"/>
          </a:xfrm>
          <a:prstGeom prst="rect">
            <a:avLst/>
          </a:prstGeom>
          <a:noFill/>
          <a:ln/>
        </p:spPr>
        <p:txBody>
          <a:bodyPr wrap="square" rtlCol="0" anchor="ctr"/>
          <a:lstStyle/>
          <a:p>
            <a:pPr algn="l" indent="0" marL="0">
              <a:buNone/>
            </a:pPr>
            <a:r>
              <a:rPr lang="en-US" sz="2200" dirty="0">
                <a:solidFill>
                  <a:srgbClr val="94A3B8"/>
                </a:solidFill>
                <a:latin typeface="Inter" pitchFamily="34" charset="0"/>
                <a:ea typeface="Inter" pitchFamily="34" charset="-122"/>
                <a:cs typeface="Inter" pitchFamily="34" charset="-120"/>
              </a:rPr>
              <a:t>Verification Redis avant DB</a:t>
            </a:r>
            <a:endParaRPr lang="en-US" sz="2200" dirty="0"/>
          </a:p>
        </p:txBody>
      </p:sp>
      <p:sp>
        <p:nvSpPr>
          <p:cNvPr id="7" name="Text 5"/>
          <p:cNvSpPr/>
          <p:nvPr/>
        </p:nvSpPr>
        <p:spPr>
          <a:xfrm>
            <a:off x="640080" y="2194560"/>
            <a:ext cx="7863840" cy="457200"/>
          </a:xfrm>
          <a:prstGeom prst="rect">
            <a:avLst/>
          </a:prstGeom>
          <a:noFill/>
          <a:ln/>
        </p:spPr>
        <p:txBody>
          <a:bodyPr wrap="square" rtlCol="0" anchor="ctr"/>
          <a:lstStyle/>
          <a:p>
            <a:pPr algn="l" indent="0" marL="0">
              <a:buNone/>
            </a:pPr>
            <a:r>
              <a:rPr lang="en-US" sz="2200" dirty="0">
                <a:solidFill>
                  <a:srgbClr val="94A3B8"/>
                </a:solidFill>
                <a:latin typeface="Inter" pitchFamily="34" charset="0"/>
                <a:ea typeface="Inter" pitchFamily="34" charset="-122"/>
                <a:cs typeface="Inter" pitchFamily="34" charset="-120"/>
              </a:rPr>
              <a:t>Stockage avec TTL configurable</a:t>
            </a:r>
            <a:endParaRPr lang="en-US" sz="2200" dirty="0"/>
          </a:p>
        </p:txBody>
      </p:sp>
      <p:sp>
        <p:nvSpPr>
          <p:cNvPr id="8" name="Text 6"/>
          <p:cNvSpPr/>
          <p:nvPr/>
        </p:nvSpPr>
        <p:spPr>
          <a:xfrm>
            <a:off x="640080" y="2697480"/>
            <a:ext cx="7863840" cy="457200"/>
          </a:xfrm>
          <a:prstGeom prst="rect">
            <a:avLst/>
          </a:prstGeom>
          <a:noFill/>
          <a:ln/>
        </p:spPr>
        <p:txBody>
          <a:bodyPr wrap="square" rtlCol="0" anchor="ctr"/>
          <a:lstStyle/>
          <a:p>
            <a:pPr algn="l" indent="0" marL="0">
              <a:buNone/>
            </a:pPr>
            <a:r>
              <a:rPr lang="en-US" sz="2200" dirty="0">
                <a:solidFill>
                  <a:srgbClr val="94A3B8"/>
                </a:solidFill>
                <a:latin typeface="Inter" pitchFamily="34" charset="0"/>
                <a:ea typeface="Inter" pitchFamily="34" charset="-122"/>
                <a:cs typeface="Inter" pitchFamily="34" charset="-120"/>
              </a:rPr>
              <a:t>Reduction du temps de reponse</a:t>
            </a:r>
            <a:endParaRPr lang="en-US" sz="2200" dirty="0"/>
          </a:p>
        </p:txBody>
      </p:sp>
      <p:sp>
        <p:nvSpPr>
          <p:cNvPr id="9" name="Shape 7"/>
          <p:cNvSpPr/>
          <p:nvPr/>
        </p:nvSpPr>
        <p:spPr>
          <a:xfrm>
            <a:off x="3200400" y="3291840"/>
            <a:ext cx="2743200" cy="594360"/>
          </a:xfrm>
          <a:prstGeom prst="roundRect">
            <a:avLst>
              <a:gd name="adj" fmla="val 15385"/>
            </a:avLst>
          </a:prstGeom>
          <a:solidFill>
            <a:srgbClr val="38BDF8"/>
          </a:solidFill>
          <a:ln/>
        </p:spPr>
      </p:sp>
      <p:sp>
        <p:nvSpPr>
          <p:cNvPr id="10" name="Text 8"/>
          <p:cNvSpPr/>
          <p:nvPr/>
        </p:nvSpPr>
        <p:spPr>
          <a:xfrm>
            <a:off x="3200400" y="3291840"/>
            <a:ext cx="2743200" cy="594360"/>
          </a:xfrm>
          <a:prstGeom prst="rect">
            <a:avLst/>
          </a:prstGeom>
          <a:noFill/>
          <a:ln/>
        </p:spPr>
        <p:txBody>
          <a:bodyPr wrap="square" rtlCol="0" anchor="ctr"/>
          <a:lstStyle/>
          <a:p>
            <a:pPr algn="ctr" indent="0" marL="0">
              <a:buNone/>
            </a:pPr>
            <a:r>
              <a:rPr lang="en-US" sz="1600" b="1" dirty="0">
                <a:solidFill>
                  <a:srgbClr val="FFFFFF"/>
                </a:solidFill>
                <a:latin typeface="Inter" pitchFamily="34" charset="0"/>
                <a:ea typeface="Inter" pitchFamily="34" charset="-122"/>
                <a:cs typeface="Inter" pitchFamily="34" charset="-120"/>
              </a:rPr>
              <a:t>Next.js App</a:t>
            </a:r>
            <a:endParaRPr lang="en-US" sz="1600" dirty="0"/>
          </a:p>
        </p:txBody>
      </p:sp>
      <p:sp>
        <p:nvSpPr>
          <p:cNvPr id="11" name="Shape 9"/>
          <p:cNvSpPr/>
          <p:nvPr/>
        </p:nvSpPr>
        <p:spPr>
          <a:xfrm>
            <a:off x="457200" y="4114800"/>
            <a:ext cx="2743200" cy="594360"/>
          </a:xfrm>
          <a:prstGeom prst="roundRect">
            <a:avLst>
              <a:gd name="adj" fmla="val 15385"/>
            </a:avLst>
          </a:prstGeom>
          <a:solidFill>
            <a:srgbClr val="DC2626"/>
          </a:solidFill>
          <a:ln/>
        </p:spPr>
      </p:sp>
      <p:sp>
        <p:nvSpPr>
          <p:cNvPr id="12" name="Text 10"/>
          <p:cNvSpPr/>
          <p:nvPr/>
        </p:nvSpPr>
        <p:spPr>
          <a:xfrm>
            <a:off x="457200" y="4114800"/>
            <a:ext cx="2743200" cy="594360"/>
          </a:xfrm>
          <a:prstGeom prst="rect">
            <a:avLst/>
          </a:prstGeom>
          <a:noFill/>
          <a:ln/>
        </p:spPr>
        <p:txBody>
          <a:bodyPr wrap="square" rtlCol="0" anchor="ctr"/>
          <a:lstStyle/>
          <a:p>
            <a:pPr algn="ctr" indent="0" marL="0">
              <a:buNone/>
            </a:pPr>
            <a:r>
              <a:rPr lang="en-US" sz="1600" b="1" dirty="0">
                <a:solidFill>
                  <a:srgbClr val="FFFFFF"/>
                </a:solidFill>
                <a:latin typeface="Inter" pitchFamily="34" charset="0"/>
                <a:ea typeface="Inter" pitchFamily="34" charset="-122"/>
                <a:cs typeface="Inter" pitchFamily="34" charset="-120"/>
              </a:rPr>
              <a:t>Redis Cache</a:t>
            </a:r>
            <a:endParaRPr lang="en-US" sz="1600" dirty="0"/>
          </a:p>
        </p:txBody>
      </p:sp>
      <p:sp>
        <p:nvSpPr>
          <p:cNvPr id="13" name="Shape 11"/>
          <p:cNvSpPr/>
          <p:nvPr/>
        </p:nvSpPr>
        <p:spPr>
          <a:xfrm>
            <a:off x="5943600" y="4114800"/>
            <a:ext cx="2743200" cy="594360"/>
          </a:xfrm>
          <a:prstGeom prst="roundRect">
            <a:avLst>
              <a:gd name="adj" fmla="val 15385"/>
            </a:avLst>
          </a:prstGeom>
          <a:solidFill>
            <a:srgbClr val="1B2838"/>
          </a:solidFill>
          <a:ln w="12700">
            <a:solidFill>
              <a:srgbClr val="1E293B"/>
            </a:solidFill>
            <a:prstDash val="solid"/>
          </a:ln>
        </p:spPr>
      </p:sp>
      <p:sp>
        <p:nvSpPr>
          <p:cNvPr id="14" name="Text 12"/>
          <p:cNvSpPr/>
          <p:nvPr/>
        </p:nvSpPr>
        <p:spPr>
          <a:xfrm>
            <a:off x="5943600" y="4114800"/>
            <a:ext cx="2743200" cy="594360"/>
          </a:xfrm>
          <a:prstGeom prst="rect">
            <a:avLst/>
          </a:prstGeom>
          <a:noFill/>
          <a:ln/>
        </p:spPr>
        <p:txBody>
          <a:bodyPr wrap="square" rtlCol="0" anchor="ctr"/>
          <a:lstStyle/>
          <a:p>
            <a:pPr algn="ctr" indent="0" marL="0">
              <a:buNone/>
            </a:pPr>
            <a:r>
              <a:rPr lang="en-US" sz="1600" b="1" dirty="0">
                <a:solidFill>
                  <a:srgbClr val="FFFFFF"/>
                </a:solidFill>
                <a:latin typeface="Inter" pitchFamily="34" charset="0"/>
                <a:ea typeface="Inter" pitchFamily="34" charset="-122"/>
                <a:cs typeface="Inter" pitchFamily="34" charset="-120"/>
              </a:rPr>
              <a:t>PostgreSQL</a:t>
            </a:r>
            <a:endParaRPr lang="en-US" sz="1600" dirty="0"/>
          </a:p>
        </p:txBody>
      </p:sp>
      <p:sp>
        <p:nvSpPr>
          <p:cNvPr id="15" name="Shape 13"/>
          <p:cNvSpPr/>
          <p:nvPr/>
        </p:nvSpPr>
        <p:spPr>
          <a:xfrm>
            <a:off x="8321040" y="4617720"/>
            <a:ext cx="457200" cy="320040"/>
          </a:xfrm>
          <a:prstGeom prst="roundRect">
            <a:avLst>
              <a:gd name="adj" fmla="val 28571"/>
            </a:avLst>
          </a:prstGeom>
          <a:solidFill>
            <a:srgbClr val="38BDF8"/>
          </a:solidFill>
          <a:ln/>
        </p:spPr>
      </p:sp>
      <p:sp>
        <p:nvSpPr>
          <p:cNvPr id="16" name="Text 14"/>
          <p:cNvSpPr/>
          <p:nvPr/>
        </p:nvSpPr>
        <p:spPr>
          <a:xfrm>
            <a:off x="8321040" y="4617720"/>
            <a:ext cx="457200" cy="320040"/>
          </a:xfrm>
          <a:prstGeom prst="rect">
            <a:avLst/>
          </a:prstGeom>
          <a:noFill/>
          <a:ln/>
        </p:spPr>
        <p:txBody>
          <a:bodyPr wrap="square" rtlCol="0" anchor="ctr"/>
          <a:lstStyle/>
          <a:p>
            <a:pPr algn="ctr" indent="0" marL="0">
              <a:buNone/>
            </a:pPr>
            <a:r>
              <a:rPr lang="en-US" sz="1200" b="1" dirty="0">
                <a:solidFill>
                  <a:srgbClr val="0D1B2A"/>
                </a:solidFill>
                <a:latin typeface="Inter" pitchFamily="34" charset="0"/>
                <a:ea typeface="Inter" pitchFamily="34" charset="-122"/>
                <a:cs typeface="Inter"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38BDF8"/>
          </a:solidFill>
          <a:ln/>
        </p:spPr>
      </p:sp>
      <p:sp>
        <p:nvSpPr>
          <p:cNvPr id="3" name="Text 1"/>
          <p:cNvSpPr/>
          <p:nvPr/>
        </p:nvSpPr>
        <p:spPr>
          <a:xfrm>
            <a:off x="457200" y="365760"/>
            <a:ext cx="8229600" cy="548640"/>
          </a:xfrm>
          <a:prstGeom prst="rect">
            <a:avLst/>
          </a:prstGeom>
          <a:noFill/>
          <a:ln/>
        </p:spPr>
        <p:txBody>
          <a:bodyPr wrap="square" rtlCol="0" anchor="ctr"/>
          <a:lstStyle/>
          <a:p>
            <a:pPr algn="l" indent="0" marL="0">
              <a:buNone/>
            </a:pPr>
            <a:r>
              <a:rPr lang="en-US" sz="3200" b="1" dirty="0">
                <a:solidFill>
                  <a:srgbClr val="FFFFFF"/>
                </a:solidFill>
                <a:latin typeface="Inter" pitchFamily="34" charset="0"/>
                <a:ea typeface="Inter" pitchFamily="34" charset="-122"/>
                <a:cs typeface="Inter" pitchFamily="34" charset="-120"/>
              </a:rPr>
              <a:t>Infrastructure Docker</a:t>
            </a:r>
            <a:endParaRPr lang="en-US" sz="3200" dirty="0"/>
          </a:p>
        </p:txBody>
      </p:sp>
      <p:sp>
        <p:nvSpPr>
          <p:cNvPr id="4" name="Shape 2"/>
          <p:cNvSpPr/>
          <p:nvPr/>
        </p:nvSpPr>
        <p:spPr>
          <a:xfrm>
            <a:off x="457200" y="914400"/>
            <a:ext cx="1828800" cy="36576"/>
          </a:xfrm>
          <a:prstGeom prst="rect">
            <a:avLst/>
          </a:prstGeom>
          <a:solidFill>
            <a:srgbClr val="38BDF8"/>
          </a:solidFill>
          <a:ln/>
        </p:spPr>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2286000"/>
                <a:gridCol w="3200400"/>
                <a:gridCol w="2743200"/>
              </a:tblGrid>
              <a:tr h="0">
                <a:tc>
                  <a:txBody>
                    <a:bodyPr/>
                    <a:lstStyle/>
                    <a:p>
                      <a:pPr algn="ctr" indent="0" marL="0">
                        <a:buNone/>
                      </a:pPr>
                      <a:r>
                        <a:rPr lang="en-US" sz="1800" dirty="0">
                          <a:solidFill>
                            <a:srgbClr val="94A3B8"/>
                          </a:solidFill>
                          <a:latin typeface="Inter" pitchFamily="34" charset="0"/>
                          <a:ea typeface="Inter" pitchFamily="34" charset="-122"/>
                          <a:cs typeface="Inter" pitchFamily="34" charset="-120"/>
                        </a:rPr>
                        <a:t>Service</a:t>
                      </a:r>
                      <a:endParaRPr lang="en-US" sz="1800" dirty="0">
                        <a:latin typeface="Inter" charset="0"/>
                        <a:ea typeface="Inter" charset="0"/>
                        <a:cs typeface="Inter" charset="0"/>
                      </a:endParaRPr>
                    </a:p>
                  </a:txBody>
                  <a:tcPr marL="91440" marR="91440" marT="45720" marB="45720" anchor="ctr">
                    <a:lnL w="12700" cap="flat" cmpd="sng" algn="ctr">
                      <a:solidFill>
                        <a:srgbClr val="1E293B"/>
                      </a:solidFill>
                      <a:prstDash val="solid"/>
                      <a:round/>
                      <a:headEnd type="none" w="med" len="med"/>
                      <a:tailEnd type="none" w="med" len="med"/>
                    </a:lnL>
                    <a:lnR w="12700" cap="flat" cmpd="sng" algn="ctr">
                      <a:solidFill>
                        <a:srgbClr val="1E293B"/>
                      </a:solidFill>
                      <a:prstDash val="solid"/>
                      <a:round/>
                      <a:headEnd type="none" w="med" len="med"/>
                      <a:tailEnd type="none" w="med" len="med"/>
                    </a:lnR>
                    <a:lnT w="12700" cap="flat" cmpd="sng" algn="ctr">
                      <a:solidFill>
                        <a:srgbClr val="1E293B"/>
                      </a:solidFill>
                      <a:prstDash val="solid"/>
                      <a:round/>
                      <a:headEnd type="none" w="med" len="med"/>
                      <a:tailEnd type="none" w="med" len="med"/>
                    </a:lnT>
                    <a:lnB w="12700" cap="flat" cmpd="sng" algn="ctr">
                      <a:solidFill>
                        <a:srgbClr val="1E293B"/>
                      </a:solidFill>
                      <a:prstDash val="solid"/>
                      <a:round/>
                      <a:headEnd type="none" w="med" len="med"/>
                      <a:tailEnd type="none" w="med" len="med"/>
                    </a:lnB>
                    <a:solidFill>
                      <a:srgbClr val="1B2838"/>
                    </a:solidFill>
                  </a:tcPr>
                </a:tc>
                <a:tc>
                  <a:txBody>
                    <a:bodyPr/>
                    <a:lstStyle/>
                    <a:p>
                      <a:pPr algn="ctr" indent="0" marL="0">
                        <a:buNone/>
                      </a:pPr>
                      <a:r>
                        <a:rPr lang="en-US" sz="1800" dirty="0">
                          <a:solidFill>
                            <a:srgbClr val="94A3B8"/>
                          </a:solidFill>
                          <a:latin typeface="Inter" pitchFamily="34" charset="0"/>
                          <a:ea typeface="Inter" pitchFamily="34" charset="-122"/>
                          <a:cs typeface="Inter" pitchFamily="34" charset="-120"/>
                        </a:rPr>
                        <a:t>Image</a:t>
                      </a:r>
                      <a:endParaRPr lang="en-US" sz="1800" dirty="0">
                        <a:latin typeface="Inter" charset="0"/>
                        <a:ea typeface="Inter" charset="0"/>
                        <a:cs typeface="Inter" charset="0"/>
                      </a:endParaRPr>
                    </a:p>
                  </a:txBody>
                  <a:tcPr marL="91440" marR="91440" marT="45720" marB="45720" anchor="ctr">
                    <a:lnL w="12700" cap="flat" cmpd="sng" algn="ctr">
                      <a:solidFill>
                        <a:srgbClr val="1E293B"/>
                      </a:solidFill>
                      <a:prstDash val="solid"/>
                      <a:round/>
                      <a:headEnd type="none" w="med" len="med"/>
                      <a:tailEnd type="none" w="med" len="med"/>
                    </a:lnL>
                    <a:lnR w="12700" cap="flat" cmpd="sng" algn="ctr">
                      <a:solidFill>
                        <a:srgbClr val="1E293B"/>
                      </a:solidFill>
                      <a:prstDash val="solid"/>
                      <a:round/>
                      <a:headEnd type="none" w="med" len="med"/>
                      <a:tailEnd type="none" w="med" len="med"/>
                    </a:lnR>
                    <a:lnT w="12700" cap="flat" cmpd="sng" algn="ctr">
                      <a:solidFill>
                        <a:srgbClr val="1E293B"/>
                      </a:solidFill>
                      <a:prstDash val="solid"/>
                      <a:round/>
                      <a:headEnd type="none" w="med" len="med"/>
                      <a:tailEnd type="none" w="med" len="med"/>
                    </a:lnT>
                    <a:lnB w="12700" cap="flat" cmpd="sng" algn="ctr">
                      <a:solidFill>
                        <a:srgbClr val="1E293B"/>
                      </a:solidFill>
                      <a:prstDash val="solid"/>
                      <a:round/>
                      <a:headEnd type="none" w="med" len="med"/>
                      <a:tailEnd type="none" w="med" len="med"/>
                    </a:lnB>
                    <a:solidFill>
                      <a:srgbClr val="1B2838"/>
                    </a:solidFill>
                  </a:tcPr>
                </a:tc>
                <a:tc>
                  <a:txBody>
                    <a:bodyPr/>
                    <a:lstStyle/>
                    <a:p>
                      <a:pPr algn="ctr" indent="0" marL="0">
                        <a:buNone/>
                      </a:pPr>
                      <a:r>
                        <a:rPr lang="en-US" sz="1800" dirty="0">
                          <a:solidFill>
                            <a:srgbClr val="94A3B8"/>
                          </a:solidFill>
                          <a:latin typeface="Inter" pitchFamily="34" charset="0"/>
                          <a:ea typeface="Inter" pitchFamily="34" charset="-122"/>
                          <a:cs typeface="Inter" pitchFamily="34" charset="-120"/>
                        </a:rPr>
                        <a:t>Port</a:t>
                      </a:r>
                      <a:endParaRPr lang="en-US" sz="1800" dirty="0">
                        <a:latin typeface="Inter" charset="0"/>
                        <a:ea typeface="Inter" charset="0"/>
                        <a:cs typeface="Inter" charset="0"/>
                      </a:endParaRPr>
                    </a:p>
                  </a:txBody>
                  <a:tcPr marL="91440" marR="91440" marT="45720" marB="45720" anchor="ctr">
                    <a:lnL w="12700" cap="flat" cmpd="sng" algn="ctr">
                      <a:solidFill>
                        <a:srgbClr val="1E293B"/>
                      </a:solidFill>
                      <a:prstDash val="solid"/>
                      <a:round/>
                      <a:headEnd type="none" w="med" len="med"/>
                      <a:tailEnd type="none" w="med" len="med"/>
                    </a:lnL>
                    <a:lnR w="12700" cap="flat" cmpd="sng" algn="ctr">
                      <a:solidFill>
                        <a:srgbClr val="1E293B"/>
                      </a:solidFill>
                      <a:prstDash val="solid"/>
                      <a:round/>
                      <a:headEnd type="none" w="med" len="med"/>
                      <a:tailEnd type="none" w="med" len="med"/>
                    </a:lnR>
                    <a:lnT w="12700" cap="flat" cmpd="sng" algn="ctr">
                      <a:solidFill>
                        <a:srgbClr val="1E293B"/>
                      </a:solidFill>
                      <a:prstDash val="solid"/>
                      <a:round/>
                      <a:headEnd type="none" w="med" len="med"/>
                      <a:tailEnd type="none" w="med" len="med"/>
                    </a:lnT>
                    <a:lnB w="12700" cap="flat" cmpd="sng" algn="ctr">
                      <a:solidFill>
                        <a:srgbClr val="1E293B"/>
                      </a:solidFill>
                      <a:prstDash val="solid"/>
                      <a:round/>
                      <a:headEnd type="none" w="med" len="med"/>
                      <a:tailEnd type="none" w="med" len="med"/>
                    </a:lnB>
                    <a:solidFill>
                      <a:srgbClr val="1B2838"/>
                    </a:solidFill>
                  </a:tcPr>
                </a:tc>
              </a:tr>
              <a:tr h="0">
                <a:tc>
                  <a:txBody>
                    <a:bodyPr/>
                    <a:lstStyle/>
                    <a:p>
                      <a:pPr algn="ctr" indent="0" marL="0">
                        <a:buNone/>
                      </a:pPr>
                      <a:r>
                        <a:rPr lang="en-US" sz="1800" dirty="0">
                          <a:solidFill>
                            <a:srgbClr val="94A3B8"/>
                          </a:solidFill>
                          <a:latin typeface="Inter" pitchFamily="34" charset="0"/>
                          <a:ea typeface="Inter" pitchFamily="34" charset="-122"/>
                          <a:cs typeface="Inter" pitchFamily="34" charset="-120"/>
                        </a:rPr>
                        <a:t>PostgreSQL</a:t>
                      </a:r>
                      <a:endParaRPr lang="en-US" sz="1800" dirty="0">
                        <a:latin typeface="Inter" charset="0"/>
                        <a:ea typeface="Inter" charset="0"/>
                        <a:cs typeface="Inter" charset="0"/>
                      </a:endParaRPr>
                    </a:p>
                  </a:txBody>
                  <a:tcPr marL="91440" marR="91440" marT="45720" marB="45720" anchor="ctr">
                    <a:lnL w="12700" cap="flat" cmpd="sng" algn="ctr">
                      <a:solidFill>
                        <a:srgbClr val="1E293B"/>
                      </a:solidFill>
                      <a:prstDash val="solid"/>
                      <a:round/>
                      <a:headEnd type="none" w="med" len="med"/>
                      <a:tailEnd type="none" w="med" len="med"/>
                    </a:lnL>
                    <a:lnR w="12700" cap="flat" cmpd="sng" algn="ctr">
                      <a:solidFill>
                        <a:srgbClr val="1E293B"/>
                      </a:solidFill>
                      <a:prstDash val="solid"/>
                      <a:round/>
                      <a:headEnd type="none" w="med" len="med"/>
                      <a:tailEnd type="none" w="med" len="med"/>
                    </a:lnR>
                    <a:lnT w="12700" cap="flat" cmpd="sng" algn="ctr">
                      <a:solidFill>
                        <a:srgbClr val="1E293B"/>
                      </a:solidFill>
                      <a:prstDash val="solid"/>
                      <a:round/>
                      <a:headEnd type="none" w="med" len="med"/>
                      <a:tailEnd type="none" w="med" len="med"/>
                    </a:lnT>
                    <a:lnB w="12700" cap="flat" cmpd="sng" algn="ctr">
                      <a:solidFill>
                        <a:srgbClr val="1E293B"/>
                      </a:solidFill>
                      <a:prstDash val="solid"/>
                      <a:round/>
                      <a:headEnd type="none" w="med" len="med"/>
                      <a:tailEnd type="none" w="med" len="med"/>
                    </a:lnB>
                    <a:solidFill>
                      <a:srgbClr val="1B2838"/>
                    </a:solidFill>
                  </a:tcPr>
                </a:tc>
                <a:tc>
                  <a:txBody>
                    <a:bodyPr/>
                    <a:lstStyle/>
                    <a:p>
                      <a:pPr algn="ctr" indent="0" marL="0">
                        <a:buNone/>
                      </a:pPr>
                      <a:r>
                        <a:rPr lang="en-US" sz="1800" dirty="0">
                          <a:solidFill>
                            <a:srgbClr val="94A3B8"/>
                          </a:solidFill>
                          <a:latin typeface="Inter" pitchFamily="34" charset="0"/>
                          <a:ea typeface="Inter" pitchFamily="34" charset="-122"/>
                          <a:cs typeface="Inter" pitchFamily="34" charset="-120"/>
                        </a:rPr>
                        <a:t>postgres:16-alpine</a:t>
                      </a:r>
                      <a:endParaRPr lang="en-US" sz="1800" dirty="0">
                        <a:latin typeface="Inter" charset="0"/>
                        <a:ea typeface="Inter" charset="0"/>
                        <a:cs typeface="Inter" charset="0"/>
                      </a:endParaRPr>
                    </a:p>
                  </a:txBody>
                  <a:tcPr marL="91440" marR="91440" marT="45720" marB="45720" anchor="ctr">
                    <a:lnL w="12700" cap="flat" cmpd="sng" algn="ctr">
                      <a:solidFill>
                        <a:srgbClr val="1E293B"/>
                      </a:solidFill>
                      <a:prstDash val="solid"/>
                      <a:round/>
                      <a:headEnd type="none" w="med" len="med"/>
                      <a:tailEnd type="none" w="med" len="med"/>
                    </a:lnL>
                    <a:lnR w="12700" cap="flat" cmpd="sng" algn="ctr">
                      <a:solidFill>
                        <a:srgbClr val="1E293B"/>
                      </a:solidFill>
                      <a:prstDash val="solid"/>
                      <a:round/>
                      <a:headEnd type="none" w="med" len="med"/>
                      <a:tailEnd type="none" w="med" len="med"/>
                    </a:lnR>
                    <a:lnT w="12700" cap="flat" cmpd="sng" algn="ctr">
                      <a:solidFill>
                        <a:srgbClr val="1E293B"/>
                      </a:solidFill>
                      <a:prstDash val="solid"/>
                      <a:round/>
                      <a:headEnd type="none" w="med" len="med"/>
                      <a:tailEnd type="none" w="med" len="med"/>
                    </a:lnT>
                    <a:lnB w="12700" cap="flat" cmpd="sng" algn="ctr">
                      <a:solidFill>
                        <a:srgbClr val="1E293B"/>
                      </a:solidFill>
                      <a:prstDash val="solid"/>
                      <a:round/>
                      <a:headEnd type="none" w="med" len="med"/>
                      <a:tailEnd type="none" w="med" len="med"/>
                    </a:lnB>
                    <a:solidFill>
                      <a:srgbClr val="1B2838"/>
                    </a:solidFill>
                  </a:tcPr>
                </a:tc>
                <a:tc>
                  <a:txBody>
                    <a:bodyPr/>
                    <a:lstStyle/>
                    <a:p>
                      <a:pPr algn="ctr" indent="0" marL="0">
                        <a:buNone/>
                      </a:pPr>
                      <a:r>
                        <a:rPr lang="en-US" sz="1800" dirty="0">
                          <a:solidFill>
                            <a:srgbClr val="94A3B8"/>
                          </a:solidFill>
                          <a:latin typeface="Inter" pitchFamily="34" charset="0"/>
                          <a:ea typeface="Inter" pitchFamily="34" charset="-122"/>
                          <a:cs typeface="Inter" pitchFamily="34" charset="-120"/>
                        </a:rPr>
                        <a:t>5434:5432</a:t>
                      </a:r>
                      <a:endParaRPr lang="en-US" sz="1800" dirty="0">
                        <a:latin typeface="Inter" charset="0"/>
                        <a:ea typeface="Inter" charset="0"/>
                        <a:cs typeface="Inter" charset="0"/>
                      </a:endParaRPr>
                    </a:p>
                  </a:txBody>
                  <a:tcPr marL="91440" marR="91440" marT="45720" marB="45720" anchor="ctr">
                    <a:lnL w="12700" cap="flat" cmpd="sng" algn="ctr">
                      <a:solidFill>
                        <a:srgbClr val="1E293B"/>
                      </a:solidFill>
                      <a:prstDash val="solid"/>
                      <a:round/>
                      <a:headEnd type="none" w="med" len="med"/>
                      <a:tailEnd type="none" w="med" len="med"/>
                    </a:lnL>
                    <a:lnR w="12700" cap="flat" cmpd="sng" algn="ctr">
                      <a:solidFill>
                        <a:srgbClr val="1E293B"/>
                      </a:solidFill>
                      <a:prstDash val="solid"/>
                      <a:round/>
                      <a:headEnd type="none" w="med" len="med"/>
                      <a:tailEnd type="none" w="med" len="med"/>
                    </a:lnR>
                    <a:lnT w="12700" cap="flat" cmpd="sng" algn="ctr">
                      <a:solidFill>
                        <a:srgbClr val="1E293B"/>
                      </a:solidFill>
                      <a:prstDash val="solid"/>
                      <a:round/>
                      <a:headEnd type="none" w="med" len="med"/>
                      <a:tailEnd type="none" w="med" len="med"/>
                    </a:lnT>
                    <a:lnB w="12700" cap="flat" cmpd="sng" algn="ctr">
                      <a:solidFill>
                        <a:srgbClr val="1E293B"/>
                      </a:solidFill>
                      <a:prstDash val="solid"/>
                      <a:round/>
                      <a:headEnd type="none" w="med" len="med"/>
                      <a:tailEnd type="none" w="med" len="med"/>
                    </a:lnB>
                    <a:solidFill>
                      <a:srgbClr val="1B2838"/>
                    </a:solidFill>
                  </a:tcPr>
                </a:tc>
              </a:tr>
              <a:tr h="0">
                <a:tc>
                  <a:txBody>
                    <a:bodyPr/>
                    <a:lstStyle/>
                    <a:p>
                      <a:pPr algn="ctr" indent="0" marL="0">
                        <a:buNone/>
                      </a:pPr>
                      <a:r>
                        <a:rPr lang="en-US" sz="1800" dirty="0">
                          <a:solidFill>
                            <a:srgbClr val="94A3B8"/>
                          </a:solidFill>
                          <a:latin typeface="Inter" pitchFamily="34" charset="0"/>
                          <a:ea typeface="Inter" pitchFamily="34" charset="-122"/>
                          <a:cs typeface="Inter" pitchFamily="34" charset="-120"/>
                        </a:rPr>
                        <a:t>Redis</a:t>
                      </a:r>
                      <a:endParaRPr lang="en-US" sz="1800" dirty="0">
                        <a:latin typeface="Inter" charset="0"/>
                        <a:ea typeface="Inter" charset="0"/>
                        <a:cs typeface="Inter" charset="0"/>
                      </a:endParaRPr>
                    </a:p>
                  </a:txBody>
                  <a:tcPr marL="91440" marR="91440" marT="45720" marB="45720" anchor="ctr">
                    <a:lnL w="12700" cap="flat" cmpd="sng" algn="ctr">
                      <a:solidFill>
                        <a:srgbClr val="1E293B"/>
                      </a:solidFill>
                      <a:prstDash val="solid"/>
                      <a:round/>
                      <a:headEnd type="none" w="med" len="med"/>
                      <a:tailEnd type="none" w="med" len="med"/>
                    </a:lnL>
                    <a:lnR w="12700" cap="flat" cmpd="sng" algn="ctr">
                      <a:solidFill>
                        <a:srgbClr val="1E293B"/>
                      </a:solidFill>
                      <a:prstDash val="solid"/>
                      <a:round/>
                      <a:headEnd type="none" w="med" len="med"/>
                      <a:tailEnd type="none" w="med" len="med"/>
                    </a:lnR>
                    <a:lnT w="12700" cap="flat" cmpd="sng" algn="ctr">
                      <a:solidFill>
                        <a:srgbClr val="1E293B"/>
                      </a:solidFill>
                      <a:prstDash val="solid"/>
                      <a:round/>
                      <a:headEnd type="none" w="med" len="med"/>
                      <a:tailEnd type="none" w="med" len="med"/>
                    </a:lnT>
                    <a:lnB w="12700" cap="flat" cmpd="sng" algn="ctr">
                      <a:solidFill>
                        <a:srgbClr val="1E293B"/>
                      </a:solidFill>
                      <a:prstDash val="solid"/>
                      <a:round/>
                      <a:headEnd type="none" w="med" len="med"/>
                      <a:tailEnd type="none" w="med" len="med"/>
                    </a:lnB>
                    <a:solidFill>
                      <a:srgbClr val="1B2838"/>
                    </a:solidFill>
                  </a:tcPr>
                </a:tc>
                <a:tc>
                  <a:txBody>
                    <a:bodyPr/>
                    <a:lstStyle/>
                    <a:p>
                      <a:pPr algn="ctr" indent="0" marL="0">
                        <a:buNone/>
                      </a:pPr>
                      <a:r>
                        <a:rPr lang="en-US" sz="1800" dirty="0">
                          <a:solidFill>
                            <a:srgbClr val="94A3B8"/>
                          </a:solidFill>
                          <a:latin typeface="Inter" pitchFamily="34" charset="0"/>
                          <a:ea typeface="Inter" pitchFamily="34" charset="-122"/>
                          <a:cs typeface="Inter" pitchFamily="34" charset="-120"/>
                        </a:rPr>
                        <a:t>redis:7-alpine</a:t>
                      </a:r>
                      <a:endParaRPr lang="en-US" sz="1800" dirty="0">
                        <a:latin typeface="Inter" charset="0"/>
                        <a:ea typeface="Inter" charset="0"/>
                        <a:cs typeface="Inter" charset="0"/>
                      </a:endParaRPr>
                    </a:p>
                  </a:txBody>
                  <a:tcPr marL="91440" marR="91440" marT="45720" marB="45720" anchor="ctr">
                    <a:lnL w="12700" cap="flat" cmpd="sng" algn="ctr">
                      <a:solidFill>
                        <a:srgbClr val="1E293B"/>
                      </a:solidFill>
                      <a:prstDash val="solid"/>
                      <a:round/>
                      <a:headEnd type="none" w="med" len="med"/>
                      <a:tailEnd type="none" w="med" len="med"/>
                    </a:lnL>
                    <a:lnR w="12700" cap="flat" cmpd="sng" algn="ctr">
                      <a:solidFill>
                        <a:srgbClr val="1E293B"/>
                      </a:solidFill>
                      <a:prstDash val="solid"/>
                      <a:round/>
                      <a:headEnd type="none" w="med" len="med"/>
                      <a:tailEnd type="none" w="med" len="med"/>
                    </a:lnR>
                    <a:lnT w="12700" cap="flat" cmpd="sng" algn="ctr">
                      <a:solidFill>
                        <a:srgbClr val="1E293B"/>
                      </a:solidFill>
                      <a:prstDash val="solid"/>
                      <a:round/>
                      <a:headEnd type="none" w="med" len="med"/>
                      <a:tailEnd type="none" w="med" len="med"/>
                    </a:lnT>
                    <a:lnB w="12700" cap="flat" cmpd="sng" algn="ctr">
                      <a:solidFill>
                        <a:srgbClr val="1E293B"/>
                      </a:solidFill>
                      <a:prstDash val="solid"/>
                      <a:round/>
                      <a:headEnd type="none" w="med" len="med"/>
                      <a:tailEnd type="none" w="med" len="med"/>
                    </a:lnB>
                    <a:solidFill>
                      <a:srgbClr val="1B2838"/>
                    </a:solidFill>
                  </a:tcPr>
                </a:tc>
                <a:tc>
                  <a:txBody>
                    <a:bodyPr/>
                    <a:lstStyle/>
                    <a:p>
                      <a:pPr algn="ctr" indent="0" marL="0">
                        <a:buNone/>
                      </a:pPr>
                      <a:r>
                        <a:rPr lang="en-US" sz="1800" dirty="0">
                          <a:solidFill>
                            <a:srgbClr val="94A3B8"/>
                          </a:solidFill>
                          <a:latin typeface="Inter" pitchFamily="34" charset="0"/>
                          <a:ea typeface="Inter" pitchFamily="34" charset="-122"/>
                          <a:cs typeface="Inter" pitchFamily="34" charset="-120"/>
                        </a:rPr>
                        <a:t>6379:6379</a:t>
                      </a:r>
                      <a:endParaRPr lang="en-US" sz="1800" dirty="0">
                        <a:latin typeface="Inter" charset="0"/>
                        <a:ea typeface="Inter" charset="0"/>
                        <a:cs typeface="Inter" charset="0"/>
                      </a:endParaRPr>
                    </a:p>
                  </a:txBody>
                  <a:tcPr marL="91440" marR="91440" marT="45720" marB="45720" anchor="ctr">
                    <a:lnL w="12700" cap="flat" cmpd="sng" algn="ctr">
                      <a:solidFill>
                        <a:srgbClr val="1E293B"/>
                      </a:solidFill>
                      <a:prstDash val="solid"/>
                      <a:round/>
                      <a:headEnd type="none" w="med" len="med"/>
                      <a:tailEnd type="none" w="med" len="med"/>
                    </a:lnL>
                    <a:lnR w="12700" cap="flat" cmpd="sng" algn="ctr">
                      <a:solidFill>
                        <a:srgbClr val="1E293B"/>
                      </a:solidFill>
                      <a:prstDash val="solid"/>
                      <a:round/>
                      <a:headEnd type="none" w="med" len="med"/>
                      <a:tailEnd type="none" w="med" len="med"/>
                    </a:lnR>
                    <a:lnT w="12700" cap="flat" cmpd="sng" algn="ctr">
                      <a:solidFill>
                        <a:srgbClr val="1E293B"/>
                      </a:solidFill>
                      <a:prstDash val="solid"/>
                      <a:round/>
                      <a:headEnd type="none" w="med" len="med"/>
                      <a:tailEnd type="none" w="med" len="med"/>
                    </a:lnT>
                    <a:lnB w="12700" cap="flat" cmpd="sng" algn="ctr">
                      <a:solidFill>
                        <a:srgbClr val="1E293B"/>
                      </a:solidFill>
                      <a:prstDash val="solid"/>
                      <a:round/>
                      <a:headEnd type="none" w="med" len="med"/>
                      <a:tailEnd type="none" w="med" len="med"/>
                    </a:lnB>
                    <a:solidFill>
                      <a:srgbClr val="1B2838"/>
                    </a:solidFill>
                  </a:tcPr>
                </a:tc>
              </a:tr>
              <a:tr h="0">
                <a:tc>
                  <a:txBody>
                    <a:bodyPr/>
                    <a:lstStyle/>
                    <a:p>
                      <a:pPr algn="ctr" indent="0" marL="0">
                        <a:buNone/>
                      </a:pPr>
                      <a:r>
                        <a:rPr lang="en-US" sz="1800" dirty="0">
                          <a:solidFill>
                            <a:srgbClr val="94A3B8"/>
                          </a:solidFill>
                          <a:latin typeface="Inter" pitchFamily="34" charset="0"/>
                          <a:ea typeface="Inter" pitchFamily="34" charset="-122"/>
                          <a:cs typeface="Inter" pitchFamily="34" charset="-120"/>
                        </a:rPr>
                        <a:t>Next.js</a:t>
                      </a:r>
                      <a:endParaRPr lang="en-US" sz="1800" dirty="0">
                        <a:latin typeface="Inter" charset="0"/>
                        <a:ea typeface="Inter" charset="0"/>
                        <a:cs typeface="Inter" charset="0"/>
                      </a:endParaRPr>
                    </a:p>
                  </a:txBody>
                  <a:tcPr marL="91440" marR="91440" marT="45720" marB="45720" anchor="ctr">
                    <a:lnL w="12700" cap="flat" cmpd="sng" algn="ctr">
                      <a:solidFill>
                        <a:srgbClr val="1E293B"/>
                      </a:solidFill>
                      <a:prstDash val="solid"/>
                      <a:round/>
                      <a:headEnd type="none" w="med" len="med"/>
                      <a:tailEnd type="none" w="med" len="med"/>
                    </a:lnL>
                    <a:lnR w="12700" cap="flat" cmpd="sng" algn="ctr">
                      <a:solidFill>
                        <a:srgbClr val="1E293B"/>
                      </a:solidFill>
                      <a:prstDash val="solid"/>
                      <a:round/>
                      <a:headEnd type="none" w="med" len="med"/>
                      <a:tailEnd type="none" w="med" len="med"/>
                    </a:lnR>
                    <a:lnT w="12700" cap="flat" cmpd="sng" algn="ctr">
                      <a:solidFill>
                        <a:srgbClr val="1E293B"/>
                      </a:solidFill>
                      <a:prstDash val="solid"/>
                      <a:round/>
                      <a:headEnd type="none" w="med" len="med"/>
                      <a:tailEnd type="none" w="med" len="med"/>
                    </a:lnT>
                    <a:lnB w="12700" cap="flat" cmpd="sng" algn="ctr">
                      <a:solidFill>
                        <a:srgbClr val="1E293B"/>
                      </a:solidFill>
                      <a:prstDash val="solid"/>
                      <a:round/>
                      <a:headEnd type="none" w="med" len="med"/>
                      <a:tailEnd type="none" w="med" len="med"/>
                    </a:lnB>
                    <a:solidFill>
                      <a:srgbClr val="1B2838"/>
                    </a:solidFill>
                  </a:tcPr>
                </a:tc>
                <a:tc>
                  <a:txBody>
                    <a:bodyPr/>
                    <a:lstStyle/>
                    <a:p>
                      <a:pPr algn="ctr" indent="0" marL="0">
                        <a:buNone/>
                      </a:pPr>
                      <a:r>
                        <a:rPr lang="en-US" sz="1800" dirty="0">
                          <a:solidFill>
                            <a:srgbClr val="94A3B8"/>
                          </a:solidFill>
                          <a:latin typeface="Inter" pitchFamily="34" charset="0"/>
                          <a:ea typeface="Inter" pitchFamily="34" charset="-122"/>
                          <a:cs typeface="Inter" pitchFamily="34" charset="-120"/>
                        </a:rPr>
                        <a:t>Dockerfile.dev</a:t>
                      </a:r>
                      <a:endParaRPr lang="en-US" sz="1800" dirty="0">
                        <a:latin typeface="Inter" charset="0"/>
                        <a:ea typeface="Inter" charset="0"/>
                        <a:cs typeface="Inter" charset="0"/>
                      </a:endParaRPr>
                    </a:p>
                  </a:txBody>
                  <a:tcPr marL="91440" marR="91440" marT="45720" marB="45720" anchor="ctr">
                    <a:lnL w="12700" cap="flat" cmpd="sng" algn="ctr">
                      <a:solidFill>
                        <a:srgbClr val="1E293B"/>
                      </a:solidFill>
                      <a:prstDash val="solid"/>
                      <a:round/>
                      <a:headEnd type="none" w="med" len="med"/>
                      <a:tailEnd type="none" w="med" len="med"/>
                    </a:lnL>
                    <a:lnR w="12700" cap="flat" cmpd="sng" algn="ctr">
                      <a:solidFill>
                        <a:srgbClr val="1E293B"/>
                      </a:solidFill>
                      <a:prstDash val="solid"/>
                      <a:round/>
                      <a:headEnd type="none" w="med" len="med"/>
                      <a:tailEnd type="none" w="med" len="med"/>
                    </a:lnR>
                    <a:lnT w="12700" cap="flat" cmpd="sng" algn="ctr">
                      <a:solidFill>
                        <a:srgbClr val="1E293B"/>
                      </a:solidFill>
                      <a:prstDash val="solid"/>
                      <a:round/>
                      <a:headEnd type="none" w="med" len="med"/>
                      <a:tailEnd type="none" w="med" len="med"/>
                    </a:lnT>
                    <a:lnB w="12700" cap="flat" cmpd="sng" algn="ctr">
                      <a:solidFill>
                        <a:srgbClr val="1E293B"/>
                      </a:solidFill>
                      <a:prstDash val="solid"/>
                      <a:round/>
                      <a:headEnd type="none" w="med" len="med"/>
                      <a:tailEnd type="none" w="med" len="med"/>
                    </a:lnB>
                    <a:solidFill>
                      <a:srgbClr val="1B2838"/>
                    </a:solidFill>
                  </a:tcPr>
                </a:tc>
                <a:tc>
                  <a:txBody>
                    <a:bodyPr/>
                    <a:lstStyle/>
                    <a:p>
                      <a:pPr algn="ctr" indent="0" marL="0">
                        <a:buNone/>
                      </a:pPr>
                      <a:r>
                        <a:rPr lang="en-US" sz="1800" dirty="0">
                          <a:solidFill>
                            <a:srgbClr val="94A3B8"/>
                          </a:solidFill>
                          <a:latin typeface="Inter" pitchFamily="34" charset="0"/>
                          <a:ea typeface="Inter" pitchFamily="34" charset="-122"/>
                          <a:cs typeface="Inter" pitchFamily="34" charset="-120"/>
                        </a:rPr>
                        <a:t>3000:3000</a:t>
                      </a:r>
                      <a:endParaRPr lang="en-US" sz="1800" dirty="0">
                        <a:latin typeface="Inter" charset="0"/>
                        <a:ea typeface="Inter" charset="0"/>
                        <a:cs typeface="Inter" charset="0"/>
                      </a:endParaRPr>
                    </a:p>
                  </a:txBody>
                  <a:tcPr marL="91440" marR="91440" marT="45720" marB="45720" anchor="ctr">
                    <a:lnL w="12700" cap="flat" cmpd="sng" algn="ctr">
                      <a:solidFill>
                        <a:srgbClr val="1E293B"/>
                      </a:solidFill>
                      <a:prstDash val="solid"/>
                      <a:round/>
                      <a:headEnd type="none" w="med" len="med"/>
                      <a:tailEnd type="none" w="med" len="med"/>
                    </a:lnL>
                    <a:lnR w="12700" cap="flat" cmpd="sng" algn="ctr">
                      <a:solidFill>
                        <a:srgbClr val="1E293B"/>
                      </a:solidFill>
                      <a:prstDash val="solid"/>
                      <a:round/>
                      <a:headEnd type="none" w="med" len="med"/>
                      <a:tailEnd type="none" w="med" len="med"/>
                    </a:lnR>
                    <a:lnT w="12700" cap="flat" cmpd="sng" algn="ctr">
                      <a:solidFill>
                        <a:srgbClr val="1E293B"/>
                      </a:solidFill>
                      <a:prstDash val="solid"/>
                      <a:round/>
                      <a:headEnd type="none" w="med" len="med"/>
                      <a:tailEnd type="none" w="med" len="med"/>
                    </a:lnT>
                    <a:lnB w="12700" cap="flat" cmpd="sng" algn="ctr">
                      <a:solidFill>
                        <a:srgbClr val="1E293B"/>
                      </a:solidFill>
                      <a:prstDash val="solid"/>
                      <a:round/>
                      <a:headEnd type="none" w="med" len="med"/>
                      <a:tailEnd type="none" w="med" len="med"/>
                    </a:lnB>
                    <a:solidFill>
                      <a:srgbClr val="1B2838"/>
                    </a:solidFill>
                  </a:tcPr>
                </a:tc>
              </a:tr>
            </a:tbl>
          </a:graphicData>
        </a:graphic>
      </p:graphicFrame>
      <p:sp>
        <p:nvSpPr>
          <p:cNvPr id="6" name="Text 3"/>
          <p:cNvSpPr/>
          <p:nvPr/>
        </p:nvSpPr>
        <p:spPr>
          <a:xfrm>
            <a:off x="640080" y="3108960"/>
            <a:ext cx="7863840" cy="411480"/>
          </a:xfrm>
          <a:prstGeom prst="rect">
            <a:avLst/>
          </a:prstGeom>
          <a:noFill/>
          <a:ln/>
        </p:spPr>
        <p:txBody>
          <a:bodyPr wrap="square" rtlCol="0" anchor="ctr"/>
          <a:lstStyle/>
          <a:p>
            <a:pPr algn="l" indent="0" marL="0">
              <a:buNone/>
            </a:pPr>
            <a:r>
              <a:rPr lang="en-US" sz="2000" dirty="0">
                <a:solidFill>
                  <a:srgbClr val="94A3B8"/>
                </a:solidFill>
                <a:latin typeface="Inter" pitchFamily="34" charset="0"/>
                <a:ea typeface="Inter" pitchFamily="34" charset="-122"/>
                <a:cs typeface="Inter" pitchFamily="34" charset="-120"/>
              </a:rPr>
              <a:t>Docker Compose pour l'orchestration</a:t>
            </a:r>
            <a:endParaRPr lang="en-US" sz="2000" dirty="0"/>
          </a:p>
        </p:txBody>
      </p:sp>
      <p:sp>
        <p:nvSpPr>
          <p:cNvPr id="7" name="Text 4"/>
          <p:cNvSpPr/>
          <p:nvPr/>
        </p:nvSpPr>
        <p:spPr>
          <a:xfrm>
            <a:off x="640080" y="3566160"/>
            <a:ext cx="7863840" cy="411480"/>
          </a:xfrm>
          <a:prstGeom prst="rect">
            <a:avLst/>
          </a:prstGeom>
          <a:noFill/>
          <a:ln/>
        </p:spPr>
        <p:txBody>
          <a:bodyPr wrap="square" rtlCol="0" anchor="ctr"/>
          <a:lstStyle/>
          <a:p>
            <a:pPr algn="l" indent="0" marL="0">
              <a:buNone/>
            </a:pPr>
            <a:r>
              <a:rPr lang="en-US" sz="2000" dirty="0">
                <a:solidFill>
                  <a:srgbClr val="94A3B8"/>
                </a:solidFill>
                <a:latin typeface="Inter" pitchFamily="34" charset="0"/>
                <a:ea typeface="Inter" pitchFamily="34" charset="-122"/>
                <a:cs typeface="Inter" pitchFamily="34" charset="-120"/>
              </a:rPr>
              <a:t>Volume persistant redis_data</a:t>
            </a:r>
            <a:endParaRPr lang="en-US" sz="2000" dirty="0"/>
          </a:p>
        </p:txBody>
      </p:sp>
      <p:sp>
        <p:nvSpPr>
          <p:cNvPr id="8" name="Text 5"/>
          <p:cNvSpPr/>
          <p:nvPr/>
        </p:nvSpPr>
        <p:spPr>
          <a:xfrm>
            <a:off x="640080" y="4023360"/>
            <a:ext cx="7863840" cy="411480"/>
          </a:xfrm>
          <a:prstGeom prst="rect">
            <a:avLst/>
          </a:prstGeom>
          <a:noFill/>
          <a:ln/>
        </p:spPr>
        <p:txBody>
          <a:bodyPr wrap="square" rtlCol="0" anchor="ctr"/>
          <a:lstStyle/>
          <a:p>
            <a:pPr algn="l" indent="0" marL="0">
              <a:buNone/>
            </a:pPr>
            <a:r>
              <a:rPr lang="en-US" sz="2000" dirty="0">
                <a:solidFill>
                  <a:srgbClr val="94A3B8"/>
                </a:solidFill>
                <a:latin typeface="Inter" pitchFamily="34" charset="0"/>
                <a:ea typeface="Inter" pitchFamily="34" charset="-122"/>
                <a:cs typeface="Inter" pitchFamily="34" charset="-120"/>
              </a:rPr>
              <a:t>Healthcheck integre pour Redis</a:t>
            </a:r>
            <a:endParaRPr lang="en-US" sz="2000" dirty="0"/>
          </a:p>
        </p:txBody>
      </p:sp>
      <p:sp>
        <p:nvSpPr>
          <p:cNvPr id="9" name="Text 6"/>
          <p:cNvSpPr/>
          <p:nvPr/>
        </p:nvSpPr>
        <p:spPr>
          <a:xfrm>
            <a:off x="640080" y="4480560"/>
            <a:ext cx="7863840" cy="411480"/>
          </a:xfrm>
          <a:prstGeom prst="rect">
            <a:avLst/>
          </a:prstGeom>
          <a:noFill/>
          <a:ln/>
        </p:spPr>
        <p:txBody>
          <a:bodyPr wrap="square" rtlCol="0" anchor="ctr"/>
          <a:lstStyle/>
          <a:p>
            <a:pPr algn="l" indent="0" marL="0">
              <a:buNone/>
            </a:pPr>
            <a:r>
              <a:rPr lang="en-US" sz="2000" dirty="0">
                <a:solidFill>
                  <a:srgbClr val="94A3B8"/>
                </a:solidFill>
                <a:latin typeface="Inter" pitchFamily="34" charset="0"/>
                <a:ea typeface="Inter" pitchFamily="34" charset="-122"/>
                <a:cs typeface="Inter" pitchFamily="34" charset="-120"/>
              </a:rPr>
              <a:t>Variable REDIS_URL pour la connexion</a:t>
            </a:r>
            <a:endParaRPr lang="en-US" sz="2000" dirty="0"/>
          </a:p>
        </p:txBody>
      </p:sp>
      <p:sp>
        <p:nvSpPr>
          <p:cNvPr id="10" name="Shape 7"/>
          <p:cNvSpPr/>
          <p:nvPr/>
        </p:nvSpPr>
        <p:spPr>
          <a:xfrm>
            <a:off x="8321040" y="4617720"/>
            <a:ext cx="457200" cy="320040"/>
          </a:xfrm>
          <a:prstGeom prst="roundRect">
            <a:avLst>
              <a:gd name="adj" fmla="val 28571"/>
            </a:avLst>
          </a:prstGeom>
          <a:solidFill>
            <a:srgbClr val="38BDF8"/>
          </a:solidFill>
          <a:ln/>
        </p:spPr>
      </p:sp>
      <p:sp>
        <p:nvSpPr>
          <p:cNvPr id="11" name="Text 8"/>
          <p:cNvSpPr/>
          <p:nvPr/>
        </p:nvSpPr>
        <p:spPr>
          <a:xfrm>
            <a:off x="8321040" y="4617720"/>
            <a:ext cx="457200" cy="320040"/>
          </a:xfrm>
          <a:prstGeom prst="rect">
            <a:avLst/>
          </a:prstGeom>
          <a:noFill/>
          <a:ln/>
        </p:spPr>
        <p:txBody>
          <a:bodyPr wrap="square" rtlCol="0" anchor="ctr"/>
          <a:lstStyle/>
          <a:p>
            <a:pPr algn="ctr" indent="0" marL="0">
              <a:buNone/>
            </a:pPr>
            <a:r>
              <a:rPr lang="en-US" sz="1200" b="1" dirty="0">
                <a:solidFill>
                  <a:srgbClr val="0D1B2A"/>
                </a:solidFill>
                <a:latin typeface="Inter" pitchFamily="34" charset="0"/>
                <a:ea typeface="Inter" pitchFamily="34" charset="-122"/>
                <a:cs typeface="Inter" pitchFamily="34" charset="-120"/>
              </a:rPr>
              <a:t>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38BDF8"/>
          </a:solidFill>
          <a:ln/>
        </p:spPr>
      </p:sp>
      <p:sp>
        <p:nvSpPr>
          <p:cNvPr id="3" name="Text 1"/>
          <p:cNvSpPr/>
          <p:nvPr/>
        </p:nvSpPr>
        <p:spPr>
          <a:xfrm>
            <a:off x="457200" y="365760"/>
            <a:ext cx="8229600" cy="548640"/>
          </a:xfrm>
          <a:prstGeom prst="rect">
            <a:avLst/>
          </a:prstGeom>
          <a:noFill/>
          <a:ln/>
        </p:spPr>
        <p:txBody>
          <a:bodyPr wrap="square" rtlCol="0" anchor="ctr"/>
          <a:lstStyle/>
          <a:p>
            <a:pPr algn="l" indent="0" marL="0">
              <a:buNone/>
            </a:pPr>
            <a:r>
              <a:rPr lang="en-US" sz="3200" b="1" dirty="0">
                <a:solidFill>
                  <a:srgbClr val="FFFFFF"/>
                </a:solidFill>
                <a:latin typeface="Inter" pitchFamily="34" charset="0"/>
                <a:ea typeface="Inter" pitchFamily="34" charset="-122"/>
                <a:cs typeface="Inter" pitchFamily="34" charset="-120"/>
              </a:rPr>
              <a:t>Couche d'Abstraction</a:t>
            </a:r>
            <a:endParaRPr lang="en-US" sz="3200" dirty="0"/>
          </a:p>
        </p:txBody>
      </p:sp>
      <p:sp>
        <p:nvSpPr>
          <p:cNvPr id="4" name="Shape 2"/>
          <p:cNvSpPr/>
          <p:nvPr/>
        </p:nvSpPr>
        <p:spPr>
          <a:xfrm>
            <a:off x="457200" y="914400"/>
            <a:ext cx="1828800" cy="36576"/>
          </a:xfrm>
          <a:prstGeom prst="rect">
            <a:avLst/>
          </a:prstGeom>
          <a:solidFill>
            <a:srgbClr val="38BDF8"/>
          </a:solidFill>
          <a:ln/>
        </p:spPr>
      </p:sp>
      <p:sp>
        <p:nvSpPr>
          <p:cNvPr id="5" name="Text 3"/>
          <p:cNvSpPr/>
          <p:nvPr/>
        </p:nvSpPr>
        <p:spPr>
          <a:xfrm>
            <a:off x="640080" y="1188720"/>
            <a:ext cx="7863840" cy="457200"/>
          </a:xfrm>
          <a:prstGeom prst="rect">
            <a:avLst/>
          </a:prstGeom>
          <a:noFill/>
          <a:ln/>
        </p:spPr>
        <p:txBody>
          <a:bodyPr wrap="square" rtlCol="0" anchor="ctr"/>
          <a:lstStyle/>
          <a:p>
            <a:pPr algn="l" indent="0" marL="0">
              <a:buNone/>
            </a:pPr>
            <a:r>
              <a:rPr lang="en-US" sz="2000" dirty="0">
                <a:solidFill>
                  <a:srgbClr val="94A3B8"/>
                </a:solidFill>
                <a:latin typeface="Inter" pitchFamily="34" charset="0"/>
                <a:ea typeface="Inter" pitchFamily="34" charset="-122"/>
                <a:cs typeface="Inter" pitchFamily="34" charset="-120"/>
              </a:rPr>
              <a:t>src/lib/cache.ts</a:t>
            </a:r>
            <a:endParaRPr lang="en-US" sz="2000" dirty="0"/>
          </a:p>
        </p:txBody>
      </p:sp>
      <p:sp>
        <p:nvSpPr>
          <p:cNvPr id="6" name="Text 4"/>
          <p:cNvSpPr/>
          <p:nvPr/>
        </p:nvSpPr>
        <p:spPr>
          <a:xfrm>
            <a:off x="640080" y="1691640"/>
            <a:ext cx="7863840" cy="457200"/>
          </a:xfrm>
          <a:prstGeom prst="rect">
            <a:avLst/>
          </a:prstGeom>
          <a:noFill/>
          <a:ln/>
        </p:spPr>
        <p:txBody>
          <a:bodyPr wrap="square" rtlCol="0" anchor="ctr"/>
          <a:lstStyle/>
          <a:p>
            <a:pPr algn="l" indent="0" marL="0">
              <a:buNone/>
            </a:pPr>
            <a:r>
              <a:rPr lang="en-US" sz="2000" dirty="0">
                <a:solidFill>
                  <a:srgbClr val="94A3B8"/>
                </a:solidFill>
                <a:latin typeface="Inter" pitchFamily="34" charset="0"/>
                <a:ea typeface="Inter" pitchFamily="34" charset="-122"/>
                <a:cs typeface="Inter" pitchFamily="34" charset="-120"/>
              </a:rPr>
              <a:t>cacheGet : recuperation avec typage TypeScript</a:t>
            </a:r>
            <a:endParaRPr lang="en-US" sz="2000" dirty="0"/>
          </a:p>
        </p:txBody>
      </p:sp>
      <p:sp>
        <p:nvSpPr>
          <p:cNvPr id="7" name="Text 5"/>
          <p:cNvSpPr/>
          <p:nvPr/>
        </p:nvSpPr>
        <p:spPr>
          <a:xfrm>
            <a:off x="640080" y="2194560"/>
            <a:ext cx="7863840" cy="457200"/>
          </a:xfrm>
          <a:prstGeom prst="rect">
            <a:avLst/>
          </a:prstGeom>
          <a:noFill/>
          <a:ln/>
        </p:spPr>
        <p:txBody>
          <a:bodyPr wrap="square" rtlCol="0" anchor="ctr"/>
          <a:lstStyle/>
          <a:p>
            <a:pPr algn="l" indent="0" marL="0">
              <a:buNone/>
            </a:pPr>
            <a:r>
              <a:rPr lang="en-US" sz="2000" dirty="0">
                <a:solidFill>
                  <a:srgbClr val="94A3B8"/>
                </a:solidFill>
                <a:latin typeface="Inter" pitchFamily="34" charset="0"/>
                <a:ea typeface="Inter" pitchFamily="34" charset="-122"/>
                <a:cs typeface="Inter" pitchFamily="34" charset="-120"/>
              </a:rPr>
              <a:t>cacheSet : stockage avec TTL configurable</a:t>
            </a:r>
            <a:endParaRPr lang="en-US" sz="2000" dirty="0"/>
          </a:p>
        </p:txBody>
      </p:sp>
      <p:sp>
        <p:nvSpPr>
          <p:cNvPr id="8" name="Text 6"/>
          <p:cNvSpPr/>
          <p:nvPr/>
        </p:nvSpPr>
        <p:spPr>
          <a:xfrm>
            <a:off x="640080" y="2697480"/>
            <a:ext cx="7863840" cy="457200"/>
          </a:xfrm>
          <a:prstGeom prst="rect">
            <a:avLst/>
          </a:prstGeom>
          <a:noFill/>
          <a:ln/>
        </p:spPr>
        <p:txBody>
          <a:bodyPr wrap="square" rtlCol="0" anchor="ctr"/>
          <a:lstStyle/>
          <a:p>
            <a:pPr algn="l" indent="0" marL="0">
              <a:buNone/>
            </a:pPr>
            <a:r>
              <a:rPr lang="en-US" sz="2000" dirty="0">
                <a:solidFill>
                  <a:srgbClr val="94A3B8"/>
                </a:solidFill>
                <a:latin typeface="Inter" pitchFamily="34" charset="0"/>
                <a:ea typeface="Inter" pitchFamily="34" charset="-122"/>
                <a:cs typeface="Inter" pitchFamily="34" charset="-120"/>
              </a:rPr>
              <a:t>TTL par defaut : 300 secondes</a:t>
            </a:r>
            <a:endParaRPr lang="en-US" sz="2000" dirty="0"/>
          </a:p>
        </p:txBody>
      </p:sp>
      <p:sp>
        <p:nvSpPr>
          <p:cNvPr id="9" name="Text 7"/>
          <p:cNvSpPr/>
          <p:nvPr/>
        </p:nvSpPr>
        <p:spPr>
          <a:xfrm>
            <a:off x="640080" y="3200400"/>
            <a:ext cx="7863840" cy="457200"/>
          </a:xfrm>
          <a:prstGeom prst="rect">
            <a:avLst/>
          </a:prstGeom>
          <a:noFill/>
          <a:ln/>
        </p:spPr>
        <p:txBody>
          <a:bodyPr wrap="square" rtlCol="0" anchor="ctr"/>
          <a:lstStyle/>
          <a:p>
            <a:pPr algn="l" indent="0" marL="0">
              <a:buNone/>
            </a:pPr>
            <a:r>
              <a:rPr lang="en-US" sz="2000" dirty="0">
                <a:solidFill>
                  <a:srgbClr val="94A3B8"/>
                </a:solidFill>
                <a:latin typeface="Inter" pitchFamily="34" charset="0"/>
                <a:ea typeface="Inter" pitchFamily="34" charset="-122"/>
                <a:cs typeface="Inter" pitchFamily="34" charset="-120"/>
              </a:rPr>
              <a:t>Interface simple et reutilisable</a:t>
            </a:r>
            <a:endParaRPr lang="en-US" sz="2000" dirty="0"/>
          </a:p>
        </p:txBody>
      </p:sp>
      <p:sp>
        <p:nvSpPr>
          <p:cNvPr id="10" name="Shape 8"/>
          <p:cNvSpPr/>
          <p:nvPr/>
        </p:nvSpPr>
        <p:spPr>
          <a:xfrm>
            <a:off x="8321040" y="4617720"/>
            <a:ext cx="457200" cy="320040"/>
          </a:xfrm>
          <a:prstGeom prst="roundRect">
            <a:avLst>
              <a:gd name="adj" fmla="val 28571"/>
            </a:avLst>
          </a:prstGeom>
          <a:solidFill>
            <a:srgbClr val="38BDF8"/>
          </a:solidFill>
          <a:ln/>
        </p:spPr>
      </p:sp>
      <p:sp>
        <p:nvSpPr>
          <p:cNvPr id="11" name="Text 9"/>
          <p:cNvSpPr/>
          <p:nvPr/>
        </p:nvSpPr>
        <p:spPr>
          <a:xfrm>
            <a:off x="8321040" y="4617720"/>
            <a:ext cx="457200" cy="320040"/>
          </a:xfrm>
          <a:prstGeom prst="rect">
            <a:avLst/>
          </a:prstGeom>
          <a:noFill/>
          <a:ln/>
        </p:spPr>
        <p:txBody>
          <a:bodyPr wrap="square" rtlCol="0" anchor="ctr"/>
          <a:lstStyle/>
          <a:p>
            <a:pPr algn="ctr" indent="0" marL="0">
              <a:buNone/>
            </a:pPr>
            <a:r>
              <a:rPr lang="en-US" sz="1200" b="1" dirty="0">
                <a:solidFill>
                  <a:srgbClr val="0D1B2A"/>
                </a:solidFill>
                <a:latin typeface="Inter" pitchFamily="34" charset="0"/>
                <a:ea typeface="Inter" pitchFamily="34" charset="-122"/>
                <a:cs typeface="Inter" pitchFamily="34" charset="-120"/>
              </a:rPr>
              <a:t>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38BDF8"/>
          </a:solidFill>
          <a:ln/>
        </p:spPr>
      </p:sp>
      <p:sp>
        <p:nvSpPr>
          <p:cNvPr id="3" name="Text 1"/>
          <p:cNvSpPr/>
          <p:nvPr/>
        </p:nvSpPr>
        <p:spPr>
          <a:xfrm>
            <a:off x="457200" y="365760"/>
            <a:ext cx="8229600" cy="548640"/>
          </a:xfrm>
          <a:prstGeom prst="rect">
            <a:avLst/>
          </a:prstGeom>
          <a:noFill/>
          <a:ln/>
        </p:spPr>
        <p:txBody>
          <a:bodyPr wrap="square" rtlCol="0" anchor="ctr"/>
          <a:lstStyle/>
          <a:p>
            <a:pPr algn="l" indent="0" marL="0">
              <a:buNone/>
            </a:pPr>
            <a:r>
              <a:rPr lang="en-US" sz="3200" b="1" dirty="0">
                <a:solidFill>
                  <a:srgbClr val="FFFFFF"/>
                </a:solidFill>
                <a:latin typeface="Inter" pitchFamily="34" charset="0"/>
                <a:ea typeface="Inter" pitchFamily="34" charset="-122"/>
                <a:cs typeface="Inter" pitchFamily="34" charset="-120"/>
              </a:rPr>
              <a:t>Integration dans les Actions</a:t>
            </a:r>
            <a:endParaRPr lang="en-US" sz="3200" dirty="0"/>
          </a:p>
        </p:txBody>
      </p:sp>
      <p:sp>
        <p:nvSpPr>
          <p:cNvPr id="4" name="Shape 2"/>
          <p:cNvSpPr/>
          <p:nvPr/>
        </p:nvSpPr>
        <p:spPr>
          <a:xfrm>
            <a:off x="457200" y="914400"/>
            <a:ext cx="1828800" cy="36576"/>
          </a:xfrm>
          <a:prstGeom prst="rect">
            <a:avLst/>
          </a:prstGeom>
          <a:solidFill>
            <a:srgbClr val="38BDF8"/>
          </a:solidFill>
          <a:ln/>
        </p:spPr>
      </p:sp>
      <p:sp>
        <p:nvSpPr>
          <p:cNvPr id="5" name="Text 3"/>
          <p:cNvSpPr/>
          <p:nvPr/>
        </p:nvSpPr>
        <p:spPr>
          <a:xfrm>
            <a:off x="640080" y="1188720"/>
            <a:ext cx="7863840" cy="457200"/>
          </a:xfrm>
          <a:prstGeom prst="rect">
            <a:avLst/>
          </a:prstGeom>
          <a:noFill/>
          <a:ln/>
        </p:spPr>
        <p:txBody>
          <a:bodyPr wrap="square" rtlCol="0" anchor="ctr"/>
          <a:lstStyle/>
          <a:p>
            <a:pPr algn="l" indent="0" marL="0">
              <a:buNone/>
            </a:pPr>
            <a:r>
              <a:rPr lang="en-US" sz="2000" dirty="0">
                <a:solidFill>
                  <a:srgbClr val="94A3B8"/>
                </a:solidFill>
                <a:latin typeface="Inter" pitchFamily="34" charset="0"/>
                <a:ea typeface="Inter" pitchFamily="34" charset="-122"/>
                <a:cs typeface="Inter" pitchFamily="34" charset="-120"/>
              </a:rPr>
              <a:t>1. Generation cle unique</a:t>
            </a:r>
            <a:endParaRPr lang="en-US" sz="2000" dirty="0"/>
          </a:p>
        </p:txBody>
      </p:sp>
      <p:sp>
        <p:nvSpPr>
          <p:cNvPr id="6" name="Text 4"/>
          <p:cNvSpPr/>
          <p:nvPr/>
        </p:nvSpPr>
        <p:spPr>
          <a:xfrm>
            <a:off x="640080" y="1691640"/>
            <a:ext cx="7863840" cy="457200"/>
          </a:xfrm>
          <a:prstGeom prst="rect">
            <a:avLst/>
          </a:prstGeom>
          <a:noFill/>
          <a:ln/>
        </p:spPr>
        <p:txBody>
          <a:bodyPr wrap="square" rtlCol="0" anchor="ctr"/>
          <a:lstStyle/>
          <a:p>
            <a:pPr algn="l" indent="0" marL="0">
              <a:buNone/>
            </a:pPr>
            <a:r>
              <a:rPr lang="en-US" sz="2000" dirty="0">
                <a:solidFill>
                  <a:srgbClr val="94A3B8"/>
                </a:solidFill>
                <a:latin typeface="Inter" pitchFamily="34" charset="0"/>
                <a:ea typeface="Inter" pitchFamily="34" charset="-122"/>
                <a:cs typeface="Inter" pitchFamily="34" charset="-120"/>
              </a:rPr>
              <a:t>2. Verification Redis</a:t>
            </a:r>
            <a:endParaRPr lang="en-US" sz="2000" dirty="0"/>
          </a:p>
        </p:txBody>
      </p:sp>
      <p:sp>
        <p:nvSpPr>
          <p:cNvPr id="7" name="Text 5"/>
          <p:cNvSpPr/>
          <p:nvPr/>
        </p:nvSpPr>
        <p:spPr>
          <a:xfrm>
            <a:off x="640080" y="2194560"/>
            <a:ext cx="7863840" cy="457200"/>
          </a:xfrm>
          <a:prstGeom prst="rect">
            <a:avLst/>
          </a:prstGeom>
          <a:noFill/>
          <a:ln/>
        </p:spPr>
        <p:txBody>
          <a:bodyPr wrap="square" rtlCol="0" anchor="ctr"/>
          <a:lstStyle/>
          <a:p>
            <a:pPr algn="l" indent="0" marL="0">
              <a:buNone/>
            </a:pPr>
            <a:r>
              <a:rPr lang="en-US" sz="2000" dirty="0">
                <a:solidFill>
                  <a:srgbClr val="94A3B8"/>
                </a:solidFill>
                <a:latin typeface="Inter" pitchFamily="34" charset="0"/>
                <a:ea typeface="Inter" pitchFamily="34" charset="-122"/>
                <a:cs typeface="Inter" pitchFamily="34" charset="-120"/>
              </a:rPr>
              <a:t>3. Cache Miss / Interroger DB</a:t>
            </a:r>
            <a:endParaRPr lang="en-US" sz="2000" dirty="0"/>
          </a:p>
        </p:txBody>
      </p:sp>
      <p:sp>
        <p:nvSpPr>
          <p:cNvPr id="8" name="Text 6"/>
          <p:cNvSpPr/>
          <p:nvPr/>
        </p:nvSpPr>
        <p:spPr>
          <a:xfrm>
            <a:off x="640080" y="2697480"/>
            <a:ext cx="7863840" cy="457200"/>
          </a:xfrm>
          <a:prstGeom prst="rect">
            <a:avLst/>
          </a:prstGeom>
          <a:noFill/>
          <a:ln/>
        </p:spPr>
        <p:txBody>
          <a:bodyPr wrap="square" rtlCol="0" anchor="ctr"/>
          <a:lstStyle/>
          <a:p>
            <a:pPr algn="l" indent="0" marL="0">
              <a:buNone/>
            </a:pPr>
            <a:r>
              <a:rPr lang="en-US" sz="2000" dirty="0">
                <a:solidFill>
                  <a:srgbClr val="94A3B8"/>
                </a:solidFill>
                <a:latin typeface="Inter" pitchFamily="34" charset="0"/>
                <a:ea typeface="Inter" pitchFamily="34" charset="-122"/>
                <a:cs typeface="Inter" pitchFamily="34" charset="-120"/>
              </a:rPr>
              <a:t>4. Stockage TTL</a:t>
            </a:r>
            <a:endParaRPr lang="en-US" sz="2000" dirty="0"/>
          </a:p>
        </p:txBody>
      </p:sp>
      <p:sp>
        <p:nvSpPr>
          <p:cNvPr id="9" name="Text 7"/>
          <p:cNvSpPr/>
          <p:nvPr/>
        </p:nvSpPr>
        <p:spPr>
          <a:xfrm>
            <a:off x="640080" y="3200400"/>
            <a:ext cx="7863840" cy="457200"/>
          </a:xfrm>
          <a:prstGeom prst="rect">
            <a:avLst/>
          </a:prstGeom>
          <a:noFill/>
          <a:ln/>
        </p:spPr>
        <p:txBody>
          <a:bodyPr wrap="square" rtlCol="0" anchor="ctr"/>
          <a:lstStyle/>
          <a:p>
            <a:pPr algn="l" indent="0" marL="0">
              <a:buNone/>
            </a:pPr>
            <a:r>
              <a:rPr lang="en-US" sz="2000" dirty="0">
                <a:solidFill>
                  <a:srgbClr val="94A3B8"/>
                </a:solidFill>
                <a:latin typeface="Inter" pitchFamily="34" charset="0"/>
                <a:ea typeface="Inter" pitchFamily="34" charset="-122"/>
                <a:cs typeface="Inter" pitchFamily="34" charset="-120"/>
              </a:rPr>
              <a:t>5. Application lectures</a:t>
            </a:r>
            <a:endParaRPr lang="en-US" sz="2000" dirty="0"/>
          </a:p>
        </p:txBody>
      </p:sp>
      <p:sp>
        <p:nvSpPr>
          <p:cNvPr id="10" name="Shape 8"/>
          <p:cNvSpPr/>
          <p:nvPr/>
        </p:nvSpPr>
        <p:spPr>
          <a:xfrm>
            <a:off x="8321040" y="4617720"/>
            <a:ext cx="457200" cy="320040"/>
          </a:xfrm>
          <a:prstGeom prst="roundRect">
            <a:avLst>
              <a:gd name="adj" fmla="val 28571"/>
            </a:avLst>
          </a:prstGeom>
          <a:solidFill>
            <a:srgbClr val="38BDF8"/>
          </a:solidFill>
          <a:ln/>
        </p:spPr>
      </p:sp>
      <p:sp>
        <p:nvSpPr>
          <p:cNvPr id="11" name="Text 9"/>
          <p:cNvSpPr/>
          <p:nvPr/>
        </p:nvSpPr>
        <p:spPr>
          <a:xfrm>
            <a:off x="8321040" y="4617720"/>
            <a:ext cx="457200" cy="320040"/>
          </a:xfrm>
          <a:prstGeom prst="rect">
            <a:avLst/>
          </a:prstGeom>
          <a:noFill/>
          <a:ln/>
        </p:spPr>
        <p:txBody>
          <a:bodyPr wrap="square" rtlCol="0" anchor="ctr"/>
          <a:lstStyle/>
          <a:p>
            <a:pPr algn="ctr" indent="0" marL="0">
              <a:buNone/>
            </a:pPr>
            <a:r>
              <a:rPr lang="en-US" sz="1200" b="1" dirty="0">
                <a:solidFill>
                  <a:srgbClr val="0D1B2A"/>
                </a:solidFill>
                <a:latin typeface="Inter" pitchFamily="34" charset="0"/>
                <a:ea typeface="Inter" pitchFamily="34" charset="-122"/>
                <a:cs typeface="Inter" pitchFamily="34" charset="-120"/>
              </a:rPr>
              <a:t>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38BDF8"/>
          </a:solidFill>
          <a:ln/>
        </p:spPr>
      </p:sp>
      <p:sp>
        <p:nvSpPr>
          <p:cNvPr id="3" name="Text 1"/>
          <p:cNvSpPr/>
          <p:nvPr/>
        </p:nvSpPr>
        <p:spPr>
          <a:xfrm>
            <a:off x="457200" y="365760"/>
            <a:ext cx="8229600" cy="548640"/>
          </a:xfrm>
          <a:prstGeom prst="rect">
            <a:avLst/>
          </a:prstGeom>
          <a:noFill/>
          <a:ln/>
        </p:spPr>
        <p:txBody>
          <a:bodyPr wrap="square" rtlCol="0" anchor="ctr"/>
          <a:lstStyle/>
          <a:p>
            <a:pPr algn="l" indent="0" marL="0">
              <a:buNone/>
            </a:pPr>
            <a:r>
              <a:rPr lang="en-US" sz="3200" b="1" dirty="0">
                <a:solidFill>
                  <a:srgbClr val="FFFFFF"/>
                </a:solidFill>
                <a:latin typeface="Inter" pitchFamily="34" charset="0"/>
                <a:ea typeface="Inter" pitchFamily="34" charset="-122"/>
                <a:cs typeface="Inter" pitchFamily="34" charset="-120"/>
              </a:rPr>
              <a:t>Invalidation du Cache</a:t>
            </a:r>
            <a:endParaRPr lang="en-US" sz="3200" dirty="0"/>
          </a:p>
        </p:txBody>
      </p:sp>
      <p:sp>
        <p:nvSpPr>
          <p:cNvPr id="4" name="Shape 2"/>
          <p:cNvSpPr/>
          <p:nvPr/>
        </p:nvSpPr>
        <p:spPr>
          <a:xfrm>
            <a:off x="457200" y="914400"/>
            <a:ext cx="1828800" cy="36576"/>
          </a:xfrm>
          <a:prstGeom prst="rect">
            <a:avLst/>
          </a:prstGeom>
          <a:solidFill>
            <a:srgbClr val="38BDF8"/>
          </a:solidFill>
          <a:ln/>
        </p:spPr>
      </p:sp>
      <p:sp>
        <p:nvSpPr>
          <p:cNvPr id="5" name="Shape 3"/>
          <p:cNvSpPr/>
          <p:nvPr/>
        </p:nvSpPr>
        <p:spPr>
          <a:xfrm>
            <a:off x="457200" y="1188720"/>
            <a:ext cx="1828800" cy="365760"/>
          </a:xfrm>
          <a:prstGeom prst="roundRect">
            <a:avLst>
              <a:gd name="adj" fmla="val 50000"/>
            </a:avLst>
          </a:prstGeom>
          <a:solidFill>
            <a:srgbClr val="22C55E"/>
          </a:solidFill>
          <a:ln/>
        </p:spPr>
      </p:sp>
      <p:sp>
        <p:nvSpPr>
          <p:cNvPr id="6" name="Text 4"/>
          <p:cNvSpPr/>
          <p:nvPr/>
        </p:nvSpPr>
        <p:spPr>
          <a:xfrm>
            <a:off x="457200" y="1188720"/>
            <a:ext cx="1828800" cy="365760"/>
          </a:xfrm>
          <a:prstGeom prst="rect">
            <a:avLst/>
          </a:prstGeom>
          <a:noFill/>
          <a:ln/>
        </p:spPr>
        <p:txBody>
          <a:bodyPr wrap="square"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Create</a:t>
            </a:r>
            <a:endParaRPr lang="en-US" sz="1400" dirty="0"/>
          </a:p>
        </p:txBody>
      </p:sp>
      <p:sp>
        <p:nvSpPr>
          <p:cNvPr id="7" name="Shape 5"/>
          <p:cNvSpPr/>
          <p:nvPr/>
        </p:nvSpPr>
        <p:spPr>
          <a:xfrm>
            <a:off x="2560320" y="1188720"/>
            <a:ext cx="1828800" cy="365760"/>
          </a:xfrm>
          <a:prstGeom prst="roundRect">
            <a:avLst>
              <a:gd name="adj" fmla="val 50000"/>
            </a:avLst>
          </a:prstGeom>
          <a:solidFill>
            <a:srgbClr val="38BDF8"/>
          </a:solidFill>
          <a:ln/>
        </p:spPr>
      </p:sp>
      <p:sp>
        <p:nvSpPr>
          <p:cNvPr id="8" name="Text 6"/>
          <p:cNvSpPr/>
          <p:nvPr/>
        </p:nvSpPr>
        <p:spPr>
          <a:xfrm>
            <a:off x="2560320" y="1188720"/>
            <a:ext cx="1828800" cy="365760"/>
          </a:xfrm>
          <a:prstGeom prst="rect">
            <a:avLst/>
          </a:prstGeom>
          <a:noFill/>
          <a:ln/>
        </p:spPr>
        <p:txBody>
          <a:bodyPr wrap="square"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Update</a:t>
            </a:r>
            <a:endParaRPr lang="en-US" sz="1400" dirty="0"/>
          </a:p>
        </p:txBody>
      </p:sp>
      <p:sp>
        <p:nvSpPr>
          <p:cNvPr id="9" name="Shape 7"/>
          <p:cNvSpPr/>
          <p:nvPr/>
        </p:nvSpPr>
        <p:spPr>
          <a:xfrm>
            <a:off x="4663440" y="1188720"/>
            <a:ext cx="1828800" cy="365760"/>
          </a:xfrm>
          <a:prstGeom prst="roundRect">
            <a:avLst>
              <a:gd name="adj" fmla="val 50000"/>
            </a:avLst>
          </a:prstGeom>
          <a:solidFill>
            <a:srgbClr val="DC2626"/>
          </a:solidFill>
          <a:ln/>
        </p:spPr>
      </p:sp>
      <p:sp>
        <p:nvSpPr>
          <p:cNvPr id="10" name="Text 8"/>
          <p:cNvSpPr/>
          <p:nvPr/>
        </p:nvSpPr>
        <p:spPr>
          <a:xfrm>
            <a:off x="4663440" y="1188720"/>
            <a:ext cx="1828800" cy="365760"/>
          </a:xfrm>
          <a:prstGeom prst="rect">
            <a:avLst/>
          </a:prstGeom>
          <a:noFill/>
          <a:ln/>
        </p:spPr>
        <p:txBody>
          <a:bodyPr wrap="square"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Delete</a:t>
            </a:r>
            <a:endParaRPr lang="en-US" sz="1400" dirty="0"/>
          </a:p>
        </p:txBody>
      </p:sp>
      <p:sp>
        <p:nvSpPr>
          <p:cNvPr id="11" name="Shape 9"/>
          <p:cNvSpPr/>
          <p:nvPr/>
        </p:nvSpPr>
        <p:spPr>
          <a:xfrm>
            <a:off x="6766560" y="1188720"/>
            <a:ext cx="1828800" cy="365760"/>
          </a:xfrm>
          <a:prstGeom prst="roundRect">
            <a:avLst>
              <a:gd name="adj" fmla="val 50000"/>
            </a:avLst>
          </a:prstGeom>
          <a:solidFill>
            <a:srgbClr val="94A3B8"/>
          </a:solidFill>
          <a:ln/>
        </p:spPr>
      </p:sp>
      <p:sp>
        <p:nvSpPr>
          <p:cNvPr id="12" name="Text 10"/>
          <p:cNvSpPr/>
          <p:nvPr/>
        </p:nvSpPr>
        <p:spPr>
          <a:xfrm>
            <a:off x="6766560" y="1188720"/>
            <a:ext cx="1828800" cy="365760"/>
          </a:xfrm>
          <a:prstGeom prst="rect">
            <a:avLst/>
          </a:prstGeom>
          <a:noFill/>
          <a:ln/>
        </p:spPr>
        <p:txBody>
          <a:bodyPr wrap="square"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Upvote</a:t>
            </a:r>
            <a:endParaRPr lang="en-US" sz="1400" dirty="0"/>
          </a:p>
        </p:txBody>
      </p:sp>
      <p:sp>
        <p:nvSpPr>
          <p:cNvPr id="13" name="Shape 11"/>
          <p:cNvSpPr/>
          <p:nvPr/>
        </p:nvSpPr>
        <p:spPr>
          <a:xfrm rot="5400000">
            <a:off x="4114800" y="1691640"/>
            <a:ext cx="914400" cy="365760"/>
          </a:xfrm>
          <a:prstGeom prst="rightArrow">
            <a:avLst/>
          </a:prstGeom>
          <a:solidFill>
            <a:srgbClr val="38BDF8"/>
          </a:solidFill>
          <a:ln/>
        </p:spPr>
      </p:sp>
      <p:sp>
        <p:nvSpPr>
          <p:cNvPr id="14" name="Shape 12"/>
          <p:cNvSpPr/>
          <p:nvPr/>
        </p:nvSpPr>
        <p:spPr>
          <a:xfrm>
            <a:off x="2743200" y="2194560"/>
            <a:ext cx="3657600" cy="548640"/>
          </a:xfrm>
          <a:prstGeom prst="roundRect">
            <a:avLst>
              <a:gd name="adj" fmla="val 16667"/>
            </a:avLst>
          </a:prstGeom>
          <a:solidFill>
            <a:srgbClr val="1B2838"/>
          </a:solidFill>
          <a:ln w="12700">
            <a:solidFill>
              <a:srgbClr val="1E293B"/>
            </a:solidFill>
            <a:prstDash val="solid"/>
          </a:ln>
        </p:spPr>
      </p:sp>
      <p:sp>
        <p:nvSpPr>
          <p:cNvPr id="15" name="Text 13"/>
          <p:cNvSpPr/>
          <p:nvPr/>
        </p:nvSpPr>
        <p:spPr>
          <a:xfrm>
            <a:off x="2743200" y="2194560"/>
            <a:ext cx="3657600" cy="548640"/>
          </a:xfrm>
          <a:prstGeom prst="rect">
            <a:avLst/>
          </a:prstGeom>
          <a:noFill/>
          <a:ln/>
        </p:spPr>
        <p:txBody>
          <a:bodyPr wrap="square"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invalidateCache()</a:t>
            </a:r>
            <a:endParaRPr lang="en-US" sz="1800" dirty="0"/>
          </a:p>
        </p:txBody>
      </p:sp>
      <p:sp>
        <p:nvSpPr>
          <p:cNvPr id="16" name="Text 14"/>
          <p:cNvSpPr/>
          <p:nvPr/>
        </p:nvSpPr>
        <p:spPr>
          <a:xfrm>
            <a:off x="640080" y="2926080"/>
            <a:ext cx="7863840" cy="411480"/>
          </a:xfrm>
          <a:prstGeom prst="rect">
            <a:avLst/>
          </a:prstGeom>
          <a:noFill/>
          <a:ln/>
        </p:spPr>
        <p:txBody>
          <a:bodyPr wrap="square" rtlCol="0" anchor="ctr"/>
          <a:lstStyle/>
          <a:p>
            <a:pPr algn="l" indent="0" marL="0">
              <a:buNone/>
            </a:pPr>
            <a:r>
              <a:rPr lang="en-US" sz="2000" dirty="0">
                <a:solidFill>
                  <a:srgbClr val="94A3B8"/>
                </a:solidFill>
                <a:latin typeface="Inter" pitchFamily="34" charset="0"/>
                <a:ea typeface="Inter" pitchFamily="34" charset="-122"/>
                <a:cs typeface="Inter" pitchFamily="34" charset="-120"/>
              </a:rPr>
              <a:t>Invalidation immediate sur ecriture</a:t>
            </a:r>
            <a:endParaRPr lang="en-US" sz="2000" dirty="0"/>
          </a:p>
        </p:txBody>
      </p:sp>
      <p:sp>
        <p:nvSpPr>
          <p:cNvPr id="17" name="Text 15"/>
          <p:cNvSpPr/>
          <p:nvPr/>
        </p:nvSpPr>
        <p:spPr>
          <a:xfrm>
            <a:off x="640080" y="3383280"/>
            <a:ext cx="7863840" cy="411480"/>
          </a:xfrm>
          <a:prstGeom prst="rect">
            <a:avLst/>
          </a:prstGeom>
          <a:noFill/>
          <a:ln/>
        </p:spPr>
        <p:txBody>
          <a:bodyPr wrap="square" rtlCol="0" anchor="ctr"/>
          <a:lstStyle/>
          <a:p>
            <a:pPr algn="l" indent="0" marL="0">
              <a:buNone/>
            </a:pPr>
            <a:r>
              <a:rPr lang="en-US" sz="2000" dirty="0">
                <a:solidFill>
                  <a:srgbClr val="94A3B8"/>
                </a:solidFill>
                <a:latin typeface="Inter" pitchFamily="34" charset="0"/>
                <a:ea typeface="Inter" pitchFamily="34" charset="-122"/>
                <a:cs typeface="Inter" pitchFamily="34" charset="-120"/>
              </a:rPr>
              <a:t>Suppression des cles correspondantes</a:t>
            </a:r>
            <a:endParaRPr lang="en-US" sz="2000" dirty="0"/>
          </a:p>
        </p:txBody>
      </p:sp>
      <p:sp>
        <p:nvSpPr>
          <p:cNvPr id="18" name="Text 16"/>
          <p:cNvSpPr/>
          <p:nvPr/>
        </p:nvSpPr>
        <p:spPr>
          <a:xfrm>
            <a:off x="640080" y="3840480"/>
            <a:ext cx="7863840" cy="411480"/>
          </a:xfrm>
          <a:prstGeom prst="rect">
            <a:avLst/>
          </a:prstGeom>
          <a:noFill/>
          <a:ln/>
        </p:spPr>
        <p:txBody>
          <a:bodyPr wrap="square" rtlCol="0" anchor="ctr"/>
          <a:lstStyle/>
          <a:p>
            <a:pPr algn="l" indent="0" marL="0">
              <a:buNone/>
            </a:pPr>
            <a:r>
              <a:rPr lang="en-US" sz="2000" dirty="0">
                <a:solidFill>
                  <a:srgbClr val="94A3B8"/>
                </a:solidFill>
                <a:latin typeface="Inter" pitchFamily="34" charset="0"/>
                <a:ea typeface="Inter" pitchFamily="34" charset="-122"/>
                <a:cs typeface="Inter" pitchFamily="34" charset="-120"/>
              </a:rPr>
              <a:t>TTL comme expiration automatique</a:t>
            </a:r>
            <a:endParaRPr lang="en-US" sz="2000" dirty="0"/>
          </a:p>
        </p:txBody>
      </p:sp>
      <p:sp>
        <p:nvSpPr>
          <p:cNvPr id="19" name="Text 17"/>
          <p:cNvSpPr/>
          <p:nvPr/>
        </p:nvSpPr>
        <p:spPr>
          <a:xfrm>
            <a:off x="640080" y="4297680"/>
            <a:ext cx="7863840" cy="411480"/>
          </a:xfrm>
          <a:prstGeom prst="rect">
            <a:avLst/>
          </a:prstGeom>
          <a:noFill/>
          <a:ln/>
        </p:spPr>
        <p:txBody>
          <a:bodyPr wrap="square" rtlCol="0" anchor="ctr"/>
          <a:lstStyle/>
          <a:p>
            <a:pPr algn="l" indent="0" marL="0">
              <a:buNone/>
            </a:pPr>
            <a:r>
              <a:rPr lang="en-US" sz="2000" dirty="0">
                <a:solidFill>
                  <a:srgbClr val="94A3B8"/>
                </a:solidFill>
                <a:latin typeface="Inter" pitchFamily="34" charset="0"/>
                <a:ea typeface="Inter" pitchFamily="34" charset="-122"/>
                <a:cs typeface="Inter" pitchFamily="34" charset="-120"/>
              </a:rPr>
              <a:t>Maintien de la coherence des donnees</a:t>
            </a:r>
            <a:endParaRPr lang="en-US" sz="2000" dirty="0"/>
          </a:p>
        </p:txBody>
      </p:sp>
      <p:sp>
        <p:nvSpPr>
          <p:cNvPr id="20" name="Text 18"/>
          <p:cNvSpPr/>
          <p:nvPr/>
        </p:nvSpPr>
        <p:spPr>
          <a:xfrm>
            <a:off x="457200" y="4572000"/>
            <a:ext cx="8229600" cy="274320"/>
          </a:xfrm>
          <a:prstGeom prst="rect">
            <a:avLst/>
          </a:prstGeom>
          <a:noFill/>
          <a:ln/>
        </p:spPr>
        <p:txBody>
          <a:bodyPr wrap="square" rtlCol="0" anchor="ctr"/>
          <a:lstStyle/>
          <a:p>
            <a:pPr algn="ctr" indent="0" marL="0">
              <a:buNone/>
            </a:pPr>
            <a:r>
              <a:rPr lang="en-US" sz="1200" dirty="0">
                <a:solidFill>
                  <a:srgbClr val="94A3B8"/>
                </a:solidFill>
                <a:latin typeface="Inter" pitchFamily="34" charset="0"/>
                <a:ea typeface="Inter" pitchFamily="34" charset="-122"/>
                <a:cs typeface="Inter" pitchFamily="34" charset="-120"/>
              </a:rPr>
              <a:t>Transition : Iliass Hariz prend la suite.</a:t>
            </a:r>
            <a:endParaRPr lang="en-US" sz="1200" dirty="0"/>
          </a:p>
        </p:txBody>
      </p:sp>
      <p:sp>
        <p:nvSpPr>
          <p:cNvPr id="21" name="Shape 19"/>
          <p:cNvSpPr/>
          <p:nvPr/>
        </p:nvSpPr>
        <p:spPr>
          <a:xfrm>
            <a:off x="8321040" y="4617720"/>
            <a:ext cx="457200" cy="320040"/>
          </a:xfrm>
          <a:prstGeom prst="roundRect">
            <a:avLst>
              <a:gd name="adj" fmla="val 28571"/>
            </a:avLst>
          </a:prstGeom>
          <a:solidFill>
            <a:srgbClr val="38BDF8"/>
          </a:solidFill>
          <a:ln/>
        </p:spPr>
      </p:sp>
      <p:sp>
        <p:nvSpPr>
          <p:cNvPr id="22" name="Text 20"/>
          <p:cNvSpPr/>
          <p:nvPr/>
        </p:nvSpPr>
        <p:spPr>
          <a:xfrm>
            <a:off x="8321040" y="4617720"/>
            <a:ext cx="457200" cy="320040"/>
          </a:xfrm>
          <a:prstGeom prst="rect">
            <a:avLst/>
          </a:prstGeom>
          <a:noFill/>
          <a:ln/>
        </p:spPr>
        <p:txBody>
          <a:bodyPr wrap="square" rtlCol="0" anchor="ctr"/>
          <a:lstStyle/>
          <a:p>
            <a:pPr algn="ctr" indent="0" marL="0">
              <a:buNone/>
            </a:pPr>
            <a:r>
              <a:rPr lang="en-US" sz="1200" b="1" dirty="0">
                <a:solidFill>
                  <a:srgbClr val="0D1B2A"/>
                </a:solidFill>
                <a:latin typeface="Inter" pitchFamily="34" charset="0"/>
                <a:ea typeface="Inter" pitchFamily="34" charset="-122"/>
                <a:cs typeface="Inter" pitchFamily="34" charset="-120"/>
              </a:rPr>
              <a:t>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38BDF8"/>
          </a:solidFill>
          <a:ln/>
        </p:spPr>
      </p:sp>
      <p:sp>
        <p:nvSpPr>
          <p:cNvPr id="3" name="Text 1"/>
          <p:cNvSpPr/>
          <p:nvPr/>
        </p:nvSpPr>
        <p:spPr>
          <a:xfrm>
            <a:off x="457200" y="365760"/>
            <a:ext cx="8229600" cy="548640"/>
          </a:xfrm>
          <a:prstGeom prst="rect">
            <a:avLst/>
          </a:prstGeom>
          <a:noFill/>
          <a:ln/>
        </p:spPr>
        <p:txBody>
          <a:bodyPr wrap="square" rtlCol="0" anchor="ctr"/>
          <a:lstStyle/>
          <a:p>
            <a:pPr algn="l" indent="0" marL="0">
              <a:buNone/>
            </a:pPr>
            <a:r>
              <a:rPr lang="en-US" sz="3200" b="1" dirty="0">
                <a:solidFill>
                  <a:srgbClr val="FFFFFF"/>
                </a:solidFill>
                <a:latin typeface="Inter" pitchFamily="34" charset="0"/>
                <a:ea typeface="Inter" pitchFamily="34" charset="-122"/>
                <a:cs typeface="Inter" pitchFamily="34" charset="-120"/>
              </a:rPr>
              <a:t>Tests et Validation</a:t>
            </a:r>
            <a:endParaRPr lang="en-US" sz="3200" dirty="0"/>
          </a:p>
        </p:txBody>
      </p:sp>
      <p:sp>
        <p:nvSpPr>
          <p:cNvPr id="4" name="Shape 2"/>
          <p:cNvSpPr/>
          <p:nvPr/>
        </p:nvSpPr>
        <p:spPr>
          <a:xfrm>
            <a:off x="457200" y="914400"/>
            <a:ext cx="1828800" cy="36576"/>
          </a:xfrm>
          <a:prstGeom prst="rect">
            <a:avLst/>
          </a:prstGeom>
          <a:solidFill>
            <a:srgbClr val="38BDF8"/>
          </a:solidFill>
          <a:ln/>
        </p:spPr>
      </p:sp>
      <p:sp>
        <p:nvSpPr>
          <p:cNvPr id="5" name="Shape 3"/>
          <p:cNvSpPr/>
          <p:nvPr/>
        </p:nvSpPr>
        <p:spPr>
          <a:xfrm>
            <a:off x="457200" y="1188720"/>
            <a:ext cx="8229600" cy="822960"/>
          </a:xfrm>
          <a:prstGeom prst="roundRect">
            <a:avLst>
              <a:gd name="adj" fmla="val 11111"/>
            </a:avLst>
          </a:prstGeom>
          <a:solidFill>
            <a:srgbClr val="22C55E"/>
          </a:solidFill>
          <a:ln/>
        </p:spPr>
      </p:sp>
      <p:sp>
        <p:nvSpPr>
          <p:cNvPr id="6" name="Text 4"/>
          <p:cNvSpPr/>
          <p:nvPr/>
        </p:nvSpPr>
        <p:spPr>
          <a:xfrm>
            <a:off x="457200" y="1188720"/>
            <a:ext cx="8229600" cy="822960"/>
          </a:xfrm>
          <a:prstGeom prst="rect">
            <a:avLst/>
          </a:prstGeom>
          <a:noFill/>
          <a:ln/>
        </p:spPr>
        <p:txBody>
          <a:bodyPr wrap="square" rtlCol="0" anchor="ctr"/>
          <a:lstStyle/>
          <a:p>
            <a:pPr algn="ctr" indent="0" marL="0">
              <a:buNone/>
            </a:pPr>
            <a:r>
              <a:rPr lang="en-US" sz="3200" b="1" dirty="0">
                <a:solidFill>
                  <a:srgbClr val="FFFFFF"/>
                </a:solidFill>
                <a:latin typeface="Inter" pitchFamily="34" charset="0"/>
                <a:ea typeface="Inter" pitchFamily="34" charset="-122"/>
                <a:cs typeface="Inter" pitchFamily="34" charset="-120"/>
              </a:rPr>
              <a:t>8/8 Tests Passes</a:t>
            </a:r>
            <a:endParaRPr lang="en-US" sz="3200" dirty="0"/>
          </a:p>
        </p:txBody>
      </p:sp>
      <p:sp>
        <p:nvSpPr>
          <p:cNvPr id="7" name="Text 5"/>
          <p:cNvSpPr/>
          <p:nvPr/>
        </p:nvSpPr>
        <p:spPr>
          <a:xfrm>
            <a:off x="640080" y="2286000"/>
            <a:ext cx="7863840" cy="457200"/>
          </a:xfrm>
          <a:prstGeom prst="rect">
            <a:avLst/>
          </a:prstGeom>
          <a:noFill/>
          <a:ln/>
        </p:spPr>
        <p:txBody>
          <a:bodyPr wrap="square" rtlCol="0" anchor="ctr"/>
          <a:lstStyle/>
          <a:p>
            <a:pPr algn="l" indent="0" marL="0">
              <a:buNone/>
            </a:pPr>
            <a:r>
              <a:rPr lang="en-US" sz="2000" dirty="0">
                <a:solidFill>
                  <a:srgbClr val="94A3B8"/>
                </a:solidFill>
                <a:latin typeface="Inter" pitchFamily="34" charset="0"/>
                <a:ea typeface="Inter" pitchFamily="34" charset="-122"/>
                <a:cs typeface="Inter" pitchFamily="34" charset="-120"/>
              </a:rPr>
              <a:t>Tests Jest avec instance Redis locale</a:t>
            </a:r>
            <a:endParaRPr lang="en-US" sz="2000" dirty="0"/>
          </a:p>
        </p:txBody>
      </p:sp>
      <p:sp>
        <p:nvSpPr>
          <p:cNvPr id="8" name="Text 6"/>
          <p:cNvSpPr/>
          <p:nvPr/>
        </p:nvSpPr>
        <p:spPr>
          <a:xfrm>
            <a:off x="640080" y="2788920"/>
            <a:ext cx="7863840" cy="457200"/>
          </a:xfrm>
          <a:prstGeom prst="rect">
            <a:avLst/>
          </a:prstGeom>
          <a:noFill/>
          <a:ln/>
        </p:spPr>
        <p:txBody>
          <a:bodyPr wrap="square" rtlCol="0" anchor="ctr"/>
          <a:lstStyle/>
          <a:p>
            <a:pPr algn="l" indent="0" marL="0">
              <a:buNone/>
            </a:pPr>
            <a:r>
              <a:rPr lang="en-US" sz="2000" dirty="0">
                <a:solidFill>
                  <a:srgbClr val="94A3B8"/>
                </a:solidFill>
                <a:latin typeface="Inter" pitchFamily="34" charset="0"/>
                <a:ea typeface="Inter" pitchFamily="34" charset="-122"/>
                <a:cs typeface="Inter" pitchFamily="34" charset="-120"/>
              </a:rPr>
              <a:t>Validation du set, get et invalidation</a:t>
            </a:r>
            <a:endParaRPr lang="en-US" sz="2000" dirty="0"/>
          </a:p>
        </p:txBody>
      </p:sp>
      <p:sp>
        <p:nvSpPr>
          <p:cNvPr id="9" name="Text 7"/>
          <p:cNvSpPr/>
          <p:nvPr/>
        </p:nvSpPr>
        <p:spPr>
          <a:xfrm>
            <a:off x="640080" y="3291840"/>
            <a:ext cx="7863840" cy="457200"/>
          </a:xfrm>
          <a:prstGeom prst="rect">
            <a:avLst/>
          </a:prstGeom>
          <a:noFill/>
          <a:ln/>
        </p:spPr>
        <p:txBody>
          <a:bodyPr wrap="square" rtlCol="0" anchor="ctr"/>
          <a:lstStyle/>
          <a:p>
            <a:pPr algn="l" indent="0" marL="0">
              <a:buNone/>
            </a:pPr>
            <a:r>
              <a:rPr lang="en-US" sz="2000" dirty="0">
                <a:solidFill>
                  <a:srgbClr val="94A3B8"/>
                </a:solidFill>
                <a:latin typeface="Inter" pitchFamily="34" charset="0"/>
                <a:ea typeface="Inter" pitchFamily="34" charset="-122"/>
                <a:cs typeface="Inter" pitchFamily="34" charset="-120"/>
              </a:rPr>
              <a:t>Gestion des cas limites (null, undefined)</a:t>
            </a:r>
            <a:endParaRPr lang="en-US" sz="2000" dirty="0"/>
          </a:p>
        </p:txBody>
      </p:sp>
      <p:sp>
        <p:nvSpPr>
          <p:cNvPr id="10" name="Text 8"/>
          <p:cNvSpPr/>
          <p:nvPr/>
        </p:nvSpPr>
        <p:spPr>
          <a:xfrm>
            <a:off x="640080" y="3794760"/>
            <a:ext cx="7863840" cy="457200"/>
          </a:xfrm>
          <a:prstGeom prst="rect">
            <a:avLst/>
          </a:prstGeom>
          <a:noFill/>
          <a:ln/>
        </p:spPr>
        <p:txBody>
          <a:bodyPr wrap="square" rtlCol="0" anchor="ctr"/>
          <a:lstStyle/>
          <a:p>
            <a:pPr algn="l" indent="0" marL="0">
              <a:buNone/>
            </a:pPr>
            <a:r>
              <a:rPr lang="en-US" sz="2000" dirty="0">
                <a:solidFill>
                  <a:srgbClr val="94A3B8"/>
                </a:solidFill>
                <a:latin typeface="Inter" pitchFamily="34" charset="0"/>
                <a:ea typeface="Inter" pitchFamily="34" charset="-122"/>
                <a:cs typeface="Inter" pitchFamily="34" charset="-120"/>
              </a:rPr>
              <a:t>Tests executes dans la pipeline CI</a:t>
            </a:r>
            <a:endParaRPr lang="en-US" sz="2000" dirty="0"/>
          </a:p>
        </p:txBody>
      </p:sp>
      <p:sp>
        <p:nvSpPr>
          <p:cNvPr id="11" name="Shape 9"/>
          <p:cNvSpPr/>
          <p:nvPr/>
        </p:nvSpPr>
        <p:spPr>
          <a:xfrm>
            <a:off x="8321040" y="4617720"/>
            <a:ext cx="457200" cy="320040"/>
          </a:xfrm>
          <a:prstGeom prst="roundRect">
            <a:avLst>
              <a:gd name="adj" fmla="val 28571"/>
            </a:avLst>
          </a:prstGeom>
          <a:solidFill>
            <a:srgbClr val="38BDF8"/>
          </a:solidFill>
          <a:ln/>
        </p:spPr>
      </p:sp>
      <p:sp>
        <p:nvSpPr>
          <p:cNvPr id="12" name="Text 10"/>
          <p:cNvSpPr/>
          <p:nvPr/>
        </p:nvSpPr>
        <p:spPr>
          <a:xfrm>
            <a:off x="8321040" y="4617720"/>
            <a:ext cx="457200" cy="320040"/>
          </a:xfrm>
          <a:prstGeom prst="rect">
            <a:avLst/>
          </a:prstGeom>
          <a:noFill/>
          <a:ln/>
        </p:spPr>
        <p:txBody>
          <a:bodyPr wrap="square" rtlCol="0" anchor="ctr"/>
          <a:lstStyle/>
          <a:p>
            <a:pPr algn="ctr" indent="0" marL="0">
              <a:buNone/>
            </a:pPr>
            <a:r>
              <a:rPr lang="en-US" sz="1200" b="1" dirty="0">
                <a:solidFill>
                  <a:srgbClr val="0D1B2A"/>
                </a:solidFill>
                <a:latin typeface="Inter" pitchFamily="34" charset="0"/>
                <a:ea typeface="Inter" pitchFamily="34" charset="-122"/>
                <a:cs typeface="Inter" pitchFamily="34" charset="-120"/>
              </a:rPr>
              <a:t>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38BDF8"/>
          </a:solidFill>
          <a:ln/>
        </p:spPr>
      </p:sp>
      <p:sp>
        <p:nvSpPr>
          <p:cNvPr id="3" name="Text 1"/>
          <p:cNvSpPr/>
          <p:nvPr/>
        </p:nvSpPr>
        <p:spPr>
          <a:xfrm>
            <a:off x="457200" y="365760"/>
            <a:ext cx="8229600" cy="548640"/>
          </a:xfrm>
          <a:prstGeom prst="rect">
            <a:avLst/>
          </a:prstGeom>
          <a:noFill/>
          <a:ln/>
        </p:spPr>
        <p:txBody>
          <a:bodyPr wrap="square" rtlCol="0" anchor="ctr"/>
          <a:lstStyle/>
          <a:p>
            <a:pPr algn="l" indent="0" marL="0">
              <a:buNone/>
            </a:pPr>
            <a:r>
              <a:rPr lang="en-US" sz="3200" b="1" dirty="0">
                <a:solidFill>
                  <a:srgbClr val="FFFFFF"/>
                </a:solidFill>
                <a:latin typeface="Inter" pitchFamily="34" charset="0"/>
                <a:ea typeface="Inter" pitchFamily="34" charset="-122"/>
                <a:cs typeface="Inter" pitchFamily="34" charset="-120"/>
              </a:rPr>
              <a:t>Performance</a:t>
            </a:r>
            <a:endParaRPr lang="en-US" sz="3200" dirty="0"/>
          </a:p>
        </p:txBody>
      </p:sp>
      <p:sp>
        <p:nvSpPr>
          <p:cNvPr id="4" name="Shape 2"/>
          <p:cNvSpPr/>
          <p:nvPr/>
        </p:nvSpPr>
        <p:spPr>
          <a:xfrm>
            <a:off x="457200" y="914400"/>
            <a:ext cx="1828800" cy="36576"/>
          </a:xfrm>
          <a:prstGeom prst="rect">
            <a:avLst/>
          </a:prstGeom>
          <a:solidFill>
            <a:srgbClr val="38BDF8"/>
          </a:solidFill>
          <a:ln/>
        </p:spPr>
      </p:sp>
      <p:sp>
        <p:nvSpPr>
          <p:cNvPr id="5" name="Shape 3"/>
          <p:cNvSpPr/>
          <p:nvPr/>
        </p:nvSpPr>
        <p:spPr>
          <a:xfrm>
            <a:off x="457200" y="1188720"/>
            <a:ext cx="2560320" cy="914400"/>
          </a:xfrm>
          <a:prstGeom prst="roundRect">
            <a:avLst>
              <a:gd name="adj" fmla="val 10000"/>
            </a:avLst>
          </a:prstGeom>
          <a:solidFill>
            <a:srgbClr val="1B2838"/>
          </a:solidFill>
          <a:ln w="12700">
            <a:solidFill>
              <a:srgbClr val="1E293B"/>
            </a:solidFill>
            <a:prstDash val="solid"/>
          </a:ln>
        </p:spPr>
      </p:sp>
      <p:sp>
        <p:nvSpPr>
          <p:cNvPr id="6" name="Text 4"/>
          <p:cNvSpPr/>
          <p:nvPr/>
        </p:nvSpPr>
        <p:spPr>
          <a:xfrm>
            <a:off x="457200" y="1234440"/>
            <a:ext cx="2560320" cy="457200"/>
          </a:xfrm>
          <a:prstGeom prst="rect">
            <a:avLst/>
          </a:prstGeom>
          <a:noFill/>
          <a:ln/>
        </p:spPr>
        <p:txBody>
          <a:bodyPr wrap="square" rtlCol="0" anchor="ctr"/>
          <a:lstStyle/>
          <a:p>
            <a:pPr algn="ctr" indent="0" marL="0">
              <a:buNone/>
            </a:pPr>
            <a:r>
              <a:rPr lang="en-US" sz="3600" b="1" dirty="0">
                <a:solidFill>
                  <a:srgbClr val="38BDF8"/>
                </a:solidFill>
                <a:latin typeface="Inter" pitchFamily="34" charset="0"/>
                <a:ea typeface="Inter" pitchFamily="34" charset="-122"/>
                <a:cs typeface="Inter" pitchFamily="34" charset="-120"/>
              </a:rPr>
              <a:t>12ms</a:t>
            </a:r>
            <a:endParaRPr lang="en-US" sz="3600" dirty="0"/>
          </a:p>
        </p:txBody>
      </p:sp>
      <p:sp>
        <p:nvSpPr>
          <p:cNvPr id="7" name="Text 5"/>
          <p:cNvSpPr/>
          <p:nvPr/>
        </p:nvSpPr>
        <p:spPr>
          <a:xfrm>
            <a:off x="457200" y="1737360"/>
            <a:ext cx="2560320" cy="274320"/>
          </a:xfrm>
          <a:prstGeom prst="rect">
            <a:avLst/>
          </a:prstGeom>
          <a:noFill/>
          <a:ln/>
        </p:spPr>
        <p:txBody>
          <a:bodyPr wrap="square" rtlCol="0" anchor="ctr"/>
          <a:lstStyle/>
          <a:p>
            <a:pPr algn="ctr" indent="0" marL="0">
              <a:buNone/>
            </a:pPr>
            <a:r>
              <a:rPr lang="en-US" sz="1600" dirty="0">
                <a:solidFill>
                  <a:srgbClr val="FFFFFF"/>
                </a:solidFill>
                <a:latin typeface="Inter" pitchFamily="34" charset="0"/>
                <a:ea typeface="Inter" pitchFamily="34" charset="-122"/>
                <a:cs typeface="Inter" pitchFamily="34" charset="-120"/>
              </a:rPr>
              <a:t>Avec Cache</a:t>
            </a:r>
            <a:endParaRPr lang="en-US" sz="1600" dirty="0"/>
          </a:p>
        </p:txBody>
      </p:sp>
      <p:sp>
        <p:nvSpPr>
          <p:cNvPr id="8" name="Shape 6"/>
          <p:cNvSpPr/>
          <p:nvPr/>
        </p:nvSpPr>
        <p:spPr>
          <a:xfrm>
            <a:off x="3291840" y="1188720"/>
            <a:ext cx="2560320" cy="914400"/>
          </a:xfrm>
          <a:prstGeom prst="roundRect">
            <a:avLst>
              <a:gd name="adj" fmla="val 10000"/>
            </a:avLst>
          </a:prstGeom>
          <a:solidFill>
            <a:srgbClr val="1B2838"/>
          </a:solidFill>
          <a:ln w="12700">
            <a:solidFill>
              <a:srgbClr val="1E293B"/>
            </a:solidFill>
            <a:prstDash val="solid"/>
          </a:ln>
        </p:spPr>
      </p:sp>
      <p:sp>
        <p:nvSpPr>
          <p:cNvPr id="9" name="Text 7"/>
          <p:cNvSpPr/>
          <p:nvPr/>
        </p:nvSpPr>
        <p:spPr>
          <a:xfrm>
            <a:off x="3291840" y="1234440"/>
            <a:ext cx="2560320" cy="457200"/>
          </a:xfrm>
          <a:prstGeom prst="rect">
            <a:avLst/>
          </a:prstGeom>
          <a:noFill/>
          <a:ln/>
        </p:spPr>
        <p:txBody>
          <a:bodyPr wrap="square" rtlCol="0" anchor="ctr"/>
          <a:lstStyle/>
          <a:p>
            <a:pPr algn="ctr" indent="0" marL="0">
              <a:buNone/>
            </a:pPr>
            <a:r>
              <a:rPr lang="en-US" sz="3600" b="1" dirty="0">
                <a:solidFill>
                  <a:srgbClr val="38BDF8"/>
                </a:solidFill>
                <a:latin typeface="Inter" pitchFamily="34" charset="0"/>
                <a:ea typeface="Inter" pitchFamily="34" charset="-122"/>
                <a:cs typeface="Inter" pitchFamily="34" charset="-120"/>
              </a:rPr>
              <a:t>856ms</a:t>
            </a:r>
            <a:endParaRPr lang="en-US" sz="3600" dirty="0"/>
          </a:p>
        </p:txBody>
      </p:sp>
      <p:sp>
        <p:nvSpPr>
          <p:cNvPr id="10" name="Text 8"/>
          <p:cNvSpPr/>
          <p:nvPr/>
        </p:nvSpPr>
        <p:spPr>
          <a:xfrm>
            <a:off x="3291840" y="1737360"/>
            <a:ext cx="2560320" cy="274320"/>
          </a:xfrm>
          <a:prstGeom prst="rect">
            <a:avLst/>
          </a:prstGeom>
          <a:noFill/>
          <a:ln/>
        </p:spPr>
        <p:txBody>
          <a:bodyPr wrap="square" rtlCol="0" anchor="ctr"/>
          <a:lstStyle/>
          <a:p>
            <a:pPr algn="ctr" indent="0" marL="0">
              <a:buNone/>
            </a:pPr>
            <a:r>
              <a:rPr lang="en-US" sz="1600" dirty="0">
                <a:solidFill>
                  <a:srgbClr val="FFFFFF"/>
                </a:solidFill>
                <a:latin typeface="Inter" pitchFamily="34" charset="0"/>
                <a:ea typeface="Inter" pitchFamily="34" charset="-122"/>
                <a:cs typeface="Inter" pitchFamily="34" charset="-120"/>
              </a:rPr>
              <a:t>Sans Cache</a:t>
            </a:r>
            <a:endParaRPr lang="en-US" sz="1600" dirty="0"/>
          </a:p>
        </p:txBody>
      </p:sp>
      <p:sp>
        <p:nvSpPr>
          <p:cNvPr id="11" name="Shape 9"/>
          <p:cNvSpPr/>
          <p:nvPr/>
        </p:nvSpPr>
        <p:spPr>
          <a:xfrm>
            <a:off x="6126480" y="1188720"/>
            <a:ext cx="2560320" cy="914400"/>
          </a:xfrm>
          <a:prstGeom prst="roundRect">
            <a:avLst>
              <a:gd name="adj" fmla="val 10000"/>
            </a:avLst>
          </a:prstGeom>
          <a:solidFill>
            <a:srgbClr val="1B2838"/>
          </a:solidFill>
          <a:ln w="12700">
            <a:solidFill>
              <a:srgbClr val="1E293B"/>
            </a:solidFill>
            <a:prstDash val="solid"/>
          </a:ln>
        </p:spPr>
      </p:sp>
      <p:sp>
        <p:nvSpPr>
          <p:cNvPr id="12" name="Text 10"/>
          <p:cNvSpPr/>
          <p:nvPr/>
        </p:nvSpPr>
        <p:spPr>
          <a:xfrm>
            <a:off x="6126480" y="1234440"/>
            <a:ext cx="2560320" cy="457200"/>
          </a:xfrm>
          <a:prstGeom prst="rect">
            <a:avLst/>
          </a:prstGeom>
          <a:noFill/>
          <a:ln/>
        </p:spPr>
        <p:txBody>
          <a:bodyPr wrap="square" rtlCol="0" anchor="ctr"/>
          <a:lstStyle/>
          <a:p>
            <a:pPr algn="ctr" indent="0" marL="0">
              <a:buNone/>
            </a:pPr>
            <a:r>
              <a:rPr lang="en-US" sz="3600" b="1" dirty="0">
                <a:solidFill>
                  <a:srgbClr val="38BDF8"/>
                </a:solidFill>
                <a:latin typeface="Inter" pitchFamily="34" charset="0"/>
                <a:ea typeface="Inter" pitchFamily="34" charset="-122"/>
                <a:cs typeface="Inter" pitchFamily="34" charset="-120"/>
              </a:rPr>
              <a:t>99%</a:t>
            </a:r>
            <a:endParaRPr lang="en-US" sz="3600" dirty="0"/>
          </a:p>
        </p:txBody>
      </p:sp>
      <p:sp>
        <p:nvSpPr>
          <p:cNvPr id="13" name="Text 11"/>
          <p:cNvSpPr/>
          <p:nvPr/>
        </p:nvSpPr>
        <p:spPr>
          <a:xfrm>
            <a:off x="6126480" y="1737360"/>
            <a:ext cx="2560320" cy="274320"/>
          </a:xfrm>
          <a:prstGeom prst="rect">
            <a:avLst/>
          </a:prstGeom>
          <a:noFill/>
          <a:ln/>
        </p:spPr>
        <p:txBody>
          <a:bodyPr wrap="square" rtlCol="0" anchor="ctr"/>
          <a:lstStyle/>
          <a:p>
            <a:pPr algn="ctr" indent="0" marL="0">
              <a:buNone/>
            </a:pPr>
            <a:r>
              <a:rPr lang="en-US" sz="1600" dirty="0">
                <a:solidFill>
                  <a:srgbClr val="FFFFFF"/>
                </a:solidFill>
                <a:latin typeface="Inter" pitchFamily="34" charset="0"/>
                <a:ea typeface="Inter" pitchFamily="34" charset="-122"/>
                <a:cs typeface="Inter" pitchFamily="34" charset="-120"/>
              </a:rPr>
              <a:t>Amelioration</a:t>
            </a:r>
            <a:endParaRPr lang="en-US" sz="1600" dirty="0"/>
          </a:p>
        </p:txBody>
      </p:sp>
      <p:sp>
        <p:nvSpPr>
          <p:cNvPr id="14" name="Text 12"/>
          <p:cNvSpPr/>
          <p:nvPr/>
        </p:nvSpPr>
        <p:spPr>
          <a:xfrm>
            <a:off x="640080" y="2377440"/>
            <a:ext cx="7863840" cy="457200"/>
          </a:xfrm>
          <a:prstGeom prst="rect">
            <a:avLst/>
          </a:prstGeom>
          <a:noFill/>
          <a:ln/>
        </p:spPr>
        <p:txBody>
          <a:bodyPr wrap="square" rtlCol="0" anchor="ctr"/>
          <a:lstStyle/>
          <a:p>
            <a:pPr algn="l" indent="0" marL="0">
              <a:buNone/>
            </a:pPr>
            <a:r>
              <a:rPr lang="en-US" sz="2000" dirty="0">
                <a:solidFill>
                  <a:srgbClr val="94A3B8"/>
                </a:solidFill>
                <a:latin typeface="Inter" pitchFamily="34" charset="0"/>
                <a:ea typeface="Inter" pitchFamily="34" charset="-122"/>
                <a:cs typeface="Inter" pitchFamily="34" charset="-120"/>
              </a:rPr>
              <a:t>getLaunches : 856ms -&gt; 12ms (99.2%)</a:t>
            </a:r>
            <a:endParaRPr lang="en-US" sz="2000" dirty="0"/>
          </a:p>
        </p:txBody>
      </p:sp>
      <p:sp>
        <p:nvSpPr>
          <p:cNvPr id="15" name="Text 13"/>
          <p:cNvSpPr/>
          <p:nvPr/>
        </p:nvSpPr>
        <p:spPr>
          <a:xfrm>
            <a:off x="640080" y="2880360"/>
            <a:ext cx="7863840" cy="457200"/>
          </a:xfrm>
          <a:prstGeom prst="rect">
            <a:avLst/>
          </a:prstGeom>
          <a:noFill/>
          <a:ln/>
        </p:spPr>
        <p:txBody>
          <a:bodyPr wrap="square" rtlCol="0" anchor="ctr"/>
          <a:lstStyle/>
          <a:p>
            <a:pPr algn="l" indent="0" marL="0">
              <a:buNone/>
            </a:pPr>
            <a:r>
              <a:rPr lang="en-US" sz="2000" dirty="0">
                <a:solidFill>
                  <a:srgbClr val="94A3B8"/>
                </a:solidFill>
                <a:latin typeface="Inter" pitchFamily="34" charset="0"/>
                <a:ea typeface="Inter" pitchFamily="34" charset="-122"/>
                <a:cs typeface="Inter" pitchFamily="34" charset="-120"/>
              </a:rPr>
              <a:t>getPosts : 643ms -&gt; 15ms (97.7%)</a:t>
            </a:r>
            <a:endParaRPr lang="en-US" sz="2000" dirty="0"/>
          </a:p>
        </p:txBody>
      </p:sp>
      <p:sp>
        <p:nvSpPr>
          <p:cNvPr id="16" name="Text 14"/>
          <p:cNvSpPr/>
          <p:nvPr/>
        </p:nvSpPr>
        <p:spPr>
          <a:xfrm>
            <a:off x="640080" y="3383280"/>
            <a:ext cx="7863840" cy="457200"/>
          </a:xfrm>
          <a:prstGeom prst="rect">
            <a:avLst/>
          </a:prstGeom>
          <a:noFill/>
          <a:ln/>
        </p:spPr>
        <p:txBody>
          <a:bodyPr wrap="square" rtlCol="0" anchor="ctr"/>
          <a:lstStyle/>
          <a:p>
            <a:pPr algn="l" indent="0" marL="0">
              <a:buNone/>
            </a:pPr>
            <a:r>
              <a:rPr lang="en-US" sz="2000" dirty="0">
                <a:solidFill>
                  <a:srgbClr val="94A3B8"/>
                </a:solidFill>
                <a:latin typeface="Inter" pitchFamily="34" charset="0"/>
                <a:ea typeface="Inter" pitchFamily="34" charset="-122"/>
                <a:cs typeface="Inter" pitchFamily="34" charset="-120"/>
              </a:rPr>
              <a:t>getLaunchBySlug : 234ms -&gt; 8ms (96.6%)</a:t>
            </a:r>
            <a:endParaRPr lang="en-US" sz="2000" dirty="0"/>
          </a:p>
        </p:txBody>
      </p:sp>
      <p:sp>
        <p:nvSpPr>
          <p:cNvPr id="17" name="Text 15"/>
          <p:cNvSpPr/>
          <p:nvPr/>
        </p:nvSpPr>
        <p:spPr>
          <a:xfrm>
            <a:off x="640080" y="3886200"/>
            <a:ext cx="7863840" cy="457200"/>
          </a:xfrm>
          <a:prstGeom prst="rect">
            <a:avLst/>
          </a:prstGeom>
          <a:noFill/>
          <a:ln/>
        </p:spPr>
        <p:txBody>
          <a:bodyPr wrap="square" rtlCol="0" anchor="ctr"/>
          <a:lstStyle/>
          <a:p>
            <a:pPr algn="l" indent="0" marL="0">
              <a:buNone/>
            </a:pPr>
            <a:r>
              <a:rPr lang="en-US" sz="2000" dirty="0">
                <a:solidFill>
                  <a:srgbClr val="94A3B8"/>
                </a:solidFill>
                <a:latin typeface="Inter" pitchFamily="34" charset="0"/>
                <a:ea typeface="Inter" pitchFamily="34" charset="-122"/>
                <a:cs typeface="Inter" pitchFamily="34" charset="-120"/>
              </a:rPr>
              <a:t>getCategories : 189ms -&gt; 5ms (97.4%)</a:t>
            </a:r>
            <a:endParaRPr lang="en-US" sz="2000" dirty="0"/>
          </a:p>
        </p:txBody>
      </p:sp>
      <p:sp>
        <p:nvSpPr>
          <p:cNvPr id="18" name="Shape 16"/>
          <p:cNvSpPr/>
          <p:nvPr/>
        </p:nvSpPr>
        <p:spPr>
          <a:xfrm>
            <a:off x="8321040" y="4617720"/>
            <a:ext cx="457200" cy="320040"/>
          </a:xfrm>
          <a:prstGeom prst="roundRect">
            <a:avLst>
              <a:gd name="adj" fmla="val 28571"/>
            </a:avLst>
          </a:prstGeom>
          <a:solidFill>
            <a:srgbClr val="38BDF8"/>
          </a:solidFill>
          <a:ln/>
        </p:spPr>
      </p:sp>
      <p:sp>
        <p:nvSpPr>
          <p:cNvPr id="19" name="Text 17"/>
          <p:cNvSpPr/>
          <p:nvPr/>
        </p:nvSpPr>
        <p:spPr>
          <a:xfrm>
            <a:off x="8321040" y="4617720"/>
            <a:ext cx="457200" cy="320040"/>
          </a:xfrm>
          <a:prstGeom prst="rect">
            <a:avLst/>
          </a:prstGeom>
          <a:noFill/>
          <a:ln/>
        </p:spPr>
        <p:txBody>
          <a:bodyPr wrap="square" rtlCol="0" anchor="ctr"/>
          <a:lstStyle/>
          <a:p>
            <a:pPr algn="ctr" indent="0" marL="0">
              <a:buNone/>
            </a:pPr>
            <a:r>
              <a:rPr lang="en-US" sz="1200" b="1" dirty="0">
                <a:solidFill>
                  <a:srgbClr val="0D1B2A"/>
                </a:solidFill>
                <a:latin typeface="Inter" pitchFamily="34" charset="0"/>
                <a:ea typeface="Inter" pitchFamily="34" charset="-122"/>
                <a:cs typeface="Inter" pitchFamily="34" charset="-120"/>
              </a:rPr>
              <a:t>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38BDF8"/>
          </a:solidFill>
          <a:ln/>
        </p:spPr>
      </p:sp>
      <p:sp>
        <p:nvSpPr>
          <p:cNvPr id="3" name="Text 1"/>
          <p:cNvSpPr/>
          <p:nvPr/>
        </p:nvSpPr>
        <p:spPr>
          <a:xfrm>
            <a:off x="457200" y="1097280"/>
            <a:ext cx="8229600" cy="914400"/>
          </a:xfrm>
          <a:prstGeom prst="rect">
            <a:avLst/>
          </a:prstGeom>
          <a:noFill/>
          <a:ln/>
        </p:spPr>
        <p:txBody>
          <a:bodyPr wrap="square" rtlCol="0" anchor="ctr"/>
          <a:lstStyle/>
          <a:p>
            <a:pPr algn="ctr" indent="0" marL="0">
              <a:buNone/>
            </a:pPr>
            <a:r>
              <a:rPr lang="en-US" sz="5600" b="1" dirty="0">
                <a:solidFill>
                  <a:srgbClr val="FFFFFF"/>
                </a:solidFill>
                <a:latin typeface="Inter" pitchFamily="34" charset="0"/>
                <a:ea typeface="Inter" pitchFamily="34" charset="-122"/>
                <a:cs typeface="Inter" pitchFamily="34" charset="-120"/>
              </a:rPr>
              <a:t>Merci</a:t>
            </a:r>
            <a:endParaRPr lang="en-US" sz="5600" dirty="0"/>
          </a:p>
        </p:txBody>
      </p:sp>
      <p:sp>
        <p:nvSpPr>
          <p:cNvPr id="4" name="Shape 2"/>
          <p:cNvSpPr/>
          <p:nvPr/>
        </p:nvSpPr>
        <p:spPr>
          <a:xfrm>
            <a:off x="3657600" y="2011680"/>
            <a:ext cx="1828800" cy="36576"/>
          </a:xfrm>
          <a:prstGeom prst="rect">
            <a:avLst/>
          </a:prstGeom>
          <a:solidFill>
            <a:srgbClr val="38BDF8"/>
          </a:solidFill>
          <a:ln/>
        </p:spPr>
      </p:sp>
      <p:sp>
        <p:nvSpPr>
          <p:cNvPr id="5" name="Text 3"/>
          <p:cNvSpPr/>
          <p:nvPr/>
        </p:nvSpPr>
        <p:spPr>
          <a:xfrm>
            <a:off x="457200" y="2194560"/>
            <a:ext cx="8229600" cy="457200"/>
          </a:xfrm>
          <a:prstGeom prst="rect">
            <a:avLst/>
          </a:prstGeom>
          <a:noFill/>
          <a:ln/>
        </p:spPr>
        <p:txBody>
          <a:bodyPr wrap="square" rtlCol="0" anchor="ctr"/>
          <a:lstStyle/>
          <a:p>
            <a:pPr algn="ctr" indent="0" marL="0">
              <a:buNone/>
            </a:pPr>
            <a:r>
              <a:rPr lang="en-US" sz="2400" dirty="0">
                <a:solidFill>
                  <a:srgbClr val="94A3B8"/>
                </a:solidFill>
                <a:latin typeface="Inter" pitchFamily="34" charset="0"/>
                <a:ea typeface="Inter" pitchFamily="34" charset="-122"/>
                <a:cs typeface="Inter" pitchFamily="34" charset="-120"/>
              </a:rPr>
              <a:t>Questions et Discussion</a:t>
            </a:r>
            <a:endParaRPr lang="en-US" sz="2400" dirty="0"/>
          </a:p>
        </p:txBody>
      </p:sp>
      <p:sp>
        <p:nvSpPr>
          <p:cNvPr id="6" name="Shape 4"/>
          <p:cNvSpPr/>
          <p:nvPr/>
        </p:nvSpPr>
        <p:spPr>
          <a:xfrm>
            <a:off x="2286000" y="2926080"/>
            <a:ext cx="4572000" cy="822960"/>
          </a:xfrm>
          <a:prstGeom prst="roundRect">
            <a:avLst>
              <a:gd name="adj" fmla="val 16667"/>
            </a:avLst>
          </a:prstGeom>
          <a:solidFill>
            <a:srgbClr val="1B2838"/>
          </a:solidFill>
          <a:ln w="12700">
            <a:solidFill>
              <a:srgbClr val="1E293B"/>
            </a:solidFill>
            <a:prstDash val="solid"/>
          </a:ln>
        </p:spPr>
      </p:sp>
      <p:sp>
        <p:nvSpPr>
          <p:cNvPr id="7" name="Text 5"/>
          <p:cNvSpPr/>
          <p:nvPr/>
        </p:nvSpPr>
        <p:spPr>
          <a:xfrm>
            <a:off x="2286000" y="3017520"/>
            <a:ext cx="4572000" cy="365760"/>
          </a:xfrm>
          <a:prstGeom prst="rect">
            <a:avLst/>
          </a:prstGeom>
          <a:noFill/>
          <a:ln/>
        </p:spPr>
        <p:txBody>
          <a:bodyPr wrap="square"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Omar Sarsar &amp; Iliass Hariz</a:t>
            </a:r>
            <a:endParaRPr lang="en-US" sz="2000" dirty="0"/>
          </a:p>
        </p:txBody>
      </p:sp>
      <p:sp>
        <p:nvSpPr>
          <p:cNvPr id="8" name="Text 6"/>
          <p:cNvSpPr/>
          <p:nvPr/>
        </p:nvSpPr>
        <p:spPr>
          <a:xfrm>
            <a:off x="2286000" y="3383280"/>
            <a:ext cx="4572000" cy="274320"/>
          </a:xfrm>
          <a:prstGeom prst="rect">
            <a:avLst/>
          </a:prstGeom>
          <a:noFill/>
          <a:ln/>
        </p:spPr>
        <p:txBody>
          <a:bodyPr wrap="square" rtlCol="0" anchor="ctr"/>
          <a:lstStyle/>
          <a:p>
            <a:pPr algn="ctr" indent="0" marL="0">
              <a:buNone/>
            </a:pPr>
            <a:r>
              <a:rPr lang="en-US" sz="1600" dirty="0">
                <a:solidFill>
                  <a:srgbClr val="94A3B8"/>
                </a:solidFill>
                <a:latin typeface="Inter" pitchFamily="34" charset="0"/>
                <a:ea typeface="Inter" pitchFamily="34" charset="-122"/>
                <a:cs typeface="Inter" pitchFamily="34" charset="-120"/>
              </a:rPr>
              <a:t>2026</a:t>
            </a:r>
            <a:endParaRPr lang="en-US" sz="1600" dirty="0"/>
          </a:p>
        </p:txBody>
      </p:sp>
      <p:sp>
        <p:nvSpPr>
          <p:cNvPr id="9" name="Shape 7"/>
          <p:cNvSpPr/>
          <p:nvPr/>
        </p:nvSpPr>
        <p:spPr>
          <a:xfrm>
            <a:off x="8321040" y="4617720"/>
            <a:ext cx="457200" cy="320040"/>
          </a:xfrm>
          <a:prstGeom prst="roundRect">
            <a:avLst>
              <a:gd name="adj" fmla="val 28571"/>
            </a:avLst>
          </a:prstGeom>
          <a:solidFill>
            <a:srgbClr val="38BDF8"/>
          </a:solidFill>
          <a:ln/>
        </p:spPr>
      </p:sp>
      <p:sp>
        <p:nvSpPr>
          <p:cNvPr id="10" name="Text 8"/>
          <p:cNvSpPr/>
          <p:nvPr/>
        </p:nvSpPr>
        <p:spPr>
          <a:xfrm>
            <a:off x="8321040" y="4617720"/>
            <a:ext cx="457200" cy="320040"/>
          </a:xfrm>
          <a:prstGeom prst="rect">
            <a:avLst/>
          </a:prstGeom>
          <a:noFill/>
          <a:ln/>
        </p:spPr>
        <p:txBody>
          <a:bodyPr wrap="square" rtlCol="0" anchor="ctr"/>
          <a:lstStyle/>
          <a:p>
            <a:pPr algn="ctr" indent="0" marL="0">
              <a:buNone/>
            </a:pPr>
            <a:r>
              <a:rPr lang="en-US" sz="1200" b="1" dirty="0">
                <a:solidFill>
                  <a:srgbClr val="0D1B2A"/>
                </a:solidFill>
                <a:latin typeface="Inter" pitchFamily="34" charset="0"/>
                <a:ea typeface="Inter" pitchFamily="34" charset="-122"/>
                <a:cs typeface="Inter" pitchFamily="34" charset="-120"/>
              </a:rPr>
              <a:t>10</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2026-05-21T19:47:32Z</dcterms:created>
  <dcterms:modified xsi:type="dcterms:W3CDTF">2026-05-21T19:47:32Z</dcterms:modified>
</cp:coreProperties>
</file>