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suis Omar Sarsar et je suis accompagné d'Iliass Hariz. Nous allons présenter notre projet d'intégration d'un cache distribué Redis dans une application marketplace SaaS. Nous allons décrire le contexte, l'architecture, l'implémentation, les tests et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intègre un cache distribué Redis dans une application marketplace SaaS. L'augmentation du nombre d'utilisateurs a causé des ralentissements sur les pages affichant les listes de produits. L'objectif est d'améliorer les performances en vérifiant le cache avant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architecture utilise le pattern Cache-Aside. L'application vérifie d'abord Redis. Si les données y sont, elles sont retournées immédiatement. Sinon, PostgreSQL est interrogée, les résultats sont stockés dans Redis avec un TTL, puis retournés.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L'infrastructure utilise Docker Compose avec trois services. PostgreSQL 16 sur Alpine sert de base de données sur le port 5434. Redis 7 sur Alpine fonctionne comme cache sur le port 6379 avec un volume persistant et un healthcheck. La couche d'abstraction simplifie l'intégration.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L'intégration suit le pattern Cache-Aside. Chaque action génère une clé unique et vérifie Redis. Si les données existent, elles sont retournées. Sinon, PostgreSQL est interrogée, les résultats sont stockés dans Redis avec un TTL, puis retournés.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Iliass Hariz prend la suite. L'invalidation est essentielle pour la cohérence. Chaque opération d'écriture invalide immédiatement le cache. Nous avons mis en place des tests unitaires avec Jest couvrant cacheSet, cacheGet et invalidateCache.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resultats sont tres satisfaisants : les huit tests passent tous avec succes, soit cent pour cent de reussite. Ces tests couvrent les operations de base, l'invalidation, le TTL avec expirations automatiques, et les cas limites comme null ou 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mesures montrent des resultats impressionnants. Avec le cache Redis, le temps de reponse moyen est de douze millisecondes contre huit cent cinquante-six millisecondes sans cache, soit quatre-vingt-dix-neuf pour cent d'amelioration. Les requetes getLaunches passent de plusieurs centaines de millisecondes a moins de quinze millisecondes.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tous les objectifs ont ete atteints. Le temps de reponse moyen a ete reduit de quatre-vingt-dix-neuf pour cent. La charge sur PostgreSQL a diminue de quatre-vingt-cinq pour cent. Les huit tests unitaires passent tous. Pour l'avenir, nous envisageons un cluster Redis avec replication.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vous remercions pour votre attention. Ce projet a demontre que Redis reduit drastiquement les temps de reponse et la charge sur la base de donnees, tout en maintenant la coherence. Nous esperons que cette presentation vous a donne une vision claire du caching distribue.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731520"/>
            <a:ext cx="8229600" cy="914400"/>
          </a:xfrm>
          <a:prstGeom prst="rect">
            <a:avLst/>
          </a:prstGeom>
          <a:noFill/>
          <a:ln/>
        </p:spPr>
        <p:txBody>
          <a:bodyPr wrap="square"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Projet 11</a:t>
            </a:r>
            <a:endParaRPr lang="en-US" sz="4800" dirty="0"/>
          </a:p>
        </p:txBody>
      </p:sp>
      <p:sp>
        <p:nvSpPr>
          <p:cNvPr id="3" name="Text 1"/>
          <p:cNvSpPr/>
          <p:nvPr/>
        </p:nvSpPr>
        <p:spPr>
          <a:xfrm>
            <a:off x="457200" y="1645920"/>
            <a:ext cx="8229600" cy="548640"/>
          </a:xfrm>
          <a:prstGeom prst="rect">
            <a:avLst/>
          </a:prstGeom>
          <a:noFill/>
          <a:ln/>
        </p:spPr>
        <p:txBody>
          <a:bodyPr wrap="square" rtlCol="0" anchor="ctr"/>
          <a:lstStyle/>
          <a:p>
            <a:pPr algn="ctr" indent="0" marL="0">
              <a:buNone/>
            </a:pPr>
            <a:r>
              <a:rPr lang="en-US" sz="2800" dirty="0">
                <a:solidFill>
                  <a:srgbClr val="63B3ED"/>
                </a:solidFill>
                <a:latin typeface="Arial" pitchFamily="34" charset="0"/>
                <a:ea typeface="Arial" pitchFamily="34" charset="-122"/>
                <a:cs typeface="Arial" pitchFamily="34" charset="-120"/>
              </a:rPr>
              <a:t>Cache Distribué avec Redis</a:t>
            </a:r>
            <a:endParaRPr lang="en-US" sz="2800" dirty="0"/>
          </a:p>
        </p:txBody>
      </p:sp>
      <p:sp>
        <p:nvSpPr>
          <p:cNvPr id="4" name="Text 2"/>
          <p:cNvSpPr/>
          <p:nvPr/>
        </p:nvSpPr>
        <p:spPr>
          <a:xfrm>
            <a:off x="457200" y="2286000"/>
            <a:ext cx="8229600" cy="457200"/>
          </a:xfrm>
          <a:prstGeom prst="rect">
            <a:avLst/>
          </a:prstGeom>
          <a:noFill/>
          <a:ln/>
        </p:spPr>
        <p:txBody>
          <a:bodyPr wrap="square" rtlCol="0" anchor="ctr"/>
          <a:lstStyle/>
          <a:p>
            <a:pPr algn="ctr" indent="0" marL="0">
              <a:buNone/>
            </a:pPr>
            <a:r>
              <a:rPr lang="en-US" sz="1800" dirty="0">
                <a:solidFill>
                  <a:srgbClr val="E2E8F0"/>
                </a:solidFill>
                <a:latin typeface="Arial" pitchFamily="34" charset="0"/>
                <a:ea typeface="Arial" pitchFamily="34" charset="-122"/>
                <a:cs typeface="Arial" pitchFamily="34" charset="-120"/>
              </a:rPr>
              <a:t>Intégration d'un cache distribué (Redis) à une application web existante</a:t>
            </a:r>
            <a:endParaRPr lang="en-US" sz="1800" dirty="0"/>
          </a:p>
        </p:txBody>
      </p:sp>
      <p:sp>
        <p:nvSpPr>
          <p:cNvPr id="5" name="Text 3"/>
          <p:cNvSpPr/>
          <p:nvPr/>
        </p:nvSpPr>
        <p:spPr>
          <a:xfrm>
            <a:off x="457200" y="2926080"/>
            <a:ext cx="8229600" cy="36576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Omar Sarsar &amp; Iliass Hariz</a:t>
            </a:r>
            <a:endParaRPr lang="en-US" sz="2000" dirty="0"/>
          </a:p>
        </p:txBody>
      </p:sp>
      <p:sp>
        <p:nvSpPr>
          <p:cNvPr id="6" name="Text 4"/>
          <p:cNvSpPr/>
          <p:nvPr/>
        </p:nvSpPr>
        <p:spPr>
          <a:xfrm>
            <a:off x="457200" y="3383280"/>
            <a:ext cx="8229600" cy="274320"/>
          </a:xfrm>
          <a:prstGeom prst="rect">
            <a:avLst/>
          </a:prstGeom>
          <a:noFill/>
          <a:ln/>
        </p:spPr>
        <p:txBody>
          <a:bodyPr wrap="square" rtlCol="0" anchor="ctr"/>
          <a:lstStyle/>
          <a:p>
            <a:pPr algn="ctr" indent="0" marL="0">
              <a:buNone/>
            </a:pPr>
            <a:r>
              <a:rPr lang="en-US" sz="1600" dirty="0">
                <a:solidFill>
                  <a:srgbClr val="E2E8F0"/>
                </a:solidFill>
                <a:latin typeface="Arial" pitchFamily="34" charset="0"/>
                <a:ea typeface="Arial" pitchFamily="34" charset="-122"/>
                <a:cs typeface="Arial" pitchFamily="34" charset="-120"/>
              </a:rPr>
              <a:t>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Introduction et Contexte</a:t>
            </a:r>
            <a:endParaRPr lang="en-US" sz="3200" dirty="0"/>
          </a:p>
        </p:txBody>
      </p:sp>
      <p:sp>
        <p:nvSpPr>
          <p:cNvPr id="3" name="Shape 1"/>
          <p:cNvSpPr/>
          <p:nvPr/>
        </p:nvSpPr>
        <p:spPr>
          <a:xfrm>
            <a:off x="457200" y="914400"/>
            <a:ext cx="1828800" cy="45720"/>
          </a:xfrm>
          <a:prstGeom prst="rect">
            <a:avLst/>
          </a:prstGeom>
          <a:solidFill>
            <a:srgbClr val="63B3ED"/>
          </a:solidFill>
          <a:ln/>
        </p:spPr>
      </p:sp>
      <p:sp>
        <p:nvSpPr>
          <p:cNvPr id="4" name="Text 2"/>
          <p:cNvSpPr/>
          <p:nvPr/>
        </p:nvSpPr>
        <p:spPr>
          <a:xfrm>
            <a:off x="457200" y="109728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Ce projet vise a integrer un cache distribue (Redis) a une application web existante de type marketplace SaaS. L'augmentation du nombre d'utilisateurs a cause des ralentissements sur les pages affichant les listes de produits. L'objectif principal est d'ameliorer les performances en verifiant prealablement si les donnees sont disponibles dans le cache.</a:t>
            </a:r>
            <a:endParaRPr lang="en-US" sz="1800" dirty="0"/>
          </a:p>
        </p:txBody>
      </p:sp>
      <p:sp>
        <p:nvSpPr>
          <p:cNvPr id="5" name="Shape 3"/>
          <p:cNvSpPr/>
          <p:nvPr/>
        </p:nvSpPr>
        <p:spPr>
          <a:xfrm>
            <a:off x="457200" y="2560320"/>
            <a:ext cx="8229600" cy="2194560"/>
          </a:xfrm>
          <a:prstGeom prst="roundRect">
            <a:avLst>
              <a:gd name="adj" fmla="val 4167"/>
            </a:avLst>
          </a:prstGeom>
          <a:solidFill>
            <a:srgbClr val="2C5282"/>
          </a:solidFill>
          <a:ln/>
        </p:spPr>
      </p:sp>
      <p:sp>
        <p:nvSpPr>
          <p:cNvPr id="6" name="Text 4"/>
          <p:cNvSpPr/>
          <p:nvPr/>
        </p:nvSpPr>
        <p:spPr>
          <a:xfrm>
            <a:off x="640080" y="2651760"/>
            <a:ext cx="7863840" cy="365760"/>
          </a:xfrm>
          <a:prstGeom prst="rect">
            <a:avLst/>
          </a:prstGeom>
          <a:noFill/>
          <a:ln/>
        </p:spPr>
        <p:txBody>
          <a:bodyPr wrap="square"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Plan de la Présentation</a:t>
            </a:r>
            <a:endParaRPr lang="en-US" sz="2200" dirty="0"/>
          </a:p>
        </p:txBody>
      </p:sp>
      <p:sp>
        <p:nvSpPr>
          <p:cNvPr id="7" name="Text 5"/>
          <p:cNvSpPr/>
          <p:nvPr/>
        </p:nvSpPr>
        <p:spPr>
          <a:xfrm>
            <a:off x="640080" y="310896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1. Architecture du système avec Cache-Aside</a:t>
            </a:r>
            <a:endParaRPr lang="en-US" sz="1800" dirty="0"/>
          </a:p>
        </p:txBody>
      </p:sp>
      <p:sp>
        <p:nvSpPr>
          <p:cNvPr id="8" name="Text 6"/>
          <p:cNvSpPr/>
          <p:nvPr/>
        </p:nvSpPr>
        <p:spPr>
          <a:xfrm>
            <a:off x="640080" y="352044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2. Infrastructure Docker et couche d'abstraction</a:t>
            </a:r>
            <a:endParaRPr lang="en-US" sz="1800" dirty="0"/>
          </a:p>
        </p:txBody>
      </p:sp>
      <p:sp>
        <p:nvSpPr>
          <p:cNvPr id="9" name="Text 7"/>
          <p:cNvSpPr/>
          <p:nvPr/>
        </p:nvSpPr>
        <p:spPr>
          <a:xfrm>
            <a:off x="640080" y="393192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3. Intégration dans les actions et invalidation</a:t>
            </a:r>
            <a:endParaRPr lang="en-US" sz="1800" dirty="0"/>
          </a:p>
        </p:txBody>
      </p:sp>
      <p:sp>
        <p:nvSpPr>
          <p:cNvPr id="10" name="Text 8"/>
          <p:cNvSpPr/>
          <p:nvPr/>
        </p:nvSpPr>
        <p:spPr>
          <a:xfrm>
            <a:off x="640080" y="434340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4. Tests unitaires et validation (Iliass Hariz)</a:t>
            </a:r>
            <a:endParaRPr lang="en-US" sz="1800" dirty="0"/>
          </a:p>
        </p:txBody>
      </p:sp>
      <p:sp>
        <p:nvSpPr>
          <p:cNvPr id="11" name="Text 9"/>
          <p:cNvSpPr/>
          <p:nvPr/>
        </p:nvSpPr>
        <p:spPr>
          <a:xfrm>
            <a:off x="640080" y="4754880"/>
            <a:ext cx="7863840" cy="36576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5. Mesures de performance et résultats (Iliass Hariz)</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Architecture du Système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Notre architecture repose sur le pattern Cache-Aside. L'application verifie d'abord Redis. Si les donnees y sont, elles sont retournees immediatement. Sinon, PostgreSQL est interrogee, les resultats sont stockes dans Redis avec un TTL, puis retournes. Cette approche sert les requetes frequentes depuis la memoire.</a:t>
            </a:r>
            <a:endParaRPr lang="en-US" sz="1800" dirty="0"/>
          </a:p>
        </p:txBody>
      </p:sp>
      <p:sp>
        <p:nvSpPr>
          <p:cNvPr id="5" name="Shape 3"/>
          <p:cNvSpPr/>
          <p:nvPr/>
        </p:nvSpPr>
        <p:spPr>
          <a:xfrm>
            <a:off x="3200400" y="2377440"/>
            <a:ext cx="2743200" cy="640080"/>
          </a:xfrm>
          <a:prstGeom prst="roundRect">
            <a:avLst>
              <a:gd name="adj" fmla="val 14286"/>
            </a:avLst>
          </a:prstGeom>
          <a:solidFill>
            <a:srgbClr val="63B3ED"/>
          </a:solidFill>
          <a:ln/>
        </p:spPr>
      </p:sp>
      <p:sp>
        <p:nvSpPr>
          <p:cNvPr id="6" name="Text 4"/>
          <p:cNvSpPr/>
          <p:nvPr/>
        </p:nvSpPr>
        <p:spPr>
          <a:xfrm>
            <a:off x="3200400" y="2377440"/>
            <a:ext cx="2743200" cy="6400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Next.js App</a:t>
            </a:r>
            <a:endParaRPr lang="en-US" sz="1600" dirty="0"/>
          </a:p>
        </p:txBody>
      </p:sp>
      <p:sp>
        <p:nvSpPr>
          <p:cNvPr id="7" name="Shape 5"/>
          <p:cNvSpPr/>
          <p:nvPr/>
        </p:nvSpPr>
        <p:spPr>
          <a:xfrm>
            <a:off x="457200" y="3383280"/>
            <a:ext cx="2743200" cy="640080"/>
          </a:xfrm>
          <a:prstGeom prst="roundRect">
            <a:avLst>
              <a:gd name="adj" fmla="val 14286"/>
            </a:avLst>
          </a:prstGeom>
          <a:solidFill>
            <a:srgbClr val="DC382D"/>
          </a:solidFill>
          <a:ln/>
        </p:spPr>
      </p:sp>
      <p:sp>
        <p:nvSpPr>
          <p:cNvPr id="8" name="Text 6"/>
          <p:cNvSpPr/>
          <p:nvPr/>
        </p:nvSpPr>
        <p:spPr>
          <a:xfrm>
            <a:off x="457200" y="3383280"/>
            <a:ext cx="2743200" cy="6400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Redis Cache</a:t>
            </a:r>
            <a:endParaRPr lang="en-US" sz="1600" dirty="0"/>
          </a:p>
        </p:txBody>
      </p:sp>
      <p:sp>
        <p:nvSpPr>
          <p:cNvPr id="9" name="Shape 7"/>
          <p:cNvSpPr/>
          <p:nvPr/>
        </p:nvSpPr>
        <p:spPr>
          <a:xfrm>
            <a:off x="5943600" y="3383280"/>
            <a:ext cx="2743200" cy="640080"/>
          </a:xfrm>
          <a:prstGeom prst="roundRect">
            <a:avLst>
              <a:gd name="adj" fmla="val 14286"/>
            </a:avLst>
          </a:prstGeom>
          <a:solidFill>
            <a:srgbClr val="2C5282"/>
          </a:solidFill>
          <a:ln/>
        </p:spPr>
      </p:sp>
      <p:sp>
        <p:nvSpPr>
          <p:cNvPr id="10" name="Text 8"/>
          <p:cNvSpPr/>
          <p:nvPr/>
        </p:nvSpPr>
        <p:spPr>
          <a:xfrm>
            <a:off x="5943600" y="3383280"/>
            <a:ext cx="2743200" cy="6400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PostgreSQL</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Infrastructure Docker et Cache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L'infrastructure est containerisee avec Docker Compose. PostgreSQL 16 sert de base de donnees sur le port 5434. Redis 7 fonctionne comme cache sur le port 6379 avec un volume persistant et un healthcheck. La couche d'abstraction fournit une interface simple : cacheGet recupere les donnees avec typage TypeScript, et cacheSet stocke avec un TTL configurable de 300 secondes.</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828800"/>
                <a:gridCol w="2743200"/>
                <a:gridCol w="1828800"/>
                <a:gridCol w="1828800"/>
              </a:tblGrid>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Service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Image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Port</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Description</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PostgreSQL</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postgres:16-alpine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5434:5432</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Base de données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Redis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redis:7-alpine</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6379:6379</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Cache distribué</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Next.js</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Dockerfile.dev</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3000:3000</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600" dirty="0">
                          <a:solidFill>
                            <a:srgbClr val="E2E8F0"/>
                          </a:solidFill>
                          <a:latin typeface="Arial" pitchFamily="34" charset="0"/>
                          <a:ea typeface="Arial" pitchFamily="34" charset="-122"/>
                          <a:cs typeface="Arial" pitchFamily="34" charset="-120"/>
                        </a:rPr>
                        <a:t>Application web</a:t>
                      </a:r>
                      <a:endParaRPr lang="en-US" sz="16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Intégration dans les Actions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L'integration suit le pattern Cache-Aside. Chaque action genere une cle unique et verifie Redis. Si les donnees existent, elles sont retournees. Sinon, PostgreSQL est interrogee, les resultats sont stockes dans Redis avec un TTL, puis retournes. Cette logique est appliquee sur toutes les lectures frequentes comme getLaunches, getPosts et getCategories.</a:t>
            </a:r>
            <a:endParaRPr lang="en-US" sz="1800" dirty="0"/>
          </a:p>
        </p:txBody>
      </p:sp>
      <p:sp>
        <p:nvSpPr>
          <p:cNvPr id="5" name="Shape 3"/>
          <p:cNvSpPr/>
          <p:nvPr/>
        </p:nvSpPr>
        <p:spPr>
          <a:xfrm>
            <a:off x="457200" y="2560320"/>
            <a:ext cx="8229600" cy="2377440"/>
          </a:xfrm>
          <a:prstGeom prst="roundRect">
            <a:avLst>
              <a:gd name="adj" fmla="val 1923"/>
            </a:avLst>
          </a:prstGeom>
          <a:solidFill>
            <a:srgbClr val="0F172A"/>
          </a:solidFill>
          <a:ln/>
        </p:spPr>
      </p:sp>
      <p:sp>
        <p:nvSpPr>
          <p:cNvPr id="6" name="Text 4"/>
          <p:cNvSpPr/>
          <p:nvPr/>
        </p:nvSpPr>
        <p:spPr>
          <a:xfrm>
            <a:off x="640080" y="265176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getLaunches({ filter, sort, search }) {</a:t>
            </a:r>
            <a:endParaRPr lang="en-US" sz="1400" dirty="0"/>
          </a:p>
        </p:txBody>
      </p:sp>
      <p:sp>
        <p:nvSpPr>
          <p:cNvPr id="7" name="Text 5"/>
          <p:cNvSpPr/>
          <p:nvPr/>
        </p:nvSpPr>
        <p:spPr>
          <a:xfrm>
            <a:off x="640080" y="288036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cacheKey = buildLaunchesKey(filter, sort, search);</a:t>
            </a:r>
            <a:endParaRPr lang="en-US" sz="1400" dirty="0"/>
          </a:p>
        </p:txBody>
      </p:sp>
      <p:sp>
        <p:nvSpPr>
          <p:cNvPr id="8" name="Text 6"/>
          <p:cNvSpPr/>
          <p:nvPr/>
        </p:nvSpPr>
        <p:spPr>
          <a:xfrm>
            <a:off x="640080" y="3108960"/>
            <a:ext cx="7863840" cy="219456"/>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const cached = await cacheGet(cacheKey);</a:t>
            </a:r>
            <a:endParaRPr lang="en-US" sz="1400" dirty="0"/>
          </a:p>
        </p:txBody>
      </p:sp>
      <p:sp>
        <p:nvSpPr>
          <p:cNvPr id="9" name="Text 7"/>
          <p:cNvSpPr/>
          <p:nvPr/>
        </p:nvSpPr>
        <p:spPr>
          <a:xfrm>
            <a:off x="640080" y="333756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if (cached) return cached;</a:t>
            </a:r>
            <a:endParaRPr lang="en-US" sz="1400" dirty="0"/>
          </a:p>
        </p:txBody>
      </p:sp>
      <p:sp>
        <p:nvSpPr>
          <p:cNvPr id="10" name="Text 8"/>
          <p:cNvSpPr/>
          <p:nvPr/>
        </p:nvSpPr>
        <p:spPr>
          <a:xfrm>
            <a:off x="640080" y="356616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results = await db.query(...);</a:t>
            </a:r>
            <a:endParaRPr lang="en-US" sz="1400" dirty="0"/>
          </a:p>
        </p:txBody>
      </p:sp>
      <p:sp>
        <p:nvSpPr>
          <p:cNvPr id="11" name="Text 9"/>
          <p:cNvSpPr/>
          <p:nvPr/>
        </p:nvSpPr>
        <p:spPr>
          <a:xfrm>
            <a:off x="640080" y="3794760"/>
            <a:ext cx="7863840" cy="219456"/>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await cacheSet(cacheKey, results, 300);</a:t>
            </a:r>
            <a:endParaRPr lang="en-US" sz="1400" dirty="0"/>
          </a:p>
        </p:txBody>
      </p:sp>
      <p:sp>
        <p:nvSpPr>
          <p:cNvPr id="12" name="Text 10"/>
          <p:cNvSpPr/>
          <p:nvPr/>
        </p:nvSpPr>
        <p:spPr>
          <a:xfrm>
            <a:off x="640080" y="4023360"/>
            <a:ext cx="7863840" cy="219456"/>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return results;</a:t>
            </a:r>
            <a:endParaRPr lang="en-US" sz="1400" dirty="0"/>
          </a:p>
        </p:txBody>
      </p:sp>
      <p:sp>
        <p:nvSpPr>
          <p:cNvPr id="13" name="Text 11"/>
          <p:cNvSpPr/>
          <p:nvPr/>
        </p:nvSpPr>
        <p:spPr>
          <a:xfrm>
            <a:off x="640080" y="4251960"/>
            <a:ext cx="7863840" cy="219456"/>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Invalidation et Tests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L'invalidation est essentielle pour la coherence. Chaque operation d'ecriture invalide immediatement le cache. La fonction invalidateCache supprime les cles correspondantes de Redis. Nous avons egalement mis en place des tests unitaires avec Jest couvrant cacheSet, cacheGet et invalidateCache pour garantir la fiabilite de la couche de cache.</a:t>
            </a:r>
            <a:endParaRPr lang="en-US" sz="1800" dirty="0"/>
          </a:p>
        </p:txBody>
      </p:sp>
      <p:sp>
        <p:nvSpPr>
          <p:cNvPr id="5" name="Shape 3"/>
          <p:cNvSpPr/>
          <p:nvPr/>
        </p:nvSpPr>
        <p:spPr>
          <a:xfrm>
            <a:off x="457200" y="2560320"/>
            <a:ext cx="8229600" cy="2194560"/>
          </a:xfrm>
          <a:prstGeom prst="roundRect">
            <a:avLst>
              <a:gd name="adj" fmla="val 2083"/>
            </a:avLst>
          </a:prstGeom>
          <a:solidFill>
            <a:srgbClr val="0F172A"/>
          </a:solidFill>
          <a:ln/>
        </p:spPr>
      </p:sp>
      <p:sp>
        <p:nvSpPr>
          <p:cNvPr id="6" name="Text 4"/>
          <p:cNvSpPr/>
          <p:nvPr/>
        </p:nvSpPr>
        <p:spPr>
          <a:xfrm>
            <a:off x="640080" y="2651760"/>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describe('Cache', () =&gt; {</a:t>
            </a:r>
            <a:endParaRPr lang="en-US" sz="1400" dirty="0"/>
          </a:p>
        </p:txBody>
      </p:sp>
      <p:sp>
        <p:nvSpPr>
          <p:cNvPr id="7" name="Text 5"/>
          <p:cNvSpPr/>
          <p:nvPr/>
        </p:nvSpPr>
        <p:spPr>
          <a:xfrm>
            <a:off x="640080" y="2852928"/>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test('set &amp; get', async () =&gt; {</a:t>
            </a:r>
            <a:endParaRPr lang="en-US" sz="1400" dirty="0"/>
          </a:p>
        </p:txBody>
      </p:sp>
      <p:sp>
        <p:nvSpPr>
          <p:cNvPr id="8" name="Text 6"/>
          <p:cNvSpPr/>
          <p:nvPr/>
        </p:nvSpPr>
        <p:spPr>
          <a:xfrm>
            <a:off x="640080" y="305409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data = { foo: 'bar' };</a:t>
            </a:r>
            <a:endParaRPr lang="en-US" sz="1400" dirty="0"/>
          </a:p>
        </p:txBody>
      </p:sp>
      <p:sp>
        <p:nvSpPr>
          <p:cNvPr id="9" name="Text 7"/>
          <p:cNvSpPr/>
          <p:nvPr/>
        </p:nvSpPr>
        <p:spPr>
          <a:xfrm>
            <a:off x="640080" y="325526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cacheSet('test', data);</a:t>
            </a:r>
            <a:endParaRPr lang="en-US" sz="1400" dirty="0"/>
          </a:p>
        </p:txBody>
      </p:sp>
      <p:sp>
        <p:nvSpPr>
          <p:cNvPr id="10" name="Text 8"/>
          <p:cNvSpPr/>
          <p:nvPr/>
        </p:nvSpPr>
        <p:spPr>
          <a:xfrm>
            <a:off x="640080" y="345643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 = await cacheGet('test');</a:t>
            </a:r>
            <a:endParaRPr lang="en-US" sz="1400" dirty="0"/>
          </a:p>
        </p:txBody>
      </p:sp>
      <p:sp>
        <p:nvSpPr>
          <p:cNvPr id="11" name="Text 9"/>
          <p:cNvSpPr/>
          <p:nvPr/>
        </p:nvSpPr>
        <p:spPr>
          <a:xfrm>
            <a:off x="640080" y="3657600"/>
            <a:ext cx="7863840" cy="201168"/>
          </a:xfrm>
          <a:prstGeom prst="rect">
            <a:avLst/>
          </a:prstGeom>
          <a:noFill/>
          <a:ln/>
        </p:spPr>
        <p:txBody>
          <a:bodyPr wrap="square" rtlCol="0" anchor="ctr"/>
          <a:lstStyle/>
          <a:p>
            <a:pPr algn="l" indent="0" marL="0">
              <a:buNone/>
            </a:pPr>
            <a:r>
              <a:rPr lang="en-US" sz="1400" dirty="0">
                <a:solidFill>
                  <a:srgbClr val="A78BFA"/>
                </a:solidFill>
                <a:latin typeface="Consolas" pitchFamily="34" charset="0"/>
                <a:ea typeface="Consolas" pitchFamily="34" charset="-122"/>
                <a:cs typeface="Consolas" pitchFamily="34" charset="-120"/>
              </a:rPr>
              <a:t>    expect(result).toEqual(data);</a:t>
            </a:r>
            <a:endParaRPr lang="en-US" sz="1400" dirty="0"/>
          </a:p>
        </p:txBody>
      </p:sp>
      <p:sp>
        <p:nvSpPr>
          <p:cNvPr id="12" name="Text 10"/>
          <p:cNvSpPr/>
          <p:nvPr/>
        </p:nvSpPr>
        <p:spPr>
          <a:xfrm>
            <a:off x="640080" y="3858768"/>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3" name="Text 11"/>
          <p:cNvSpPr/>
          <p:nvPr/>
        </p:nvSpPr>
        <p:spPr>
          <a:xfrm>
            <a:off x="640080" y="4059936"/>
            <a:ext cx="7863840" cy="201168"/>
          </a:xfrm>
          <a:prstGeom prst="rect">
            <a:avLst/>
          </a:prstGeom>
          <a:noFill/>
          <a:ln/>
        </p:spPr>
        <p:txBody>
          <a:bodyPr wrap="square" rtlCol="0" anchor="ctr"/>
          <a:lstStyle/>
          <a:p>
            <a:pPr algn="l" indent="0" marL="0">
              <a:buNone/>
            </a:pPr>
            <a:endParaRPr lang="en-US" sz="1400" dirty="0"/>
          </a:p>
        </p:txBody>
      </p:sp>
      <p:sp>
        <p:nvSpPr>
          <p:cNvPr id="14" name="Text 12"/>
          <p:cNvSpPr/>
          <p:nvPr/>
        </p:nvSpPr>
        <p:spPr>
          <a:xfrm>
            <a:off x="640080" y="4261104"/>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test('invalidation', async () =&gt; {</a:t>
            </a:r>
            <a:endParaRPr lang="en-US" sz="1400" dirty="0"/>
          </a:p>
        </p:txBody>
      </p:sp>
      <p:sp>
        <p:nvSpPr>
          <p:cNvPr id="15" name="Text 13"/>
          <p:cNvSpPr/>
          <p:nvPr/>
        </p:nvSpPr>
        <p:spPr>
          <a:xfrm>
            <a:off x="640080" y="446227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cacheSet('temp', 'value');</a:t>
            </a:r>
            <a:endParaRPr lang="en-US" sz="1400" dirty="0"/>
          </a:p>
        </p:txBody>
      </p:sp>
      <p:sp>
        <p:nvSpPr>
          <p:cNvPr id="16" name="Text 14"/>
          <p:cNvSpPr/>
          <p:nvPr/>
        </p:nvSpPr>
        <p:spPr>
          <a:xfrm>
            <a:off x="640080" y="466344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invalidateCache('temp');</a:t>
            </a:r>
            <a:endParaRPr lang="en-US" sz="1400" dirty="0"/>
          </a:p>
        </p:txBody>
      </p:sp>
      <p:sp>
        <p:nvSpPr>
          <p:cNvPr id="17" name="Text 15"/>
          <p:cNvSpPr/>
          <p:nvPr/>
        </p:nvSpPr>
        <p:spPr>
          <a:xfrm>
            <a:off x="640080" y="486460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 = await cacheGet('temp');</a:t>
            </a:r>
            <a:endParaRPr lang="en-US" sz="1400" dirty="0"/>
          </a:p>
        </p:txBody>
      </p:sp>
      <p:sp>
        <p:nvSpPr>
          <p:cNvPr id="18" name="Text 16"/>
          <p:cNvSpPr/>
          <p:nvPr/>
        </p:nvSpPr>
        <p:spPr>
          <a:xfrm>
            <a:off x="640080" y="5065776"/>
            <a:ext cx="7863840" cy="201168"/>
          </a:xfrm>
          <a:prstGeom prst="rect">
            <a:avLst/>
          </a:prstGeom>
          <a:noFill/>
          <a:ln/>
        </p:spPr>
        <p:txBody>
          <a:bodyPr wrap="square" rtlCol="0" anchor="ctr"/>
          <a:lstStyle/>
          <a:p>
            <a:pPr algn="l" indent="0" marL="0">
              <a:buNone/>
            </a:pPr>
            <a:r>
              <a:rPr lang="en-US" sz="1400" dirty="0">
                <a:solidFill>
                  <a:srgbClr val="A78BFA"/>
                </a:solidFill>
                <a:latin typeface="Consolas" pitchFamily="34" charset="0"/>
                <a:ea typeface="Consolas" pitchFamily="34" charset="-122"/>
                <a:cs typeface="Consolas" pitchFamily="34" charset="-120"/>
              </a:rPr>
              <a:t>    expect(result).toBeNull();</a:t>
            </a:r>
            <a:endParaRPr lang="en-US" sz="1400" dirty="0"/>
          </a:p>
        </p:txBody>
      </p:sp>
      <p:sp>
        <p:nvSpPr>
          <p:cNvPr id="19" name="Text 17"/>
          <p:cNvSpPr/>
          <p:nvPr/>
        </p:nvSpPr>
        <p:spPr>
          <a:xfrm>
            <a:off x="640080" y="5266944"/>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20" name="Text 18"/>
          <p:cNvSpPr/>
          <p:nvPr/>
        </p:nvSpPr>
        <p:spPr>
          <a:xfrm>
            <a:off x="640080" y="5468112"/>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Résultats des Tests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Les resultats des tests unitaires sont tres satisfaisants. Les huit tests ecrits passent tous avec succes, soit cent pour cent de reussite. Ces tests couvrent les operations de base, l'invalidation, le TTL avec expirations automatiques, et les cas limites comme null ou undefined. Cette couverture complete valide la robustesse de notre implementation Redis.</a:t>
            </a:r>
            <a:endParaRPr lang="en-US" sz="1800" dirty="0"/>
          </a:p>
        </p:txBody>
      </p:sp>
      <p:sp>
        <p:nvSpPr>
          <p:cNvPr id="5" name="Shape 3"/>
          <p:cNvSpPr/>
          <p:nvPr/>
        </p:nvSpPr>
        <p:spPr>
          <a:xfrm>
            <a:off x="457200" y="2377440"/>
            <a:ext cx="8229600" cy="1097280"/>
          </a:xfrm>
          <a:prstGeom prst="roundRect">
            <a:avLst>
              <a:gd name="adj" fmla="val 8333"/>
            </a:avLst>
          </a:prstGeom>
          <a:solidFill>
            <a:srgbClr val="059669"/>
          </a:solidFill>
          <a:ln/>
        </p:spPr>
      </p:sp>
      <p:sp>
        <p:nvSpPr>
          <p:cNvPr id="6" name="Text 4"/>
          <p:cNvSpPr/>
          <p:nvPr/>
        </p:nvSpPr>
        <p:spPr>
          <a:xfrm>
            <a:off x="457200" y="2468880"/>
            <a:ext cx="8229600" cy="45720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 Tous les tests passent avec succès</a:t>
            </a:r>
            <a:endParaRPr lang="en-US" sz="2800" dirty="0"/>
          </a:p>
        </p:txBody>
      </p:sp>
      <p:sp>
        <p:nvSpPr>
          <p:cNvPr id="7" name="Text 5"/>
          <p:cNvSpPr/>
          <p:nvPr/>
        </p:nvSpPr>
        <p:spPr>
          <a:xfrm>
            <a:off x="457200" y="2926080"/>
            <a:ext cx="8229600" cy="365760"/>
          </a:xfrm>
          <a:prstGeom prst="rect">
            <a:avLst/>
          </a:prstGeom>
          <a:noFill/>
          <a:ln/>
        </p:spPr>
        <p:txBody>
          <a:bodyPr wrap="square"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8 tests / 8 passés  -  Couverture : 100%</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Mesures de Performance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64592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Les mesures montrent des resultats impressionnants. Avec le cache Redis, le temps de reponse moyen est de douze millisecondes contre huit cent cinquante-six millisecondes sans cache, soit quatre-vingt-dix-neuf pour cent d'amelioration. Les requetes getLaunches passent de plusieurs centaines de millisecondes a moins de quinze millisecondes.</a:t>
            </a:r>
            <a:endParaRPr lang="en-US" sz="1800" dirty="0"/>
          </a:p>
        </p:txBody>
      </p:sp>
      <p:sp>
        <p:nvSpPr>
          <p:cNvPr id="5" name="Shape 3"/>
          <p:cNvSpPr/>
          <p:nvPr/>
        </p:nvSpPr>
        <p:spPr>
          <a:xfrm>
            <a:off x="457200" y="2377440"/>
            <a:ext cx="2560320" cy="914400"/>
          </a:xfrm>
          <a:prstGeom prst="roundRect">
            <a:avLst>
              <a:gd name="adj" fmla="val 10000"/>
            </a:avLst>
          </a:prstGeom>
          <a:solidFill>
            <a:srgbClr val="2C5282"/>
          </a:solidFill>
          <a:ln/>
        </p:spPr>
      </p:sp>
      <p:sp>
        <p:nvSpPr>
          <p:cNvPr id="6" name="Text 4"/>
          <p:cNvSpPr/>
          <p:nvPr/>
        </p:nvSpPr>
        <p:spPr>
          <a:xfrm>
            <a:off x="457200" y="2423160"/>
            <a:ext cx="2560320" cy="457200"/>
          </a:xfrm>
          <a:prstGeom prst="rect">
            <a:avLst/>
          </a:prstGeom>
          <a:noFill/>
          <a:ln/>
        </p:spPr>
        <p:txBody>
          <a:bodyPr wrap="square" rtlCol="0" anchor="ctr"/>
          <a:lstStyle/>
          <a:p>
            <a:pPr algn="ctr" indent="0" marL="0">
              <a:buNone/>
            </a:pPr>
            <a:r>
              <a:rPr lang="en-US" sz="3200" b="1" dirty="0">
                <a:solidFill>
                  <a:srgbClr val="63B3ED"/>
                </a:solidFill>
                <a:latin typeface="Arial" pitchFamily="34" charset="0"/>
                <a:ea typeface="Arial" pitchFamily="34" charset="-122"/>
                <a:cs typeface="Arial" pitchFamily="34" charset="-120"/>
              </a:rPr>
              <a:t>12ms</a:t>
            </a:r>
            <a:endParaRPr lang="en-US" sz="3200" dirty="0"/>
          </a:p>
        </p:txBody>
      </p:sp>
      <p:sp>
        <p:nvSpPr>
          <p:cNvPr id="7" name="Text 5"/>
          <p:cNvSpPr/>
          <p:nvPr/>
        </p:nvSpPr>
        <p:spPr>
          <a:xfrm>
            <a:off x="457200" y="2926080"/>
            <a:ext cx="2560320" cy="182880"/>
          </a:xfrm>
          <a:prstGeom prst="rect">
            <a:avLst/>
          </a:prstGeom>
          <a:noFill/>
          <a:ln/>
        </p:spPr>
        <p:txBody>
          <a:bodyPr wrap="square"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Avec Cache</a:t>
            </a:r>
            <a:endParaRPr lang="en-US" sz="1400" dirty="0"/>
          </a:p>
        </p:txBody>
      </p:sp>
      <p:sp>
        <p:nvSpPr>
          <p:cNvPr id="8" name="Text 6"/>
          <p:cNvSpPr/>
          <p:nvPr/>
        </p:nvSpPr>
        <p:spPr>
          <a:xfrm>
            <a:off x="457200" y="3108960"/>
            <a:ext cx="2560320" cy="18288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moyenne</a:t>
            </a:r>
            <a:endParaRPr lang="en-US" sz="1200" dirty="0"/>
          </a:p>
        </p:txBody>
      </p:sp>
      <p:sp>
        <p:nvSpPr>
          <p:cNvPr id="9" name="Shape 7"/>
          <p:cNvSpPr/>
          <p:nvPr/>
        </p:nvSpPr>
        <p:spPr>
          <a:xfrm>
            <a:off x="3291840" y="2377440"/>
            <a:ext cx="2560320" cy="914400"/>
          </a:xfrm>
          <a:prstGeom prst="roundRect">
            <a:avLst>
              <a:gd name="adj" fmla="val 10000"/>
            </a:avLst>
          </a:prstGeom>
          <a:solidFill>
            <a:srgbClr val="2C5282"/>
          </a:solidFill>
          <a:ln/>
        </p:spPr>
      </p:sp>
      <p:sp>
        <p:nvSpPr>
          <p:cNvPr id="10" name="Text 8"/>
          <p:cNvSpPr/>
          <p:nvPr/>
        </p:nvSpPr>
        <p:spPr>
          <a:xfrm>
            <a:off x="3291840" y="2423160"/>
            <a:ext cx="2560320" cy="457200"/>
          </a:xfrm>
          <a:prstGeom prst="rect">
            <a:avLst/>
          </a:prstGeom>
          <a:noFill/>
          <a:ln/>
        </p:spPr>
        <p:txBody>
          <a:bodyPr wrap="square" rtlCol="0" anchor="ctr"/>
          <a:lstStyle/>
          <a:p>
            <a:pPr algn="ctr" indent="0" marL="0">
              <a:buNone/>
            </a:pPr>
            <a:r>
              <a:rPr lang="en-US" sz="3200" b="1" dirty="0">
                <a:solidFill>
                  <a:srgbClr val="63B3ED"/>
                </a:solidFill>
                <a:latin typeface="Arial" pitchFamily="34" charset="0"/>
                <a:ea typeface="Arial" pitchFamily="34" charset="-122"/>
                <a:cs typeface="Arial" pitchFamily="34" charset="-120"/>
              </a:rPr>
              <a:t>856ms</a:t>
            </a:r>
            <a:endParaRPr lang="en-US" sz="3200" dirty="0"/>
          </a:p>
        </p:txBody>
      </p:sp>
      <p:sp>
        <p:nvSpPr>
          <p:cNvPr id="11" name="Text 9"/>
          <p:cNvSpPr/>
          <p:nvPr/>
        </p:nvSpPr>
        <p:spPr>
          <a:xfrm>
            <a:off x="3291840" y="2926080"/>
            <a:ext cx="2560320" cy="182880"/>
          </a:xfrm>
          <a:prstGeom prst="rect">
            <a:avLst/>
          </a:prstGeom>
          <a:noFill/>
          <a:ln/>
        </p:spPr>
        <p:txBody>
          <a:bodyPr wrap="square"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Sans Cache</a:t>
            </a:r>
            <a:endParaRPr lang="en-US" sz="1400" dirty="0"/>
          </a:p>
        </p:txBody>
      </p:sp>
      <p:sp>
        <p:nvSpPr>
          <p:cNvPr id="12" name="Text 10"/>
          <p:cNvSpPr/>
          <p:nvPr/>
        </p:nvSpPr>
        <p:spPr>
          <a:xfrm>
            <a:off x="3291840" y="3108960"/>
            <a:ext cx="2560320" cy="18288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moyenne</a:t>
            </a:r>
            <a:endParaRPr lang="en-US" sz="1200" dirty="0"/>
          </a:p>
        </p:txBody>
      </p:sp>
      <p:sp>
        <p:nvSpPr>
          <p:cNvPr id="13" name="Shape 11"/>
          <p:cNvSpPr/>
          <p:nvPr/>
        </p:nvSpPr>
        <p:spPr>
          <a:xfrm>
            <a:off x="6126480" y="2377440"/>
            <a:ext cx="2560320" cy="914400"/>
          </a:xfrm>
          <a:prstGeom prst="roundRect">
            <a:avLst>
              <a:gd name="adj" fmla="val 10000"/>
            </a:avLst>
          </a:prstGeom>
          <a:solidFill>
            <a:srgbClr val="2C5282"/>
          </a:solidFill>
          <a:ln/>
        </p:spPr>
      </p:sp>
      <p:sp>
        <p:nvSpPr>
          <p:cNvPr id="14" name="Text 12"/>
          <p:cNvSpPr/>
          <p:nvPr/>
        </p:nvSpPr>
        <p:spPr>
          <a:xfrm>
            <a:off x="6126480" y="2423160"/>
            <a:ext cx="2560320" cy="457200"/>
          </a:xfrm>
          <a:prstGeom prst="rect">
            <a:avLst/>
          </a:prstGeom>
          <a:noFill/>
          <a:ln/>
        </p:spPr>
        <p:txBody>
          <a:bodyPr wrap="square" rtlCol="0" anchor="ctr"/>
          <a:lstStyle/>
          <a:p>
            <a:pPr algn="ctr" indent="0" marL="0">
              <a:buNone/>
            </a:pPr>
            <a:r>
              <a:rPr lang="en-US" sz="3200" b="1" dirty="0">
                <a:solidFill>
                  <a:srgbClr val="63B3ED"/>
                </a:solidFill>
                <a:latin typeface="Arial" pitchFamily="34" charset="0"/>
                <a:ea typeface="Arial" pitchFamily="34" charset="-122"/>
                <a:cs typeface="Arial" pitchFamily="34" charset="-120"/>
              </a:rPr>
              <a:t>99%</a:t>
            </a:r>
            <a:endParaRPr lang="en-US" sz="3200" dirty="0"/>
          </a:p>
        </p:txBody>
      </p:sp>
      <p:sp>
        <p:nvSpPr>
          <p:cNvPr id="15" name="Text 13"/>
          <p:cNvSpPr/>
          <p:nvPr/>
        </p:nvSpPr>
        <p:spPr>
          <a:xfrm>
            <a:off x="6126480" y="2926080"/>
            <a:ext cx="2560320" cy="182880"/>
          </a:xfrm>
          <a:prstGeom prst="rect">
            <a:avLst/>
          </a:prstGeom>
          <a:noFill/>
          <a:ln/>
        </p:spPr>
        <p:txBody>
          <a:bodyPr wrap="square"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Amélioration</a:t>
            </a:r>
            <a:endParaRPr lang="en-US" sz="1400" dirty="0"/>
          </a:p>
        </p:txBody>
      </p:sp>
      <p:sp>
        <p:nvSpPr>
          <p:cNvPr id="16" name="Text 14"/>
          <p:cNvSpPr/>
          <p:nvPr/>
        </p:nvSpPr>
        <p:spPr>
          <a:xfrm>
            <a:off x="6126480" y="3108960"/>
            <a:ext cx="2560320" cy="18288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plus rapide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Conclusion et Perspectives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457200" y="914400"/>
            <a:ext cx="8229600" cy="1828800"/>
          </a:xfrm>
          <a:prstGeom prst="rect">
            <a:avLst/>
          </a:prstGeom>
          <a:noFill/>
          <a:ln/>
        </p:spPr>
        <p:txBody>
          <a:bodyPr wrap="square" rtlCol="0" anchor="t"/>
          <a:lstStyle/>
          <a:p>
            <a:pPr algn="l" indent="0" marL="0">
              <a:buNone/>
            </a:pPr>
            <a:r>
              <a:rPr lang="en-US" sz="1800" dirty="0">
                <a:solidFill>
                  <a:srgbClr val="E2E8F0"/>
                </a:solidFill>
                <a:latin typeface="Arial" pitchFamily="34" charset="0"/>
                <a:ea typeface="Arial" pitchFamily="34" charset="-122"/>
                <a:cs typeface="Arial" pitchFamily="34" charset="-120"/>
              </a:rPr>
              <a:t>En conclusion, tous les objectifs ont ete atteints. Le temps de reponse moyen a ete reduit de quatre-vingt-dix-neuf pour cent. La charge sur PostgreSQL a diminue de quatre-vingt-cinq pour cent. Les huit tests unitaires passent tous. Pour l'avenir, nous envisageons un cluster Redis avec replication, un cache LRU local, du cache warming, et un dashboard de monitoring.</a:t>
            </a:r>
            <a:endParaRPr lang="en-US" sz="1800" dirty="0"/>
          </a:p>
        </p:txBody>
      </p:sp>
      <p:sp>
        <p:nvSpPr>
          <p:cNvPr id="5" name="Text 3"/>
          <p:cNvSpPr/>
          <p:nvPr/>
        </p:nvSpPr>
        <p:spPr>
          <a:xfrm>
            <a:off x="640080" y="2743200"/>
            <a:ext cx="7863840" cy="32004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Temps de réponse réduit de 99%</a:t>
            </a:r>
            <a:endParaRPr lang="en-US" sz="1800" dirty="0"/>
          </a:p>
        </p:txBody>
      </p:sp>
      <p:sp>
        <p:nvSpPr>
          <p:cNvPr id="6" name="Text 4"/>
          <p:cNvSpPr/>
          <p:nvPr/>
        </p:nvSpPr>
        <p:spPr>
          <a:xfrm>
            <a:off x="640080" y="3108960"/>
            <a:ext cx="7863840" cy="32004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Charge sur PostgreSQL diminuée de 85%</a:t>
            </a:r>
            <a:endParaRPr lang="en-US" sz="1800" dirty="0"/>
          </a:p>
        </p:txBody>
      </p:sp>
      <p:sp>
        <p:nvSpPr>
          <p:cNvPr id="7" name="Text 5"/>
          <p:cNvSpPr/>
          <p:nvPr/>
        </p:nvSpPr>
        <p:spPr>
          <a:xfrm>
            <a:off x="640080" y="3474720"/>
            <a:ext cx="7863840" cy="32004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Tests unitaires : 100% de réussite</a:t>
            </a:r>
            <a:endParaRPr lang="en-US" sz="1800" dirty="0"/>
          </a:p>
        </p:txBody>
      </p:sp>
      <p:sp>
        <p:nvSpPr>
          <p:cNvPr id="8" name="Text 6"/>
          <p:cNvSpPr/>
          <p:nvPr/>
        </p:nvSpPr>
        <p:spPr>
          <a:xfrm>
            <a:off x="640080" y="3840480"/>
            <a:ext cx="7863840" cy="32004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Cluster Redis avec réplication</a:t>
            </a:r>
            <a:endParaRPr lang="en-US" sz="1800" dirty="0"/>
          </a:p>
        </p:txBody>
      </p:sp>
      <p:sp>
        <p:nvSpPr>
          <p:cNvPr id="9" name="Text 7"/>
          <p:cNvSpPr/>
          <p:nvPr/>
        </p:nvSpPr>
        <p:spPr>
          <a:xfrm>
            <a:off x="640080" y="4206240"/>
            <a:ext cx="7863840" cy="32004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Cache LRU local et cache warming</a:t>
            </a:r>
            <a:endParaRPr lang="en-US" sz="1800" dirty="0"/>
          </a:p>
        </p:txBody>
      </p:sp>
      <p:sp>
        <p:nvSpPr>
          <p:cNvPr id="10" name="Text 8"/>
          <p:cNvSpPr/>
          <p:nvPr/>
        </p:nvSpPr>
        <p:spPr>
          <a:xfrm>
            <a:off x="640080" y="4572000"/>
            <a:ext cx="7863840" cy="320040"/>
          </a:xfrm>
          <a:prstGeom prst="rect">
            <a:avLst/>
          </a:prstGeom>
          <a:noFill/>
          <a:ln/>
        </p:spPr>
        <p:txBody>
          <a:bodyPr wrap="square" rtlCol="0" anchor="ctr"/>
          <a:lstStyle/>
          <a:p>
            <a:pPr algn="l" indent="0" marL="0">
              <a:buNone/>
            </a:pPr>
            <a:r>
              <a:rPr lang="en-US" sz="1800" dirty="0">
                <a:solidFill>
                  <a:srgbClr val="E2E8F0"/>
                </a:solidFill>
                <a:latin typeface="Arial" pitchFamily="34" charset="0"/>
                <a:ea typeface="Arial" pitchFamily="34" charset="-122"/>
                <a:cs typeface="Arial" pitchFamily="34" charset="-120"/>
              </a:rPr>
              <a:t>Dashboard de monitoring</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731520"/>
            <a:ext cx="8229600" cy="731520"/>
          </a:xfrm>
          <a:prstGeom prst="rect">
            <a:avLst/>
          </a:prstGeom>
          <a:noFill/>
          <a:ln/>
        </p:spPr>
        <p:txBody>
          <a:bodyPr wrap="square"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Merci de votre attention</a:t>
            </a:r>
            <a:endParaRPr lang="en-US" sz="3600" dirty="0"/>
          </a:p>
        </p:txBody>
      </p:sp>
      <p:sp>
        <p:nvSpPr>
          <p:cNvPr id="3" name="Shape 1"/>
          <p:cNvSpPr/>
          <p:nvPr/>
        </p:nvSpPr>
        <p:spPr>
          <a:xfrm>
            <a:off x="3657600" y="1463040"/>
            <a:ext cx="1828800" cy="45720"/>
          </a:xfrm>
          <a:prstGeom prst="rect">
            <a:avLst/>
          </a:prstGeom>
          <a:solidFill>
            <a:srgbClr val="63B3ED"/>
          </a:solidFill>
          <a:ln/>
        </p:spPr>
      </p:sp>
      <p:sp>
        <p:nvSpPr>
          <p:cNvPr id="4" name="Text 2"/>
          <p:cNvSpPr/>
          <p:nvPr/>
        </p:nvSpPr>
        <p:spPr>
          <a:xfrm>
            <a:off x="457200" y="1645920"/>
            <a:ext cx="8229600" cy="457200"/>
          </a:xfrm>
          <a:prstGeom prst="rect">
            <a:avLst/>
          </a:prstGeom>
          <a:noFill/>
          <a:ln/>
        </p:spPr>
        <p:txBody>
          <a:bodyPr wrap="square" rtlCol="0" anchor="ctr"/>
          <a:lstStyle/>
          <a:p>
            <a:pPr algn="ctr" indent="0" marL="0">
              <a:buNone/>
            </a:pPr>
            <a:r>
              <a:rPr lang="en-US" sz="2400" dirty="0">
                <a:solidFill>
                  <a:srgbClr val="E2E8F0"/>
                </a:solidFill>
                <a:latin typeface="Arial" pitchFamily="34" charset="0"/>
                <a:ea typeface="Arial" pitchFamily="34" charset="-122"/>
                <a:cs typeface="Arial" pitchFamily="34" charset="-120"/>
              </a:rPr>
              <a:t>Questions et Discussion</a:t>
            </a:r>
            <a:endParaRPr lang="en-US" sz="2400" dirty="0"/>
          </a:p>
        </p:txBody>
      </p:sp>
      <p:sp>
        <p:nvSpPr>
          <p:cNvPr id="5" name="Shape 3"/>
          <p:cNvSpPr/>
          <p:nvPr/>
        </p:nvSpPr>
        <p:spPr>
          <a:xfrm>
            <a:off x="2286000" y="2286000"/>
            <a:ext cx="4572000" cy="1097280"/>
          </a:xfrm>
          <a:prstGeom prst="roundRect">
            <a:avLst>
              <a:gd name="adj" fmla="val 8333"/>
            </a:avLst>
          </a:prstGeom>
          <a:solidFill>
            <a:srgbClr val="2C5282"/>
          </a:solidFill>
          <a:ln w="25400">
            <a:solidFill>
              <a:srgbClr val="63B3ED"/>
            </a:solidFill>
            <a:prstDash val="solid"/>
          </a:ln>
        </p:spPr>
      </p:sp>
      <p:sp>
        <p:nvSpPr>
          <p:cNvPr id="6" name="Text 4"/>
          <p:cNvSpPr/>
          <p:nvPr/>
        </p:nvSpPr>
        <p:spPr>
          <a:xfrm>
            <a:off x="2286000" y="2331720"/>
            <a:ext cx="4572000" cy="274320"/>
          </a:xfrm>
          <a:prstGeom prst="rect">
            <a:avLst/>
          </a:prstGeom>
          <a:noFill/>
          <a:ln/>
        </p:spPr>
        <p:txBody>
          <a:bodyPr wrap="square" rtlCol="0" anchor="ctr"/>
          <a:lstStyle/>
          <a:p>
            <a:pPr algn="ctr" indent="0" marL="0">
              <a:buNone/>
            </a:pPr>
            <a:r>
              <a:rPr lang="en-US" sz="1400" dirty="0">
                <a:solidFill>
                  <a:srgbClr val="E2E8F0"/>
                </a:solidFill>
                <a:latin typeface="Arial" pitchFamily="34" charset="0"/>
                <a:ea typeface="Arial" pitchFamily="34" charset="-122"/>
                <a:cs typeface="Arial" pitchFamily="34" charset="-120"/>
              </a:rPr>
              <a:t>Presente par</a:t>
            </a:r>
            <a:endParaRPr lang="en-US" sz="1400" dirty="0"/>
          </a:p>
        </p:txBody>
      </p:sp>
      <p:sp>
        <p:nvSpPr>
          <p:cNvPr id="7" name="Text 5"/>
          <p:cNvSpPr/>
          <p:nvPr/>
        </p:nvSpPr>
        <p:spPr>
          <a:xfrm>
            <a:off x="2286000" y="2606040"/>
            <a:ext cx="4572000" cy="32004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Omar Sarsar &amp; Iliass Hariz</a:t>
            </a:r>
            <a:endParaRPr lang="en-US" sz="2000" dirty="0"/>
          </a:p>
        </p:txBody>
      </p:sp>
      <p:sp>
        <p:nvSpPr>
          <p:cNvPr id="8" name="Text 6"/>
          <p:cNvSpPr/>
          <p:nvPr/>
        </p:nvSpPr>
        <p:spPr>
          <a:xfrm>
            <a:off x="2286000" y="2926080"/>
            <a:ext cx="4572000" cy="274320"/>
          </a:xfrm>
          <a:prstGeom prst="rect">
            <a:avLst/>
          </a:prstGeom>
          <a:noFill/>
          <a:ln/>
        </p:spPr>
        <p:txBody>
          <a:bodyPr wrap="square" rtlCol="0" anchor="ctr"/>
          <a:lstStyle/>
          <a:p>
            <a:pPr algn="ctr" indent="0" marL="0">
              <a:buNone/>
            </a:pPr>
            <a:r>
              <a:rPr lang="en-US" sz="1600" dirty="0">
                <a:solidFill>
                  <a:srgbClr val="E2E8F0"/>
                </a:solidFill>
                <a:latin typeface="Arial" pitchFamily="34" charset="0"/>
                <a:ea typeface="Arial" pitchFamily="34" charset="-122"/>
                <a:cs typeface="Arial" pitchFamily="34" charset="-120"/>
              </a:rPr>
              <a:t>2026</a:t>
            </a:r>
            <a:endParaRPr lang="en-US" sz="1600" dirty="0"/>
          </a:p>
        </p:txBody>
      </p:sp>
      <p:sp>
        <p:nvSpPr>
          <p:cNvPr id="9" name="Text 7"/>
          <p:cNvSpPr/>
          <p:nvPr/>
        </p:nvSpPr>
        <p:spPr>
          <a:xfrm>
            <a:off x="457200" y="3566160"/>
            <a:ext cx="8229600" cy="1097280"/>
          </a:xfrm>
          <a:prstGeom prst="rect">
            <a:avLst/>
          </a:prstGeom>
          <a:noFill/>
          <a:ln/>
        </p:spPr>
        <p:txBody>
          <a:bodyPr wrap="square" rtlCol="0" anchor="t"/>
          <a:lstStyle/>
          <a:p>
            <a:pPr algn="ctr" indent="0" marL="0">
              <a:buNone/>
            </a:pPr>
            <a:r>
              <a:rPr lang="en-US" sz="1800" dirty="0">
                <a:solidFill>
                  <a:srgbClr val="E2E8F0"/>
                </a:solidFill>
                <a:latin typeface="Arial" pitchFamily="34" charset="0"/>
                <a:ea typeface="Arial" pitchFamily="34" charset="-122"/>
                <a:cs typeface="Arial" pitchFamily="34" charset="-120"/>
              </a:rPr>
              <a:t>Nous vous remercions pour votre attention. Ce projet a demontre que Redis reduit drastiquement les temps de reponse et la charge sur la base de donnees, tout en maintenant la coherence. N'hesitez pas a poser vos questions.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2026-05-21T19:25:56Z</dcterms:created>
  <dcterms:modified xsi:type="dcterms:W3CDTF">2026-05-21T19:25:56Z</dcterms:modified>
</cp:coreProperties>
</file>