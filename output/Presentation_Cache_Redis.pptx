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Omar Sarsar et je suis accompagné d'Iliass Hariz. Nous allons présenter notre projet d'intégration d'un cache distribué Redis dans une application marketplace SaaS. Ce projet a été réalisé dans le cadre de notre formation. Nous allons décrire le contexte, l'architecture, l'implémentation, les tests et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présentation, nous allons d'abord décrire le contexte du projet et expliquer pourquoi un cache distribué était nécessaire. Ensuite, nous présenterons l'architecture du système avec le pattern Cache-Aside, suivi de l'infrastructure Docker mise en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intègre un cache distribué Redis dans une application marketplace SaaS. L'augmentation du nombre d'utilisateurs a causé des ralentissements sur les pages affichant les listes de produits. L'objectif est d'améliorer les performances en vérifiant le cache avant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architecture utilise le pattern Cache-Aside. L'application vérifie d'abord Redis. Si les données y sont, elles sont retournées immédiatement. Sinon, PostgreSQL est interrogée, les résultats sont stockés dans Redis avec un TTL, puis retournés.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infrastructure utilise Docker Compose avec trois services. PostgreSQL 16 sur Alpine sert de base de données sur le port 5434. Redis 7 sur Alpine fonctionne comme cache sur le port 6379 avec un volume persistant et un healthcheck. Next.js est construit depuis un Dockerfile personnalisé sur le port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couche d'abstraction dans src/lib/cache.ts fournit une interface simple pour Redis. cacheGet récupère et parse les données JSON avec typage TypeScript. cacheSet stocke les données avec un TTL configurable de 300 secondes par défaut. Cette abstraction simplifie l'intégration.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L'intégration suit le pattern Cache-Aside. Chaque action génère une clé unique et vérifie Redis. Si les données existent, elles sont retournées. Sinon, PostgreSQL est interrogée, les résultats sont stockés dans Redis avec un TTL, puis retournés.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getLaunches en action. Elle génère une clé unique avec filter, sort et search. Elle vérifie le cache et retourne les résultats s'ils existent. Sinon, elle interroge PostgreSQL, stocke avec un TTL de 300 secondes, puis retourne. L'invalidation est déclenchée lors des opérations d'écriture.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 même manière, getPosts utilise une clé générée à partir de sort, type et search. Le TTL est de 180 secondes car les posts changent plus fréquemment. getLaunchBySlug utilise 10 minutes, getCategories utilise 30 minutes car elles changent rarement, et getLaunchComments utilise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L'invalidation est essentielle pour la cohérence. Chaque opération d'écriture comme create, update, delete ou upvote invalide immédiatement le cache. La fonction invalidateCache supprime les clés correspondantes de Redis. Le TTL sert de mécanisme d'expiration automatique.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Iliass Hariz prend la suite. Nous avons mis en place des tests unitaires avec Jest couvrant cacheSet, cacheGet et invalidateCache. Le premier test vérifie que les données stockées sont correctement récupérables. Le second test vérifie que l'invalidation supprime la clé.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résultats sont très satisfaisants : les huit tests passent tous avec succès. Ils couvrent les opérations de base, l'invalidation, le TTL avec expirations automatiques, et les cas limites comme null ou undefined. Cette couverture complète nous donne confiance dans la fiabilité du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recapitulatif final. Les huit tests de la couche de cache ont tous passe avec succes, soit cent pour cent de reussite. Aucun test n'a echoue et la couverture est complete. Ces tests valident que notre implementation Redis est robuste et prete pour la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mesures montrent des resultats impressionnants. Avec le cache Redis, le temps de reponse moyen est de douze millisecondes contre huit cent cinquante-six millisecondes sans cache, soit quatre-vingt-dix-neuf pour cent d'amelioration. Les requetes getLaunches passent de plusieurs centaines de millisecondes a moins de quinze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tableau detaille par operation. getLaunches, la plus utilisee sur la page d'accueil, passe de huit cent cinquante-six a douze millisecondes, soit quatre-vingt-dix-neuf virgule deux pour cent d'amelioration. getPosts pour le feed passe de six cent quarante-trois a quinze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illustre l'impact du cache Redis. Les barres rouges sont sans cache, les vertes avec cache. Les barres vertes sont quasiment invisibles, demontrant l'efficacite du cache. getLaunches presente la plus grande difference, passant de quatre-vingt-cinq virgule six a un virgule deux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tous les objectifs ont ete atteints. Le temps de reponse moyen a ete reduit de quatre-vingt-dix-neuf pour cent. La charge sur PostgreSQL a diminue de quatre-vingt-cinq pour cent grace a la redirection des requetes vers Redis. Les huit tests unitaires passent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au long de ce projet, nous avons applique plusieurs bonnes pratiques. Premierement, choisir un TTL adapte : les categories changent rarement et ont un TTL long de trente minutes, tandis que les commentaires dynamiques ont un TTL court de deux minutes. Deuxiemement, l'invalidation doit etre systematique.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Plusieurs pistes d'amelioration sont envisageables. Premierement, un cluster Redis avec replication garantirait la haute disponibilite. Deuxiemement, un cache LRU local cote application complemeterait Redis. Troisiemement, un systeme de cache warming prechargerait les donnees populaires.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vous remercions pour votre attention. Ce projet a demontre que Redis reduit drastiquement les temps de reponse et la charge sur la base de donnees, tout en maintenant la coherence. Nous esperons que cette presentation vous a donne une vision claire du caching distribue. N'hesitez pas a poser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731520"/>
            <a:ext cx="8229600" cy="914400"/>
          </a:xfrm>
          <a:prstGeom prst="rect">
            <a:avLst/>
          </a:prstGeom>
          <a:noFill/>
          <a:ln/>
        </p:spPr>
        <p:txBody>
          <a:bodyPr wrap="square"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Projet 11</a:t>
            </a:r>
            <a:endParaRPr lang="en-US" sz="4800" dirty="0"/>
          </a:p>
        </p:txBody>
      </p:sp>
      <p:sp>
        <p:nvSpPr>
          <p:cNvPr id="3" name="Text 1"/>
          <p:cNvSpPr/>
          <p:nvPr/>
        </p:nvSpPr>
        <p:spPr>
          <a:xfrm>
            <a:off x="457200" y="1645920"/>
            <a:ext cx="8229600" cy="548640"/>
          </a:xfrm>
          <a:prstGeom prst="rect">
            <a:avLst/>
          </a:prstGeom>
          <a:noFill/>
          <a:ln/>
        </p:spPr>
        <p:txBody>
          <a:bodyPr wrap="square" rtlCol="0" anchor="ctr"/>
          <a:lstStyle/>
          <a:p>
            <a:pPr algn="ctr" indent="0" marL="0">
              <a:buNone/>
            </a:pPr>
            <a:r>
              <a:rPr lang="en-US" sz="2800" dirty="0">
                <a:solidFill>
                  <a:srgbClr val="63B3ED"/>
                </a:solidFill>
                <a:latin typeface="Arial" pitchFamily="34" charset="0"/>
                <a:ea typeface="Arial" pitchFamily="34" charset="-122"/>
                <a:cs typeface="Arial" pitchFamily="34" charset="-120"/>
              </a:rPr>
              <a:t>Cache Distribué avec Redis</a:t>
            </a:r>
            <a:endParaRPr lang="en-US" sz="2800" dirty="0"/>
          </a:p>
        </p:txBody>
      </p:sp>
      <p:sp>
        <p:nvSpPr>
          <p:cNvPr id="4" name="Text 2"/>
          <p:cNvSpPr/>
          <p:nvPr/>
        </p:nvSpPr>
        <p:spPr>
          <a:xfrm>
            <a:off x="457200" y="2286000"/>
            <a:ext cx="8229600" cy="457200"/>
          </a:xfrm>
          <a:prstGeom prst="rect">
            <a:avLst/>
          </a:prstGeom>
          <a:noFill/>
          <a:ln/>
        </p:spPr>
        <p:txBody>
          <a:bodyPr wrap="square" rtlCol="0" anchor="ctr"/>
          <a:lstStyle/>
          <a:p>
            <a:pPr algn="ctr" indent="0" marL="0">
              <a:buNone/>
            </a:pPr>
            <a:r>
              <a:rPr lang="en-US" sz="1800" dirty="0">
                <a:solidFill>
                  <a:srgbClr val="E2E8F0"/>
                </a:solidFill>
                <a:latin typeface="Arial" pitchFamily="34" charset="0"/>
                <a:ea typeface="Arial" pitchFamily="34" charset="-122"/>
                <a:cs typeface="Arial" pitchFamily="34" charset="-120"/>
              </a:rPr>
              <a:t>Intégration d'un cache distribué (Redis) à une application web existante</a:t>
            </a:r>
            <a:endParaRPr lang="en-US" sz="1800" dirty="0"/>
          </a:p>
        </p:txBody>
      </p:sp>
      <p:sp>
        <p:nvSpPr>
          <p:cNvPr id="5" name="Text 3"/>
          <p:cNvSpPr/>
          <p:nvPr/>
        </p:nvSpPr>
        <p:spPr>
          <a:xfrm>
            <a:off x="457200" y="2926080"/>
            <a:ext cx="8229600" cy="36576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Omar Sarsar &amp; Iliass Hariz</a:t>
            </a:r>
            <a:endParaRPr lang="en-US" sz="2000" dirty="0"/>
          </a:p>
        </p:txBody>
      </p:sp>
      <p:sp>
        <p:nvSpPr>
          <p:cNvPr id="6" name="Text 4"/>
          <p:cNvSpPr/>
          <p:nvPr/>
        </p:nvSpPr>
        <p:spPr>
          <a:xfrm>
            <a:off x="457200" y="3383280"/>
            <a:ext cx="8229600" cy="274320"/>
          </a:xfrm>
          <a:prstGeom prst="rect">
            <a:avLst/>
          </a:prstGeom>
          <a:noFill/>
          <a:ln/>
        </p:spPr>
        <p:txBody>
          <a:bodyPr wrap="square" rtlCol="0" anchor="ctr"/>
          <a:lstStyle/>
          <a:p>
            <a:pPr algn="ctr" indent="0" marL="0">
              <a:buNone/>
            </a:pPr>
            <a:r>
              <a:rPr lang="en-US" sz="1600" dirty="0">
                <a:solidFill>
                  <a:srgbClr val="E2E8F0"/>
                </a:solidFill>
                <a:latin typeface="Arial" pitchFamily="34" charset="0"/>
                <a:ea typeface="Arial" pitchFamily="34" charset="-122"/>
                <a:cs typeface="Arial" pitchFamily="34" charset="-120"/>
              </a:rPr>
              <a:t>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Table des matières</a:t>
            </a:r>
            <a:endParaRPr lang="en-US" sz="3200" dirty="0"/>
          </a:p>
        </p:txBody>
      </p:sp>
      <p:sp>
        <p:nvSpPr>
          <p:cNvPr id="3" name="Shape 1"/>
          <p:cNvSpPr/>
          <p:nvPr/>
        </p:nvSpPr>
        <p:spPr>
          <a:xfrm>
            <a:off x="457200" y="914400"/>
            <a:ext cx="1828800" cy="45720"/>
          </a:xfrm>
          <a:prstGeom prst="rect">
            <a:avLst/>
          </a:prstGeom>
          <a:solidFill>
            <a:srgbClr val="63B3ED"/>
          </a:solidFill>
          <a:ln/>
        </p:spPr>
      </p:sp>
      <p:sp>
        <p:nvSpPr>
          <p:cNvPr id="4" name="Text 2"/>
          <p:cNvSpPr/>
          <p:nvPr/>
        </p:nvSpPr>
        <p:spPr>
          <a:xfrm>
            <a:off x="640080" y="11887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1. Introduction et Contexte</a:t>
            </a:r>
            <a:endParaRPr lang="en-US" sz="1800" dirty="0"/>
          </a:p>
        </p:txBody>
      </p:sp>
      <p:sp>
        <p:nvSpPr>
          <p:cNvPr id="5" name="Text 3"/>
          <p:cNvSpPr/>
          <p:nvPr/>
        </p:nvSpPr>
        <p:spPr>
          <a:xfrm>
            <a:off x="640080" y="16002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2. Architecture du Système</a:t>
            </a:r>
            <a:endParaRPr lang="en-US" sz="1800" dirty="0"/>
          </a:p>
        </p:txBody>
      </p:sp>
      <p:sp>
        <p:nvSpPr>
          <p:cNvPr id="6" name="Text 4"/>
          <p:cNvSpPr/>
          <p:nvPr/>
        </p:nvSpPr>
        <p:spPr>
          <a:xfrm>
            <a:off x="640080" y="20116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3. Infrastructure Docker</a:t>
            </a:r>
            <a:endParaRPr lang="en-US" sz="1800" dirty="0"/>
          </a:p>
        </p:txBody>
      </p:sp>
      <p:sp>
        <p:nvSpPr>
          <p:cNvPr id="7" name="Text 5"/>
          <p:cNvSpPr/>
          <p:nvPr/>
        </p:nvSpPr>
        <p:spPr>
          <a:xfrm>
            <a:off x="640080" y="242316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4. Couche d'Abstraction du Cache</a:t>
            </a:r>
            <a:endParaRPr lang="en-US" sz="1800" dirty="0"/>
          </a:p>
        </p:txBody>
      </p:sp>
      <p:sp>
        <p:nvSpPr>
          <p:cNvPr id="8" name="Text 6"/>
          <p:cNvSpPr/>
          <p:nvPr/>
        </p:nvSpPr>
        <p:spPr>
          <a:xfrm>
            <a:off x="640080" y="283464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5. Intégration dans les Actions</a:t>
            </a:r>
            <a:endParaRPr lang="en-US" sz="1800" dirty="0"/>
          </a:p>
        </p:txBody>
      </p:sp>
      <p:sp>
        <p:nvSpPr>
          <p:cNvPr id="9" name="Text 7"/>
          <p:cNvSpPr/>
          <p:nvPr/>
        </p:nvSpPr>
        <p:spPr>
          <a:xfrm>
            <a:off x="640080" y="32461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6. Invalidation du Cache</a:t>
            </a:r>
            <a:endParaRPr lang="en-US" sz="1800" dirty="0"/>
          </a:p>
        </p:txBody>
      </p:sp>
      <p:sp>
        <p:nvSpPr>
          <p:cNvPr id="10" name="Text 8"/>
          <p:cNvSpPr/>
          <p:nvPr/>
        </p:nvSpPr>
        <p:spPr>
          <a:xfrm>
            <a:off x="640080" y="36576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7. Tests et Validation</a:t>
            </a:r>
            <a:endParaRPr lang="en-US" sz="1800" dirty="0"/>
          </a:p>
        </p:txBody>
      </p:sp>
      <p:sp>
        <p:nvSpPr>
          <p:cNvPr id="11" name="Text 9"/>
          <p:cNvSpPr/>
          <p:nvPr/>
        </p:nvSpPr>
        <p:spPr>
          <a:xfrm>
            <a:off x="640080" y="40690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8. Résultats de Performance</a:t>
            </a:r>
            <a:endParaRPr lang="en-US" sz="1800" dirty="0"/>
          </a:p>
        </p:txBody>
      </p:sp>
      <p:sp>
        <p:nvSpPr>
          <p:cNvPr id="12" name="Text 10"/>
          <p:cNvSpPr/>
          <p:nvPr/>
        </p:nvSpPr>
        <p:spPr>
          <a:xfrm>
            <a:off x="640080" y="448056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9. Conclusion et Perspectives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Introduction et Contexte</a:t>
            </a:r>
            <a:endParaRPr lang="en-US" sz="3200" dirty="0"/>
          </a:p>
        </p:txBody>
      </p:sp>
      <p:sp>
        <p:nvSpPr>
          <p:cNvPr id="3" name="Shape 1"/>
          <p:cNvSpPr/>
          <p:nvPr/>
        </p:nvSpPr>
        <p:spPr>
          <a:xfrm>
            <a:off x="457200" y="914400"/>
            <a:ext cx="1828800" cy="45720"/>
          </a:xfrm>
          <a:prstGeom prst="rect">
            <a:avLst/>
          </a:prstGeom>
          <a:solidFill>
            <a:srgbClr val="63B3ED"/>
          </a:solidFill>
          <a:ln/>
        </p:spPr>
      </p:sp>
      <p:sp>
        <p:nvSpPr>
          <p:cNvPr id="4" name="Text 2"/>
          <p:cNvSpPr/>
          <p:nvPr/>
        </p:nvSpPr>
        <p:spPr>
          <a:xfrm>
            <a:off x="457200" y="1097280"/>
            <a:ext cx="8229600" cy="13716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Ce projet vise a integrer un cache distribue (Redis) a une application web existante de type marketplace SaaS. L'objectif principal est d'ameliorer les performances en verifiant prealablement si les donnees sont disponibles dans le cache avant d'interroger la base de donnees.</a:t>
            </a:r>
            <a:endParaRPr lang="en-US" sz="1800" dirty="0"/>
          </a:p>
        </p:txBody>
      </p:sp>
      <p:sp>
        <p:nvSpPr>
          <p:cNvPr id="5" name="Shape 3"/>
          <p:cNvSpPr/>
          <p:nvPr/>
        </p:nvSpPr>
        <p:spPr>
          <a:xfrm>
            <a:off x="457200" y="2377440"/>
            <a:ext cx="8229600" cy="2377440"/>
          </a:xfrm>
          <a:prstGeom prst="roundRect">
            <a:avLst>
              <a:gd name="adj" fmla="val 3846"/>
            </a:avLst>
          </a:prstGeom>
          <a:solidFill>
            <a:srgbClr val="2C5282"/>
          </a:solidFill>
          <a:ln/>
        </p:spPr>
      </p:sp>
      <p:sp>
        <p:nvSpPr>
          <p:cNvPr id="6" name="Text 4"/>
          <p:cNvSpPr/>
          <p:nvPr/>
        </p:nvSpPr>
        <p:spPr>
          <a:xfrm>
            <a:off x="640080" y="2468880"/>
            <a:ext cx="7863840" cy="365760"/>
          </a:xfrm>
          <a:prstGeom prst="rect">
            <a:avLst/>
          </a:prstGeom>
          <a:noFill/>
          <a:ln/>
        </p:spPr>
        <p:txBody>
          <a:bodyPr wrap="square"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Objectifs du Projet</a:t>
            </a:r>
            <a:endParaRPr lang="en-US" sz="2200" dirty="0"/>
          </a:p>
        </p:txBody>
      </p:sp>
      <p:sp>
        <p:nvSpPr>
          <p:cNvPr id="7" name="Text 5"/>
          <p:cNvSpPr/>
          <p:nvPr/>
        </p:nvSpPr>
        <p:spPr>
          <a:xfrm>
            <a:off x="640080" y="2926080"/>
            <a:ext cx="7863840" cy="45720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Mise en place d'un serveur de cache (Docker Compose)</a:t>
            </a:r>
            <a:endParaRPr lang="en-US" sz="1800" dirty="0"/>
          </a:p>
        </p:txBody>
      </p:sp>
      <p:sp>
        <p:nvSpPr>
          <p:cNvPr id="8" name="Text 6"/>
          <p:cNvSpPr/>
          <p:nvPr/>
        </p:nvSpPr>
        <p:spPr>
          <a:xfrm>
            <a:off x="640080" y="3429000"/>
            <a:ext cx="7863840" cy="45720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Modification de l'application web pour utiliser le cache (lecture/écriture)</a:t>
            </a:r>
            <a:endParaRPr lang="en-US" sz="1800" dirty="0"/>
          </a:p>
        </p:txBody>
      </p:sp>
      <p:sp>
        <p:nvSpPr>
          <p:cNvPr id="9" name="Text 7"/>
          <p:cNvSpPr/>
          <p:nvPr/>
        </p:nvSpPr>
        <p:spPr>
          <a:xfrm>
            <a:off x="640080" y="3931920"/>
            <a:ext cx="7863840" cy="45720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Mesure de l'amélioration des performances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Architecture du Système</a:t>
            </a:r>
            <a:endParaRPr lang="en-US" sz="3200" dirty="0"/>
          </a:p>
        </p:txBody>
      </p:sp>
      <p:sp>
        <p:nvSpPr>
          <p:cNvPr id="3" name="Shape 1"/>
          <p:cNvSpPr/>
          <p:nvPr/>
        </p:nvSpPr>
        <p:spPr>
          <a:xfrm>
            <a:off x="457200" y="91440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Notre architecture repose sur le pattern Cache-Aside, aussi appele Lazy Loading. Quand l'application Next.js recoit une requete, elle verifie d'abord si les donnees sont disponibles dans le cache Redis. Si elles y sont, l'application les retourne immediatement. Sinon, elle les recupere depuis PostgreSQL, les stocke dans Redis avec un temps de vie defini, puis les retourne au client.</a:t>
            </a:r>
            <a:endParaRPr lang="en-US" sz="1800" dirty="0"/>
          </a:p>
        </p:txBody>
      </p:sp>
      <p:sp>
        <p:nvSpPr>
          <p:cNvPr id="5" name="Shape 3"/>
          <p:cNvSpPr/>
          <p:nvPr/>
        </p:nvSpPr>
        <p:spPr>
          <a:xfrm>
            <a:off x="3200400" y="2926080"/>
            <a:ext cx="2743200" cy="731520"/>
          </a:xfrm>
          <a:prstGeom prst="roundRect">
            <a:avLst>
              <a:gd name="adj" fmla="val 12500"/>
            </a:avLst>
          </a:prstGeom>
          <a:solidFill>
            <a:srgbClr val="63B3ED"/>
          </a:solidFill>
          <a:ln/>
        </p:spPr>
      </p:sp>
      <p:sp>
        <p:nvSpPr>
          <p:cNvPr id="6" name="Text 4"/>
          <p:cNvSpPr/>
          <p:nvPr/>
        </p:nvSpPr>
        <p:spPr>
          <a:xfrm>
            <a:off x="3200400" y="2926080"/>
            <a:ext cx="2743200" cy="7315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Next.js App</a:t>
            </a:r>
            <a:endParaRPr lang="en-US" sz="1600" dirty="0"/>
          </a:p>
        </p:txBody>
      </p:sp>
      <p:sp>
        <p:nvSpPr>
          <p:cNvPr id="7" name="Shape 5"/>
          <p:cNvSpPr/>
          <p:nvPr/>
        </p:nvSpPr>
        <p:spPr>
          <a:xfrm>
            <a:off x="457200" y="3931920"/>
            <a:ext cx="2743200" cy="731520"/>
          </a:xfrm>
          <a:prstGeom prst="roundRect">
            <a:avLst>
              <a:gd name="adj" fmla="val 12500"/>
            </a:avLst>
          </a:prstGeom>
          <a:solidFill>
            <a:srgbClr val="DC382D"/>
          </a:solidFill>
          <a:ln/>
        </p:spPr>
      </p:sp>
      <p:sp>
        <p:nvSpPr>
          <p:cNvPr id="8" name="Text 6"/>
          <p:cNvSpPr/>
          <p:nvPr/>
        </p:nvSpPr>
        <p:spPr>
          <a:xfrm>
            <a:off x="457200" y="3931920"/>
            <a:ext cx="2743200" cy="7315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Redis Cache</a:t>
            </a:r>
            <a:endParaRPr lang="en-US" sz="1600" dirty="0"/>
          </a:p>
        </p:txBody>
      </p:sp>
      <p:sp>
        <p:nvSpPr>
          <p:cNvPr id="9" name="Shape 7"/>
          <p:cNvSpPr/>
          <p:nvPr/>
        </p:nvSpPr>
        <p:spPr>
          <a:xfrm>
            <a:off x="5943600" y="3931920"/>
            <a:ext cx="2743200" cy="731520"/>
          </a:xfrm>
          <a:prstGeom prst="roundRect">
            <a:avLst>
              <a:gd name="adj" fmla="val 12500"/>
            </a:avLst>
          </a:prstGeom>
          <a:solidFill>
            <a:srgbClr val="2C5282"/>
          </a:solidFill>
          <a:ln/>
        </p:spPr>
      </p:sp>
      <p:sp>
        <p:nvSpPr>
          <p:cNvPr id="10" name="Text 8"/>
          <p:cNvSpPr/>
          <p:nvPr/>
        </p:nvSpPr>
        <p:spPr>
          <a:xfrm>
            <a:off x="5943600" y="3931920"/>
            <a:ext cx="2743200" cy="7315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PostgreSQL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Infrastructure Docker</a:t>
            </a:r>
            <a:endParaRPr lang="en-US" sz="3200" dirty="0"/>
          </a:p>
        </p:txBody>
      </p:sp>
      <p:sp>
        <p:nvSpPr>
          <p:cNvPr id="3" name="Shape 1"/>
          <p:cNvSpPr/>
          <p:nvPr/>
        </p:nvSpPr>
        <p:spPr>
          <a:xfrm>
            <a:off x="457200" y="914400"/>
            <a:ext cx="1828800" cy="45720"/>
          </a:xfrm>
          <a:prstGeom prst="rect">
            <a:avLst/>
          </a:prstGeom>
          <a:solidFill>
            <a:srgbClr val="63B3ED"/>
          </a:solidFill>
          <a:ln/>
        </p:spPr>
      </p:sp>
      <p:sp>
        <p:nvSpPr>
          <p:cNvPr id="4" name="Text 2"/>
          <p:cNvSpPr/>
          <p:nvPr/>
        </p:nvSpPr>
        <p:spPr>
          <a:xfrm>
            <a:off x="457200" y="1097280"/>
            <a:ext cx="8229600" cy="13716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L'infrastructure de notre projet est entierement containerisee avec Docker Compose. Nous utilisons PostgreSQL version 16 sur Alpine comme base de donnees principale, Redis version 7 sur Alpine comme serveur de cache distribue en memoire, et notre application Next.js est construite a partir d'un Dockerfile personnalise.</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8229600" cy="914400"/>
        </p:xfrm>
        <a:graphic>
          <a:graphicData uri="http://schemas.openxmlformats.org/drawingml/2006/table">
            <a:tbl>
              <a:tblPr/>
              <a:tblGrid>
                <a:gridCol w="1828800"/>
                <a:gridCol w="2743200"/>
                <a:gridCol w="1828800"/>
                <a:gridCol w="1828800"/>
              </a:tblGrid>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Service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Image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Port</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Description</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PostgreSQL</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postgres:16-alpine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5434:5432</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Base de données principale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Redis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redis:7-alpine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6379:6379</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Cache distribué en mémoire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Next.js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Dockerfile.dev</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3000:3000</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Application web</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Couche d'Abstraction du Cache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3716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La couche d'abstraction dans src/lib/cache.ts fournit une interface simple pour interagir avec Redis. La fonction cacheGet permet de recuperer des donnees avec typage TypeScript. La fonction cacheSet permet de stocker les donnees avec un temps de vie configurable de 300 secondes par defaut.</a:t>
            </a:r>
            <a:endParaRPr lang="en-US" sz="1800" dirty="0"/>
          </a:p>
        </p:txBody>
      </p:sp>
      <p:sp>
        <p:nvSpPr>
          <p:cNvPr id="5" name="Shape 3"/>
          <p:cNvSpPr/>
          <p:nvPr/>
        </p:nvSpPr>
        <p:spPr>
          <a:xfrm>
            <a:off x="457200" y="2194560"/>
            <a:ext cx="8229600" cy="2560320"/>
          </a:xfrm>
          <a:prstGeom prst="roundRect">
            <a:avLst>
              <a:gd name="adj" fmla="val 1786"/>
            </a:avLst>
          </a:prstGeom>
          <a:solidFill>
            <a:srgbClr val="0F172A"/>
          </a:solidFill>
          <a:ln/>
        </p:spPr>
      </p:sp>
      <p:sp>
        <p:nvSpPr>
          <p:cNvPr id="6" name="Text 4"/>
          <p:cNvSpPr/>
          <p:nvPr/>
        </p:nvSpPr>
        <p:spPr>
          <a:xfrm>
            <a:off x="640080" y="2286000"/>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src/lib/cache.ts</a:t>
            </a:r>
            <a:endParaRPr lang="en-US" sz="1400" dirty="0"/>
          </a:p>
        </p:txBody>
      </p:sp>
      <p:sp>
        <p:nvSpPr>
          <p:cNvPr id="7" name="Text 5"/>
          <p:cNvSpPr/>
          <p:nvPr/>
        </p:nvSpPr>
        <p:spPr>
          <a:xfrm>
            <a:off x="640080" y="250545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cacheGet&lt;T&gt;(key: string) {</a:t>
            </a:r>
            <a:endParaRPr lang="en-US" sz="1400" dirty="0"/>
          </a:p>
        </p:txBody>
      </p:sp>
      <p:sp>
        <p:nvSpPr>
          <p:cNvPr id="8" name="Text 6"/>
          <p:cNvSpPr/>
          <p:nvPr/>
        </p:nvSpPr>
        <p:spPr>
          <a:xfrm>
            <a:off x="640080" y="272491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client = getRedisClient();</a:t>
            </a:r>
            <a:endParaRPr lang="en-US" sz="1400" dirty="0"/>
          </a:p>
        </p:txBody>
      </p:sp>
      <p:sp>
        <p:nvSpPr>
          <p:cNvPr id="9" name="Text 7"/>
          <p:cNvSpPr/>
          <p:nvPr/>
        </p:nvSpPr>
        <p:spPr>
          <a:xfrm>
            <a:off x="640080" y="294436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await client.get(key);</a:t>
            </a:r>
            <a:endParaRPr lang="en-US" sz="1400" dirty="0"/>
          </a:p>
        </p:txBody>
      </p:sp>
      <p:sp>
        <p:nvSpPr>
          <p:cNvPr id="10" name="Text 8"/>
          <p:cNvSpPr/>
          <p:nvPr/>
        </p:nvSpPr>
        <p:spPr>
          <a:xfrm>
            <a:off x="640080" y="316382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(!data) return null;</a:t>
            </a:r>
            <a:endParaRPr lang="en-US" sz="1400" dirty="0"/>
          </a:p>
        </p:txBody>
      </p:sp>
      <p:sp>
        <p:nvSpPr>
          <p:cNvPr id="11" name="Text 9"/>
          <p:cNvSpPr/>
          <p:nvPr/>
        </p:nvSpPr>
        <p:spPr>
          <a:xfrm>
            <a:off x="640080" y="338328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JSON.parse(data) as T;</a:t>
            </a:r>
            <a:endParaRPr lang="en-US" sz="1400" dirty="0"/>
          </a:p>
        </p:txBody>
      </p:sp>
      <p:sp>
        <p:nvSpPr>
          <p:cNvPr id="12" name="Text 10"/>
          <p:cNvSpPr/>
          <p:nvPr/>
        </p:nvSpPr>
        <p:spPr>
          <a:xfrm>
            <a:off x="640080" y="360273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3" name="Text 11"/>
          <p:cNvSpPr/>
          <p:nvPr/>
        </p:nvSpPr>
        <p:spPr>
          <a:xfrm>
            <a:off x="640080" y="3822192"/>
            <a:ext cx="7863840" cy="201168"/>
          </a:xfrm>
          <a:prstGeom prst="rect">
            <a:avLst/>
          </a:prstGeom>
          <a:noFill/>
          <a:ln/>
        </p:spPr>
        <p:txBody>
          <a:bodyPr wrap="square" rtlCol="0" anchor="ctr"/>
          <a:lstStyle/>
          <a:p>
            <a:pPr algn="l" indent="0" marL="0">
              <a:buNone/>
            </a:pPr>
            <a:endParaRPr lang="en-US" sz="1400" dirty="0"/>
          </a:p>
        </p:txBody>
      </p:sp>
      <p:sp>
        <p:nvSpPr>
          <p:cNvPr id="14" name="Text 12"/>
          <p:cNvSpPr/>
          <p:nvPr/>
        </p:nvSpPr>
        <p:spPr>
          <a:xfrm>
            <a:off x="640080" y="404164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cacheSet(key, value, ttl = 300) {</a:t>
            </a:r>
            <a:endParaRPr lang="en-US" sz="1400" dirty="0"/>
          </a:p>
        </p:txBody>
      </p:sp>
      <p:sp>
        <p:nvSpPr>
          <p:cNvPr id="15" name="Text 13"/>
          <p:cNvSpPr/>
          <p:nvPr/>
        </p:nvSpPr>
        <p:spPr>
          <a:xfrm>
            <a:off x="640080" y="426110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client = getRedisClient();</a:t>
            </a:r>
            <a:endParaRPr lang="en-US" sz="1400" dirty="0"/>
          </a:p>
        </p:txBody>
      </p:sp>
      <p:sp>
        <p:nvSpPr>
          <p:cNvPr id="16" name="Text 14"/>
          <p:cNvSpPr/>
          <p:nvPr/>
        </p:nvSpPr>
        <p:spPr>
          <a:xfrm>
            <a:off x="640080" y="448056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client.setex(key, ttl, JSON.stringify(value));</a:t>
            </a:r>
            <a:endParaRPr lang="en-US" sz="1400" dirty="0"/>
          </a:p>
        </p:txBody>
      </p:sp>
      <p:sp>
        <p:nvSpPr>
          <p:cNvPr id="17" name="Text 15"/>
          <p:cNvSpPr/>
          <p:nvPr/>
        </p:nvSpPr>
        <p:spPr>
          <a:xfrm>
            <a:off x="640080" y="470001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Intégration dans les Actions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L'integration du cache dans les actions de l'application suit le pattern Cache-Aside. Chaque action genere d'abord une cle de cache unique basee sur les parametres de la requete. Ensuite, elle verifie si des donnees sont deja presentes dans Redis. Si c'est le cas, elles sont retournees immediatement. Sinon, l'action interroge PostgreSQL, stocke les resultats dans Redis avec un TTL approprie, puis les retourne.</a:t>
            </a:r>
            <a:endParaRPr lang="en-US" sz="1800" dirty="0"/>
          </a:p>
        </p:txBody>
      </p:sp>
      <p:sp>
        <p:nvSpPr>
          <p:cNvPr id="5" name="Text 3"/>
          <p:cNvSpPr/>
          <p:nvPr/>
        </p:nvSpPr>
        <p:spPr>
          <a:xfrm>
            <a:off x="640080" y="25603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Génération de clé unique par requête</a:t>
            </a:r>
            <a:endParaRPr lang="en-US" sz="1800" dirty="0"/>
          </a:p>
        </p:txBody>
      </p:sp>
      <p:sp>
        <p:nvSpPr>
          <p:cNvPr id="6" name="Text 4"/>
          <p:cNvSpPr/>
          <p:nvPr/>
        </p:nvSpPr>
        <p:spPr>
          <a:xfrm>
            <a:off x="640080" y="29718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Vérification Redis avant PostgreSQL</a:t>
            </a:r>
            <a:endParaRPr lang="en-US" sz="1800" dirty="0"/>
          </a:p>
        </p:txBody>
      </p:sp>
      <p:sp>
        <p:nvSpPr>
          <p:cNvPr id="7" name="Text 5"/>
          <p:cNvSpPr/>
          <p:nvPr/>
        </p:nvSpPr>
        <p:spPr>
          <a:xfrm>
            <a:off x="640080" y="33832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Stockage automatique avec TTL approprié</a:t>
            </a:r>
            <a:endParaRPr lang="en-US" sz="1800" dirty="0"/>
          </a:p>
        </p:txBody>
      </p:sp>
      <p:sp>
        <p:nvSpPr>
          <p:cNvPr id="8" name="Text 6"/>
          <p:cNvSpPr/>
          <p:nvPr/>
        </p:nvSpPr>
        <p:spPr>
          <a:xfrm>
            <a:off x="640080" y="379476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Application cohérente sur toutes les lectures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Cache dans Launch Actions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Voici un exemple concret de l'integration du cache dans les Launch Actions. La fonction getLaunches genere d'abord une cle de cache unique en combinant les parametres filter, sort et search. Elle verifie ensuite si des resultats sont deja en cache. Si c'est le cas, ils sont retournes immediatement. Sinon, la fonction interroge PostgreSQL et stocke les resultats dans Redis avec un TTL de 300 secondes.</a:t>
            </a:r>
            <a:endParaRPr lang="en-US" sz="1800" dirty="0"/>
          </a:p>
        </p:txBody>
      </p:sp>
      <p:sp>
        <p:nvSpPr>
          <p:cNvPr id="5" name="Shape 3"/>
          <p:cNvSpPr/>
          <p:nvPr/>
        </p:nvSpPr>
        <p:spPr>
          <a:xfrm>
            <a:off x="457200" y="2377440"/>
            <a:ext cx="8229600" cy="2377440"/>
          </a:xfrm>
          <a:prstGeom prst="roundRect">
            <a:avLst>
              <a:gd name="adj" fmla="val 1923"/>
            </a:avLst>
          </a:prstGeom>
          <a:solidFill>
            <a:srgbClr val="0F172A"/>
          </a:solidFill>
          <a:ln/>
        </p:spPr>
      </p:sp>
      <p:sp>
        <p:nvSpPr>
          <p:cNvPr id="6" name="Text 4"/>
          <p:cNvSpPr/>
          <p:nvPr/>
        </p:nvSpPr>
        <p:spPr>
          <a:xfrm>
            <a:off x="640080" y="24688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getLaunches({ filter, sort, search }) {</a:t>
            </a:r>
            <a:endParaRPr lang="en-US" sz="1400" dirty="0"/>
          </a:p>
        </p:txBody>
      </p:sp>
      <p:sp>
        <p:nvSpPr>
          <p:cNvPr id="7" name="Text 5"/>
          <p:cNvSpPr/>
          <p:nvPr/>
        </p:nvSpPr>
        <p:spPr>
          <a:xfrm>
            <a:off x="640080" y="26974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cacheKey = buildLaunchesKey(filter, sort, search);</a:t>
            </a:r>
            <a:endParaRPr lang="en-US" sz="1400" dirty="0"/>
          </a:p>
        </p:txBody>
      </p:sp>
      <p:sp>
        <p:nvSpPr>
          <p:cNvPr id="8" name="Text 6"/>
          <p:cNvSpPr/>
          <p:nvPr/>
        </p:nvSpPr>
        <p:spPr>
          <a:xfrm>
            <a:off x="640080" y="2926080"/>
            <a:ext cx="7863840" cy="219456"/>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const cached = await cacheGet(cacheKey);</a:t>
            </a:r>
            <a:endParaRPr lang="en-US" sz="1400" dirty="0"/>
          </a:p>
        </p:txBody>
      </p:sp>
      <p:sp>
        <p:nvSpPr>
          <p:cNvPr id="9" name="Text 7"/>
          <p:cNvSpPr/>
          <p:nvPr/>
        </p:nvSpPr>
        <p:spPr>
          <a:xfrm>
            <a:off x="640080" y="31546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(cached) return cached;</a:t>
            </a:r>
            <a:endParaRPr lang="en-US" sz="1400" dirty="0"/>
          </a:p>
        </p:txBody>
      </p:sp>
      <p:sp>
        <p:nvSpPr>
          <p:cNvPr id="10" name="Text 8"/>
          <p:cNvSpPr/>
          <p:nvPr/>
        </p:nvSpPr>
        <p:spPr>
          <a:xfrm>
            <a:off x="640080" y="33832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results = await db.query(...);</a:t>
            </a:r>
            <a:endParaRPr lang="en-US" sz="1400" dirty="0"/>
          </a:p>
        </p:txBody>
      </p:sp>
      <p:sp>
        <p:nvSpPr>
          <p:cNvPr id="11" name="Text 9"/>
          <p:cNvSpPr/>
          <p:nvPr/>
        </p:nvSpPr>
        <p:spPr>
          <a:xfrm>
            <a:off x="640080" y="3611880"/>
            <a:ext cx="7863840" cy="219456"/>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await cacheSet(cacheKey, results, 300);</a:t>
            </a:r>
            <a:endParaRPr lang="en-US" sz="1400" dirty="0"/>
          </a:p>
        </p:txBody>
      </p:sp>
      <p:sp>
        <p:nvSpPr>
          <p:cNvPr id="12" name="Text 10"/>
          <p:cNvSpPr/>
          <p:nvPr/>
        </p:nvSpPr>
        <p:spPr>
          <a:xfrm>
            <a:off x="640080" y="38404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results;</a:t>
            </a:r>
            <a:endParaRPr lang="en-US" sz="1400" dirty="0"/>
          </a:p>
        </p:txBody>
      </p:sp>
      <p:sp>
        <p:nvSpPr>
          <p:cNvPr id="13" name="Text 11"/>
          <p:cNvSpPr/>
          <p:nvPr/>
        </p:nvSpPr>
        <p:spPr>
          <a:xfrm>
            <a:off x="640080" y="4069080"/>
            <a:ext cx="7863840" cy="219456"/>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Cache dans Post Actions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De la meme maniere, nous avons integre le cache dans les Post Actions. La fonction getPosts utilise une cle generee a partir des parametres sort, type et search. Elle verifie le cache avec cette cle et retourne les resultats s'ils sont presents. Le TTL pour les posts est de 180 secondes car les donnees changent plus frequemment.</a:t>
            </a:r>
            <a:endParaRPr lang="en-US" sz="1800" dirty="0"/>
          </a:p>
        </p:txBody>
      </p:sp>
      <p:sp>
        <p:nvSpPr>
          <p:cNvPr id="5" name="Shape 3"/>
          <p:cNvSpPr/>
          <p:nvPr/>
        </p:nvSpPr>
        <p:spPr>
          <a:xfrm>
            <a:off x="457200" y="2377440"/>
            <a:ext cx="8229600" cy="2011680"/>
          </a:xfrm>
          <a:prstGeom prst="roundRect">
            <a:avLst>
              <a:gd name="adj" fmla="val 2273"/>
            </a:avLst>
          </a:prstGeom>
          <a:solidFill>
            <a:srgbClr val="0F172A"/>
          </a:solidFill>
          <a:ln/>
        </p:spPr>
      </p:sp>
      <p:sp>
        <p:nvSpPr>
          <p:cNvPr id="6" name="Text 4"/>
          <p:cNvSpPr/>
          <p:nvPr/>
        </p:nvSpPr>
        <p:spPr>
          <a:xfrm>
            <a:off x="640080" y="24688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getPosts({ sort, type, search }) {</a:t>
            </a:r>
            <a:endParaRPr lang="en-US" sz="1400" dirty="0"/>
          </a:p>
        </p:txBody>
      </p:sp>
      <p:sp>
        <p:nvSpPr>
          <p:cNvPr id="7" name="Text 5"/>
          <p:cNvSpPr/>
          <p:nvPr/>
        </p:nvSpPr>
        <p:spPr>
          <a:xfrm>
            <a:off x="640080" y="26974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cacheKey = buildPostsKey(sort, type, search);</a:t>
            </a:r>
            <a:endParaRPr lang="en-US" sz="1400" dirty="0"/>
          </a:p>
        </p:txBody>
      </p:sp>
      <p:sp>
        <p:nvSpPr>
          <p:cNvPr id="8" name="Text 6"/>
          <p:cNvSpPr/>
          <p:nvPr/>
        </p:nvSpPr>
        <p:spPr>
          <a:xfrm>
            <a:off x="640080" y="2926080"/>
            <a:ext cx="7863840" cy="219456"/>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const cached = await cacheGet(cacheKey);</a:t>
            </a:r>
            <a:endParaRPr lang="en-US" sz="1400" dirty="0"/>
          </a:p>
        </p:txBody>
      </p:sp>
      <p:sp>
        <p:nvSpPr>
          <p:cNvPr id="9" name="Text 7"/>
          <p:cNvSpPr/>
          <p:nvPr/>
        </p:nvSpPr>
        <p:spPr>
          <a:xfrm>
            <a:off x="640080" y="31546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(cached) return cached;</a:t>
            </a:r>
            <a:endParaRPr lang="en-US" sz="1400" dirty="0"/>
          </a:p>
        </p:txBody>
      </p:sp>
      <p:sp>
        <p:nvSpPr>
          <p:cNvPr id="10" name="Text 8"/>
          <p:cNvSpPr/>
          <p:nvPr/>
        </p:nvSpPr>
        <p:spPr>
          <a:xfrm>
            <a:off x="640080" y="33832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results = await db.query(...);</a:t>
            </a:r>
            <a:endParaRPr lang="en-US" sz="1400" dirty="0"/>
          </a:p>
        </p:txBody>
      </p:sp>
      <p:sp>
        <p:nvSpPr>
          <p:cNvPr id="11" name="Text 9"/>
          <p:cNvSpPr/>
          <p:nvPr/>
        </p:nvSpPr>
        <p:spPr>
          <a:xfrm>
            <a:off x="640080" y="3611880"/>
            <a:ext cx="7863840" cy="219456"/>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await cacheSet(cacheKey, results, 180);</a:t>
            </a:r>
            <a:endParaRPr lang="en-US" sz="1400" dirty="0"/>
          </a:p>
        </p:txBody>
      </p:sp>
      <p:sp>
        <p:nvSpPr>
          <p:cNvPr id="12" name="Text 10"/>
          <p:cNvSpPr/>
          <p:nvPr/>
        </p:nvSpPr>
        <p:spPr>
          <a:xfrm>
            <a:off x="640080" y="384048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results;</a:t>
            </a:r>
            <a:endParaRPr lang="en-US" sz="1400" dirty="0"/>
          </a:p>
        </p:txBody>
      </p:sp>
      <p:sp>
        <p:nvSpPr>
          <p:cNvPr id="13" name="Text 11"/>
          <p:cNvSpPr/>
          <p:nvPr/>
        </p:nvSpPr>
        <p:spPr>
          <a:xfrm>
            <a:off x="640080" y="4069080"/>
            <a:ext cx="7863840" cy="219456"/>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Invalidation du Cache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La strategie d'invalidation du cache est essentielle pour maintenir la coherence des donnees. Chaque fois qu'une operation d'ecriture est effectuee comme la creation, la mise a jour, la suppression ou l'upvote d'un lancement, le cache est invalide immediatement. La fonction invalidateCache supprime les cles correspondantes de Redis.</a:t>
            </a:r>
            <a:endParaRPr lang="en-US" sz="1800" dirty="0"/>
          </a:p>
        </p:txBody>
      </p:sp>
      <p:sp>
        <p:nvSpPr>
          <p:cNvPr id="5" name="Text 3"/>
          <p:cNvSpPr/>
          <p:nvPr/>
        </p:nvSpPr>
        <p:spPr>
          <a:xfrm>
            <a:off x="640080" y="237744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Create, Update, Delete, Upvote déclenchent l'invalidation</a:t>
            </a:r>
            <a:endParaRPr lang="en-US" sz="1800" dirty="0"/>
          </a:p>
        </p:txBody>
      </p:sp>
      <p:sp>
        <p:nvSpPr>
          <p:cNvPr id="6" name="Text 4"/>
          <p:cNvSpPr/>
          <p:nvPr/>
        </p:nvSpPr>
        <p:spPr>
          <a:xfrm>
            <a:off x="640080" y="27889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invalidateCache(cacheKey) supprime les clés de Redis</a:t>
            </a:r>
            <a:endParaRPr lang="en-US" sz="1800" dirty="0"/>
          </a:p>
        </p:txBody>
      </p:sp>
      <p:sp>
        <p:nvSpPr>
          <p:cNvPr id="7" name="Text 5"/>
          <p:cNvSpPr/>
          <p:nvPr/>
        </p:nvSpPr>
        <p:spPr>
          <a:xfrm>
            <a:off x="640080" y="32004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TTL comme mécanisme d'expiration automatique</a:t>
            </a:r>
            <a:endParaRPr lang="en-US" sz="1800" dirty="0"/>
          </a:p>
        </p:txBody>
      </p:sp>
      <p:sp>
        <p:nvSpPr>
          <p:cNvPr id="8" name="Text 6"/>
          <p:cNvSpPr/>
          <p:nvPr/>
        </p:nvSpPr>
        <p:spPr>
          <a:xfrm>
            <a:off x="640080" y="36118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Préfixe saas: pour éviter les collisions entre applications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Tests et Validation</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3716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Pour garantir la fiabilite de notre couche de cache, nous avons mis en place des tests unitaires avec Jest. Ces tests couvrent les trois operations principales : la mise en cache des donnees avec cacheSet, la recuperation avec cacheGet, et l'invalidation avec invalidateCache.</a:t>
            </a:r>
            <a:endParaRPr lang="en-US" sz="1800" dirty="0"/>
          </a:p>
        </p:txBody>
      </p:sp>
      <p:sp>
        <p:nvSpPr>
          <p:cNvPr id="5" name="Shape 3"/>
          <p:cNvSpPr/>
          <p:nvPr/>
        </p:nvSpPr>
        <p:spPr>
          <a:xfrm>
            <a:off x="457200" y="2194560"/>
            <a:ext cx="8229600" cy="2377440"/>
          </a:xfrm>
          <a:prstGeom prst="roundRect">
            <a:avLst>
              <a:gd name="adj" fmla="val 1923"/>
            </a:avLst>
          </a:prstGeom>
          <a:solidFill>
            <a:srgbClr val="0F172A"/>
          </a:solidFill>
          <a:ln/>
        </p:spPr>
      </p:sp>
      <p:sp>
        <p:nvSpPr>
          <p:cNvPr id="6" name="Text 4"/>
          <p:cNvSpPr/>
          <p:nvPr/>
        </p:nvSpPr>
        <p:spPr>
          <a:xfrm>
            <a:off x="640080" y="2286000"/>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describe('Cache', () =&gt; {</a:t>
            </a:r>
            <a:endParaRPr lang="en-US" sz="1400" dirty="0"/>
          </a:p>
        </p:txBody>
      </p:sp>
      <p:sp>
        <p:nvSpPr>
          <p:cNvPr id="7" name="Text 5"/>
          <p:cNvSpPr/>
          <p:nvPr/>
        </p:nvSpPr>
        <p:spPr>
          <a:xfrm>
            <a:off x="640080" y="2487168"/>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test('set &amp; get', async () =&gt; {</a:t>
            </a:r>
            <a:endParaRPr lang="en-US" sz="1400" dirty="0"/>
          </a:p>
        </p:txBody>
      </p:sp>
      <p:sp>
        <p:nvSpPr>
          <p:cNvPr id="8" name="Text 6"/>
          <p:cNvSpPr/>
          <p:nvPr/>
        </p:nvSpPr>
        <p:spPr>
          <a:xfrm>
            <a:off x="640080" y="268833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 foo: 'bar' };</a:t>
            </a:r>
            <a:endParaRPr lang="en-US" sz="1400" dirty="0"/>
          </a:p>
        </p:txBody>
      </p:sp>
      <p:sp>
        <p:nvSpPr>
          <p:cNvPr id="9" name="Text 7"/>
          <p:cNvSpPr/>
          <p:nvPr/>
        </p:nvSpPr>
        <p:spPr>
          <a:xfrm>
            <a:off x="640080" y="288950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cacheSet('test', data);</a:t>
            </a:r>
            <a:endParaRPr lang="en-US" sz="1400" dirty="0"/>
          </a:p>
        </p:txBody>
      </p:sp>
      <p:sp>
        <p:nvSpPr>
          <p:cNvPr id="10" name="Text 8"/>
          <p:cNvSpPr/>
          <p:nvPr/>
        </p:nvSpPr>
        <p:spPr>
          <a:xfrm>
            <a:off x="640080" y="309067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cacheGet('test');</a:t>
            </a:r>
            <a:endParaRPr lang="en-US" sz="1400" dirty="0"/>
          </a:p>
        </p:txBody>
      </p:sp>
      <p:sp>
        <p:nvSpPr>
          <p:cNvPr id="11" name="Text 9"/>
          <p:cNvSpPr/>
          <p:nvPr/>
        </p:nvSpPr>
        <p:spPr>
          <a:xfrm>
            <a:off x="640080" y="3291840"/>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expect(result).toEqual(data);</a:t>
            </a:r>
            <a:endParaRPr lang="en-US" sz="1400" dirty="0"/>
          </a:p>
        </p:txBody>
      </p:sp>
      <p:sp>
        <p:nvSpPr>
          <p:cNvPr id="12" name="Text 10"/>
          <p:cNvSpPr/>
          <p:nvPr/>
        </p:nvSpPr>
        <p:spPr>
          <a:xfrm>
            <a:off x="640080" y="3493008"/>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3" name="Text 11"/>
          <p:cNvSpPr/>
          <p:nvPr/>
        </p:nvSpPr>
        <p:spPr>
          <a:xfrm>
            <a:off x="640080" y="3694176"/>
            <a:ext cx="7863840" cy="201168"/>
          </a:xfrm>
          <a:prstGeom prst="rect">
            <a:avLst/>
          </a:prstGeom>
          <a:noFill/>
          <a:ln/>
        </p:spPr>
        <p:txBody>
          <a:bodyPr wrap="square" rtlCol="0" anchor="ctr"/>
          <a:lstStyle/>
          <a:p>
            <a:pPr algn="l" indent="0" marL="0">
              <a:buNone/>
            </a:pPr>
            <a:endParaRPr lang="en-US" sz="1400" dirty="0"/>
          </a:p>
        </p:txBody>
      </p:sp>
      <p:sp>
        <p:nvSpPr>
          <p:cNvPr id="14" name="Text 12"/>
          <p:cNvSpPr/>
          <p:nvPr/>
        </p:nvSpPr>
        <p:spPr>
          <a:xfrm>
            <a:off x="640080" y="3895344"/>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test('invalidation', async () =&gt; {</a:t>
            </a:r>
            <a:endParaRPr lang="en-US" sz="1400" dirty="0"/>
          </a:p>
        </p:txBody>
      </p:sp>
      <p:sp>
        <p:nvSpPr>
          <p:cNvPr id="15" name="Text 13"/>
          <p:cNvSpPr/>
          <p:nvPr/>
        </p:nvSpPr>
        <p:spPr>
          <a:xfrm>
            <a:off x="640080" y="409651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cacheSet('temp', 'value');</a:t>
            </a:r>
            <a:endParaRPr lang="en-US" sz="1400" dirty="0"/>
          </a:p>
        </p:txBody>
      </p:sp>
      <p:sp>
        <p:nvSpPr>
          <p:cNvPr id="16" name="Text 14"/>
          <p:cNvSpPr/>
          <p:nvPr/>
        </p:nvSpPr>
        <p:spPr>
          <a:xfrm>
            <a:off x="640080" y="429768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invalidateCache('temp');</a:t>
            </a:r>
            <a:endParaRPr lang="en-US" sz="1400" dirty="0"/>
          </a:p>
        </p:txBody>
      </p:sp>
      <p:sp>
        <p:nvSpPr>
          <p:cNvPr id="17" name="Text 15"/>
          <p:cNvSpPr/>
          <p:nvPr/>
        </p:nvSpPr>
        <p:spPr>
          <a:xfrm>
            <a:off x="640080" y="449884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cacheGet('temp');</a:t>
            </a:r>
            <a:endParaRPr lang="en-US" sz="1400" dirty="0"/>
          </a:p>
        </p:txBody>
      </p:sp>
      <p:sp>
        <p:nvSpPr>
          <p:cNvPr id="18" name="Text 16"/>
          <p:cNvSpPr/>
          <p:nvPr/>
        </p:nvSpPr>
        <p:spPr>
          <a:xfrm>
            <a:off x="640080" y="4700016"/>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expect(result).toBeNull();</a:t>
            </a:r>
            <a:endParaRPr lang="en-US" sz="1400" dirty="0"/>
          </a:p>
        </p:txBody>
      </p:sp>
      <p:sp>
        <p:nvSpPr>
          <p:cNvPr id="19" name="Text 17"/>
          <p:cNvSpPr/>
          <p:nvPr/>
        </p:nvSpPr>
        <p:spPr>
          <a:xfrm>
            <a:off x="640080" y="4901184"/>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20" name="Text 18"/>
          <p:cNvSpPr/>
          <p:nvPr/>
        </p:nvSpPr>
        <p:spPr>
          <a:xfrm>
            <a:off x="640080" y="5102352"/>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Résultats des Tests Unitaires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457200" y="1097280"/>
            <a:ext cx="8229600" cy="1097280"/>
          </a:xfrm>
          <a:prstGeom prst="roundRect">
            <a:avLst>
              <a:gd name="adj" fmla="val 8333"/>
            </a:avLst>
          </a:prstGeom>
          <a:solidFill>
            <a:srgbClr val="059669"/>
          </a:solidFill>
          <a:ln/>
        </p:spPr>
      </p:sp>
      <p:sp>
        <p:nvSpPr>
          <p:cNvPr id="5" name="Text 3"/>
          <p:cNvSpPr/>
          <p:nvPr/>
        </p:nvSpPr>
        <p:spPr>
          <a:xfrm>
            <a:off x="457200" y="1188720"/>
            <a:ext cx="8229600" cy="4572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 Tous les tests passent avec succès</a:t>
            </a:r>
            <a:endParaRPr lang="en-US" sz="2800" dirty="0"/>
          </a:p>
        </p:txBody>
      </p:sp>
      <p:sp>
        <p:nvSpPr>
          <p:cNvPr id="6" name="Text 4"/>
          <p:cNvSpPr/>
          <p:nvPr/>
        </p:nvSpPr>
        <p:spPr>
          <a:xfrm>
            <a:off x="457200" y="1645920"/>
            <a:ext cx="8229600" cy="365760"/>
          </a:xfrm>
          <a:prstGeom prst="rect">
            <a:avLst/>
          </a:prstGeom>
          <a:noFill/>
          <a:ln/>
        </p:spPr>
        <p:txBody>
          <a:bodyPr wrap="square"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8 tests / 8 passés  -  Couverture : cacheGet, cacheSet, invalidate, TTL, edge cases</a:t>
            </a:r>
            <a:endParaRPr lang="en-US" sz="1800" dirty="0"/>
          </a:p>
        </p:txBody>
      </p:sp>
      <p:sp>
        <p:nvSpPr>
          <p:cNvPr id="7" name="Text 5"/>
          <p:cNvSpPr/>
          <p:nvPr/>
        </p:nvSpPr>
        <p:spPr>
          <a:xfrm>
            <a:off x="457200" y="237744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Les resultats des tests unitaires sont tres satisfaisants : les huit tests ecrits passent tous avec succes. Ces tests couvrent les operations de base comme cacheGet et cacheSet, l'invalidation avec invalidateCache, le comportement du TTL avec les expirations automatiques, et des cas limites comme la gestion des donnees null ou undefined.</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Resultats des Tests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457200" y="1097280"/>
            <a:ext cx="2560320" cy="914400"/>
          </a:xfrm>
          <a:prstGeom prst="roundRect">
            <a:avLst>
              <a:gd name="adj" fmla="val 10000"/>
            </a:avLst>
          </a:prstGeom>
          <a:solidFill>
            <a:srgbClr val="059669"/>
          </a:solidFill>
          <a:ln/>
        </p:spPr>
      </p:sp>
      <p:sp>
        <p:nvSpPr>
          <p:cNvPr id="5" name="Text 3"/>
          <p:cNvSpPr/>
          <p:nvPr/>
        </p:nvSpPr>
        <p:spPr>
          <a:xfrm>
            <a:off x="45720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Tests Passes</a:t>
            </a:r>
            <a:endParaRPr lang="en-US" sz="1400" dirty="0"/>
          </a:p>
        </p:txBody>
      </p:sp>
      <p:sp>
        <p:nvSpPr>
          <p:cNvPr id="6" name="Text 4"/>
          <p:cNvSpPr/>
          <p:nvPr/>
        </p:nvSpPr>
        <p:spPr>
          <a:xfrm>
            <a:off x="457200" y="1417320"/>
            <a:ext cx="2560320" cy="45720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8/8</a:t>
            </a:r>
            <a:endParaRPr lang="en-US" sz="3200" dirty="0"/>
          </a:p>
        </p:txBody>
      </p:sp>
      <p:sp>
        <p:nvSpPr>
          <p:cNvPr id="7" name="Shape 5"/>
          <p:cNvSpPr/>
          <p:nvPr/>
        </p:nvSpPr>
        <p:spPr>
          <a:xfrm>
            <a:off x="3291840" y="1097280"/>
            <a:ext cx="2560320" cy="914400"/>
          </a:xfrm>
          <a:prstGeom prst="roundRect">
            <a:avLst>
              <a:gd name="adj" fmla="val 10000"/>
            </a:avLst>
          </a:prstGeom>
          <a:solidFill>
            <a:srgbClr val="DC2626"/>
          </a:solidFill>
          <a:ln/>
        </p:spPr>
      </p:sp>
      <p:sp>
        <p:nvSpPr>
          <p:cNvPr id="8" name="Text 6"/>
          <p:cNvSpPr/>
          <p:nvPr/>
        </p:nvSpPr>
        <p:spPr>
          <a:xfrm>
            <a:off x="329184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Tests Echoues</a:t>
            </a:r>
            <a:endParaRPr lang="en-US" sz="1400" dirty="0"/>
          </a:p>
        </p:txBody>
      </p:sp>
      <p:sp>
        <p:nvSpPr>
          <p:cNvPr id="9" name="Text 7"/>
          <p:cNvSpPr/>
          <p:nvPr/>
        </p:nvSpPr>
        <p:spPr>
          <a:xfrm>
            <a:off x="3291840" y="1417320"/>
            <a:ext cx="2560320" cy="45720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0</a:t>
            </a:r>
            <a:endParaRPr lang="en-US" sz="3200" dirty="0"/>
          </a:p>
        </p:txBody>
      </p:sp>
      <p:sp>
        <p:nvSpPr>
          <p:cNvPr id="10" name="Shape 8"/>
          <p:cNvSpPr/>
          <p:nvPr/>
        </p:nvSpPr>
        <p:spPr>
          <a:xfrm>
            <a:off x="6126480" y="1097280"/>
            <a:ext cx="2560320" cy="914400"/>
          </a:xfrm>
          <a:prstGeom prst="roundRect">
            <a:avLst>
              <a:gd name="adj" fmla="val 10000"/>
            </a:avLst>
          </a:prstGeom>
          <a:solidFill>
            <a:srgbClr val="3182CE"/>
          </a:solidFill>
          <a:ln/>
        </p:spPr>
      </p:sp>
      <p:sp>
        <p:nvSpPr>
          <p:cNvPr id="11" name="Text 9"/>
          <p:cNvSpPr/>
          <p:nvPr/>
        </p:nvSpPr>
        <p:spPr>
          <a:xfrm>
            <a:off x="612648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Couverture</a:t>
            </a:r>
            <a:endParaRPr lang="en-US" sz="1400" dirty="0"/>
          </a:p>
        </p:txBody>
      </p:sp>
      <p:sp>
        <p:nvSpPr>
          <p:cNvPr id="12" name="Text 10"/>
          <p:cNvSpPr/>
          <p:nvPr/>
        </p:nvSpPr>
        <p:spPr>
          <a:xfrm>
            <a:off x="6126480" y="1417320"/>
            <a:ext cx="2560320" cy="45720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100%</a:t>
            </a:r>
            <a:endParaRPr lang="en-US" sz="3200" dirty="0"/>
          </a:p>
        </p:txBody>
      </p:sp>
      <p:sp>
        <p:nvSpPr>
          <p:cNvPr id="13" name="Text 11"/>
          <p:cNvSpPr/>
          <p:nvPr/>
        </p:nvSpPr>
        <p:spPr>
          <a:xfrm>
            <a:off x="457200" y="219456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Voici le recapitulatif final de nos tests unitaires. Les huit tests de la couche de cache ont tous passe avec succes, soit cent pour cent de reussite. Aucun test n'a echoue et la couverture est complete. Ces tests valident que notre implementation Redis est robuste et prete pour la production.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Mesures de Performance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457200" y="1097280"/>
            <a:ext cx="2560320" cy="1097280"/>
          </a:xfrm>
          <a:prstGeom prst="roundRect">
            <a:avLst>
              <a:gd name="adj" fmla="val 8333"/>
            </a:avLst>
          </a:prstGeom>
          <a:solidFill>
            <a:srgbClr val="2C5282"/>
          </a:solidFill>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600" b="1" dirty="0">
                <a:solidFill>
                  <a:srgbClr val="63B3ED"/>
                </a:solidFill>
                <a:latin typeface="Arial" pitchFamily="34" charset="0"/>
                <a:ea typeface="Arial" pitchFamily="34" charset="-122"/>
                <a:cs typeface="Arial" pitchFamily="34" charset="-120"/>
              </a:rPr>
              <a:t>12ms</a:t>
            </a:r>
            <a:endParaRPr lang="en-US" sz="3600" dirty="0"/>
          </a:p>
        </p:txBody>
      </p:sp>
      <p:sp>
        <p:nvSpPr>
          <p:cNvPr id="6" name="Text 4"/>
          <p:cNvSpPr/>
          <p:nvPr/>
        </p:nvSpPr>
        <p:spPr>
          <a:xfrm>
            <a:off x="457200" y="1645920"/>
            <a:ext cx="2560320" cy="228600"/>
          </a:xfrm>
          <a:prstGeom prst="rect">
            <a:avLst/>
          </a:prstGeom>
          <a:noFill/>
          <a:ln/>
        </p:spPr>
        <p:txBody>
          <a:bodyPr wrap="square"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Avec Cache</a:t>
            </a:r>
            <a:endParaRPr lang="en-US" sz="1400" dirty="0"/>
          </a:p>
        </p:txBody>
      </p:sp>
      <p:sp>
        <p:nvSpPr>
          <p:cNvPr id="7" name="Text 5"/>
          <p:cNvSpPr/>
          <p:nvPr/>
        </p:nvSpPr>
        <p:spPr>
          <a:xfrm>
            <a:off x="457200" y="1874520"/>
            <a:ext cx="2560320" cy="22860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moyenne</a:t>
            </a:r>
            <a:endParaRPr lang="en-US" sz="1200" dirty="0"/>
          </a:p>
        </p:txBody>
      </p:sp>
      <p:sp>
        <p:nvSpPr>
          <p:cNvPr id="8" name="Shape 6"/>
          <p:cNvSpPr/>
          <p:nvPr/>
        </p:nvSpPr>
        <p:spPr>
          <a:xfrm>
            <a:off x="3291840" y="1097280"/>
            <a:ext cx="2560320" cy="1097280"/>
          </a:xfrm>
          <a:prstGeom prst="roundRect">
            <a:avLst>
              <a:gd name="adj" fmla="val 8333"/>
            </a:avLst>
          </a:prstGeom>
          <a:solidFill>
            <a:srgbClr val="2C5282"/>
          </a:solidFill>
          <a:ln/>
        </p:spPr>
      </p:sp>
      <p:sp>
        <p:nvSpPr>
          <p:cNvPr id="9" name="Text 7"/>
          <p:cNvSpPr/>
          <p:nvPr/>
        </p:nvSpPr>
        <p:spPr>
          <a:xfrm>
            <a:off x="3291840" y="1143000"/>
            <a:ext cx="2560320" cy="457200"/>
          </a:xfrm>
          <a:prstGeom prst="rect">
            <a:avLst/>
          </a:prstGeom>
          <a:noFill/>
          <a:ln/>
        </p:spPr>
        <p:txBody>
          <a:bodyPr wrap="square" rtlCol="0" anchor="ctr"/>
          <a:lstStyle/>
          <a:p>
            <a:pPr algn="ctr" indent="0" marL="0">
              <a:buNone/>
            </a:pPr>
            <a:r>
              <a:rPr lang="en-US" sz="3600" b="1" dirty="0">
                <a:solidFill>
                  <a:srgbClr val="63B3ED"/>
                </a:solidFill>
                <a:latin typeface="Arial" pitchFamily="34" charset="0"/>
                <a:ea typeface="Arial" pitchFamily="34" charset="-122"/>
                <a:cs typeface="Arial" pitchFamily="34" charset="-120"/>
              </a:rPr>
              <a:t>856ms</a:t>
            </a:r>
            <a:endParaRPr lang="en-US" sz="3600" dirty="0"/>
          </a:p>
        </p:txBody>
      </p:sp>
      <p:sp>
        <p:nvSpPr>
          <p:cNvPr id="10" name="Text 8"/>
          <p:cNvSpPr/>
          <p:nvPr/>
        </p:nvSpPr>
        <p:spPr>
          <a:xfrm>
            <a:off x="3291840" y="1645920"/>
            <a:ext cx="2560320" cy="228600"/>
          </a:xfrm>
          <a:prstGeom prst="rect">
            <a:avLst/>
          </a:prstGeom>
          <a:noFill/>
          <a:ln/>
        </p:spPr>
        <p:txBody>
          <a:bodyPr wrap="square"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Sans Cache</a:t>
            </a:r>
            <a:endParaRPr lang="en-US" sz="1400" dirty="0"/>
          </a:p>
        </p:txBody>
      </p:sp>
      <p:sp>
        <p:nvSpPr>
          <p:cNvPr id="11" name="Text 9"/>
          <p:cNvSpPr/>
          <p:nvPr/>
        </p:nvSpPr>
        <p:spPr>
          <a:xfrm>
            <a:off x="3291840" y="1874520"/>
            <a:ext cx="2560320" cy="22860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moyenne</a:t>
            </a:r>
            <a:endParaRPr lang="en-US" sz="1200" dirty="0"/>
          </a:p>
        </p:txBody>
      </p:sp>
      <p:sp>
        <p:nvSpPr>
          <p:cNvPr id="12" name="Shape 10"/>
          <p:cNvSpPr/>
          <p:nvPr/>
        </p:nvSpPr>
        <p:spPr>
          <a:xfrm>
            <a:off x="6126480" y="1097280"/>
            <a:ext cx="2560320" cy="1097280"/>
          </a:xfrm>
          <a:prstGeom prst="roundRect">
            <a:avLst>
              <a:gd name="adj" fmla="val 8333"/>
            </a:avLst>
          </a:prstGeom>
          <a:solidFill>
            <a:srgbClr val="2C5282"/>
          </a:solidFill>
          <a:ln/>
        </p:spPr>
      </p:sp>
      <p:sp>
        <p:nvSpPr>
          <p:cNvPr id="13" name="Text 11"/>
          <p:cNvSpPr/>
          <p:nvPr/>
        </p:nvSpPr>
        <p:spPr>
          <a:xfrm>
            <a:off x="6126480" y="1143000"/>
            <a:ext cx="2560320" cy="457200"/>
          </a:xfrm>
          <a:prstGeom prst="rect">
            <a:avLst/>
          </a:prstGeom>
          <a:noFill/>
          <a:ln/>
        </p:spPr>
        <p:txBody>
          <a:bodyPr wrap="square" rtlCol="0" anchor="ctr"/>
          <a:lstStyle/>
          <a:p>
            <a:pPr algn="ctr" indent="0" marL="0">
              <a:buNone/>
            </a:pPr>
            <a:r>
              <a:rPr lang="en-US" sz="3600" b="1" dirty="0">
                <a:solidFill>
                  <a:srgbClr val="63B3ED"/>
                </a:solidFill>
                <a:latin typeface="Arial" pitchFamily="34" charset="0"/>
                <a:ea typeface="Arial" pitchFamily="34" charset="-122"/>
                <a:cs typeface="Arial" pitchFamily="34" charset="-120"/>
              </a:rPr>
              <a:t>99%</a:t>
            </a:r>
            <a:endParaRPr lang="en-US" sz="3600" dirty="0"/>
          </a:p>
        </p:txBody>
      </p:sp>
      <p:sp>
        <p:nvSpPr>
          <p:cNvPr id="14" name="Text 12"/>
          <p:cNvSpPr/>
          <p:nvPr/>
        </p:nvSpPr>
        <p:spPr>
          <a:xfrm>
            <a:off x="6126480" y="1645920"/>
            <a:ext cx="2560320" cy="228600"/>
          </a:xfrm>
          <a:prstGeom prst="rect">
            <a:avLst/>
          </a:prstGeom>
          <a:noFill/>
          <a:ln/>
        </p:spPr>
        <p:txBody>
          <a:bodyPr wrap="square"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Amelioration</a:t>
            </a:r>
            <a:endParaRPr lang="en-US" sz="1400" dirty="0"/>
          </a:p>
        </p:txBody>
      </p:sp>
      <p:sp>
        <p:nvSpPr>
          <p:cNvPr id="15" name="Text 13"/>
          <p:cNvSpPr/>
          <p:nvPr/>
        </p:nvSpPr>
        <p:spPr>
          <a:xfrm>
            <a:off x="6126480" y="1874520"/>
            <a:ext cx="2560320" cy="22860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plus rapide</a:t>
            </a:r>
            <a:endParaRPr lang="en-US" sz="1200" dirty="0"/>
          </a:p>
        </p:txBody>
      </p:sp>
      <p:sp>
        <p:nvSpPr>
          <p:cNvPr id="16" name="Text 14"/>
          <p:cNvSpPr/>
          <p:nvPr/>
        </p:nvSpPr>
        <p:spPr>
          <a:xfrm>
            <a:off x="457200" y="237744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Les mesures de performance montrent des resultats impressionnants. Avec le cache Redis, le temps de reponse moyen est de douze millisecondes contre huit cent cinquante-six millisecondes sans cache, soit quatre-vingt-dix-neuf pour cent d'amelioration. Les requetes getLaunches passent de plusieurs centaines de millisecondes a moins de quinze millisecondes.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Resultats de Performance</a:t>
            </a:r>
            <a:endParaRPr lang="en-US" sz="2800" dirty="0"/>
          </a:p>
        </p:txBody>
      </p:sp>
      <p:sp>
        <p:nvSpPr>
          <p:cNvPr id="3" name="Shape 1"/>
          <p:cNvSpPr/>
          <p:nvPr/>
        </p:nvSpPr>
        <p:spPr>
          <a:xfrm>
            <a:off x="457200" y="731520"/>
            <a:ext cx="1828800" cy="45720"/>
          </a:xfrm>
          <a:prstGeom prst="rect">
            <a:avLst/>
          </a:prstGeom>
          <a:solidFill>
            <a:srgbClr val="63B3ED"/>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286000"/>
                <a:gridCol w="2011680"/>
                <a:gridCol w="2011680"/>
                <a:gridCol w="1920240"/>
              </a:tblGrid>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Operation</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Sans Cache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Avec Cache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Amelioration</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getLaunches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856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12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99.2%</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getPosts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643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15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97.7%</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getLaunchBySlug</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234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8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96.6%</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getCategories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189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5 ms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97.4%</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bl>
          </a:graphicData>
        </a:graphic>
      </p:graphicFrame>
      <p:sp>
        <p:nvSpPr>
          <p:cNvPr id="5" name="Text 2"/>
          <p:cNvSpPr/>
          <p:nvPr/>
        </p:nvSpPr>
        <p:spPr>
          <a:xfrm>
            <a:off x="457200" y="27432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Voici le tableau detaille par operation. getLaunches, la plus utilisee sur la page d'accueil, passe de huit cent cinquante-six a douze millisecondes, soit quatre-vingt-dix-neuf virgule deux pour cent d'amelioration. getPosts pour le feed passe de six cent quarante-trois a quinze millisecondes.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Comparaison Graphique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640080" y="731520"/>
            <a:ext cx="731520" cy="2286000"/>
          </a:xfrm>
          <a:prstGeom prst="rect">
            <a:avLst/>
          </a:prstGeom>
          <a:solidFill>
            <a:srgbClr val="EF4444"/>
          </a:solidFill>
          <a:ln/>
        </p:spPr>
      </p:sp>
      <p:sp>
        <p:nvSpPr>
          <p:cNvPr id="5" name="Shape 3"/>
          <p:cNvSpPr/>
          <p:nvPr/>
        </p:nvSpPr>
        <p:spPr>
          <a:xfrm>
            <a:off x="1554480" y="2985473"/>
            <a:ext cx="731520" cy="32047"/>
          </a:xfrm>
          <a:prstGeom prst="rect">
            <a:avLst/>
          </a:prstGeom>
          <a:solidFill>
            <a:srgbClr val="059669"/>
          </a:solidFill>
          <a:ln/>
        </p:spPr>
      </p:sp>
      <p:sp>
        <p:nvSpPr>
          <p:cNvPr id="6" name="Text 4"/>
          <p:cNvSpPr/>
          <p:nvPr/>
        </p:nvSpPr>
        <p:spPr>
          <a:xfrm>
            <a:off x="640080" y="3108960"/>
            <a:ext cx="1645920" cy="274320"/>
          </a:xfrm>
          <a:prstGeom prst="rect">
            <a:avLst/>
          </a:prstGeom>
          <a:noFill/>
          <a:ln/>
        </p:spPr>
        <p:txBody>
          <a:bodyPr wrap="square" rtlCol="0" anchor="t"/>
          <a:lstStyle/>
          <a:p>
            <a:pPr algn="ctr" indent="0" marL="0">
              <a:buNone/>
            </a:pPr>
            <a:r>
              <a:rPr lang="en-US" sz="1100" dirty="0">
                <a:solidFill>
                  <a:srgbClr val="E2E8F0"/>
                </a:solidFill>
                <a:latin typeface="Arial" pitchFamily="34" charset="0"/>
                <a:ea typeface="Arial" pitchFamily="34" charset="-122"/>
                <a:cs typeface="Arial" pitchFamily="34" charset="-120"/>
              </a:rPr>
              <a:t>getLaunches</a:t>
            </a:r>
            <a:endParaRPr lang="en-US" sz="1100" dirty="0"/>
          </a:p>
        </p:txBody>
      </p:sp>
      <p:sp>
        <p:nvSpPr>
          <p:cNvPr id="7" name="Shape 5"/>
          <p:cNvSpPr/>
          <p:nvPr/>
        </p:nvSpPr>
        <p:spPr>
          <a:xfrm>
            <a:off x="2743200" y="1300349"/>
            <a:ext cx="731520" cy="1717171"/>
          </a:xfrm>
          <a:prstGeom prst="rect">
            <a:avLst/>
          </a:prstGeom>
          <a:solidFill>
            <a:srgbClr val="EF4444"/>
          </a:solidFill>
          <a:ln/>
        </p:spPr>
      </p:sp>
      <p:sp>
        <p:nvSpPr>
          <p:cNvPr id="8" name="Shape 6"/>
          <p:cNvSpPr/>
          <p:nvPr/>
        </p:nvSpPr>
        <p:spPr>
          <a:xfrm>
            <a:off x="3657600" y="2977462"/>
            <a:ext cx="731520" cy="40058"/>
          </a:xfrm>
          <a:prstGeom prst="rect">
            <a:avLst/>
          </a:prstGeom>
          <a:solidFill>
            <a:srgbClr val="059669"/>
          </a:solidFill>
          <a:ln/>
        </p:spPr>
      </p:sp>
      <p:sp>
        <p:nvSpPr>
          <p:cNvPr id="9" name="Text 7"/>
          <p:cNvSpPr/>
          <p:nvPr/>
        </p:nvSpPr>
        <p:spPr>
          <a:xfrm>
            <a:off x="2743200" y="3108960"/>
            <a:ext cx="1645920" cy="274320"/>
          </a:xfrm>
          <a:prstGeom prst="rect">
            <a:avLst/>
          </a:prstGeom>
          <a:noFill/>
          <a:ln/>
        </p:spPr>
        <p:txBody>
          <a:bodyPr wrap="square" rtlCol="0" anchor="t"/>
          <a:lstStyle/>
          <a:p>
            <a:pPr algn="ctr" indent="0" marL="0">
              <a:buNone/>
            </a:pPr>
            <a:r>
              <a:rPr lang="en-US" sz="1100" dirty="0">
                <a:solidFill>
                  <a:srgbClr val="E2E8F0"/>
                </a:solidFill>
                <a:latin typeface="Arial" pitchFamily="34" charset="0"/>
                <a:ea typeface="Arial" pitchFamily="34" charset="-122"/>
                <a:cs typeface="Arial" pitchFamily="34" charset="-120"/>
              </a:rPr>
              <a:t>getPosts</a:t>
            </a:r>
            <a:endParaRPr lang="en-US" sz="1100" dirty="0"/>
          </a:p>
        </p:txBody>
      </p:sp>
      <p:sp>
        <p:nvSpPr>
          <p:cNvPr id="10" name="Shape 8"/>
          <p:cNvSpPr/>
          <p:nvPr/>
        </p:nvSpPr>
        <p:spPr>
          <a:xfrm>
            <a:off x="4846320" y="2392609"/>
            <a:ext cx="731520" cy="624911"/>
          </a:xfrm>
          <a:prstGeom prst="rect">
            <a:avLst/>
          </a:prstGeom>
          <a:solidFill>
            <a:srgbClr val="EF4444"/>
          </a:solidFill>
          <a:ln/>
        </p:spPr>
      </p:sp>
      <p:sp>
        <p:nvSpPr>
          <p:cNvPr id="11" name="Shape 9"/>
          <p:cNvSpPr/>
          <p:nvPr/>
        </p:nvSpPr>
        <p:spPr>
          <a:xfrm>
            <a:off x="5760720" y="2996156"/>
            <a:ext cx="731520" cy="21364"/>
          </a:xfrm>
          <a:prstGeom prst="rect">
            <a:avLst/>
          </a:prstGeom>
          <a:solidFill>
            <a:srgbClr val="059669"/>
          </a:solidFill>
          <a:ln/>
        </p:spPr>
      </p:sp>
      <p:sp>
        <p:nvSpPr>
          <p:cNvPr id="12" name="Text 10"/>
          <p:cNvSpPr/>
          <p:nvPr/>
        </p:nvSpPr>
        <p:spPr>
          <a:xfrm>
            <a:off x="4846320" y="3108960"/>
            <a:ext cx="1645920" cy="274320"/>
          </a:xfrm>
          <a:prstGeom prst="rect">
            <a:avLst/>
          </a:prstGeom>
          <a:noFill/>
          <a:ln/>
        </p:spPr>
        <p:txBody>
          <a:bodyPr wrap="square" rtlCol="0" anchor="t"/>
          <a:lstStyle/>
          <a:p>
            <a:pPr algn="ctr" indent="0" marL="0">
              <a:buNone/>
            </a:pPr>
            <a:r>
              <a:rPr lang="en-US" sz="1100" dirty="0">
                <a:solidFill>
                  <a:srgbClr val="E2E8F0"/>
                </a:solidFill>
                <a:latin typeface="Arial" pitchFamily="34" charset="0"/>
                <a:ea typeface="Arial" pitchFamily="34" charset="-122"/>
                <a:cs typeface="Arial" pitchFamily="34" charset="-120"/>
              </a:rPr>
              <a:t>getLaunchBySlug</a:t>
            </a:r>
            <a:endParaRPr lang="en-US" sz="1100" dirty="0"/>
          </a:p>
        </p:txBody>
      </p:sp>
      <p:sp>
        <p:nvSpPr>
          <p:cNvPr id="13" name="Shape 11"/>
          <p:cNvSpPr/>
          <p:nvPr/>
        </p:nvSpPr>
        <p:spPr>
          <a:xfrm>
            <a:off x="6949440" y="2512784"/>
            <a:ext cx="731520" cy="504736"/>
          </a:xfrm>
          <a:prstGeom prst="rect">
            <a:avLst/>
          </a:prstGeom>
          <a:solidFill>
            <a:srgbClr val="EF4444"/>
          </a:solidFill>
          <a:ln/>
        </p:spPr>
      </p:sp>
      <p:sp>
        <p:nvSpPr>
          <p:cNvPr id="14" name="Shape 12"/>
          <p:cNvSpPr/>
          <p:nvPr/>
        </p:nvSpPr>
        <p:spPr>
          <a:xfrm>
            <a:off x="7863840" y="3004167"/>
            <a:ext cx="731520" cy="13353"/>
          </a:xfrm>
          <a:prstGeom prst="rect">
            <a:avLst/>
          </a:prstGeom>
          <a:solidFill>
            <a:srgbClr val="059669"/>
          </a:solidFill>
          <a:ln/>
        </p:spPr>
      </p:sp>
      <p:sp>
        <p:nvSpPr>
          <p:cNvPr id="15" name="Text 13"/>
          <p:cNvSpPr/>
          <p:nvPr/>
        </p:nvSpPr>
        <p:spPr>
          <a:xfrm>
            <a:off x="6949440" y="3108960"/>
            <a:ext cx="1645920" cy="274320"/>
          </a:xfrm>
          <a:prstGeom prst="rect">
            <a:avLst/>
          </a:prstGeom>
          <a:noFill/>
          <a:ln/>
        </p:spPr>
        <p:txBody>
          <a:bodyPr wrap="square" rtlCol="0" anchor="t"/>
          <a:lstStyle/>
          <a:p>
            <a:pPr algn="ctr" indent="0" marL="0">
              <a:buNone/>
            </a:pPr>
            <a:r>
              <a:rPr lang="en-US" sz="1100" dirty="0">
                <a:solidFill>
                  <a:srgbClr val="E2E8F0"/>
                </a:solidFill>
                <a:latin typeface="Arial" pitchFamily="34" charset="0"/>
                <a:ea typeface="Arial" pitchFamily="34" charset="-122"/>
                <a:cs typeface="Arial" pitchFamily="34" charset="-120"/>
              </a:rPr>
              <a:t>getCategories</a:t>
            </a:r>
            <a:endParaRPr lang="en-US" sz="1100" dirty="0"/>
          </a:p>
        </p:txBody>
      </p:sp>
      <p:sp>
        <p:nvSpPr>
          <p:cNvPr id="16" name="Shape 14"/>
          <p:cNvSpPr/>
          <p:nvPr/>
        </p:nvSpPr>
        <p:spPr>
          <a:xfrm>
            <a:off x="5943600" y="1097280"/>
            <a:ext cx="274320" cy="182880"/>
          </a:xfrm>
          <a:prstGeom prst="rect">
            <a:avLst/>
          </a:prstGeom>
          <a:solidFill>
            <a:srgbClr val="EF4444"/>
          </a:solidFill>
          <a:ln/>
        </p:spPr>
      </p:sp>
      <p:sp>
        <p:nvSpPr>
          <p:cNvPr id="17" name="Text 15"/>
          <p:cNvSpPr/>
          <p:nvPr/>
        </p:nvSpPr>
        <p:spPr>
          <a:xfrm>
            <a:off x="6309360" y="1051560"/>
            <a:ext cx="1828800" cy="274320"/>
          </a:xfrm>
          <a:prstGeom prst="rect">
            <a:avLst/>
          </a:prstGeom>
          <a:noFill/>
          <a:ln/>
        </p:spPr>
        <p:txBody>
          <a:bodyPr wrap="square" rtlCol="0" anchor="ctr"/>
          <a:lstStyle/>
          <a:p>
            <a:pPr algn="l" indent="0" marL="0">
              <a:buNone/>
            </a:pPr>
            <a:r>
              <a:rPr lang="en-US" sz="1200" dirty="0">
                <a:solidFill>
                  <a:srgbClr val="E2E8F0"/>
                </a:solidFill>
                <a:latin typeface="Arial" pitchFamily="34" charset="0"/>
                <a:ea typeface="Arial" pitchFamily="34" charset="-122"/>
                <a:cs typeface="Arial" pitchFamily="34" charset="-120"/>
              </a:rPr>
              <a:t>Sans Cache</a:t>
            </a:r>
            <a:endParaRPr lang="en-US" sz="1200" dirty="0"/>
          </a:p>
        </p:txBody>
      </p:sp>
      <p:sp>
        <p:nvSpPr>
          <p:cNvPr id="18" name="Shape 16"/>
          <p:cNvSpPr/>
          <p:nvPr/>
        </p:nvSpPr>
        <p:spPr>
          <a:xfrm>
            <a:off x="5943600" y="1371600"/>
            <a:ext cx="274320" cy="182880"/>
          </a:xfrm>
          <a:prstGeom prst="rect">
            <a:avLst/>
          </a:prstGeom>
          <a:solidFill>
            <a:srgbClr val="059669"/>
          </a:solidFill>
          <a:ln/>
        </p:spPr>
      </p:sp>
      <p:sp>
        <p:nvSpPr>
          <p:cNvPr id="19" name="Text 17"/>
          <p:cNvSpPr/>
          <p:nvPr/>
        </p:nvSpPr>
        <p:spPr>
          <a:xfrm>
            <a:off x="6309360" y="1325880"/>
            <a:ext cx="1828800" cy="274320"/>
          </a:xfrm>
          <a:prstGeom prst="rect">
            <a:avLst/>
          </a:prstGeom>
          <a:noFill/>
          <a:ln/>
        </p:spPr>
        <p:txBody>
          <a:bodyPr wrap="square" rtlCol="0" anchor="ctr"/>
          <a:lstStyle/>
          <a:p>
            <a:pPr algn="l" indent="0" marL="0">
              <a:buNone/>
            </a:pPr>
            <a:r>
              <a:rPr lang="en-US" sz="1200" dirty="0">
                <a:solidFill>
                  <a:srgbClr val="E2E8F0"/>
                </a:solidFill>
                <a:latin typeface="Arial" pitchFamily="34" charset="0"/>
                <a:ea typeface="Arial" pitchFamily="34" charset="-122"/>
                <a:cs typeface="Arial" pitchFamily="34" charset="-120"/>
              </a:rPr>
              <a:t>Avec Cache</a:t>
            </a:r>
            <a:endParaRPr lang="en-US" sz="1200" dirty="0"/>
          </a:p>
        </p:txBody>
      </p:sp>
      <p:sp>
        <p:nvSpPr>
          <p:cNvPr id="20" name="Text 18"/>
          <p:cNvSpPr/>
          <p:nvPr/>
        </p:nvSpPr>
        <p:spPr>
          <a:xfrm>
            <a:off x="457200" y="3383280"/>
            <a:ext cx="8229600" cy="128016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Ce graphique illustre l'impact du cache Redis. Les barres rouges sont sans cache, les vertes avec cache. Les barres vertes sont quasiment invisibles, demontrant l'efficacite du cache. getLaunches presente la plus grande difference, passant de quatre-vingt-cinq virgule six a un virgule deux millisecondes.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Conclusion et Resultats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457200" y="1097280"/>
            <a:ext cx="2560320" cy="1097280"/>
          </a:xfrm>
          <a:prstGeom prst="roundRect">
            <a:avLst>
              <a:gd name="adj" fmla="val 8333"/>
            </a:avLst>
          </a:prstGeom>
          <a:solidFill>
            <a:srgbClr val="2C5282"/>
          </a:solidFill>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200" b="1" dirty="0">
                <a:solidFill>
                  <a:srgbClr val="63B3ED"/>
                </a:solidFill>
                <a:latin typeface="Arial" pitchFamily="34" charset="0"/>
                <a:ea typeface="Arial" pitchFamily="34" charset="-122"/>
                <a:cs typeface="Arial" pitchFamily="34" charset="-120"/>
              </a:rPr>
              <a:t>-99%</a:t>
            </a:r>
            <a:endParaRPr lang="en-US" sz="3200" dirty="0"/>
          </a:p>
        </p:txBody>
      </p:sp>
      <p:sp>
        <p:nvSpPr>
          <p:cNvPr id="6" name="Text 4"/>
          <p:cNvSpPr/>
          <p:nvPr/>
        </p:nvSpPr>
        <p:spPr>
          <a:xfrm>
            <a:off x="457200" y="1645920"/>
            <a:ext cx="2560320" cy="2286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Temps de reponse</a:t>
            </a:r>
            <a:endParaRPr lang="en-US" sz="1400" dirty="0"/>
          </a:p>
        </p:txBody>
      </p:sp>
      <p:sp>
        <p:nvSpPr>
          <p:cNvPr id="7" name="Text 5"/>
          <p:cNvSpPr/>
          <p:nvPr/>
        </p:nvSpPr>
        <p:spPr>
          <a:xfrm>
            <a:off x="457200" y="1874520"/>
            <a:ext cx="2560320" cy="22860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en moyenne</a:t>
            </a:r>
            <a:endParaRPr lang="en-US" sz="1200" dirty="0"/>
          </a:p>
        </p:txBody>
      </p:sp>
      <p:sp>
        <p:nvSpPr>
          <p:cNvPr id="8" name="Shape 6"/>
          <p:cNvSpPr/>
          <p:nvPr/>
        </p:nvSpPr>
        <p:spPr>
          <a:xfrm>
            <a:off x="3291840" y="1097280"/>
            <a:ext cx="2560320" cy="1097280"/>
          </a:xfrm>
          <a:prstGeom prst="roundRect">
            <a:avLst>
              <a:gd name="adj" fmla="val 8333"/>
            </a:avLst>
          </a:prstGeom>
          <a:solidFill>
            <a:srgbClr val="2C5282"/>
          </a:solidFill>
          <a:ln/>
        </p:spPr>
      </p:sp>
      <p:sp>
        <p:nvSpPr>
          <p:cNvPr id="9" name="Text 7"/>
          <p:cNvSpPr/>
          <p:nvPr/>
        </p:nvSpPr>
        <p:spPr>
          <a:xfrm>
            <a:off x="3291840" y="1143000"/>
            <a:ext cx="2560320" cy="457200"/>
          </a:xfrm>
          <a:prstGeom prst="rect">
            <a:avLst/>
          </a:prstGeom>
          <a:noFill/>
          <a:ln/>
        </p:spPr>
        <p:txBody>
          <a:bodyPr wrap="square" rtlCol="0" anchor="ctr"/>
          <a:lstStyle/>
          <a:p>
            <a:pPr algn="ctr" indent="0" marL="0">
              <a:buNone/>
            </a:pPr>
            <a:r>
              <a:rPr lang="en-US" sz="3200" b="1" dirty="0">
                <a:solidFill>
                  <a:srgbClr val="63B3ED"/>
                </a:solidFill>
                <a:latin typeface="Arial" pitchFamily="34" charset="0"/>
                <a:ea typeface="Arial" pitchFamily="34" charset="-122"/>
                <a:cs typeface="Arial" pitchFamily="34" charset="-120"/>
              </a:rPr>
              <a:t>-85%</a:t>
            </a:r>
            <a:endParaRPr lang="en-US" sz="3200" dirty="0"/>
          </a:p>
        </p:txBody>
      </p:sp>
      <p:sp>
        <p:nvSpPr>
          <p:cNvPr id="10" name="Text 8"/>
          <p:cNvSpPr/>
          <p:nvPr/>
        </p:nvSpPr>
        <p:spPr>
          <a:xfrm>
            <a:off x="3291840" y="1645920"/>
            <a:ext cx="2560320" cy="2286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Charge DB</a:t>
            </a:r>
            <a:endParaRPr lang="en-US" sz="1400" dirty="0"/>
          </a:p>
        </p:txBody>
      </p:sp>
      <p:sp>
        <p:nvSpPr>
          <p:cNvPr id="11" name="Text 9"/>
          <p:cNvSpPr/>
          <p:nvPr/>
        </p:nvSpPr>
        <p:spPr>
          <a:xfrm>
            <a:off x="3291840" y="1874520"/>
            <a:ext cx="2560320" cy="22860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requetes reduites</a:t>
            </a:r>
            <a:endParaRPr lang="en-US" sz="1200" dirty="0"/>
          </a:p>
        </p:txBody>
      </p:sp>
      <p:sp>
        <p:nvSpPr>
          <p:cNvPr id="12" name="Shape 10"/>
          <p:cNvSpPr/>
          <p:nvPr/>
        </p:nvSpPr>
        <p:spPr>
          <a:xfrm>
            <a:off x="6126480" y="1097280"/>
            <a:ext cx="2560320" cy="1097280"/>
          </a:xfrm>
          <a:prstGeom prst="roundRect">
            <a:avLst>
              <a:gd name="adj" fmla="val 8333"/>
            </a:avLst>
          </a:prstGeom>
          <a:solidFill>
            <a:srgbClr val="2C5282"/>
          </a:solidFill>
          <a:ln/>
        </p:spPr>
      </p:sp>
      <p:sp>
        <p:nvSpPr>
          <p:cNvPr id="13" name="Text 11"/>
          <p:cNvSpPr/>
          <p:nvPr/>
        </p:nvSpPr>
        <p:spPr>
          <a:xfrm>
            <a:off x="6126480" y="1143000"/>
            <a:ext cx="2560320" cy="457200"/>
          </a:xfrm>
          <a:prstGeom prst="rect">
            <a:avLst/>
          </a:prstGeom>
          <a:noFill/>
          <a:ln/>
        </p:spPr>
        <p:txBody>
          <a:bodyPr wrap="square" rtlCol="0" anchor="ctr"/>
          <a:lstStyle/>
          <a:p>
            <a:pPr algn="ctr" indent="0" marL="0">
              <a:buNone/>
            </a:pPr>
            <a:r>
              <a:rPr lang="en-US" sz="3200" b="1" dirty="0">
                <a:solidFill>
                  <a:srgbClr val="63B3ED"/>
                </a:solidFill>
                <a:latin typeface="Arial" pitchFamily="34" charset="0"/>
                <a:ea typeface="Arial" pitchFamily="34" charset="-122"/>
                <a:cs typeface="Arial" pitchFamily="34" charset="-120"/>
              </a:rPr>
              <a:t>100%</a:t>
            </a:r>
            <a:endParaRPr lang="en-US" sz="3200" dirty="0"/>
          </a:p>
        </p:txBody>
      </p:sp>
      <p:sp>
        <p:nvSpPr>
          <p:cNvPr id="14" name="Text 12"/>
          <p:cNvSpPr/>
          <p:nvPr/>
        </p:nvSpPr>
        <p:spPr>
          <a:xfrm>
            <a:off x="6126480" y="1645920"/>
            <a:ext cx="2560320" cy="2286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Tests</a:t>
            </a:r>
            <a:endParaRPr lang="en-US" sz="1400" dirty="0"/>
          </a:p>
        </p:txBody>
      </p:sp>
      <p:sp>
        <p:nvSpPr>
          <p:cNvPr id="15" name="Text 13"/>
          <p:cNvSpPr/>
          <p:nvPr/>
        </p:nvSpPr>
        <p:spPr>
          <a:xfrm>
            <a:off x="6126480" y="1874520"/>
            <a:ext cx="2560320" cy="22860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tous passent</a:t>
            </a:r>
            <a:endParaRPr lang="en-US" sz="1200" dirty="0"/>
          </a:p>
        </p:txBody>
      </p:sp>
      <p:sp>
        <p:nvSpPr>
          <p:cNvPr id="16" name="Text 14"/>
          <p:cNvSpPr/>
          <p:nvPr/>
        </p:nvSpPr>
        <p:spPr>
          <a:xfrm>
            <a:off x="457200" y="237744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En conclusion, tous les objectifs ont ete atteints. Le temps de reponse moyen a ete reduit de quatre-vingt-dix-neuf pour cent. La charge sur PostgreSQL a diminue de quatre-vingt-cinq pour cent grace a la redirection des requetes vers Redis. Les huit tests unitaires passent tous. L'integration du cache distribue avec Redis et Docker Compose a ameliore significativement les performances.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Bonnes Pratiques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Tout au long de ce projet, nous avons applique plusieurs bonnes pratiques essentielles. Premierement, choisir un TTL adapte a chaque type de donnee : les categories changent rarement et ont un TTL long de trente minutes, tandis que les commentaires dynamiques ont un TTL court de deux minutes. Deuxiemement, l'invalidation doit etre systematique.</a:t>
            </a:r>
            <a:endParaRPr lang="en-US" sz="1800" dirty="0"/>
          </a:p>
        </p:txBody>
      </p:sp>
      <p:sp>
        <p:nvSpPr>
          <p:cNvPr id="5" name="Text 3"/>
          <p:cNvSpPr/>
          <p:nvPr/>
        </p:nvSpPr>
        <p:spPr>
          <a:xfrm>
            <a:off x="640080" y="265176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TTL adapte : categories 30min, commentaires 2min</a:t>
            </a:r>
            <a:endParaRPr lang="en-US" sz="1800" dirty="0"/>
          </a:p>
        </p:txBody>
      </p:sp>
      <p:sp>
        <p:nvSpPr>
          <p:cNvPr id="6" name="Text 4"/>
          <p:cNvSpPr/>
          <p:nvPr/>
        </p:nvSpPr>
        <p:spPr>
          <a:xfrm>
            <a:off x="640080" y="306324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Invalidation systematique lors des ecritures</a:t>
            </a:r>
            <a:endParaRPr lang="en-US" sz="1800" dirty="0"/>
          </a:p>
        </p:txBody>
      </p:sp>
      <p:sp>
        <p:nvSpPr>
          <p:cNvPr id="7" name="Text 5"/>
          <p:cNvSpPr/>
          <p:nvPr/>
        </p:nvSpPr>
        <p:spPr>
          <a:xfrm>
            <a:off x="640080" y="34747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Prefixe saas: pour eviter les collisions</a:t>
            </a:r>
            <a:endParaRPr lang="en-US" sz="1800" dirty="0"/>
          </a:p>
        </p:txBody>
      </p:sp>
      <p:sp>
        <p:nvSpPr>
          <p:cNvPr id="8" name="Text 6"/>
          <p:cNvSpPr/>
          <p:nvPr/>
        </p:nvSpPr>
        <p:spPr>
          <a:xfrm>
            <a:off x="640080" y="38862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Tests unitaires pour valider le comportement</a:t>
            </a:r>
            <a:endParaRPr lang="en-US" sz="1800" dirty="0"/>
          </a:p>
        </p:txBody>
      </p:sp>
      <p:sp>
        <p:nvSpPr>
          <p:cNvPr id="9" name="Text 7"/>
          <p:cNvSpPr/>
          <p:nvPr/>
        </p:nvSpPr>
        <p:spPr>
          <a:xfrm>
            <a:off x="640080" y="42976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Monitoring et logs pour suivre l'utilisation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Conclusion et Perspectives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Plusieurs pistes d'amelioration sont envisageables pour renforcer encore notre solution de cache distribue. Premierement, nous pourrions mettre en place un cluster Redis avec replication pour garantir la haute disponibilite. Deuxiemement, l'ajout d'un cache LRU local cote application pourrait complemeter Redis et reduire encore davantage la latence.</a:t>
            </a:r>
            <a:endParaRPr lang="en-US" sz="1800" dirty="0"/>
          </a:p>
        </p:txBody>
      </p:sp>
      <p:sp>
        <p:nvSpPr>
          <p:cNvPr id="5" name="Text 3"/>
          <p:cNvSpPr/>
          <p:nvPr/>
        </p:nvSpPr>
        <p:spPr>
          <a:xfrm>
            <a:off x="640080" y="24688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Cluster Redis avec replication pour haute disponibilite</a:t>
            </a:r>
            <a:endParaRPr lang="en-US" sz="1800" dirty="0"/>
          </a:p>
        </p:txBody>
      </p:sp>
      <p:sp>
        <p:nvSpPr>
          <p:cNvPr id="6" name="Text 4"/>
          <p:cNvSpPr/>
          <p:nvPr/>
        </p:nvSpPr>
        <p:spPr>
          <a:xfrm>
            <a:off x="640080" y="288036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Cache LRU local cote application</a:t>
            </a:r>
            <a:endParaRPr lang="en-US" sz="1800" dirty="0"/>
          </a:p>
        </p:txBody>
      </p:sp>
      <p:sp>
        <p:nvSpPr>
          <p:cNvPr id="7" name="Text 5"/>
          <p:cNvSpPr/>
          <p:nvPr/>
        </p:nvSpPr>
        <p:spPr>
          <a:xfrm>
            <a:off x="640080" y="329184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Cache warming pour precharger les donnees populaires</a:t>
            </a:r>
            <a:endParaRPr lang="en-US" sz="1800" dirty="0"/>
          </a:p>
        </p:txBody>
      </p:sp>
      <p:sp>
        <p:nvSpPr>
          <p:cNvPr id="8" name="Text 6"/>
          <p:cNvSpPr/>
          <p:nvPr/>
        </p:nvSpPr>
        <p:spPr>
          <a:xfrm>
            <a:off x="640080" y="37033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Redis Streams pour invalidation en temps reel multi-serveur</a:t>
            </a:r>
            <a:endParaRPr lang="en-US" sz="1800" dirty="0"/>
          </a:p>
        </p:txBody>
      </p:sp>
      <p:sp>
        <p:nvSpPr>
          <p:cNvPr id="9" name="Text 7"/>
          <p:cNvSpPr/>
          <p:nvPr/>
        </p:nvSpPr>
        <p:spPr>
          <a:xfrm>
            <a:off x="640080" y="41148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Dashboard de monitoring des taux de hit et miss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731520"/>
            <a:ext cx="8229600" cy="731520"/>
          </a:xfrm>
          <a:prstGeom prst="rect">
            <a:avLst/>
          </a:prstGeom>
          <a:noFill/>
          <a:ln/>
        </p:spPr>
        <p:txBody>
          <a:bodyPr wrap="square"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Merci de votre attention</a:t>
            </a:r>
            <a:endParaRPr lang="en-US" sz="3600" dirty="0"/>
          </a:p>
        </p:txBody>
      </p:sp>
      <p:sp>
        <p:nvSpPr>
          <p:cNvPr id="3" name="Shape 1"/>
          <p:cNvSpPr/>
          <p:nvPr/>
        </p:nvSpPr>
        <p:spPr>
          <a:xfrm>
            <a:off x="3657600" y="1463040"/>
            <a:ext cx="1828800" cy="45720"/>
          </a:xfrm>
          <a:prstGeom prst="rect">
            <a:avLst/>
          </a:prstGeom>
          <a:solidFill>
            <a:srgbClr val="63B3ED"/>
          </a:solidFill>
          <a:ln/>
        </p:spPr>
      </p:sp>
      <p:sp>
        <p:nvSpPr>
          <p:cNvPr id="4" name="Text 2"/>
          <p:cNvSpPr/>
          <p:nvPr/>
        </p:nvSpPr>
        <p:spPr>
          <a:xfrm>
            <a:off x="457200" y="1645920"/>
            <a:ext cx="8229600" cy="457200"/>
          </a:xfrm>
          <a:prstGeom prst="rect">
            <a:avLst/>
          </a:prstGeom>
          <a:noFill/>
          <a:ln/>
        </p:spPr>
        <p:txBody>
          <a:bodyPr wrap="square" rtlCol="0" anchor="ctr"/>
          <a:lstStyle/>
          <a:p>
            <a:pPr algn="ctr" indent="0" marL="0">
              <a:buNone/>
            </a:pPr>
            <a:r>
              <a:rPr lang="en-US" sz="2400" dirty="0">
                <a:solidFill>
                  <a:srgbClr val="E2E8F0"/>
                </a:solidFill>
                <a:latin typeface="Arial" pitchFamily="34" charset="0"/>
                <a:ea typeface="Arial" pitchFamily="34" charset="-122"/>
                <a:cs typeface="Arial" pitchFamily="34" charset="-120"/>
              </a:rPr>
              <a:t>Questions et Discussion</a:t>
            </a:r>
            <a:endParaRPr lang="en-US" sz="2400" dirty="0"/>
          </a:p>
        </p:txBody>
      </p:sp>
      <p:sp>
        <p:nvSpPr>
          <p:cNvPr id="5" name="Shape 3"/>
          <p:cNvSpPr/>
          <p:nvPr/>
        </p:nvSpPr>
        <p:spPr>
          <a:xfrm>
            <a:off x="2286000" y="2286000"/>
            <a:ext cx="4572000" cy="1097280"/>
          </a:xfrm>
          <a:prstGeom prst="roundRect">
            <a:avLst>
              <a:gd name="adj" fmla="val 8333"/>
            </a:avLst>
          </a:prstGeom>
          <a:solidFill>
            <a:srgbClr val="2C5282"/>
          </a:solidFill>
          <a:ln w="25400">
            <a:solidFill>
              <a:srgbClr val="63B3ED"/>
            </a:solidFill>
            <a:prstDash val="solid"/>
          </a:ln>
        </p:spPr>
      </p:sp>
      <p:sp>
        <p:nvSpPr>
          <p:cNvPr id="6" name="Text 4"/>
          <p:cNvSpPr/>
          <p:nvPr/>
        </p:nvSpPr>
        <p:spPr>
          <a:xfrm>
            <a:off x="2286000" y="2331720"/>
            <a:ext cx="4572000" cy="274320"/>
          </a:xfrm>
          <a:prstGeom prst="rect">
            <a:avLst/>
          </a:prstGeom>
          <a:noFill/>
          <a:ln/>
        </p:spPr>
        <p:txBody>
          <a:bodyPr wrap="square" rtlCol="0" anchor="ctr"/>
          <a:lstStyle/>
          <a:p>
            <a:pPr algn="ctr" indent="0" marL="0">
              <a:buNone/>
            </a:pPr>
            <a:r>
              <a:rPr lang="en-US" sz="1400" dirty="0">
                <a:solidFill>
                  <a:srgbClr val="E2E8F0"/>
                </a:solidFill>
                <a:latin typeface="Arial" pitchFamily="34" charset="0"/>
                <a:ea typeface="Arial" pitchFamily="34" charset="-122"/>
                <a:cs typeface="Arial" pitchFamily="34" charset="-120"/>
              </a:rPr>
              <a:t>Presente par</a:t>
            </a:r>
            <a:endParaRPr lang="en-US" sz="1400" dirty="0"/>
          </a:p>
        </p:txBody>
      </p:sp>
      <p:sp>
        <p:nvSpPr>
          <p:cNvPr id="7" name="Text 5"/>
          <p:cNvSpPr/>
          <p:nvPr/>
        </p:nvSpPr>
        <p:spPr>
          <a:xfrm>
            <a:off x="2286000" y="2606040"/>
            <a:ext cx="4572000" cy="32004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Omar Sarsar &amp; Iliass Hariz</a:t>
            </a:r>
            <a:endParaRPr lang="en-US" sz="2000" dirty="0"/>
          </a:p>
        </p:txBody>
      </p:sp>
      <p:sp>
        <p:nvSpPr>
          <p:cNvPr id="8" name="Text 6"/>
          <p:cNvSpPr/>
          <p:nvPr/>
        </p:nvSpPr>
        <p:spPr>
          <a:xfrm>
            <a:off x="2286000" y="2926080"/>
            <a:ext cx="4572000" cy="274320"/>
          </a:xfrm>
          <a:prstGeom prst="rect">
            <a:avLst/>
          </a:prstGeom>
          <a:noFill/>
          <a:ln/>
        </p:spPr>
        <p:txBody>
          <a:bodyPr wrap="square" rtlCol="0" anchor="ctr"/>
          <a:lstStyle/>
          <a:p>
            <a:pPr algn="ctr" indent="0" marL="0">
              <a:buNone/>
            </a:pPr>
            <a:r>
              <a:rPr lang="en-US" sz="1600" dirty="0">
                <a:solidFill>
                  <a:srgbClr val="E2E8F0"/>
                </a:solidFill>
                <a:latin typeface="Arial" pitchFamily="34" charset="0"/>
                <a:ea typeface="Arial" pitchFamily="34" charset="-122"/>
                <a:cs typeface="Arial" pitchFamily="34" charset="-120"/>
              </a:rPr>
              <a:t>2026</a:t>
            </a:r>
            <a:endParaRPr lang="en-US" sz="1600" dirty="0"/>
          </a:p>
        </p:txBody>
      </p:sp>
      <p:sp>
        <p:nvSpPr>
          <p:cNvPr id="9" name="Text 7"/>
          <p:cNvSpPr/>
          <p:nvPr/>
        </p:nvSpPr>
        <p:spPr>
          <a:xfrm>
            <a:off x="457200" y="3566160"/>
            <a:ext cx="8229600" cy="1371600"/>
          </a:xfrm>
          <a:prstGeom prst="rect">
            <a:avLst/>
          </a:prstGeom>
          <a:noFill/>
          <a:ln/>
        </p:spPr>
        <p:txBody>
          <a:bodyPr wrap="square" rtlCol="0" anchor="t"/>
          <a:lstStyle/>
          <a:p>
            <a:pPr algn="ctr" indent="0" marL="0">
              <a:buNone/>
            </a:pPr>
            <a:r>
              <a:rPr lang="en-US" sz="1800" dirty="0">
                <a:solidFill>
                  <a:srgbClr val="E2E8F0"/>
                </a:solidFill>
                <a:latin typeface="Arial" pitchFamily="34" charset="0"/>
                <a:ea typeface="Arial" pitchFamily="34" charset="-122"/>
                <a:cs typeface="Arial" pitchFamily="34" charset="-120"/>
              </a:rPr>
              <a:t>Nous vous remercions pour votre attention. Ce projet a demontre que Redis reduit drastiquement les temps de reponse et la charge sur la base de donnees, tout en maintenant la coherence. Nous esperons que cette presentation vous a donne une vision claire du caching distribue.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2026-05-21T19:08:21Z</dcterms:created>
  <dcterms:modified xsi:type="dcterms:W3CDTF">2026-05-21T19:08:21Z</dcterms:modified>
</cp:coreProperties>
</file>