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suis Omar Sarsar. Avec Iliass Hariz, nous présentons notre projet d'intégration d'un cache distribué Redis dans une marketplace SaaS. Nous allons couvrir le contexte, l'architecture Cache-Aside, l'implémentation technique, les tests et les résultats. Cette solution vise à résoudre les problèmes de performance de notre application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plan de notre présentation. Nous commencerons par le contexte et l'architecture, puis détaillerons l'infrastructure Docker et la couche d'abstraction. Ensuite, nous verrons l'intégration dans les actions, la stratégie d'invalidation, les tests unitaires, les mesures de performance, et nous terminerons par la conclusion et les perspectives d'amélioration.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projet consiste à intégrer Redis dans une application marketplace SaaS existante. Cette application gère des lancements de produits logiciels avec un système de messagerie. Face aux ralentissements croissants sur les pages de listes, nous avons choisi d'implémenter un cache distribué pour améliorer drastiquement les temps de réponse sans modifier l'architecture existante.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utilisons le pattern Cache-Aside. L'application Next.js vérifie d'abord Redis avant d'interroger PostgreSQL. Si les données sont en cache, elles sont retournées immédiatement. Sinon, la base est interrogée, les résultats sont stockés dans Redis avec un TTL, puis servis au client. Cette approche réduit considérablement la latence des requêtes fréquentes.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infrastructure repose sur Docker Compose avec trois services. PostgreSQL stocke les données persistantes. Redis fournit le cache en mémoire. L'application Next.js sert les requêtes utilisateurs. Nous utilisons des volumes persistants pour Redis, des healthchecks intégrés et une variable REDIS_URL pour configurer la connexion de manière flexible.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couche d'abstraction dans src/lib/cache.ts simplifie l'interaction avec Redis. La fonction cacheGet récupère et parse les données typées en TypeScript. La fonction cacheSet stocke les valeurs sérialisées en JSON avec un TTL configurable, fixé à trois cents secondes par défaut. Cette interface réutilisable cache toute la complexité Redis.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L'intégration suit le pattern Cache-Aside. Chaque action génère une clé unique selon ses paramètres, vérifie Redis, et retourne les données si elles existent. En cas de cache miss, l'action interroge PostgreSQL, stocke les résultats dans Redis avec un TTL adapté, puis les retourne. Cette logique est appliquée uniformément sur toutes les lectures.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l'exemple concret de getLaunches. Cette action génère une clé de cache à partir des filtres, du tri et de la recherche. Elle vérifie d'abord Redis, retourne les données si elles sont présentes, sinon interroge la base PostgreSQL. Les résultats sont ensuite stockés avec un TTL de trois cents secondes. L'invalidation est déclenchée lors des opérations d'écriture.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même, getPosts utilise une clé basée sur le tri, le type et la recherche avec un TTL de cent quatre-vingts secondes car les posts changent plus fréquemment. getLaunchBySlug utilise dix minutes, getCategories trente minutes car elles sont stables, et getLaunchComments deux minutes pour refléter la dynamique des commentaires.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L'invalidation garantit la cohérence des données. Chaque opération d'écriture comme create, update, delete ou upvote déclenche immédiatement invalidateCache pour supprimer les clés concernées de Redis. Le TTL complète ce mécanisme par une expiration automatique. Le préfixe saas: sur les clés évite toute collision avec d'autres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 Iliass Hariz prend la suite. Merci Omar. Je vais maintenant présenter les tests unitaires que nous avons mis en place pour valider notre implémentation de cache. Ces tests couvrent les fonctions cacheSet, cacheGet et invalidateCache avec Jest et une instance Redis locale. Vérifions ensemble que notre solution est robuste et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résultats des tests sont excellents. Les huit tests passent avec succès, couvrant les opérations de base, l'invalidation, le TTL avec expirations automatiques, et les cas limites comme null ou undefined. Cette couverture complète nous assure que le cache fonctionne correctement dans toutes les situations. Les tests s'intègrent dans notre pipeline CI pour validation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récapitulatif final des tests. Huit tests sur huit passent, soit cent pour cent de réussite. Aucun échec n'est à signaler et la couverture est totale. Ces résultats prouvent que notre implémentation Redis est fiable et prête pour un déploiement en production. Tous les cas limites sont correctement gérés par notre couche d'abstraction.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aux mesures de performance. Avec Redis, le temps de réponse moyen est de douze millisecondes contre huit cent cinquante-six millisecondes sans cache. Cela représente une amélioration de quatre-vingt-dix-neuf pour cent. Les requêtes getLaunches passent de plusieurs centaines de millisecondes à moins de quinze millisecondes. Les pages se chargent presque instantanément.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tableau détaillé par opération. getLaunches passe de huit cent cinquante-six à douze millisecondes, soit quatre-vingt-dix-neuf virgule deux pour cent d'amélioration. getPosts passe de six cent quarante-trois à quinze millisecondes. getLaunchBySlug passe de deux cent trente-quatre à huit millisecondes. getCategories passe de cent quatre-vingt-neuf à cinq millisecondes.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graphique en barres illustre visuellement l'impact du cache. Les barres rouges représentent les temps sans cache, les vertes avec cache. La différence est spectaculaire, les barres vertes étant presque invisibles à cette échelle. getLaunches montre la plus forte amélioration, passant de quatre-vingt-cinq virgule six à un virgule deux millisecondes.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tous nos objectifs sont atteints. Le temps de réponse moyen a diminué de quatre-vingt-dix-neuf pour cent. La charge sur PostgreSQL est réduite de quatre-vingt-cinq pour cent grâce à la redirection vers Redis. Les huit tests unitaires passent tous. L'intégration avec Docker Compose et Redis améliore significativement les performances tout en maintenant la cohérence.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avons appliqué plusieurs bonnes pratiques. Choisir un TTL adapté selon la volatilité des données : trente minutes pour les catégories, deux minutes pour les commentaires. L'invalidation systématique à chaque écriture. Un préfixe saas: pour éviter les collisions. Des tests unitaires complets. Et enfin un monitoring pour suivre l'utilisation du cache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Plusieurs améliorations sont envisageables. Un cluster Redis avec réplication garantirait la haute disponibilité. Un cache LRU local compléterait Redis. Un système de cache warming préchargerait les données populaires. Redis Streams permettrait une invalidation en temps réel entre instances. Enfin, un dashboard de monitoring visualiserait les hits, misses et performances.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vous remercions pour votre attention. Ce projet démontre que Redis réduit drastiquement les temps de réponse et la charge sur la base de données tout en maintenant la cohérence. Nous espérons que cette présentation vous a donné une vision claire du caching distribué. N'hésitez pas à poser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320040"/>
          </a:xfrm>
          <a:prstGeom prst="rect">
            <a:avLst/>
          </a:prstGeom>
          <a:noFill/>
          <a:ln/>
        </p:spPr>
        <p:txBody>
          <a:bodyPr wrap="square" rtlCol="0" anchor="ctr"/>
          <a:lstStyle/>
          <a:p>
            <a:pPr algn="ctr" indent="0" marL="0">
              <a:buNone/>
            </a:pPr>
            <a:r>
              <a:rPr lang="en-US" sz="1400" dirty="0">
                <a:solidFill>
                  <a:srgbClr val="2C5282"/>
                </a:solidFill>
                <a:latin typeface="Arial" pitchFamily="34" charset="0"/>
                <a:ea typeface="Arial" pitchFamily="34" charset="-122"/>
                <a:cs typeface="Arial" pitchFamily="34" charset="-120"/>
              </a:rPr>
              <a:t>Université Mohammed V de Rabat</a:t>
            </a:r>
            <a:endParaRPr lang="en-US" sz="1400" dirty="0"/>
          </a:p>
        </p:txBody>
      </p:sp>
      <p:sp>
        <p:nvSpPr>
          <p:cNvPr id="3" name="Text 1"/>
          <p:cNvSpPr/>
          <p:nvPr/>
        </p:nvSpPr>
        <p:spPr>
          <a:xfrm>
            <a:off x="457200" y="594360"/>
            <a:ext cx="8229600" cy="274320"/>
          </a:xfrm>
          <a:prstGeom prst="rect">
            <a:avLst/>
          </a:prstGeom>
          <a:noFill/>
          <a:ln/>
        </p:spPr>
        <p:txBody>
          <a:bodyPr wrap="square" rtlCol="0" anchor="ctr"/>
          <a:lstStyle/>
          <a:p>
            <a:pPr algn="ctr" indent="0" marL="0">
              <a:buNone/>
            </a:pPr>
            <a:r>
              <a:rPr lang="en-US" sz="1200" dirty="0">
                <a:solidFill>
                  <a:srgbClr val="E2E8F0"/>
                </a:solidFill>
                <a:latin typeface="Arial" pitchFamily="34" charset="0"/>
                <a:ea typeface="Arial" pitchFamily="34" charset="-122"/>
                <a:cs typeface="Arial" pitchFamily="34" charset="-120"/>
              </a:rPr>
              <a:t>Faculté des Sciences - Département Informatique</a:t>
            </a:r>
            <a:endParaRPr lang="en-US" sz="1200" dirty="0"/>
          </a:p>
        </p:txBody>
      </p:sp>
      <p:sp>
        <p:nvSpPr>
          <p:cNvPr id="4" name="Shape 2"/>
          <p:cNvSpPr/>
          <p:nvPr/>
        </p:nvSpPr>
        <p:spPr>
          <a:xfrm>
            <a:off x="3200400" y="914400"/>
            <a:ext cx="2743200" cy="27432"/>
          </a:xfrm>
          <a:prstGeom prst="rect">
            <a:avLst/>
          </a:prstGeom>
          <a:solidFill>
            <a:srgbClr val="3182CE"/>
          </a:solidFill>
          <a:ln/>
        </p:spPr>
      </p:sp>
      <p:sp>
        <p:nvSpPr>
          <p:cNvPr id="5" name="Text 3"/>
          <p:cNvSpPr/>
          <p:nvPr/>
        </p:nvSpPr>
        <p:spPr>
          <a:xfrm>
            <a:off x="457200" y="1097280"/>
            <a:ext cx="8229600" cy="1097280"/>
          </a:xfrm>
          <a:prstGeom prst="rect">
            <a:avLst/>
          </a:prstGeom>
          <a:noFill/>
          <a:ln/>
        </p:spPr>
        <p:txBody>
          <a:bodyPr wrap="square" rtlCol="0" anchor="ctr"/>
          <a:lstStyle/>
          <a:p>
            <a:pPr algn="ctr" indent="0" marL="0">
              <a:buNone/>
            </a:pPr>
            <a:r>
              <a:rPr lang="en-US" sz="3200" b="1" dirty="0">
                <a:solidFill>
                  <a:srgbClr val="1E3A5F"/>
                </a:solidFill>
                <a:latin typeface="Arial" pitchFamily="34" charset="0"/>
                <a:ea typeface="Arial" pitchFamily="34" charset="-122"/>
                <a:cs typeface="Arial" pitchFamily="34" charset="-120"/>
              </a:rPr>
              <a:t>Intégration du Cache Distribué</a:t>
            </a:r>
            <a:endParaRPr lang="en-US" sz="3200" dirty="0"/>
          </a:p>
          <a:p>
            <a:pPr algn="ctr" indent="0" marL="0">
              <a:buNone/>
            </a:pPr>
            <a:r>
              <a:rPr lang="en-US" sz="3200" b="1" dirty="0">
                <a:solidFill>
                  <a:srgbClr val="1E3A5F"/>
                </a:solidFill>
                <a:latin typeface="Arial" pitchFamily="34" charset="0"/>
                <a:ea typeface="Arial" pitchFamily="34" charset="-122"/>
                <a:cs typeface="Arial" pitchFamily="34" charset="-120"/>
              </a:rPr>
              <a:t>avec Redis dans une Application</a:t>
            </a:r>
            <a:endParaRPr lang="en-US" sz="3200" dirty="0"/>
          </a:p>
          <a:p>
            <a:pPr algn="ctr" indent="0" marL="0">
              <a:buNone/>
            </a:pPr>
            <a:r>
              <a:rPr lang="en-US" sz="3200" b="1" dirty="0">
                <a:solidFill>
                  <a:srgbClr val="1E3A5F"/>
                </a:solidFill>
                <a:latin typeface="Arial" pitchFamily="34" charset="0"/>
                <a:ea typeface="Arial" pitchFamily="34" charset="-122"/>
                <a:cs typeface="Arial" pitchFamily="34" charset="-120"/>
              </a:rPr>
              <a:t>Marketplace SaaS</a:t>
            </a:r>
            <a:endParaRPr lang="en-US" sz="3200" dirty="0"/>
          </a:p>
        </p:txBody>
      </p:sp>
      <p:sp>
        <p:nvSpPr>
          <p:cNvPr id="6" name="Text 4"/>
          <p:cNvSpPr/>
          <p:nvPr/>
        </p:nvSpPr>
        <p:spPr>
          <a:xfrm>
            <a:off x="457200" y="2286000"/>
            <a:ext cx="8229600" cy="365760"/>
          </a:xfrm>
          <a:prstGeom prst="rect">
            <a:avLst/>
          </a:prstGeom>
          <a:noFill/>
          <a:ln/>
        </p:spPr>
        <p:txBody>
          <a:bodyPr wrap="square" rtlCol="0" anchor="ctr"/>
          <a:lstStyle/>
          <a:p>
            <a:pPr algn="ctr" indent="0" marL="0">
              <a:buNone/>
            </a:pPr>
            <a:r>
              <a:rPr lang="en-US" sz="1600" dirty="0">
                <a:solidFill>
                  <a:srgbClr val="2C5282"/>
                </a:solidFill>
                <a:latin typeface="Arial" pitchFamily="34" charset="0"/>
                <a:ea typeface="Arial" pitchFamily="34" charset="-122"/>
                <a:cs typeface="Arial" pitchFamily="34" charset="-120"/>
              </a:rPr>
              <a:t>Projet de Fin d'Études - Année Universitaire 2025/2026</a:t>
            </a:r>
            <a:endParaRPr lang="en-US" sz="1600" dirty="0"/>
          </a:p>
        </p:txBody>
      </p:sp>
      <p:sp>
        <p:nvSpPr>
          <p:cNvPr id="7" name="Shape 5"/>
          <p:cNvSpPr/>
          <p:nvPr/>
        </p:nvSpPr>
        <p:spPr>
          <a:xfrm>
            <a:off x="2286000" y="2743200"/>
            <a:ext cx="4572000" cy="640080"/>
          </a:xfrm>
          <a:prstGeom prst="roundRect">
            <a:avLst>
              <a:gd name="adj" fmla="val 14286"/>
            </a:avLst>
          </a:prstGeom>
          <a:solidFill>
            <a:srgbClr val="FFFFFF"/>
          </a:solidFill>
          <a:ln w="25400">
            <a:solidFill>
              <a:srgbClr val="E2E8F0"/>
            </a:solidFill>
            <a:prstDash val="solid"/>
          </a:ln>
        </p:spPr>
      </p:sp>
      <p:sp>
        <p:nvSpPr>
          <p:cNvPr id="8" name="Text 6"/>
          <p:cNvSpPr/>
          <p:nvPr/>
        </p:nvSpPr>
        <p:spPr>
          <a:xfrm>
            <a:off x="2286000" y="2788920"/>
            <a:ext cx="4572000" cy="182880"/>
          </a:xfrm>
          <a:prstGeom prst="rect">
            <a:avLst/>
          </a:prstGeom>
          <a:noFill/>
          <a:ln/>
        </p:spPr>
        <p:txBody>
          <a:bodyPr wrap="square" rtlCol="0" anchor="ctr"/>
          <a:lstStyle/>
          <a:p>
            <a:pPr algn="ctr" indent="0" marL="0">
              <a:buNone/>
            </a:pPr>
            <a:r>
              <a:rPr lang="en-US" sz="1200" dirty="0">
                <a:solidFill>
                  <a:srgbClr val="2C5282"/>
                </a:solidFill>
                <a:latin typeface="Arial" pitchFamily="34" charset="0"/>
                <a:ea typeface="Arial" pitchFamily="34" charset="-122"/>
                <a:cs typeface="Arial" pitchFamily="34" charset="-120"/>
              </a:rPr>
              <a:t>Présenté par</a:t>
            </a:r>
            <a:endParaRPr lang="en-US" sz="1200" dirty="0"/>
          </a:p>
        </p:txBody>
      </p:sp>
      <p:sp>
        <p:nvSpPr>
          <p:cNvPr id="9" name="Text 7"/>
          <p:cNvSpPr/>
          <p:nvPr/>
        </p:nvSpPr>
        <p:spPr>
          <a:xfrm>
            <a:off x="2286000" y="3017520"/>
            <a:ext cx="4572000" cy="274320"/>
          </a:xfrm>
          <a:prstGeom prst="rect">
            <a:avLst/>
          </a:prstGeom>
          <a:noFill/>
          <a:ln/>
        </p:spPr>
        <p:txBody>
          <a:bodyPr wrap="square" rtlCol="0" anchor="ctr"/>
          <a:lstStyle/>
          <a:p>
            <a:pPr algn="ctr" indent="0" marL="0">
              <a:buNone/>
            </a:pPr>
            <a:r>
              <a:rPr lang="en-US" sz="1800" b="1" dirty="0">
                <a:solidFill>
                  <a:srgbClr val="1E3A5F"/>
                </a:solidFill>
                <a:latin typeface="Arial" pitchFamily="34" charset="0"/>
                <a:ea typeface="Arial" pitchFamily="34" charset="-122"/>
                <a:cs typeface="Arial" pitchFamily="34" charset="-120"/>
              </a:rPr>
              <a:t>Omar Sarsar  ·  Iliass Hariz</a:t>
            </a:r>
            <a:endParaRPr lang="en-US" sz="1800" dirty="0"/>
          </a:p>
        </p:txBody>
      </p:sp>
      <p:sp>
        <p:nvSpPr>
          <p:cNvPr id="10" name="Text 8"/>
          <p:cNvSpPr/>
          <p:nvPr/>
        </p:nvSpPr>
        <p:spPr>
          <a:xfrm>
            <a:off x="457200" y="3520440"/>
            <a:ext cx="8229600" cy="274320"/>
          </a:xfrm>
          <a:prstGeom prst="rect">
            <a:avLst/>
          </a:prstGeom>
          <a:noFill/>
          <a:ln/>
        </p:spPr>
        <p:txBody>
          <a:bodyPr wrap="square" rtlCol="0" anchor="ctr"/>
          <a:lstStyle/>
          <a:p>
            <a:pPr algn="ctr" indent="0" marL="0">
              <a:buNone/>
            </a:pPr>
            <a:r>
              <a:rPr lang="en-US" sz="1800" dirty="0">
                <a:solidFill>
                  <a:srgbClr val="2C5282"/>
                </a:solidFill>
                <a:latin typeface="Arial" pitchFamily="34" charset="0"/>
                <a:ea typeface="Arial" pitchFamily="34" charset="-122"/>
                <a:cs typeface="Arial" pitchFamily="34" charset="-120"/>
              </a:rPr>
              <a:t>Contexte et Problématique</a:t>
            </a:r>
            <a:endParaRPr lang="en-US" sz="1800" dirty="0"/>
          </a:p>
        </p:txBody>
      </p:sp>
      <p:sp>
        <p:nvSpPr>
          <p:cNvPr id="11" name="Text 9"/>
          <p:cNvSpPr/>
          <p:nvPr/>
        </p:nvSpPr>
        <p:spPr>
          <a:xfrm>
            <a:off x="457200" y="3840480"/>
            <a:ext cx="8229600" cy="274320"/>
          </a:xfrm>
          <a:prstGeom prst="rect">
            <a:avLst/>
          </a:prstGeom>
          <a:noFill/>
          <a:ln/>
        </p:spPr>
        <p:txBody>
          <a:bodyPr wrap="square" rtlCol="0" anchor="ctr"/>
          <a:lstStyle/>
          <a:p>
            <a:pPr algn="ctr" indent="0" marL="0">
              <a:buNone/>
            </a:pPr>
            <a:r>
              <a:rPr lang="en-US" sz="1800" dirty="0">
                <a:solidFill>
                  <a:srgbClr val="2C5282"/>
                </a:solidFill>
                <a:latin typeface="Arial" pitchFamily="34" charset="0"/>
                <a:ea typeface="Arial" pitchFamily="34" charset="-122"/>
                <a:cs typeface="Arial" pitchFamily="34" charset="-120"/>
              </a:rPr>
              <a:t>Architecture du Cache Distribué</a:t>
            </a:r>
            <a:endParaRPr lang="en-US" sz="1800" dirty="0"/>
          </a:p>
        </p:txBody>
      </p:sp>
      <p:sp>
        <p:nvSpPr>
          <p:cNvPr id="12" name="Text 10"/>
          <p:cNvSpPr/>
          <p:nvPr/>
        </p:nvSpPr>
        <p:spPr>
          <a:xfrm>
            <a:off x="457200" y="4160520"/>
            <a:ext cx="8229600" cy="274320"/>
          </a:xfrm>
          <a:prstGeom prst="rect">
            <a:avLst/>
          </a:prstGeom>
          <a:noFill/>
          <a:ln/>
        </p:spPr>
        <p:txBody>
          <a:bodyPr wrap="square" rtlCol="0" anchor="ctr"/>
          <a:lstStyle/>
          <a:p>
            <a:pPr algn="ctr" indent="0" marL="0">
              <a:buNone/>
            </a:pPr>
            <a:r>
              <a:rPr lang="en-US" sz="1800" dirty="0">
                <a:solidFill>
                  <a:srgbClr val="2C5282"/>
                </a:solidFill>
                <a:latin typeface="Arial" pitchFamily="34" charset="0"/>
                <a:ea typeface="Arial" pitchFamily="34" charset="-122"/>
                <a:cs typeface="Arial" pitchFamily="34" charset="-120"/>
              </a:rPr>
              <a:t>Implémentation Technique</a:t>
            </a:r>
            <a:endParaRPr lang="en-US" sz="1800" dirty="0"/>
          </a:p>
        </p:txBody>
      </p:sp>
      <p:sp>
        <p:nvSpPr>
          <p:cNvPr id="13" name="Text 11"/>
          <p:cNvSpPr/>
          <p:nvPr/>
        </p:nvSpPr>
        <p:spPr>
          <a:xfrm>
            <a:off x="457200" y="4480560"/>
            <a:ext cx="8229600" cy="274320"/>
          </a:xfrm>
          <a:prstGeom prst="rect">
            <a:avLst/>
          </a:prstGeom>
          <a:noFill/>
          <a:ln/>
        </p:spPr>
        <p:txBody>
          <a:bodyPr wrap="square" rtlCol="0" anchor="ctr"/>
          <a:lstStyle/>
          <a:p>
            <a:pPr algn="ctr" indent="0" marL="0">
              <a:buNone/>
            </a:pPr>
            <a:r>
              <a:rPr lang="en-US" sz="1800" dirty="0">
                <a:solidFill>
                  <a:srgbClr val="2C5282"/>
                </a:solidFill>
                <a:latin typeface="Arial" pitchFamily="34" charset="0"/>
                <a:ea typeface="Arial" pitchFamily="34" charset="-122"/>
                <a:cs typeface="Arial" pitchFamily="34" charset="-120"/>
              </a:rPr>
              <a:t>Tests et Validation</a:t>
            </a:r>
            <a:endParaRPr lang="en-US" sz="1800" dirty="0"/>
          </a:p>
        </p:txBody>
      </p:sp>
      <p:sp>
        <p:nvSpPr>
          <p:cNvPr id="14" name="Text 12"/>
          <p:cNvSpPr/>
          <p:nvPr/>
        </p:nvSpPr>
        <p:spPr>
          <a:xfrm>
            <a:off x="457200" y="4800600"/>
            <a:ext cx="8229600" cy="274320"/>
          </a:xfrm>
          <a:prstGeom prst="rect">
            <a:avLst/>
          </a:prstGeom>
          <a:noFill/>
          <a:ln/>
        </p:spPr>
        <p:txBody>
          <a:bodyPr wrap="square" rtlCol="0" anchor="ctr"/>
          <a:lstStyle/>
          <a:p>
            <a:pPr algn="ctr" indent="0" marL="0">
              <a:buNone/>
            </a:pPr>
            <a:r>
              <a:rPr lang="en-US" sz="1800" dirty="0">
                <a:solidFill>
                  <a:srgbClr val="2C5282"/>
                </a:solidFill>
                <a:latin typeface="Arial" pitchFamily="34" charset="0"/>
                <a:ea typeface="Arial" pitchFamily="34" charset="-122"/>
                <a:cs typeface="Arial" pitchFamily="34" charset="-120"/>
              </a:rPr>
              <a:t>Résultats et Conclusion</a:t>
            </a:r>
            <a:endParaRPr lang="en-US" sz="1800" dirty="0"/>
          </a:p>
        </p:txBody>
      </p:sp>
      <p:sp>
        <p:nvSpPr>
          <p:cNvPr id="15" name="Shape 13"/>
          <p:cNvSpPr/>
          <p:nvPr/>
        </p:nvSpPr>
        <p:spPr>
          <a:xfrm>
            <a:off x="8503920" y="4754880"/>
            <a:ext cx="320040" cy="320040"/>
          </a:xfrm>
          <a:prstGeom prst="ellipse">
            <a:avLst/>
          </a:prstGeom>
          <a:solidFill>
            <a:srgbClr val="3182CE"/>
          </a:solidFill>
          <a:ln/>
        </p:spPr>
      </p:sp>
      <p:sp>
        <p:nvSpPr>
          <p:cNvPr id="16" name="Text 14"/>
          <p:cNvSpPr/>
          <p:nvPr/>
        </p:nvSpPr>
        <p:spPr>
          <a:xfrm>
            <a:off x="8503920" y="4754880"/>
            <a:ext cx="32004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1E3A5F"/>
                </a:solidFill>
                <a:latin typeface="Arial" pitchFamily="34" charset="0"/>
                <a:ea typeface="Arial" pitchFamily="34" charset="-122"/>
                <a:cs typeface="Arial" pitchFamily="34" charset="-120"/>
              </a:rPr>
              <a:t>Plan de la Présentation</a:t>
            </a:r>
            <a:endParaRPr lang="en-US" sz="3200" dirty="0"/>
          </a:p>
        </p:txBody>
      </p:sp>
      <p:sp>
        <p:nvSpPr>
          <p:cNvPr id="3" name="Shape 1"/>
          <p:cNvSpPr/>
          <p:nvPr/>
        </p:nvSpPr>
        <p:spPr>
          <a:xfrm>
            <a:off x="457200" y="914400"/>
            <a:ext cx="1828800" cy="45720"/>
          </a:xfrm>
          <a:prstGeom prst="rect">
            <a:avLst/>
          </a:prstGeom>
          <a:solidFill>
            <a:srgbClr val="3182CE"/>
          </a:solidFill>
          <a:ln/>
        </p:spPr>
      </p:sp>
      <p:sp>
        <p:nvSpPr>
          <p:cNvPr id="4" name="Text 2"/>
          <p:cNvSpPr/>
          <p:nvPr/>
        </p:nvSpPr>
        <p:spPr>
          <a:xfrm>
            <a:off x="640080" y="1188720"/>
            <a:ext cx="7863840" cy="36576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1. Contexte du projet et problématique</a:t>
            </a:r>
            <a:endParaRPr lang="en-US" sz="1800" dirty="0"/>
          </a:p>
        </p:txBody>
      </p:sp>
      <p:sp>
        <p:nvSpPr>
          <p:cNvPr id="5" name="Text 3"/>
          <p:cNvSpPr/>
          <p:nvPr/>
        </p:nvSpPr>
        <p:spPr>
          <a:xfrm>
            <a:off x="640080" y="1600200"/>
            <a:ext cx="7863840" cy="36576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2. Architecture du système avec Cache-Aside</a:t>
            </a:r>
            <a:endParaRPr lang="en-US" sz="1800" dirty="0"/>
          </a:p>
        </p:txBody>
      </p:sp>
      <p:sp>
        <p:nvSpPr>
          <p:cNvPr id="6" name="Text 4"/>
          <p:cNvSpPr/>
          <p:nvPr/>
        </p:nvSpPr>
        <p:spPr>
          <a:xfrm>
            <a:off x="640080" y="2011680"/>
            <a:ext cx="7863840" cy="36576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3. Infrastructure Docker et Redis</a:t>
            </a:r>
            <a:endParaRPr lang="en-US" sz="1800" dirty="0"/>
          </a:p>
        </p:txBody>
      </p:sp>
      <p:sp>
        <p:nvSpPr>
          <p:cNvPr id="7" name="Text 5"/>
          <p:cNvSpPr/>
          <p:nvPr/>
        </p:nvSpPr>
        <p:spPr>
          <a:xfrm>
            <a:off x="640080" y="2423160"/>
            <a:ext cx="7863840" cy="36576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4. Couche d'abstraction du cache</a:t>
            </a:r>
            <a:endParaRPr lang="en-US" sz="1800" dirty="0"/>
          </a:p>
        </p:txBody>
      </p:sp>
      <p:sp>
        <p:nvSpPr>
          <p:cNvPr id="8" name="Text 6"/>
          <p:cNvSpPr/>
          <p:nvPr/>
        </p:nvSpPr>
        <p:spPr>
          <a:xfrm>
            <a:off x="640080" y="2834640"/>
            <a:ext cx="7863840" cy="36576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5. Intégration dans les actions de l'application</a:t>
            </a:r>
            <a:endParaRPr lang="en-US" sz="1800" dirty="0"/>
          </a:p>
        </p:txBody>
      </p:sp>
      <p:sp>
        <p:nvSpPr>
          <p:cNvPr id="9" name="Text 7"/>
          <p:cNvSpPr/>
          <p:nvPr/>
        </p:nvSpPr>
        <p:spPr>
          <a:xfrm>
            <a:off x="640080" y="3246120"/>
            <a:ext cx="7863840" cy="36576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6. Stratégie d'invalidation du cache</a:t>
            </a:r>
            <a:endParaRPr lang="en-US" sz="1800" dirty="0"/>
          </a:p>
        </p:txBody>
      </p:sp>
      <p:sp>
        <p:nvSpPr>
          <p:cNvPr id="10" name="Text 8"/>
          <p:cNvSpPr/>
          <p:nvPr/>
        </p:nvSpPr>
        <p:spPr>
          <a:xfrm>
            <a:off x="640080" y="3657600"/>
            <a:ext cx="7863840" cy="36576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7. Tests unitaires et validation</a:t>
            </a:r>
            <a:endParaRPr lang="en-US" sz="1800" dirty="0"/>
          </a:p>
        </p:txBody>
      </p:sp>
      <p:sp>
        <p:nvSpPr>
          <p:cNvPr id="11" name="Text 9"/>
          <p:cNvSpPr/>
          <p:nvPr/>
        </p:nvSpPr>
        <p:spPr>
          <a:xfrm>
            <a:off x="640080" y="4069080"/>
            <a:ext cx="7863840" cy="36576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8. Mesures de performance et résultats</a:t>
            </a:r>
            <a:endParaRPr lang="en-US" sz="1800" dirty="0"/>
          </a:p>
        </p:txBody>
      </p:sp>
      <p:sp>
        <p:nvSpPr>
          <p:cNvPr id="12" name="Text 10"/>
          <p:cNvSpPr/>
          <p:nvPr/>
        </p:nvSpPr>
        <p:spPr>
          <a:xfrm>
            <a:off x="640080" y="4480560"/>
            <a:ext cx="7863840" cy="36576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9. Conclusion et perspectives</a:t>
            </a:r>
            <a:endParaRPr lang="en-US" sz="1800" dirty="0"/>
          </a:p>
        </p:txBody>
      </p:sp>
      <p:sp>
        <p:nvSpPr>
          <p:cNvPr id="13" name="Shape 11"/>
          <p:cNvSpPr/>
          <p:nvPr/>
        </p:nvSpPr>
        <p:spPr>
          <a:xfrm>
            <a:off x="8503920" y="4754880"/>
            <a:ext cx="320040" cy="320040"/>
          </a:xfrm>
          <a:prstGeom prst="ellipse">
            <a:avLst/>
          </a:prstGeom>
          <a:solidFill>
            <a:srgbClr val="3182CE"/>
          </a:solidFill>
          <a:ln/>
        </p:spPr>
      </p:sp>
      <p:sp>
        <p:nvSpPr>
          <p:cNvPr id="14" name="Text 12"/>
          <p:cNvSpPr/>
          <p:nvPr/>
        </p:nvSpPr>
        <p:spPr>
          <a:xfrm>
            <a:off x="8503920" y="4754880"/>
            <a:ext cx="32004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Contexte et Problématique</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Text 2"/>
          <p:cNvSpPr/>
          <p:nvPr/>
        </p:nvSpPr>
        <p:spPr>
          <a:xfrm>
            <a:off x="640080" y="1005840"/>
            <a:ext cx="7863840" cy="457200"/>
          </a:xfrm>
          <a:prstGeom prst="rect">
            <a:avLst/>
          </a:prstGeom>
          <a:noFill/>
          <a:ln/>
        </p:spPr>
        <p:txBody>
          <a:bodyPr wrap="square" rtlCol="0" anchor="ctr"/>
          <a:lstStyle/>
          <a:p>
            <a:pPr algn="l" indent="0" marL="0">
              <a:buNone/>
            </a:pPr>
            <a:r>
              <a:rPr lang="en-US" sz="2000" dirty="0">
                <a:solidFill>
                  <a:srgbClr val="2C5282"/>
                </a:solidFill>
                <a:latin typeface="Arial" pitchFamily="34" charset="0"/>
                <a:ea typeface="Arial" pitchFamily="34" charset="-122"/>
                <a:cs typeface="Arial" pitchFamily="34" charset="-120"/>
              </a:rPr>
              <a:t>Application marketplace SaaS pour produits logiciels</a:t>
            </a:r>
            <a:endParaRPr lang="en-US" sz="2000" dirty="0"/>
          </a:p>
        </p:txBody>
      </p:sp>
      <p:sp>
        <p:nvSpPr>
          <p:cNvPr id="5" name="Text 3"/>
          <p:cNvSpPr/>
          <p:nvPr/>
        </p:nvSpPr>
        <p:spPr>
          <a:xfrm>
            <a:off x="640080" y="1508760"/>
            <a:ext cx="7863840" cy="457200"/>
          </a:xfrm>
          <a:prstGeom prst="rect">
            <a:avLst/>
          </a:prstGeom>
          <a:noFill/>
          <a:ln/>
        </p:spPr>
        <p:txBody>
          <a:bodyPr wrap="square" rtlCol="0" anchor="ctr"/>
          <a:lstStyle/>
          <a:p>
            <a:pPr algn="l" indent="0" marL="0">
              <a:buNone/>
            </a:pPr>
            <a:r>
              <a:rPr lang="en-US" sz="2000" dirty="0">
                <a:solidFill>
                  <a:srgbClr val="2C5282"/>
                </a:solidFill>
                <a:latin typeface="Arial" pitchFamily="34" charset="0"/>
                <a:ea typeface="Arial" pitchFamily="34" charset="-122"/>
                <a:cs typeface="Arial" pitchFamily="34" charset="-120"/>
              </a:rPr>
              <a:t>Fonctionnalités : lancements, marketplace, messagerie</a:t>
            </a:r>
            <a:endParaRPr lang="en-US" sz="2000" dirty="0"/>
          </a:p>
        </p:txBody>
      </p:sp>
      <p:sp>
        <p:nvSpPr>
          <p:cNvPr id="6" name="Text 4"/>
          <p:cNvSpPr/>
          <p:nvPr/>
        </p:nvSpPr>
        <p:spPr>
          <a:xfrm>
            <a:off x="640080" y="2011680"/>
            <a:ext cx="7863840" cy="457200"/>
          </a:xfrm>
          <a:prstGeom prst="rect">
            <a:avLst/>
          </a:prstGeom>
          <a:noFill/>
          <a:ln/>
        </p:spPr>
        <p:txBody>
          <a:bodyPr wrap="square" rtlCol="0" anchor="ctr"/>
          <a:lstStyle/>
          <a:p>
            <a:pPr algn="l" indent="0" marL="0">
              <a:buNone/>
            </a:pPr>
            <a:r>
              <a:rPr lang="en-US" sz="2000" dirty="0">
                <a:solidFill>
                  <a:srgbClr val="2C5282"/>
                </a:solidFill>
                <a:latin typeface="Arial" pitchFamily="34" charset="0"/>
                <a:ea typeface="Arial" pitchFamily="34" charset="-122"/>
                <a:cs typeface="Arial" pitchFamily="34" charset="-120"/>
              </a:rPr>
              <a:t>Ralentissements sur les pages de listes et recherche</a:t>
            </a:r>
            <a:endParaRPr lang="en-US" sz="2000" dirty="0"/>
          </a:p>
        </p:txBody>
      </p:sp>
      <p:sp>
        <p:nvSpPr>
          <p:cNvPr id="7" name="Text 5"/>
          <p:cNvSpPr/>
          <p:nvPr/>
        </p:nvSpPr>
        <p:spPr>
          <a:xfrm>
            <a:off x="640080" y="2514600"/>
            <a:ext cx="7863840" cy="457200"/>
          </a:xfrm>
          <a:prstGeom prst="rect">
            <a:avLst/>
          </a:prstGeom>
          <a:noFill/>
          <a:ln/>
        </p:spPr>
        <p:txBody>
          <a:bodyPr wrap="square" rtlCol="0" anchor="ctr"/>
          <a:lstStyle/>
          <a:p>
            <a:pPr algn="l" indent="0" marL="0">
              <a:buNone/>
            </a:pPr>
            <a:r>
              <a:rPr lang="en-US" sz="2000" dirty="0">
                <a:solidFill>
                  <a:srgbClr val="2C5282"/>
                </a:solidFill>
                <a:latin typeface="Arial" pitchFamily="34" charset="0"/>
                <a:ea typeface="Arial" pitchFamily="34" charset="-122"/>
                <a:cs typeface="Arial" pitchFamily="34" charset="-120"/>
              </a:rPr>
              <a:t>Nécessité d'améliorer les temps de réponse</a:t>
            </a:r>
            <a:endParaRPr lang="en-US" sz="2000" dirty="0"/>
          </a:p>
        </p:txBody>
      </p:sp>
      <p:sp>
        <p:nvSpPr>
          <p:cNvPr id="8" name="Text 6"/>
          <p:cNvSpPr/>
          <p:nvPr/>
        </p:nvSpPr>
        <p:spPr>
          <a:xfrm>
            <a:off x="640080" y="3017520"/>
            <a:ext cx="7863840" cy="457200"/>
          </a:xfrm>
          <a:prstGeom prst="rect">
            <a:avLst/>
          </a:prstGeom>
          <a:noFill/>
          <a:ln/>
        </p:spPr>
        <p:txBody>
          <a:bodyPr wrap="square" rtlCol="0" anchor="ctr"/>
          <a:lstStyle/>
          <a:p>
            <a:pPr algn="l" indent="0" marL="0">
              <a:buNone/>
            </a:pPr>
            <a:r>
              <a:rPr lang="en-US" sz="2000" dirty="0">
                <a:solidFill>
                  <a:srgbClr val="2C5282"/>
                </a:solidFill>
                <a:latin typeface="Arial" pitchFamily="34" charset="0"/>
                <a:ea typeface="Arial" pitchFamily="34" charset="-122"/>
                <a:cs typeface="Arial" pitchFamily="34" charset="-120"/>
              </a:rPr>
              <a:t>Solution : cache distribué avec Redis</a:t>
            </a:r>
            <a:endParaRPr lang="en-US" sz="2000" dirty="0"/>
          </a:p>
        </p:txBody>
      </p:sp>
      <p:sp>
        <p:nvSpPr>
          <p:cNvPr id="9" name="Shape 7"/>
          <p:cNvSpPr/>
          <p:nvPr/>
        </p:nvSpPr>
        <p:spPr>
          <a:xfrm>
            <a:off x="457200" y="3657600"/>
            <a:ext cx="8229600" cy="914400"/>
          </a:xfrm>
          <a:prstGeom prst="roundRect">
            <a:avLst>
              <a:gd name="adj" fmla="val 10000"/>
            </a:avLst>
          </a:prstGeom>
          <a:solidFill>
            <a:srgbClr val="FFFFFF"/>
          </a:solidFill>
          <a:ln w="25400">
            <a:solidFill>
              <a:srgbClr val="E2E8F0"/>
            </a:solidFill>
            <a:prstDash val="solid"/>
          </a:ln>
        </p:spPr>
      </p:sp>
      <p:sp>
        <p:nvSpPr>
          <p:cNvPr id="10" name="Text 8"/>
          <p:cNvSpPr/>
          <p:nvPr/>
        </p:nvSpPr>
        <p:spPr>
          <a:xfrm>
            <a:off x="640080" y="3703320"/>
            <a:ext cx="7863840" cy="320040"/>
          </a:xfrm>
          <a:prstGeom prst="rect">
            <a:avLst/>
          </a:prstGeom>
          <a:noFill/>
          <a:ln/>
        </p:spPr>
        <p:txBody>
          <a:bodyPr wrap="square" rtlCol="0" anchor="ctr"/>
          <a:lstStyle/>
          <a:p>
            <a:pPr algn="l" indent="0" marL="0">
              <a:buNone/>
            </a:pPr>
            <a:r>
              <a:rPr lang="en-US" sz="2000" b="1" dirty="0">
                <a:solidFill>
                  <a:srgbClr val="1E3A5F"/>
                </a:solidFill>
                <a:latin typeface="Arial" pitchFamily="34" charset="0"/>
                <a:ea typeface="Arial" pitchFamily="34" charset="-122"/>
                <a:cs typeface="Arial" pitchFamily="34" charset="-120"/>
              </a:rPr>
              <a:t>Objectifs du Projet</a:t>
            </a:r>
            <a:endParaRPr lang="en-US" sz="2000" dirty="0"/>
          </a:p>
        </p:txBody>
      </p:sp>
      <p:sp>
        <p:nvSpPr>
          <p:cNvPr id="11" name="Text 9"/>
          <p:cNvSpPr/>
          <p:nvPr/>
        </p:nvSpPr>
        <p:spPr>
          <a:xfrm>
            <a:off x="640080" y="4069080"/>
            <a:ext cx="7863840" cy="45720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Déployer Redis avec Docker Compose, intégrer le cache dans les opérations de lecture/écriture, mesurer l'amélioration des performances</a:t>
            </a:r>
            <a:endParaRPr lang="en-US" sz="1600" dirty="0"/>
          </a:p>
        </p:txBody>
      </p:sp>
      <p:sp>
        <p:nvSpPr>
          <p:cNvPr id="12" name="Shape 10"/>
          <p:cNvSpPr/>
          <p:nvPr/>
        </p:nvSpPr>
        <p:spPr>
          <a:xfrm>
            <a:off x="8503920" y="4754880"/>
            <a:ext cx="320040" cy="320040"/>
          </a:xfrm>
          <a:prstGeom prst="ellipse">
            <a:avLst/>
          </a:prstGeom>
          <a:solidFill>
            <a:srgbClr val="3182CE"/>
          </a:solidFill>
          <a:ln/>
        </p:spPr>
      </p:sp>
      <p:sp>
        <p:nvSpPr>
          <p:cNvPr id="13" name="Text 11"/>
          <p:cNvSpPr/>
          <p:nvPr/>
        </p:nvSpPr>
        <p:spPr>
          <a:xfrm>
            <a:off x="8503920" y="4754880"/>
            <a:ext cx="32004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Architecture du Système</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3200400" y="1188720"/>
            <a:ext cx="2743200" cy="731520"/>
          </a:xfrm>
          <a:prstGeom prst="roundRect">
            <a:avLst>
              <a:gd name="adj" fmla="val 12500"/>
            </a:avLst>
          </a:prstGeom>
          <a:solidFill>
            <a:srgbClr val="3182CE"/>
          </a:solidFill>
          <a:ln/>
        </p:spPr>
      </p:sp>
      <p:sp>
        <p:nvSpPr>
          <p:cNvPr id="5" name="Text 3"/>
          <p:cNvSpPr/>
          <p:nvPr/>
        </p:nvSpPr>
        <p:spPr>
          <a:xfrm>
            <a:off x="3200400" y="1188720"/>
            <a:ext cx="2743200" cy="7315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Next.js App</a:t>
            </a:r>
            <a:endParaRPr lang="en-US" sz="1800" dirty="0"/>
          </a:p>
        </p:txBody>
      </p:sp>
      <p:sp>
        <p:nvSpPr>
          <p:cNvPr id="6" name="Shape 4"/>
          <p:cNvSpPr/>
          <p:nvPr/>
        </p:nvSpPr>
        <p:spPr>
          <a:xfrm>
            <a:off x="457200" y="2560320"/>
            <a:ext cx="2743200" cy="731520"/>
          </a:xfrm>
          <a:prstGeom prst="roundRect">
            <a:avLst>
              <a:gd name="adj" fmla="val 12500"/>
            </a:avLst>
          </a:prstGeom>
          <a:solidFill>
            <a:srgbClr val="DC382D"/>
          </a:solidFill>
          <a:ln/>
        </p:spPr>
      </p:sp>
      <p:sp>
        <p:nvSpPr>
          <p:cNvPr id="7" name="Text 5"/>
          <p:cNvSpPr/>
          <p:nvPr/>
        </p:nvSpPr>
        <p:spPr>
          <a:xfrm>
            <a:off x="457200" y="2560320"/>
            <a:ext cx="2743200" cy="7315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Redis Cache</a:t>
            </a:r>
            <a:endParaRPr lang="en-US" sz="1800" dirty="0"/>
          </a:p>
        </p:txBody>
      </p:sp>
      <p:sp>
        <p:nvSpPr>
          <p:cNvPr id="8" name="Shape 6"/>
          <p:cNvSpPr/>
          <p:nvPr/>
        </p:nvSpPr>
        <p:spPr>
          <a:xfrm>
            <a:off x="5943600" y="2560320"/>
            <a:ext cx="2743200" cy="731520"/>
          </a:xfrm>
          <a:prstGeom prst="roundRect">
            <a:avLst>
              <a:gd name="adj" fmla="val 12500"/>
            </a:avLst>
          </a:prstGeom>
          <a:solidFill>
            <a:srgbClr val="2C5282"/>
          </a:solidFill>
          <a:ln/>
        </p:spPr>
      </p:sp>
      <p:sp>
        <p:nvSpPr>
          <p:cNvPr id="9" name="Text 7"/>
          <p:cNvSpPr/>
          <p:nvPr/>
        </p:nvSpPr>
        <p:spPr>
          <a:xfrm>
            <a:off x="5943600" y="2560320"/>
            <a:ext cx="2743200" cy="7315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PostgreSQL</a:t>
            </a:r>
            <a:endParaRPr lang="en-US" sz="1800" dirty="0"/>
          </a:p>
        </p:txBody>
      </p:sp>
      <p:sp>
        <p:nvSpPr>
          <p:cNvPr id="10" name="Text 8"/>
          <p:cNvSpPr/>
          <p:nvPr/>
        </p:nvSpPr>
        <p:spPr>
          <a:xfrm>
            <a:off x="1828800" y="1920240"/>
            <a:ext cx="1371600" cy="640080"/>
          </a:xfrm>
          <a:prstGeom prst="rect">
            <a:avLst/>
          </a:prstGeom>
          <a:noFill/>
          <a:ln/>
        </p:spPr>
        <p:txBody>
          <a:bodyPr wrap="square" rtlCol="0" anchor="ctr"/>
          <a:lstStyle/>
          <a:p>
            <a:pPr algn="ctr" indent="0" marL="0">
              <a:buNone/>
            </a:pPr>
            <a:r>
              <a:rPr lang="en-US" sz="4000" dirty="0">
                <a:solidFill>
                  <a:srgbClr val="E2E8F0"/>
                </a:solidFill>
                <a:latin typeface="Arial" pitchFamily="34" charset="0"/>
                <a:ea typeface="Arial" pitchFamily="34" charset="-122"/>
                <a:cs typeface="Arial" pitchFamily="34" charset="-120"/>
              </a:rPr>
              <a:t>↓</a:t>
            </a:r>
            <a:endParaRPr lang="en-US" sz="4000" dirty="0"/>
          </a:p>
        </p:txBody>
      </p:sp>
      <p:sp>
        <p:nvSpPr>
          <p:cNvPr id="11" name="Text 9"/>
          <p:cNvSpPr/>
          <p:nvPr/>
        </p:nvSpPr>
        <p:spPr>
          <a:xfrm>
            <a:off x="5943600" y="1920240"/>
            <a:ext cx="1371600" cy="640080"/>
          </a:xfrm>
          <a:prstGeom prst="rect">
            <a:avLst/>
          </a:prstGeom>
          <a:noFill/>
          <a:ln/>
        </p:spPr>
        <p:txBody>
          <a:bodyPr wrap="square" rtlCol="0" anchor="ctr"/>
          <a:lstStyle/>
          <a:p>
            <a:pPr algn="ctr" indent="0" marL="0">
              <a:buNone/>
            </a:pPr>
            <a:r>
              <a:rPr lang="en-US" sz="4000" dirty="0">
                <a:solidFill>
                  <a:srgbClr val="E2E8F0"/>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640080" y="3383280"/>
            <a:ext cx="7863840" cy="32004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Pattern Cache-Aside (Lazy Loading)</a:t>
            </a:r>
            <a:endParaRPr lang="en-US" sz="1800" dirty="0"/>
          </a:p>
        </p:txBody>
      </p:sp>
      <p:sp>
        <p:nvSpPr>
          <p:cNvPr id="13" name="Text 11"/>
          <p:cNvSpPr/>
          <p:nvPr/>
        </p:nvSpPr>
        <p:spPr>
          <a:xfrm>
            <a:off x="640080" y="3749040"/>
            <a:ext cx="7863840" cy="32004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Vérification du cache avant la base de données</a:t>
            </a:r>
            <a:endParaRPr lang="en-US" sz="1800" dirty="0"/>
          </a:p>
        </p:txBody>
      </p:sp>
      <p:sp>
        <p:nvSpPr>
          <p:cNvPr id="14" name="Text 12"/>
          <p:cNvSpPr/>
          <p:nvPr/>
        </p:nvSpPr>
        <p:spPr>
          <a:xfrm>
            <a:off x="640080" y="4114800"/>
            <a:ext cx="7863840" cy="32004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Stockage des résultats avec TTL configurable</a:t>
            </a:r>
            <a:endParaRPr lang="en-US" sz="1800" dirty="0"/>
          </a:p>
        </p:txBody>
      </p:sp>
      <p:sp>
        <p:nvSpPr>
          <p:cNvPr id="15" name="Text 13"/>
          <p:cNvSpPr/>
          <p:nvPr/>
        </p:nvSpPr>
        <p:spPr>
          <a:xfrm>
            <a:off x="640080" y="4480560"/>
            <a:ext cx="7863840" cy="32004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Réduction drastique du temps de réponse</a:t>
            </a:r>
            <a:endParaRPr lang="en-US" sz="1800" dirty="0"/>
          </a:p>
        </p:txBody>
      </p:sp>
      <p:sp>
        <p:nvSpPr>
          <p:cNvPr id="16" name="Shape 14"/>
          <p:cNvSpPr/>
          <p:nvPr/>
        </p:nvSpPr>
        <p:spPr>
          <a:xfrm>
            <a:off x="8503920" y="4754880"/>
            <a:ext cx="320040" cy="320040"/>
          </a:xfrm>
          <a:prstGeom prst="ellipse">
            <a:avLst/>
          </a:prstGeom>
          <a:solidFill>
            <a:srgbClr val="3182CE"/>
          </a:solidFill>
          <a:ln/>
        </p:spPr>
      </p:sp>
      <p:sp>
        <p:nvSpPr>
          <p:cNvPr id="17" name="Text 15"/>
          <p:cNvSpPr/>
          <p:nvPr/>
        </p:nvSpPr>
        <p:spPr>
          <a:xfrm>
            <a:off x="8503920" y="4754880"/>
            <a:ext cx="32004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1E3A5F"/>
                </a:solidFill>
                <a:latin typeface="Arial" pitchFamily="34" charset="0"/>
                <a:ea typeface="Arial" pitchFamily="34" charset="-122"/>
                <a:cs typeface="Arial" pitchFamily="34" charset="-120"/>
              </a:rPr>
              <a:t>Infrastructure Docker</a:t>
            </a:r>
            <a:endParaRPr lang="en-US" sz="3200" dirty="0"/>
          </a:p>
        </p:txBody>
      </p:sp>
      <p:sp>
        <p:nvSpPr>
          <p:cNvPr id="3" name="Shape 1"/>
          <p:cNvSpPr/>
          <p:nvPr/>
        </p:nvSpPr>
        <p:spPr>
          <a:xfrm>
            <a:off x="457200" y="914400"/>
            <a:ext cx="1371600" cy="45720"/>
          </a:xfrm>
          <a:prstGeom prst="rect">
            <a:avLst/>
          </a:prstGeom>
          <a:solidFill>
            <a:srgbClr val="3182CE"/>
          </a:solidFill>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2743200"/>
                <a:gridCol w="1828800"/>
                <a:gridCol w="1828800"/>
              </a:tblGrid>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Service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Image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Port</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Description</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PostgreSQL</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postgres:16-alpine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5434:5432</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Base de données principale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Redis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redis:7-alpine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6379:6379</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Cache distribué en mémoire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Next.js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Dockerfile.dev</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3000:3000</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Application web</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3200400"/>
            <a:ext cx="7863840" cy="36576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Docker Compose pour l'orchestration</a:t>
            </a:r>
            <a:endParaRPr lang="en-US" sz="1800" dirty="0"/>
          </a:p>
        </p:txBody>
      </p:sp>
      <p:sp>
        <p:nvSpPr>
          <p:cNvPr id="6" name="Text 3"/>
          <p:cNvSpPr/>
          <p:nvPr/>
        </p:nvSpPr>
        <p:spPr>
          <a:xfrm>
            <a:off x="640080" y="3611880"/>
            <a:ext cx="7863840" cy="36576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Volume persistant redis_data</a:t>
            </a:r>
            <a:endParaRPr lang="en-US" sz="1800" dirty="0"/>
          </a:p>
        </p:txBody>
      </p:sp>
      <p:sp>
        <p:nvSpPr>
          <p:cNvPr id="7" name="Text 4"/>
          <p:cNvSpPr/>
          <p:nvPr/>
        </p:nvSpPr>
        <p:spPr>
          <a:xfrm>
            <a:off x="640080" y="4023360"/>
            <a:ext cx="7863840" cy="36576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Healthcheck intégré pour Redis</a:t>
            </a:r>
            <a:endParaRPr lang="en-US" sz="1800" dirty="0"/>
          </a:p>
        </p:txBody>
      </p:sp>
      <p:sp>
        <p:nvSpPr>
          <p:cNvPr id="8" name="Text 5"/>
          <p:cNvSpPr/>
          <p:nvPr/>
        </p:nvSpPr>
        <p:spPr>
          <a:xfrm>
            <a:off x="640080" y="4434840"/>
            <a:ext cx="7863840" cy="365760"/>
          </a:xfrm>
          <a:prstGeom prst="rect">
            <a:avLst/>
          </a:prstGeom>
          <a:noFill/>
          <a:ln/>
        </p:spPr>
        <p:txBody>
          <a:bodyPr wrap="square" rtlCol="0" anchor="ctr"/>
          <a:lstStyle/>
          <a:p>
            <a:pPr algn="l" indent="0" marL="0">
              <a:buNone/>
            </a:pPr>
            <a:r>
              <a:rPr lang="en-US" sz="1800" dirty="0">
                <a:solidFill>
                  <a:srgbClr val="2C5282"/>
                </a:solidFill>
                <a:latin typeface="Arial" pitchFamily="34" charset="0"/>
                <a:ea typeface="Arial" pitchFamily="34" charset="-122"/>
                <a:cs typeface="Arial" pitchFamily="34" charset="-120"/>
              </a:rPr>
              <a:t>Variable REDIS_URL pour la connexion</a:t>
            </a:r>
            <a:endParaRPr lang="en-US" sz="1800" dirty="0"/>
          </a:p>
        </p:txBody>
      </p:sp>
      <p:sp>
        <p:nvSpPr>
          <p:cNvPr id="9" name="Shape 6"/>
          <p:cNvSpPr/>
          <p:nvPr/>
        </p:nvSpPr>
        <p:spPr>
          <a:xfrm>
            <a:off x="8503920" y="4754880"/>
            <a:ext cx="320040" cy="320040"/>
          </a:xfrm>
          <a:prstGeom prst="ellipse">
            <a:avLst/>
          </a:prstGeom>
          <a:solidFill>
            <a:srgbClr val="3182CE"/>
          </a:solidFill>
          <a:ln/>
        </p:spPr>
      </p:sp>
      <p:sp>
        <p:nvSpPr>
          <p:cNvPr id="10" name="Text 7"/>
          <p:cNvSpPr/>
          <p:nvPr/>
        </p:nvSpPr>
        <p:spPr>
          <a:xfrm>
            <a:off x="8503920" y="4754880"/>
            <a:ext cx="32004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Couche d'Abstraction du Cache</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914400"/>
            <a:ext cx="8229600" cy="2560320"/>
          </a:xfrm>
          <a:prstGeom prst="roundRect">
            <a:avLst>
              <a:gd name="adj" fmla="val 1786"/>
            </a:avLst>
          </a:prstGeom>
          <a:solidFill>
            <a:srgbClr val="1A202C"/>
          </a:solidFill>
          <a:ln/>
        </p:spPr>
      </p:sp>
      <p:sp>
        <p:nvSpPr>
          <p:cNvPr id="5" name="Text 3"/>
          <p:cNvSpPr/>
          <p:nvPr/>
        </p:nvSpPr>
        <p:spPr>
          <a:xfrm>
            <a:off x="640080" y="1005840"/>
            <a:ext cx="7863840" cy="201168"/>
          </a:xfrm>
          <a:prstGeom prst="rect">
            <a:avLst/>
          </a:prstGeom>
          <a:noFill/>
          <a:ln/>
        </p:spPr>
        <p:txBody>
          <a:bodyPr wrap="square" rtlCol="0" anchor="ctr"/>
          <a:lstStyle/>
          <a:p>
            <a:pPr algn="l" indent="0" marL="0">
              <a:buNone/>
            </a:pPr>
            <a:r>
              <a:rPr lang="en-US" sz="1400" dirty="0">
                <a:solidFill>
                  <a:srgbClr val="718096"/>
                </a:solidFill>
                <a:latin typeface="Consolas" pitchFamily="34" charset="0"/>
                <a:ea typeface="Consolas" pitchFamily="34" charset="-122"/>
                <a:cs typeface="Consolas" pitchFamily="34" charset="-120"/>
              </a:rPr>
              <a:t>// src/lib/cache.ts</a:t>
            </a:r>
            <a:endParaRPr lang="en-US" sz="1400" dirty="0"/>
          </a:p>
        </p:txBody>
      </p:sp>
      <p:sp>
        <p:nvSpPr>
          <p:cNvPr id="6" name="Text 4"/>
          <p:cNvSpPr/>
          <p:nvPr/>
        </p:nvSpPr>
        <p:spPr>
          <a:xfrm>
            <a:off x="640080" y="1225296"/>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export async function cacheGet&lt;T&gt;(key: string) {</a:t>
            </a:r>
            <a:endParaRPr lang="en-US" sz="1400" dirty="0"/>
          </a:p>
        </p:txBody>
      </p:sp>
      <p:sp>
        <p:nvSpPr>
          <p:cNvPr id="7" name="Text 5"/>
          <p:cNvSpPr/>
          <p:nvPr/>
        </p:nvSpPr>
        <p:spPr>
          <a:xfrm>
            <a:off x="640080" y="1444752"/>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client = getRedisClient();</a:t>
            </a:r>
            <a:endParaRPr lang="en-US" sz="1400" dirty="0"/>
          </a:p>
        </p:txBody>
      </p:sp>
      <p:sp>
        <p:nvSpPr>
          <p:cNvPr id="8" name="Text 6"/>
          <p:cNvSpPr/>
          <p:nvPr/>
        </p:nvSpPr>
        <p:spPr>
          <a:xfrm>
            <a:off x="640080" y="1664208"/>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data = await client.get(key);</a:t>
            </a:r>
            <a:endParaRPr lang="en-US" sz="1400" dirty="0"/>
          </a:p>
        </p:txBody>
      </p:sp>
      <p:sp>
        <p:nvSpPr>
          <p:cNvPr id="9" name="Text 7"/>
          <p:cNvSpPr/>
          <p:nvPr/>
        </p:nvSpPr>
        <p:spPr>
          <a:xfrm>
            <a:off x="640080" y="1883664"/>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if (!data) return null;</a:t>
            </a:r>
            <a:endParaRPr lang="en-US" sz="1400" dirty="0"/>
          </a:p>
        </p:txBody>
      </p:sp>
      <p:sp>
        <p:nvSpPr>
          <p:cNvPr id="10" name="Text 8"/>
          <p:cNvSpPr/>
          <p:nvPr/>
        </p:nvSpPr>
        <p:spPr>
          <a:xfrm>
            <a:off x="640080" y="2103120"/>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return JSON.parse(data) as T;</a:t>
            </a:r>
            <a:endParaRPr lang="en-US" sz="1400" dirty="0"/>
          </a:p>
        </p:txBody>
      </p:sp>
      <p:sp>
        <p:nvSpPr>
          <p:cNvPr id="11" name="Text 9"/>
          <p:cNvSpPr/>
          <p:nvPr/>
        </p:nvSpPr>
        <p:spPr>
          <a:xfrm>
            <a:off x="640080" y="2322576"/>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12" name="Text 10"/>
          <p:cNvSpPr/>
          <p:nvPr/>
        </p:nvSpPr>
        <p:spPr>
          <a:xfrm>
            <a:off x="640080" y="2542032"/>
            <a:ext cx="7863840" cy="201168"/>
          </a:xfrm>
          <a:prstGeom prst="rect">
            <a:avLst/>
          </a:prstGeom>
          <a:noFill/>
          <a:ln/>
        </p:spPr>
        <p:txBody>
          <a:bodyPr wrap="square" rtlCol="0" anchor="ctr"/>
          <a:lstStyle/>
          <a:p>
            <a:pPr algn="l" indent="0" marL="0">
              <a:buNone/>
            </a:pPr>
            <a:endParaRPr lang="en-US" sz="1400" dirty="0"/>
          </a:p>
        </p:txBody>
      </p:sp>
      <p:sp>
        <p:nvSpPr>
          <p:cNvPr id="13" name="Text 11"/>
          <p:cNvSpPr/>
          <p:nvPr/>
        </p:nvSpPr>
        <p:spPr>
          <a:xfrm>
            <a:off x="640080" y="2761488"/>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export async function cacheSet(key, value, ttl = 300) {</a:t>
            </a:r>
            <a:endParaRPr lang="en-US" sz="1400" dirty="0"/>
          </a:p>
        </p:txBody>
      </p:sp>
      <p:sp>
        <p:nvSpPr>
          <p:cNvPr id="14" name="Text 12"/>
          <p:cNvSpPr/>
          <p:nvPr/>
        </p:nvSpPr>
        <p:spPr>
          <a:xfrm>
            <a:off x="640080" y="2980944"/>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client = getRedisClient();</a:t>
            </a:r>
            <a:endParaRPr lang="en-US" sz="1400" dirty="0"/>
          </a:p>
        </p:txBody>
      </p:sp>
      <p:sp>
        <p:nvSpPr>
          <p:cNvPr id="15" name="Text 13"/>
          <p:cNvSpPr/>
          <p:nvPr/>
        </p:nvSpPr>
        <p:spPr>
          <a:xfrm>
            <a:off x="640080" y="3200400"/>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client.setex(key, ttl, JSON.stringify(value));</a:t>
            </a:r>
            <a:endParaRPr lang="en-US" sz="1400" dirty="0"/>
          </a:p>
        </p:txBody>
      </p:sp>
      <p:sp>
        <p:nvSpPr>
          <p:cNvPr id="16" name="Text 14"/>
          <p:cNvSpPr/>
          <p:nvPr/>
        </p:nvSpPr>
        <p:spPr>
          <a:xfrm>
            <a:off x="640080" y="3419856"/>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17" name="Text 15"/>
          <p:cNvSpPr/>
          <p:nvPr/>
        </p:nvSpPr>
        <p:spPr>
          <a:xfrm>
            <a:off x="640080" y="3566160"/>
            <a:ext cx="7863840" cy="274320"/>
          </a:xfrm>
          <a:prstGeom prst="rect">
            <a:avLst/>
          </a:prstGeom>
          <a:noFill/>
          <a:ln/>
        </p:spPr>
        <p:txBody>
          <a:bodyPr wrap="square" rtlCol="0" anchor="ctr"/>
          <a:lstStyle/>
          <a:p>
            <a:pPr algn="l" indent="0" marL="0">
              <a:buNone/>
            </a:pPr>
            <a:r>
              <a:rPr lang="en-US" sz="1600" dirty="0">
                <a:solidFill>
                  <a:srgbClr val="2C5282"/>
                </a:solidFill>
                <a:latin typeface="Arial" pitchFamily="34" charset="0"/>
                <a:ea typeface="Arial" pitchFamily="34" charset="-122"/>
                <a:cs typeface="Arial" pitchFamily="34" charset="-120"/>
              </a:rPr>
              <a:t>Interface simple et réutilisable</a:t>
            </a:r>
            <a:endParaRPr lang="en-US" sz="1600" dirty="0"/>
          </a:p>
        </p:txBody>
      </p:sp>
      <p:sp>
        <p:nvSpPr>
          <p:cNvPr id="18" name="Text 16"/>
          <p:cNvSpPr/>
          <p:nvPr/>
        </p:nvSpPr>
        <p:spPr>
          <a:xfrm>
            <a:off x="640080" y="3886200"/>
            <a:ext cx="7863840" cy="274320"/>
          </a:xfrm>
          <a:prstGeom prst="rect">
            <a:avLst/>
          </a:prstGeom>
          <a:noFill/>
          <a:ln/>
        </p:spPr>
        <p:txBody>
          <a:bodyPr wrap="square" rtlCol="0" anchor="ctr"/>
          <a:lstStyle/>
          <a:p>
            <a:pPr algn="l" indent="0" marL="0">
              <a:buNone/>
            </a:pPr>
            <a:r>
              <a:rPr lang="en-US" sz="1600" dirty="0">
                <a:solidFill>
                  <a:srgbClr val="2C5282"/>
                </a:solidFill>
                <a:latin typeface="Arial" pitchFamily="34" charset="0"/>
                <a:ea typeface="Arial" pitchFamily="34" charset="-122"/>
                <a:cs typeface="Arial" pitchFamily="34" charset="-120"/>
              </a:rPr>
              <a:t>Typage TypeScript avec génériques</a:t>
            </a:r>
            <a:endParaRPr lang="en-US" sz="1600" dirty="0"/>
          </a:p>
        </p:txBody>
      </p:sp>
      <p:sp>
        <p:nvSpPr>
          <p:cNvPr id="19" name="Text 17"/>
          <p:cNvSpPr/>
          <p:nvPr/>
        </p:nvSpPr>
        <p:spPr>
          <a:xfrm>
            <a:off x="640080" y="4206240"/>
            <a:ext cx="7863840" cy="274320"/>
          </a:xfrm>
          <a:prstGeom prst="rect">
            <a:avLst/>
          </a:prstGeom>
          <a:noFill/>
          <a:ln/>
        </p:spPr>
        <p:txBody>
          <a:bodyPr wrap="square" rtlCol="0" anchor="ctr"/>
          <a:lstStyle/>
          <a:p>
            <a:pPr algn="l" indent="0" marL="0">
              <a:buNone/>
            </a:pPr>
            <a:r>
              <a:rPr lang="en-US" sz="1600" dirty="0">
                <a:solidFill>
                  <a:srgbClr val="2C5282"/>
                </a:solidFill>
                <a:latin typeface="Arial" pitchFamily="34" charset="0"/>
                <a:ea typeface="Arial" pitchFamily="34" charset="-122"/>
                <a:cs typeface="Arial" pitchFamily="34" charset="-120"/>
              </a:rPr>
              <a:t>Sérialisation JSON automatique</a:t>
            </a:r>
            <a:endParaRPr lang="en-US" sz="1600" dirty="0"/>
          </a:p>
        </p:txBody>
      </p:sp>
      <p:sp>
        <p:nvSpPr>
          <p:cNvPr id="20" name="Text 18"/>
          <p:cNvSpPr/>
          <p:nvPr/>
        </p:nvSpPr>
        <p:spPr>
          <a:xfrm>
            <a:off x="640080" y="4526280"/>
            <a:ext cx="7863840" cy="274320"/>
          </a:xfrm>
          <a:prstGeom prst="rect">
            <a:avLst/>
          </a:prstGeom>
          <a:noFill/>
          <a:ln/>
        </p:spPr>
        <p:txBody>
          <a:bodyPr wrap="square" rtlCol="0" anchor="ctr"/>
          <a:lstStyle/>
          <a:p>
            <a:pPr algn="l" indent="0" marL="0">
              <a:buNone/>
            </a:pPr>
            <a:r>
              <a:rPr lang="en-US" sz="1600" dirty="0">
                <a:solidFill>
                  <a:srgbClr val="2C5282"/>
                </a:solidFill>
                <a:latin typeface="Arial" pitchFamily="34" charset="0"/>
                <a:ea typeface="Arial" pitchFamily="34" charset="-122"/>
                <a:cs typeface="Arial" pitchFamily="34" charset="-120"/>
              </a:rPr>
              <a:t>TTL configurable par défaut 300s</a:t>
            </a:r>
            <a:endParaRPr lang="en-US" sz="1600" dirty="0"/>
          </a:p>
        </p:txBody>
      </p:sp>
      <p:sp>
        <p:nvSpPr>
          <p:cNvPr id="21" name="Shape 19"/>
          <p:cNvSpPr/>
          <p:nvPr/>
        </p:nvSpPr>
        <p:spPr>
          <a:xfrm>
            <a:off x="8503920" y="4754880"/>
            <a:ext cx="320040" cy="320040"/>
          </a:xfrm>
          <a:prstGeom prst="ellipse">
            <a:avLst/>
          </a:prstGeom>
          <a:solidFill>
            <a:srgbClr val="3182CE"/>
          </a:solidFill>
          <a:ln/>
        </p:spPr>
      </p:sp>
      <p:sp>
        <p:nvSpPr>
          <p:cNvPr id="22" name="Text 20"/>
          <p:cNvSpPr/>
          <p:nvPr/>
        </p:nvSpPr>
        <p:spPr>
          <a:xfrm>
            <a:off x="8503920" y="4754880"/>
            <a:ext cx="32004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Intégration dans les Actions</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1280160"/>
            <a:ext cx="2286000" cy="548640"/>
          </a:xfrm>
          <a:prstGeom prst="roundRect">
            <a:avLst>
              <a:gd name="adj" fmla="val 16667"/>
            </a:avLst>
          </a:prstGeom>
          <a:solidFill>
            <a:srgbClr val="2C5282"/>
          </a:solidFill>
          <a:ln/>
        </p:spPr>
      </p:sp>
      <p:sp>
        <p:nvSpPr>
          <p:cNvPr id="5" name="Text 3"/>
          <p:cNvSpPr/>
          <p:nvPr/>
        </p:nvSpPr>
        <p:spPr>
          <a:xfrm>
            <a:off x="457200" y="1280160"/>
            <a:ext cx="2286000" cy="54864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 Vérifier Cache</a:t>
            </a:r>
            <a:endParaRPr lang="en-US" sz="1600" dirty="0"/>
          </a:p>
        </p:txBody>
      </p:sp>
      <p:sp>
        <p:nvSpPr>
          <p:cNvPr id="6" name="Text 4"/>
          <p:cNvSpPr/>
          <p:nvPr/>
        </p:nvSpPr>
        <p:spPr>
          <a:xfrm>
            <a:off x="2834640" y="1280160"/>
            <a:ext cx="457200" cy="548640"/>
          </a:xfrm>
          <a:prstGeom prst="rect">
            <a:avLst/>
          </a:prstGeom>
          <a:noFill/>
          <a:ln/>
        </p:spPr>
        <p:txBody>
          <a:bodyPr wrap="square" rtlCol="0" anchor="ctr"/>
          <a:lstStyle/>
          <a:p>
            <a:pPr algn="ctr" indent="0" marL="0">
              <a:buNone/>
            </a:pPr>
            <a:r>
              <a:rPr lang="en-US" sz="2400" dirty="0">
                <a:solidFill>
                  <a:srgbClr val="3182CE"/>
                </a:solidFill>
                <a:latin typeface="Arial" pitchFamily="34" charset="0"/>
                <a:ea typeface="Arial" pitchFamily="34" charset="-122"/>
                <a:cs typeface="Arial" pitchFamily="34" charset="-120"/>
              </a:rPr>
              <a:t>→</a:t>
            </a:r>
            <a:endParaRPr lang="en-US" sz="2400" dirty="0"/>
          </a:p>
        </p:txBody>
      </p:sp>
      <p:sp>
        <p:nvSpPr>
          <p:cNvPr id="7" name="Shape 5"/>
          <p:cNvSpPr/>
          <p:nvPr/>
        </p:nvSpPr>
        <p:spPr>
          <a:xfrm>
            <a:off x="3383280" y="1280160"/>
            <a:ext cx="2286000" cy="548640"/>
          </a:xfrm>
          <a:prstGeom prst="roundRect">
            <a:avLst>
              <a:gd name="adj" fmla="val 16667"/>
            </a:avLst>
          </a:prstGeom>
          <a:solidFill>
            <a:srgbClr val="059669"/>
          </a:solidFill>
          <a:ln/>
        </p:spPr>
      </p:sp>
      <p:sp>
        <p:nvSpPr>
          <p:cNvPr id="8" name="Text 6"/>
          <p:cNvSpPr/>
          <p:nvPr/>
        </p:nvSpPr>
        <p:spPr>
          <a:xfrm>
            <a:off x="3383280" y="1280160"/>
            <a:ext cx="2286000" cy="54864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 Cache Hit?</a:t>
            </a:r>
            <a:endParaRPr lang="en-US" sz="1600" dirty="0"/>
          </a:p>
        </p:txBody>
      </p:sp>
      <p:sp>
        <p:nvSpPr>
          <p:cNvPr id="9" name="Text 7"/>
          <p:cNvSpPr/>
          <p:nvPr/>
        </p:nvSpPr>
        <p:spPr>
          <a:xfrm>
            <a:off x="4297680" y="1828800"/>
            <a:ext cx="457200" cy="640080"/>
          </a:xfrm>
          <a:prstGeom prst="rect">
            <a:avLst/>
          </a:prstGeom>
          <a:noFill/>
          <a:ln/>
        </p:spPr>
        <p:txBody>
          <a:bodyPr wrap="square" rtlCol="0" anchor="ctr"/>
          <a:lstStyle/>
          <a:p>
            <a:pPr algn="ctr" indent="0" marL="0">
              <a:buNone/>
            </a:pPr>
            <a:r>
              <a:rPr lang="en-US" sz="2400" dirty="0">
                <a:solidFill>
                  <a:srgbClr val="059669"/>
                </a:solidFill>
                <a:latin typeface="Arial" pitchFamily="34" charset="0"/>
                <a:ea typeface="Arial" pitchFamily="34" charset="-122"/>
                <a:cs typeface="Arial" pitchFamily="34" charset="-120"/>
              </a:rPr>
              <a:t>↓</a:t>
            </a:r>
            <a:endParaRPr lang="en-US" sz="2400" dirty="0"/>
          </a:p>
        </p:txBody>
      </p:sp>
      <p:sp>
        <p:nvSpPr>
          <p:cNvPr id="10" name="Shape 8"/>
          <p:cNvSpPr/>
          <p:nvPr/>
        </p:nvSpPr>
        <p:spPr>
          <a:xfrm>
            <a:off x="3383280" y="2286000"/>
            <a:ext cx="2286000" cy="548640"/>
          </a:xfrm>
          <a:prstGeom prst="roundRect">
            <a:avLst>
              <a:gd name="adj" fmla="val 16667"/>
            </a:avLst>
          </a:prstGeom>
          <a:solidFill>
            <a:srgbClr val="10B981"/>
          </a:solidFill>
          <a:ln/>
        </p:spPr>
      </p:sp>
      <p:sp>
        <p:nvSpPr>
          <p:cNvPr id="11" name="Text 9"/>
          <p:cNvSpPr/>
          <p:nvPr/>
        </p:nvSpPr>
        <p:spPr>
          <a:xfrm>
            <a:off x="3383280" y="2286000"/>
            <a:ext cx="2286000" cy="5486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Oui: Retourner</a:t>
            </a:r>
            <a:endParaRPr lang="en-US" sz="1400" dirty="0"/>
          </a:p>
        </p:txBody>
      </p:sp>
      <p:sp>
        <p:nvSpPr>
          <p:cNvPr id="12" name="Text 10"/>
          <p:cNvSpPr/>
          <p:nvPr/>
        </p:nvSpPr>
        <p:spPr>
          <a:xfrm>
            <a:off x="5760720" y="1280160"/>
            <a:ext cx="457200" cy="548640"/>
          </a:xfrm>
          <a:prstGeom prst="rect">
            <a:avLst/>
          </a:prstGeom>
          <a:noFill/>
          <a:ln/>
        </p:spPr>
        <p:txBody>
          <a:bodyPr wrap="square" rtlCol="0" anchor="ctr"/>
          <a:lstStyle/>
          <a:p>
            <a:pPr algn="ctr" indent="0" marL="0">
              <a:buNone/>
            </a:pPr>
            <a:r>
              <a:rPr lang="en-US" sz="2400" dirty="0">
                <a:solidFill>
                  <a:srgbClr val="3182CE"/>
                </a:solidFill>
                <a:latin typeface="Arial" pitchFamily="34" charset="0"/>
                <a:ea typeface="Arial" pitchFamily="34" charset="-122"/>
                <a:cs typeface="Arial" pitchFamily="34" charset="-120"/>
              </a:rPr>
              <a:t>→</a:t>
            </a:r>
            <a:endParaRPr lang="en-US" sz="2400" dirty="0"/>
          </a:p>
        </p:txBody>
      </p:sp>
      <p:sp>
        <p:nvSpPr>
          <p:cNvPr id="13" name="Shape 11"/>
          <p:cNvSpPr/>
          <p:nvPr/>
        </p:nvSpPr>
        <p:spPr>
          <a:xfrm>
            <a:off x="6309360" y="1280160"/>
            <a:ext cx="2286000" cy="548640"/>
          </a:xfrm>
          <a:prstGeom prst="roundRect">
            <a:avLst>
              <a:gd name="adj" fmla="val 16667"/>
            </a:avLst>
          </a:prstGeom>
          <a:solidFill>
            <a:srgbClr val="DC2626"/>
          </a:solidFill>
          <a:ln/>
        </p:spPr>
      </p:sp>
      <p:sp>
        <p:nvSpPr>
          <p:cNvPr id="14" name="Text 12"/>
          <p:cNvSpPr/>
          <p:nvPr/>
        </p:nvSpPr>
        <p:spPr>
          <a:xfrm>
            <a:off x="6309360" y="1280160"/>
            <a:ext cx="2286000" cy="54864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 Cache Miss</a:t>
            </a:r>
            <a:endParaRPr lang="en-US" sz="1600" dirty="0"/>
          </a:p>
        </p:txBody>
      </p:sp>
      <p:sp>
        <p:nvSpPr>
          <p:cNvPr id="15" name="Text 13"/>
          <p:cNvSpPr/>
          <p:nvPr/>
        </p:nvSpPr>
        <p:spPr>
          <a:xfrm>
            <a:off x="7223760" y="1828800"/>
            <a:ext cx="457200" cy="640080"/>
          </a:xfrm>
          <a:prstGeom prst="rect">
            <a:avLst/>
          </a:prstGeom>
          <a:noFill/>
          <a:ln/>
        </p:spPr>
        <p:txBody>
          <a:bodyPr wrap="square" rtlCol="0" anchor="ctr"/>
          <a:lstStyle/>
          <a:p>
            <a:pPr algn="ctr" indent="0" marL="0">
              <a:buNone/>
            </a:pPr>
            <a:r>
              <a:rPr lang="en-US" sz="2400" dirty="0">
                <a:solidFill>
                  <a:srgbClr val="DC2626"/>
                </a:solidFill>
                <a:latin typeface="Arial" pitchFamily="34" charset="0"/>
                <a:ea typeface="Arial" pitchFamily="34" charset="-122"/>
                <a:cs typeface="Arial" pitchFamily="34" charset="-120"/>
              </a:rPr>
              <a:t>↓</a:t>
            </a:r>
            <a:endParaRPr lang="en-US" sz="2400" dirty="0"/>
          </a:p>
        </p:txBody>
      </p:sp>
      <p:sp>
        <p:nvSpPr>
          <p:cNvPr id="16" name="Shape 14"/>
          <p:cNvSpPr/>
          <p:nvPr/>
        </p:nvSpPr>
        <p:spPr>
          <a:xfrm>
            <a:off x="6309360" y="2286000"/>
            <a:ext cx="2286000" cy="548640"/>
          </a:xfrm>
          <a:prstGeom prst="roundRect">
            <a:avLst>
              <a:gd name="adj" fmla="val 16667"/>
            </a:avLst>
          </a:prstGeom>
          <a:solidFill>
            <a:srgbClr val="2C5282"/>
          </a:solidFill>
          <a:ln/>
        </p:spPr>
      </p:sp>
      <p:sp>
        <p:nvSpPr>
          <p:cNvPr id="17" name="Text 15"/>
          <p:cNvSpPr/>
          <p:nvPr/>
        </p:nvSpPr>
        <p:spPr>
          <a:xfrm>
            <a:off x="6309360" y="2286000"/>
            <a:ext cx="2286000" cy="5486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 Interroger DB</a:t>
            </a:r>
            <a:endParaRPr lang="en-US" sz="1400" dirty="0"/>
          </a:p>
        </p:txBody>
      </p:sp>
      <p:sp>
        <p:nvSpPr>
          <p:cNvPr id="18" name="Text 16"/>
          <p:cNvSpPr/>
          <p:nvPr/>
        </p:nvSpPr>
        <p:spPr>
          <a:xfrm>
            <a:off x="640080" y="2926080"/>
            <a:ext cx="7863840" cy="320040"/>
          </a:xfrm>
          <a:prstGeom prst="rect">
            <a:avLst/>
          </a:prstGeom>
          <a:noFill/>
          <a:ln/>
        </p:spPr>
        <p:txBody>
          <a:bodyPr wrap="square" rtlCol="0" anchor="ctr"/>
          <a:lstStyle/>
          <a:p>
            <a:pPr algn="l" indent="0" marL="0">
              <a:buNone/>
            </a:pPr>
            <a:r>
              <a:rPr lang="en-US" sz="1600" dirty="0">
                <a:solidFill>
                  <a:srgbClr val="2C5282"/>
                </a:solidFill>
                <a:latin typeface="Arial" pitchFamily="34" charset="0"/>
                <a:ea typeface="Arial" pitchFamily="34" charset="-122"/>
                <a:cs typeface="Arial" pitchFamily="34" charset="-120"/>
              </a:rPr>
              <a:t>Génération de clé unique par requête</a:t>
            </a:r>
            <a:endParaRPr lang="en-US" sz="1600" dirty="0"/>
          </a:p>
        </p:txBody>
      </p:sp>
      <p:sp>
        <p:nvSpPr>
          <p:cNvPr id="19" name="Text 17"/>
          <p:cNvSpPr/>
          <p:nvPr/>
        </p:nvSpPr>
        <p:spPr>
          <a:xfrm>
            <a:off x="640080" y="3291840"/>
            <a:ext cx="7863840" cy="320040"/>
          </a:xfrm>
          <a:prstGeom prst="rect">
            <a:avLst/>
          </a:prstGeom>
          <a:noFill/>
          <a:ln/>
        </p:spPr>
        <p:txBody>
          <a:bodyPr wrap="square" rtlCol="0" anchor="ctr"/>
          <a:lstStyle/>
          <a:p>
            <a:pPr algn="l" indent="0" marL="0">
              <a:buNone/>
            </a:pPr>
            <a:r>
              <a:rPr lang="en-US" sz="1600" dirty="0">
                <a:solidFill>
                  <a:srgbClr val="2C5282"/>
                </a:solidFill>
                <a:latin typeface="Arial" pitchFamily="34" charset="0"/>
                <a:ea typeface="Arial" pitchFamily="34" charset="-122"/>
                <a:cs typeface="Arial" pitchFamily="34" charset="-120"/>
              </a:rPr>
              <a:t>Vérification Redis avant PostgreSQL</a:t>
            </a:r>
            <a:endParaRPr lang="en-US" sz="1600" dirty="0"/>
          </a:p>
        </p:txBody>
      </p:sp>
      <p:sp>
        <p:nvSpPr>
          <p:cNvPr id="20" name="Text 18"/>
          <p:cNvSpPr/>
          <p:nvPr/>
        </p:nvSpPr>
        <p:spPr>
          <a:xfrm>
            <a:off x="640080" y="3657600"/>
            <a:ext cx="7863840" cy="320040"/>
          </a:xfrm>
          <a:prstGeom prst="rect">
            <a:avLst/>
          </a:prstGeom>
          <a:noFill/>
          <a:ln/>
        </p:spPr>
        <p:txBody>
          <a:bodyPr wrap="square" rtlCol="0" anchor="ctr"/>
          <a:lstStyle/>
          <a:p>
            <a:pPr algn="l" indent="0" marL="0">
              <a:buNone/>
            </a:pPr>
            <a:r>
              <a:rPr lang="en-US" sz="1600" dirty="0">
                <a:solidFill>
                  <a:srgbClr val="2C5282"/>
                </a:solidFill>
                <a:latin typeface="Arial" pitchFamily="34" charset="0"/>
                <a:ea typeface="Arial" pitchFamily="34" charset="-122"/>
                <a:cs typeface="Arial" pitchFamily="34" charset="-120"/>
              </a:rPr>
              <a:t>Stockage automatique avec TTL approprié</a:t>
            </a:r>
            <a:endParaRPr lang="en-US" sz="1600" dirty="0"/>
          </a:p>
        </p:txBody>
      </p:sp>
      <p:sp>
        <p:nvSpPr>
          <p:cNvPr id="21" name="Text 19"/>
          <p:cNvSpPr/>
          <p:nvPr/>
        </p:nvSpPr>
        <p:spPr>
          <a:xfrm>
            <a:off x="640080" y="4023360"/>
            <a:ext cx="7863840" cy="320040"/>
          </a:xfrm>
          <a:prstGeom prst="rect">
            <a:avLst/>
          </a:prstGeom>
          <a:noFill/>
          <a:ln/>
        </p:spPr>
        <p:txBody>
          <a:bodyPr wrap="square" rtlCol="0" anchor="ctr"/>
          <a:lstStyle/>
          <a:p>
            <a:pPr algn="l" indent="0" marL="0">
              <a:buNone/>
            </a:pPr>
            <a:r>
              <a:rPr lang="en-US" sz="1600" dirty="0">
                <a:solidFill>
                  <a:srgbClr val="2C5282"/>
                </a:solidFill>
                <a:latin typeface="Arial" pitchFamily="34" charset="0"/>
                <a:ea typeface="Arial" pitchFamily="34" charset="-122"/>
                <a:cs typeface="Arial" pitchFamily="34" charset="-120"/>
              </a:rPr>
              <a:t>Application cohérente sur toutes les lectures</a:t>
            </a:r>
            <a:endParaRPr lang="en-US" sz="1600" dirty="0"/>
          </a:p>
        </p:txBody>
      </p:sp>
      <p:sp>
        <p:nvSpPr>
          <p:cNvPr id="22" name="Shape 20"/>
          <p:cNvSpPr/>
          <p:nvPr/>
        </p:nvSpPr>
        <p:spPr>
          <a:xfrm>
            <a:off x="8503920" y="4754880"/>
            <a:ext cx="320040" cy="320040"/>
          </a:xfrm>
          <a:prstGeom prst="ellipse">
            <a:avLst/>
          </a:prstGeom>
          <a:solidFill>
            <a:srgbClr val="3182CE"/>
          </a:solidFill>
          <a:ln/>
        </p:spPr>
      </p:sp>
      <p:sp>
        <p:nvSpPr>
          <p:cNvPr id="23" name="Text 21"/>
          <p:cNvSpPr/>
          <p:nvPr/>
        </p:nvSpPr>
        <p:spPr>
          <a:xfrm>
            <a:off x="8503920" y="4754880"/>
            <a:ext cx="32004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Cache dans Launch Actions</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914400"/>
            <a:ext cx="8229600" cy="2560320"/>
          </a:xfrm>
          <a:prstGeom prst="roundRect">
            <a:avLst>
              <a:gd name="adj" fmla="val 1786"/>
            </a:avLst>
          </a:prstGeom>
          <a:solidFill>
            <a:srgbClr val="1A202C"/>
          </a:solidFill>
          <a:ln/>
        </p:spPr>
      </p:sp>
      <p:sp>
        <p:nvSpPr>
          <p:cNvPr id="5" name="Text 3"/>
          <p:cNvSpPr/>
          <p:nvPr/>
        </p:nvSpPr>
        <p:spPr>
          <a:xfrm>
            <a:off x="640080" y="1005840"/>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export async function getLaunches({ filter, sort, search }) {</a:t>
            </a:r>
            <a:endParaRPr lang="en-US" sz="1400" dirty="0"/>
          </a:p>
        </p:txBody>
      </p:sp>
      <p:sp>
        <p:nvSpPr>
          <p:cNvPr id="6" name="Text 4"/>
          <p:cNvSpPr/>
          <p:nvPr/>
        </p:nvSpPr>
        <p:spPr>
          <a:xfrm>
            <a:off x="640080" y="1207008"/>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cacheKey = buildLaunchesKey(filter, sort, search);</a:t>
            </a:r>
            <a:endParaRPr lang="en-US" sz="1400" dirty="0"/>
          </a:p>
        </p:txBody>
      </p:sp>
      <p:sp>
        <p:nvSpPr>
          <p:cNvPr id="7" name="Text 5"/>
          <p:cNvSpPr/>
          <p:nvPr/>
        </p:nvSpPr>
        <p:spPr>
          <a:xfrm>
            <a:off x="640080" y="1408176"/>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  </a:t>
            </a:r>
            <a:endParaRPr lang="en-US" sz="1400" dirty="0"/>
          </a:p>
        </p:txBody>
      </p:sp>
      <p:sp>
        <p:nvSpPr>
          <p:cNvPr id="8" name="Text 6"/>
          <p:cNvSpPr/>
          <p:nvPr/>
        </p:nvSpPr>
        <p:spPr>
          <a:xfrm>
            <a:off x="640080" y="1609344"/>
            <a:ext cx="7863840" cy="201168"/>
          </a:xfrm>
          <a:prstGeom prst="rect">
            <a:avLst/>
          </a:prstGeom>
          <a:noFill/>
          <a:ln/>
        </p:spPr>
        <p:txBody>
          <a:bodyPr wrap="square" rtlCol="0" anchor="ctr"/>
          <a:lstStyle/>
          <a:p>
            <a:pPr algn="l" indent="0" marL="0">
              <a:buNone/>
            </a:pPr>
            <a:r>
              <a:rPr lang="en-US" sz="1400" dirty="0">
                <a:solidFill>
                  <a:srgbClr val="718096"/>
                </a:solidFill>
                <a:latin typeface="Consolas" pitchFamily="34" charset="0"/>
                <a:ea typeface="Consolas" pitchFamily="34" charset="-122"/>
                <a:cs typeface="Consolas" pitchFamily="34" charset="-120"/>
              </a:rPr>
              <a:t>  // 1. Vérifier le cache</a:t>
            </a:r>
            <a:endParaRPr lang="en-US" sz="1400" dirty="0"/>
          </a:p>
        </p:txBody>
      </p:sp>
      <p:sp>
        <p:nvSpPr>
          <p:cNvPr id="9" name="Text 7"/>
          <p:cNvSpPr/>
          <p:nvPr/>
        </p:nvSpPr>
        <p:spPr>
          <a:xfrm>
            <a:off x="640080" y="1810512"/>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const cached = await cacheGet(cacheKey);</a:t>
            </a:r>
            <a:endParaRPr lang="en-US" sz="1400" dirty="0"/>
          </a:p>
        </p:txBody>
      </p:sp>
      <p:sp>
        <p:nvSpPr>
          <p:cNvPr id="10" name="Text 8"/>
          <p:cNvSpPr/>
          <p:nvPr/>
        </p:nvSpPr>
        <p:spPr>
          <a:xfrm>
            <a:off x="640080" y="2011680"/>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if (cached) return cached;</a:t>
            </a:r>
            <a:endParaRPr lang="en-US" sz="1400" dirty="0"/>
          </a:p>
        </p:txBody>
      </p:sp>
      <p:sp>
        <p:nvSpPr>
          <p:cNvPr id="11" name="Text 9"/>
          <p:cNvSpPr/>
          <p:nvPr/>
        </p:nvSpPr>
        <p:spPr>
          <a:xfrm>
            <a:off x="640080" y="2212848"/>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  </a:t>
            </a:r>
            <a:endParaRPr lang="en-US" sz="1400" dirty="0"/>
          </a:p>
        </p:txBody>
      </p:sp>
      <p:sp>
        <p:nvSpPr>
          <p:cNvPr id="12" name="Text 10"/>
          <p:cNvSpPr/>
          <p:nvPr/>
        </p:nvSpPr>
        <p:spPr>
          <a:xfrm>
            <a:off x="640080" y="2414016"/>
            <a:ext cx="7863840" cy="201168"/>
          </a:xfrm>
          <a:prstGeom prst="rect">
            <a:avLst/>
          </a:prstGeom>
          <a:noFill/>
          <a:ln/>
        </p:spPr>
        <p:txBody>
          <a:bodyPr wrap="square" rtlCol="0" anchor="ctr"/>
          <a:lstStyle/>
          <a:p>
            <a:pPr algn="l" indent="0" marL="0">
              <a:buNone/>
            </a:pPr>
            <a:r>
              <a:rPr lang="en-US" sz="1400" dirty="0">
                <a:solidFill>
                  <a:srgbClr val="718096"/>
                </a:solidFill>
                <a:latin typeface="Consolas" pitchFamily="34" charset="0"/>
                <a:ea typeface="Consolas" pitchFamily="34" charset="-122"/>
                <a:cs typeface="Consolas" pitchFamily="34" charset="-120"/>
              </a:rPr>
              <a:t>  // 2. Interroger la base de données</a:t>
            </a:r>
            <a:endParaRPr lang="en-US" sz="1400" dirty="0"/>
          </a:p>
        </p:txBody>
      </p:sp>
      <p:sp>
        <p:nvSpPr>
          <p:cNvPr id="13" name="Text 11"/>
          <p:cNvSpPr/>
          <p:nvPr/>
        </p:nvSpPr>
        <p:spPr>
          <a:xfrm>
            <a:off x="640080" y="2615184"/>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results = await db.query(...);</a:t>
            </a:r>
            <a:endParaRPr lang="en-US" sz="1400" dirty="0"/>
          </a:p>
        </p:txBody>
      </p:sp>
      <p:sp>
        <p:nvSpPr>
          <p:cNvPr id="14" name="Text 12"/>
          <p:cNvSpPr/>
          <p:nvPr/>
        </p:nvSpPr>
        <p:spPr>
          <a:xfrm>
            <a:off x="640080" y="2816352"/>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  </a:t>
            </a:r>
            <a:endParaRPr lang="en-US" sz="1400" dirty="0"/>
          </a:p>
        </p:txBody>
      </p:sp>
      <p:sp>
        <p:nvSpPr>
          <p:cNvPr id="15" name="Text 13"/>
          <p:cNvSpPr/>
          <p:nvPr/>
        </p:nvSpPr>
        <p:spPr>
          <a:xfrm>
            <a:off x="640080" y="3017520"/>
            <a:ext cx="7863840" cy="201168"/>
          </a:xfrm>
          <a:prstGeom prst="rect">
            <a:avLst/>
          </a:prstGeom>
          <a:noFill/>
          <a:ln/>
        </p:spPr>
        <p:txBody>
          <a:bodyPr wrap="square" rtlCol="0" anchor="ctr"/>
          <a:lstStyle/>
          <a:p>
            <a:pPr algn="l" indent="0" marL="0">
              <a:buNone/>
            </a:pPr>
            <a:r>
              <a:rPr lang="en-US" sz="1400" dirty="0">
                <a:solidFill>
                  <a:srgbClr val="718096"/>
                </a:solidFill>
                <a:latin typeface="Consolas" pitchFamily="34" charset="0"/>
                <a:ea typeface="Consolas" pitchFamily="34" charset="-122"/>
                <a:cs typeface="Consolas" pitchFamily="34" charset="-120"/>
              </a:rPr>
              <a:t>  // 3. Stocker dans le cache</a:t>
            </a:r>
            <a:endParaRPr lang="en-US" sz="1400" dirty="0"/>
          </a:p>
        </p:txBody>
      </p:sp>
      <p:sp>
        <p:nvSpPr>
          <p:cNvPr id="16" name="Text 14"/>
          <p:cNvSpPr/>
          <p:nvPr/>
        </p:nvSpPr>
        <p:spPr>
          <a:xfrm>
            <a:off x="640080" y="3218688"/>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await cacheSet(cacheKey, results, 300);</a:t>
            </a:r>
            <a:endParaRPr lang="en-US" sz="1400" dirty="0"/>
          </a:p>
        </p:txBody>
      </p:sp>
      <p:sp>
        <p:nvSpPr>
          <p:cNvPr id="17" name="Text 15"/>
          <p:cNvSpPr/>
          <p:nvPr/>
        </p:nvSpPr>
        <p:spPr>
          <a:xfrm>
            <a:off x="640080" y="3419856"/>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return results;</a:t>
            </a:r>
            <a:endParaRPr lang="en-US" sz="1400" dirty="0"/>
          </a:p>
        </p:txBody>
      </p:sp>
      <p:sp>
        <p:nvSpPr>
          <p:cNvPr id="18" name="Text 16"/>
          <p:cNvSpPr/>
          <p:nvPr/>
        </p:nvSpPr>
        <p:spPr>
          <a:xfrm>
            <a:off x="640080" y="3621024"/>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19" name="Text 17"/>
          <p:cNvSpPr/>
          <p:nvPr/>
        </p:nvSpPr>
        <p:spPr>
          <a:xfrm>
            <a:off x="457200" y="3383280"/>
            <a:ext cx="8229600" cy="137160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Voici getLaunches en action. Elle génère une clé unique avec filter, sort et search. Elle vérifie le cache et retourne les résultats s'ils existent. Sinon, elle interroge PostgreSQL, stocke avec un TTL de 300 secondes, puis retourne. L'invalidation est déclenchée lors des opérations d'écriture.</a:t>
            </a:r>
            <a:endParaRPr lang="en-US" sz="1600" dirty="0"/>
          </a:p>
        </p:txBody>
      </p:sp>
      <p:sp>
        <p:nvSpPr>
          <p:cNvPr id="20" name="Shape 18"/>
          <p:cNvSpPr/>
          <p:nvPr/>
        </p:nvSpPr>
        <p:spPr>
          <a:xfrm>
            <a:off x="8503920" y="4754880"/>
            <a:ext cx="365760" cy="365760"/>
          </a:xfrm>
          <a:prstGeom prst="ellipse">
            <a:avLst/>
          </a:prstGeom>
          <a:solidFill>
            <a:srgbClr val="3182CE"/>
          </a:solidFill>
          <a:ln/>
        </p:spPr>
      </p:sp>
      <p:sp>
        <p:nvSpPr>
          <p:cNvPr id="21" name="Text 19"/>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Cache dans Post Actions</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914400"/>
            <a:ext cx="8229600" cy="2011680"/>
          </a:xfrm>
          <a:prstGeom prst="roundRect">
            <a:avLst>
              <a:gd name="adj" fmla="val 2273"/>
            </a:avLst>
          </a:prstGeom>
          <a:solidFill>
            <a:srgbClr val="1A202C"/>
          </a:solidFill>
          <a:ln/>
        </p:spPr>
      </p:sp>
      <p:sp>
        <p:nvSpPr>
          <p:cNvPr id="5" name="Text 3"/>
          <p:cNvSpPr/>
          <p:nvPr/>
        </p:nvSpPr>
        <p:spPr>
          <a:xfrm>
            <a:off x="640080" y="1005840"/>
            <a:ext cx="7863840" cy="219456"/>
          </a:xfrm>
          <a:prstGeom prst="rect">
            <a:avLst/>
          </a:prstGeom>
          <a:noFill/>
          <a:ln/>
        </p:spPr>
        <p:txBody>
          <a:bodyPr wrap="square" rtlCol="0" anchor="ctr"/>
          <a:lstStyle/>
          <a:p>
            <a:pPr algn="l" indent="0" marL="0">
              <a:buNone/>
            </a:pPr>
            <a:r>
              <a:rPr lang="en-US" sz="1500" dirty="0">
                <a:solidFill>
                  <a:srgbClr val="63B3ED"/>
                </a:solidFill>
                <a:latin typeface="Consolas" pitchFamily="34" charset="0"/>
                <a:ea typeface="Consolas" pitchFamily="34" charset="-122"/>
                <a:cs typeface="Consolas" pitchFamily="34" charset="-120"/>
              </a:rPr>
              <a:t>export async function getPosts({ sort, type, search }) {</a:t>
            </a:r>
            <a:endParaRPr lang="en-US" sz="1500" dirty="0"/>
          </a:p>
        </p:txBody>
      </p:sp>
      <p:sp>
        <p:nvSpPr>
          <p:cNvPr id="6" name="Text 4"/>
          <p:cNvSpPr/>
          <p:nvPr/>
        </p:nvSpPr>
        <p:spPr>
          <a:xfrm>
            <a:off x="640080" y="1234440"/>
            <a:ext cx="7863840" cy="219456"/>
          </a:xfrm>
          <a:prstGeom prst="rect">
            <a:avLst/>
          </a:prstGeom>
          <a:noFill/>
          <a:ln/>
        </p:spPr>
        <p:txBody>
          <a:bodyPr wrap="square" rtlCol="0" anchor="ctr"/>
          <a:lstStyle/>
          <a:p>
            <a:pPr algn="l" indent="0" marL="0">
              <a:buNone/>
            </a:pPr>
            <a:r>
              <a:rPr lang="en-US" sz="1500" dirty="0">
                <a:solidFill>
                  <a:srgbClr val="63B3ED"/>
                </a:solidFill>
                <a:latin typeface="Consolas" pitchFamily="34" charset="0"/>
                <a:ea typeface="Consolas" pitchFamily="34" charset="-122"/>
                <a:cs typeface="Consolas" pitchFamily="34" charset="-120"/>
              </a:rPr>
              <a:t>  const cacheKey = buildPostsKey(sort, type, search);</a:t>
            </a:r>
            <a:endParaRPr lang="en-US" sz="1500" dirty="0"/>
          </a:p>
        </p:txBody>
      </p:sp>
      <p:sp>
        <p:nvSpPr>
          <p:cNvPr id="7" name="Text 5"/>
          <p:cNvSpPr/>
          <p:nvPr/>
        </p:nvSpPr>
        <p:spPr>
          <a:xfrm>
            <a:off x="640080" y="1463040"/>
            <a:ext cx="7863840" cy="219456"/>
          </a:xfrm>
          <a:prstGeom prst="rect">
            <a:avLst/>
          </a:prstGeom>
          <a:noFill/>
          <a:ln/>
        </p:spPr>
        <p:txBody>
          <a:bodyPr wrap="square" rtlCol="0" anchor="ctr"/>
          <a:lstStyle/>
          <a:p>
            <a:pPr algn="l" indent="0" marL="0">
              <a:buNone/>
            </a:pPr>
            <a:r>
              <a:rPr lang="en-US" sz="1500" dirty="0">
                <a:solidFill>
                  <a:srgbClr val="E2E8F0"/>
                </a:solidFill>
                <a:latin typeface="Consolas" pitchFamily="34" charset="0"/>
                <a:ea typeface="Consolas" pitchFamily="34" charset="-122"/>
                <a:cs typeface="Consolas" pitchFamily="34" charset="-120"/>
              </a:rPr>
              <a:t>  </a:t>
            </a:r>
            <a:endParaRPr lang="en-US" sz="1500" dirty="0"/>
          </a:p>
        </p:txBody>
      </p:sp>
      <p:sp>
        <p:nvSpPr>
          <p:cNvPr id="8" name="Text 6"/>
          <p:cNvSpPr/>
          <p:nvPr/>
        </p:nvSpPr>
        <p:spPr>
          <a:xfrm>
            <a:off x="640080" y="1691640"/>
            <a:ext cx="7863840" cy="219456"/>
          </a:xfrm>
          <a:prstGeom prst="rect">
            <a:avLst/>
          </a:prstGeom>
          <a:noFill/>
          <a:ln/>
        </p:spPr>
        <p:txBody>
          <a:bodyPr wrap="square" rtlCol="0" anchor="ctr"/>
          <a:lstStyle/>
          <a:p>
            <a:pPr algn="l" indent="0" marL="0">
              <a:buNone/>
            </a:pPr>
            <a:r>
              <a:rPr lang="en-US" sz="1500" dirty="0">
                <a:solidFill>
                  <a:srgbClr val="FBBF24"/>
                </a:solidFill>
                <a:latin typeface="Consolas" pitchFamily="34" charset="0"/>
                <a:ea typeface="Consolas" pitchFamily="34" charset="-122"/>
                <a:cs typeface="Consolas" pitchFamily="34" charset="-120"/>
              </a:rPr>
              <a:t>  const cached = await cacheGet(cacheKey);</a:t>
            </a:r>
            <a:endParaRPr lang="en-US" sz="1500" dirty="0"/>
          </a:p>
        </p:txBody>
      </p:sp>
      <p:sp>
        <p:nvSpPr>
          <p:cNvPr id="9" name="Text 7"/>
          <p:cNvSpPr/>
          <p:nvPr/>
        </p:nvSpPr>
        <p:spPr>
          <a:xfrm>
            <a:off x="640080" y="1920240"/>
            <a:ext cx="7863840" cy="219456"/>
          </a:xfrm>
          <a:prstGeom prst="rect">
            <a:avLst/>
          </a:prstGeom>
          <a:noFill/>
          <a:ln/>
        </p:spPr>
        <p:txBody>
          <a:bodyPr wrap="square" rtlCol="0" anchor="ctr"/>
          <a:lstStyle/>
          <a:p>
            <a:pPr algn="l" indent="0" marL="0">
              <a:buNone/>
            </a:pPr>
            <a:r>
              <a:rPr lang="en-US" sz="1500" dirty="0">
                <a:solidFill>
                  <a:srgbClr val="63B3ED"/>
                </a:solidFill>
                <a:latin typeface="Consolas" pitchFamily="34" charset="0"/>
                <a:ea typeface="Consolas" pitchFamily="34" charset="-122"/>
                <a:cs typeface="Consolas" pitchFamily="34" charset="-120"/>
              </a:rPr>
              <a:t>  if (cached) return cached;</a:t>
            </a:r>
            <a:endParaRPr lang="en-US" sz="1500" dirty="0"/>
          </a:p>
        </p:txBody>
      </p:sp>
      <p:sp>
        <p:nvSpPr>
          <p:cNvPr id="10" name="Text 8"/>
          <p:cNvSpPr/>
          <p:nvPr/>
        </p:nvSpPr>
        <p:spPr>
          <a:xfrm>
            <a:off x="640080" y="2148840"/>
            <a:ext cx="7863840" cy="219456"/>
          </a:xfrm>
          <a:prstGeom prst="rect">
            <a:avLst/>
          </a:prstGeom>
          <a:noFill/>
          <a:ln/>
        </p:spPr>
        <p:txBody>
          <a:bodyPr wrap="square" rtlCol="0" anchor="ctr"/>
          <a:lstStyle/>
          <a:p>
            <a:pPr algn="l" indent="0" marL="0">
              <a:buNone/>
            </a:pPr>
            <a:r>
              <a:rPr lang="en-US" sz="1500" dirty="0">
                <a:solidFill>
                  <a:srgbClr val="E2E8F0"/>
                </a:solidFill>
                <a:latin typeface="Consolas" pitchFamily="34" charset="0"/>
                <a:ea typeface="Consolas" pitchFamily="34" charset="-122"/>
                <a:cs typeface="Consolas" pitchFamily="34" charset="-120"/>
              </a:rPr>
              <a:t>  </a:t>
            </a:r>
            <a:endParaRPr lang="en-US" sz="1500" dirty="0"/>
          </a:p>
        </p:txBody>
      </p:sp>
      <p:sp>
        <p:nvSpPr>
          <p:cNvPr id="11" name="Text 9"/>
          <p:cNvSpPr/>
          <p:nvPr/>
        </p:nvSpPr>
        <p:spPr>
          <a:xfrm>
            <a:off x="640080" y="2377440"/>
            <a:ext cx="7863840" cy="219456"/>
          </a:xfrm>
          <a:prstGeom prst="rect">
            <a:avLst/>
          </a:prstGeom>
          <a:noFill/>
          <a:ln/>
        </p:spPr>
        <p:txBody>
          <a:bodyPr wrap="square" rtlCol="0" anchor="ctr"/>
          <a:lstStyle/>
          <a:p>
            <a:pPr algn="l" indent="0" marL="0">
              <a:buNone/>
            </a:pPr>
            <a:r>
              <a:rPr lang="en-US" sz="1500" dirty="0">
                <a:solidFill>
                  <a:srgbClr val="63B3ED"/>
                </a:solidFill>
                <a:latin typeface="Consolas" pitchFamily="34" charset="0"/>
                <a:ea typeface="Consolas" pitchFamily="34" charset="-122"/>
                <a:cs typeface="Consolas" pitchFamily="34" charset="-120"/>
              </a:rPr>
              <a:t>  const results = await db.query(...);</a:t>
            </a:r>
            <a:endParaRPr lang="en-US" sz="1500" dirty="0"/>
          </a:p>
        </p:txBody>
      </p:sp>
      <p:sp>
        <p:nvSpPr>
          <p:cNvPr id="12" name="Text 10"/>
          <p:cNvSpPr/>
          <p:nvPr/>
        </p:nvSpPr>
        <p:spPr>
          <a:xfrm>
            <a:off x="640080" y="2606040"/>
            <a:ext cx="7863840" cy="219456"/>
          </a:xfrm>
          <a:prstGeom prst="rect">
            <a:avLst/>
          </a:prstGeom>
          <a:noFill/>
          <a:ln/>
        </p:spPr>
        <p:txBody>
          <a:bodyPr wrap="square" rtlCol="0" anchor="ctr"/>
          <a:lstStyle/>
          <a:p>
            <a:pPr algn="l" indent="0" marL="0">
              <a:buNone/>
            </a:pPr>
            <a:r>
              <a:rPr lang="en-US" sz="1500" dirty="0">
                <a:solidFill>
                  <a:srgbClr val="FBBF24"/>
                </a:solidFill>
                <a:latin typeface="Consolas" pitchFamily="34" charset="0"/>
                <a:ea typeface="Consolas" pitchFamily="34" charset="-122"/>
                <a:cs typeface="Consolas" pitchFamily="34" charset="-120"/>
              </a:rPr>
              <a:t>  await cacheSet(cacheKey, results, 180);</a:t>
            </a:r>
            <a:endParaRPr lang="en-US" sz="1500" dirty="0"/>
          </a:p>
        </p:txBody>
      </p:sp>
      <p:sp>
        <p:nvSpPr>
          <p:cNvPr id="13" name="Text 11"/>
          <p:cNvSpPr/>
          <p:nvPr/>
        </p:nvSpPr>
        <p:spPr>
          <a:xfrm>
            <a:off x="640080" y="2834640"/>
            <a:ext cx="7863840" cy="219456"/>
          </a:xfrm>
          <a:prstGeom prst="rect">
            <a:avLst/>
          </a:prstGeom>
          <a:noFill/>
          <a:ln/>
        </p:spPr>
        <p:txBody>
          <a:bodyPr wrap="square" rtlCol="0" anchor="ctr"/>
          <a:lstStyle/>
          <a:p>
            <a:pPr algn="l" indent="0" marL="0">
              <a:buNone/>
            </a:pPr>
            <a:r>
              <a:rPr lang="en-US" sz="1500" dirty="0">
                <a:solidFill>
                  <a:srgbClr val="63B3ED"/>
                </a:solidFill>
                <a:latin typeface="Consolas" pitchFamily="34" charset="0"/>
                <a:ea typeface="Consolas" pitchFamily="34" charset="-122"/>
                <a:cs typeface="Consolas" pitchFamily="34" charset="-120"/>
              </a:rPr>
              <a:t>  return results;</a:t>
            </a:r>
            <a:endParaRPr lang="en-US" sz="1500" dirty="0"/>
          </a:p>
        </p:txBody>
      </p:sp>
      <p:sp>
        <p:nvSpPr>
          <p:cNvPr id="14" name="Text 12"/>
          <p:cNvSpPr/>
          <p:nvPr/>
        </p:nvSpPr>
        <p:spPr>
          <a:xfrm>
            <a:off x="640080" y="3063240"/>
            <a:ext cx="7863840" cy="219456"/>
          </a:xfrm>
          <a:prstGeom prst="rect">
            <a:avLst/>
          </a:prstGeom>
          <a:noFill/>
          <a:ln/>
        </p:spPr>
        <p:txBody>
          <a:bodyPr wrap="square" rtlCol="0" anchor="ctr"/>
          <a:lstStyle/>
          <a:p>
            <a:pPr algn="l" indent="0" marL="0">
              <a:buNone/>
            </a:pPr>
            <a:r>
              <a:rPr lang="en-US" sz="1500" dirty="0">
                <a:solidFill>
                  <a:srgbClr val="E2E8F0"/>
                </a:solidFill>
                <a:latin typeface="Consolas" pitchFamily="34" charset="0"/>
                <a:ea typeface="Consolas" pitchFamily="34" charset="-122"/>
                <a:cs typeface="Consolas" pitchFamily="34" charset="-120"/>
              </a:rPr>
              <a:t>}</a:t>
            </a:r>
            <a:endParaRPr lang="en-US" sz="1500" dirty="0"/>
          </a:p>
        </p:txBody>
      </p:sp>
      <p:sp>
        <p:nvSpPr>
          <p:cNvPr id="15" name="Text 13"/>
          <p:cNvSpPr/>
          <p:nvPr/>
        </p:nvSpPr>
        <p:spPr>
          <a:xfrm>
            <a:off x="457200" y="3108960"/>
            <a:ext cx="8229600" cy="146304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De la même manière, getPosts utilise une clé générée à partir de sort, type et search. Le TTL est de 180 secondes car les posts changent plus fréquemment. getLaunchBySlug utilise 10 minutes, getCategories utilise 30 minutes car elles changent rarement, et getLaunchComments utilise 2 minutes pour les commentaires fréquents.</a:t>
            </a:r>
            <a:endParaRPr lang="en-US" sz="1600" dirty="0"/>
          </a:p>
        </p:txBody>
      </p:sp>
      <p:sp>
        <p:nvSpPr>
          <p:cNvPr id="16" name="Shape 14"/>
          <p:cNvSpPr/>
          <p:nvPr/>
        </p:nvSpPr>
        <p:spPr>
          <a:xfrm>
            <a:off x="8503920" y="4754880"/>
            <a:ext cx="365760" cy="365760"/>
          </a:xfrm>
          <a:prstGeom prst="ellipse">
            <a:avLst/>
          </a:prstGeom>
          <a:solidFill>
            <a:srgbClr val="3182CE"/>
          </a:solidFill>
          <a:ln/>
        </p:spPr>
      </p:sp>
      <p:sp>
        <p:nvSpPr>
          <p:cNvPr id="17" name="Text 15"/>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Stratégie d'Invalidation</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1097280"/>
            <a:ext cx="1828800" cy="457200"/>
          </a:xfrm>
          <a:prstGeom prst="roundRect">
            <a:avLst>
              <a:gd name="adj" fmla="val 20000"/>
            </a:avLst>
          </a:prstGeom>
          <a:solidFill>
            <a:srgbClr val="DC2626"/>
          </a:solidFill>
          <a:ln/>
        </p:spPr>
      </p:sp>
      <p:sp>
        <p:nvSpPr>
          <p:cNvPr id="5" name="Text 3"/>
          <p:cNvSpPr/>
          <p:nvPr/>
        </p:nvSpPr>
        <p:spPr>
          <a:xfrm>
            <a:off x="457200" y="1097280"/>
            <a:ext cx="18288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Create</a:t>
            </a:r>
            <a:endParaRPr lang="en-US" sz="1400" dirty="0"/>
          </a:p>
        </p:txBody>
      </p:sp>
      <p:sp>
        <p:nvSpPr>
          <p:cNvPr id="6" name="Shape 4"/>
          <p:cNvSpPr/>
          <p:nvPr/>
        </p:nvSpPr>
        <p:spPr>
          <a:xfrm>
            <a:off x="2560320" y="1097280"/>
            <a:ext cx="1828800" cy="457200"/>
          </a:xfrm>
          <a:prstGeom prst="roundRect">
            <a:avLst>
              <a:gd name="adj" fmla="val 20000"/>
            </a:avLst>
          </a:prstGeom>
          <a:solidFill>
            <a:srgbClr val="DC2626"/>
          </a:solidFill>
          <a:ln/>
        </p:spPr>
      </p:sp>
      <p:sp>
        <p:nvSpPr>
          <p:cNvPr id="7" name="Text 5"/>
          <p:cNvSpPr/>
          <p:nvPr/>
        </p:nvSpPr>
        <p:spPr>
          <a:xfrm>
            <a:off x="2560320" y="1097280"/>
            <a:ext cx="18288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Update</a:t>
            </a:r>
            <a:endParaRPr lang="en-US" sz="1400" dirty="0"/>
          </a:p>
        </p:txBody>
      </p:sp>
      <p:sp>
        <p:nvSpPr>
          <p:cNvPr id="8" name="Shape 6"/>
          <p:cNvSpPr/>
          <p:nvPr/>
        </p:nvSpPr>
        <p:spPr>
          <a:xfrm>
            <a:off x="4663440" y="1097280"/>
            <a:ext cx="1828800" cy="457200"/>
          </a:xfrm>
          <a:prstGeom prst="roundRect">
            <a:avLst>
              <a:gd name="adj" fmla="val 20000"/>
            </a:avLst>
          </a:prstGeom>
          <a:solidFill>
            <a:srgbClr val="DC2626"/>
          </a:solidFill>
          <a:ln/>
        </p:spPr>
      </p:sp>
      <p:sp>
        <p:nvSpPr>
          <p:cNvPr id="9" name="Text 7"/>
          <p:cNvSpPr/>
          <p:nvPr/>
        </p:nvSpPr>
        <p:spPr>
          <a:xfrm>
            <a:off x="4663440" y="1097280"/>
            <a:ext cx="18288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Delete</a:t>
            </a:r>
            <a:endParaRPr lang="en-US" sz="1400" dirty="0"/>
          </a:p>
        </p:txBody>
      </p:sp>
      <p:sp>
        <p:nvSpPr>
          <p:cNvPr id="10" name="Shape 8"/>
          <p:cNvSpPr/>
          <p:nvPr/>
        </p:nvSpPr>
        <p:spPr>
          <a:xfrm>
            <a:off x="6766560" y="1097280"/>
            <a:ext cx="1828800" cy="457200"/>
          </a:xfrm>
          <a:prstGeom prst="roundRect">
            <a:avLst>
              <a:gd name="adj" fmla="val 20000"/>
            </a:avLst>
          </a:prstGeom>
          <a:solidFill>
            <a:srgbClr val="DC2626"/>
          </a:solidFill>
          <a:ln/>
        </p:spPr>
      </p:sp>
      <p:sp>
        <p:nvSpPr>
          <p:cNvPr id="11" name="Text 9"/>
          <p:cNvSpPr/>
          <p:nvPr/>
        </p:nvSpPr>
        <p:spPr>
          <a:xfrm>
            <a:off x="6766560" y="1097280"/>
            <a:ext cx="18288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Upvote</a:t>
            </a:r>
            <a:endParaRPr lang="en-US" sz="1400" dirty="0"/>
          </a:p>
        </p:txBody>
      </p:sp>
      <p:sp>
        <p:nvSpPr>
          <p:cNvPr id="12" name="Text 10"/>
          <p:cNvSpPr/>
          <p:nvPr/>
        </p:nvSpPr>
        <p:spPr>
          <a:xfrm>
            <a:off x="1371600" y="1554480"/>
            <a:ext cx="457200" cy="640080"/>
          </a:xfrm>
          <a:prstGeom prst="rect">
            <a:avLst/>
          </a:prstGeom>
          <a:noFill/>
          <a:ln/>
        </p:spPr>
        <p:txBody>
          <a:bodyPr wrap="square" rtlCol="0" anchor="ctr"/>
          <a:lstStyle/>
          <a:p>
            <a:pPr algn="ctr" indent="0" marL="0">
              <a:buNone/>
            </a:pPr>
            <a:r>
              <a:rPr lang="en-US" sz="2400" dirty="0">
                <a:solidFill>
                  <a:srgbClr val="DC2626"/>
                </a:solidFill>
                <a:latin typeface="Arial" pitchFamily="34" charset="0"/>
                <a:ea typeface="Arial" pitchFamily="34" charset="-122"/>
                <a:cs typeface="Arial" pitchFamily="34" charset="-120"/>
              </a:rPr>
              <a:t>↓</a:t>
            </a:r>
            <a:endParaRPr lang="en-US" sz="2400" dirty="0"/>
          </a:p>
        </p:txBody>
      </p:sp>
      <p:sp>
        <p:nvSpPr>
          <p:cNvPr id="13" name="Text 11"/>
          <p:cNvSpPr/>
          <p:nvPr/>
        </p:nvSpPr>
        <p:spPr>
          <a:xfrm>
            <a:off x="3474720" y="1554480"/>
            <a:ext cx="457200" cy="640080"/>
          </a:xfrm>
          <a:prstGeom prst="rect">
            <a:avLst/>
          </a:prstGeom>
          <a:noFill/>
          <a:ln/>
        </p:spPr>
        <p:txBody>
          <a:bodyPr wrap="square" rtlCol="0" anchor="ctr"/>
          <a:lstStyle/>
          <a:p>
            <a:pPr algn="ctr" indent="0" marL="0">
              <a:buNone/>
            </a:pPr>
            <a:r>
              <a:rPr lang="en-US" sz="2400" dirty="0">
                <a:solidFill>
                  <a:srgbClr val="DC2626"/>
                </a:solidFill>
                <a:latin typeface="Arial" pitchFamily="34" charset="0"/>
                <a:ea typeface="Arial" pitchFamily="34" charset="-122"/>
                <a:cs typeface="Arial" pitchFamily="34" charset="-120"/>
              </a:rPr>
              <a:t>↓</a:t>
            </a:r>
            <a:endParaRPr lang="en-US" sz="2400" dirty="0"/>
          </a:p>
        </p:txBody>
      </p:sp>
      <p:sp>
        <p:nvSpPr>
          <p:cNvPr id="14" name="Text 12"/>
          <p:cNvSpPr/>
          <p:nvPr/>
        </p:nvSpPr>
        <p:spPr>
          <a:xfrm>
            <a:off x="5577840" y="1554480"/>
            <a:ext cx="457200" cy="640080"/>
          </a:xfrm>
          <a:prstGeom prst="rect">
            <a:avLst/>
          </a:prstGeom>
          <a:noFill/>
          <a:ln/>
        </p:spPr>
        <p:txBody>
          <a:bodyPr wrap="square" rtlCol="0" anchor="ctr"/>
          <a:lstStyle/>
          <a:p>
            <a:pPr algn="ctr" indent="0" marL="0">
              <a:buNone/>
            </a:pPr>
            <a:r>
              <a:rPr lang="en-US" sz="2400" dirty="0">
                <a:solidFill>
                  <a:srgbClr val="DC2626"/>
                </a:solidFill>
                <a:latin typeface="Arial" pitchFamily="34" charset="0"/>
                <a:ea typeface="Arial" pitchFamily="34" charset="-122"/>
                <a:cs typeface="Arial" pitchFamily="34" charset="-120"/>
              </a:rPr>
              <a:t>↓</a:t>
            </a:r>
            <a:endParaRPr lang="en-US" sz="2400" dirty="0"/>
          </a:p>
        </p:txBody>
      </p:sp>
      <p:sp>
        <p:nvSpPr>
          <p:cNvPr id="15" name="Text 13"/>
          <p:cNvSpPr/>
          <p:nvPr/>
        </p:nvSpPr>
        <p:spPr>
          <a:xfrm>
            <a:off x="7680960" y="1554480"/>
            <a:ext cx="457200" cy="640080"/>
          </a:xfrm>
          <a:prstGeom prst="rect">
            <a:avLst/>
          </a:prstGeom>
          <a:noFill/>
          <a:ln/>
        </p:spPr>
        <p:txBody>
          <a:bodyPr wrap="square" rtlCol="0" anchor="ctr"/>
          <a:lstStyle/>
          <a:p>
            <a:pPr algn="ctr" indent="0" marL="0">
              <a:buNone/>
            </a:pPr>
            <a:r>
              <a:rPr lang="en-US" sz="2400" dirty="0">
                <a:solidFill>
                  <a:srgbClr val="DC2626"/>
                </a:solidFill>
                <a:latin typeface="Arial" pitchFamily="34" charset="0"/>
                <a:ea typeface="Arial" pitchFamily="34" charset="-122"/>
                <a:cs typeface="Arial" pitchFamily="34" charset="-120"/>
              </a:rPr>
              <a:t>↓</a:t>
            </a:r>
            <a:endParaRPr lang="en-US" sz="2400" dirty="0"/>
          </a:p>
        </p:txBody>
      </p:sp>
      <p:sp>
        <p:nvSpPr>
          <p:cNvPr id="16" name="Shape 14"/>
          <p:cNvSpPr/>
          <p:nvPr/>
        </p:nvSpPr>
        <p:spPr>
          <a:xfrm>
            <a:off x="2286000" y="2011680"/>
            <a:ext cx="4572000" cy="457200"/>
          </a:xfrm>
          <a:prstGeom prst="roundRect">
            <a:avLst>
              <a:gd name="adj" fmla="val 20000"/>
            </a:avLst>
          </a:prstGeom>
          <a:solidFill>
            <a:srgbClr val="7C3AED"/>
          </a:solidFill>
          <a:ln/>
        </p:spPr>
      </p:sp>
      <p:sp>
        <p:nvSpPr>
          <p:cNvPr id="17" name="Text 15"/>
          <p:cNvSpPr/>
          <p:nvPr/>
        </p:nvSpPr>
        <p:spPr>
          <a:xfrm>
            <a:off x="2286000" y="2011680"/>
            <a:ext cx="4572000" cy="457200"/>
          </a:xfrm>
          <a:prstGeom prst="rect">
            <a:avLst/>
          </a:prstGeom>
          <a:noFill/>
          <a:ln/>
        </p:spPr>
        <p:txBody>
          <a:bodyPr wrap="square"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invalidateCache(cacheKey)</a:t>
            </a:r>
            <a:endParaRPr lang="en-US" sz="1600" dirty="0"/>
          </a:p>
        </p:txBody>
      </p:sp>
      <p:sp>
        <p:nvSpPr>
          <p:cNvPr id="18" name="Text 16"/>
          <p:cNvSpPr/>
          <p:nvPr/>
        </p:nvSpPr>
        <p:spPr>
          <a:xfrm>
            <a:off x="457200" y="2651760"/>
            <a:ext cx="8229600" cy="146304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L'invalidation est essentielle pour la cohérence. Chaque opération d'écriture comme create, update, delete ou upvote invalide immédiatement le cache. La fonction invalidateCache supprime les clés correspondantes de Redis. Le TTL sert de mécanisme d'expiration automatique. Les clés utilisent le préfixe saas: pour éviter les collisions.</a:t>
            </a:r>
            <a:endParaRPr lang="en-US" sz="1600" dirty="0"/>
          </a:p>
        </p:txBody>
      </p:sp>
      <p:sp>
        <p:nvSpPr>
          <p:cNvPr id="19" name="Shape 17"/>
          <p:cNvSpPr/>
          <p:nvPr/>
        </p:nvSpPr>
        <p:spPr>
          <a:xfrm>
            <a:off x="8503920" y="4754880"/>
            <a:ext cx="365760" cy="365760"/>
          </a:xfrm>
          <a:prstGeom prst="ellipse">
            <a:avLst/>
          </a:prstGeom>
          <a:solidFill>
            <a:srgbClr val="3182CE"/>
          </a:solidFill>
          <a:ln/>
        </p:spPr>
      </p:sp>
      <p:sp>
        <p:nvSpPr>
          <p:cNvPr id="20" name="Text 18"/>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Tests Unitaires du Cache</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914400"/>
            <a:ext cx="8229600" cy="2194560"/>
          </a:xfrm>
          <a:prstGeom prst="roundRect">
            <a:avLst>
              <a:gd name="adj" fmla="val 2083"/>
            </a:avLst>
          </a:prstGeom>
          <a:solidFill>
            <a:srgbClr val="1A202C"/>
          </a:solidFill>
          <a:ln/>
        </p:spPr>
      </p:sp>
      <p:sp>
        <p:nvSpPr>
          <p:cNvPr id="5" name="Text 3"/>
          <p:cNvSpPr/>
          <p:nvPr/>
        </p:nvSpPr>
        <p:spPr>
          <a:xfrm>
            <a:off x="640080" y="1005840"/>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describe('Cache', () =&gt; {</a:t>
            </a:r>
            <a:endParaRPr lang="en-US" sz="1400" dirty="0"/>
          </a:p>
        </p:txBody>
      </p:sp>
      <p:sp>
        <p:nvSpPr>
          <p:cNvPr id="6" name="Text 4"/>
          <p:cNvSpPr/>
          <p:nvPr/>
        </p:nvSpPr>
        <p:spPr>
          <a:xfrm>
            <a:off x="640080" y="1207008"/>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test('set &amp; get', async () =&gt; {</a:t>
            </a:r>
            <a:endParaRPr lang="en-US" sz="1400" dirty="0"/>
          </a:p>
        </p:txBody>
      </p:sp>
      <p:sp>
        <p:nvSpPr>
          <p:cNvPr id="7" name="Text 5"/>
          <p:cNvSpPr/>
          <p:nvPr/>
        </p:nvSpPr>
        <p:spPr>
          <a:xfrm>
            <a:off x="640080" y="1408176"/>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data = { foo: 'bar' };</a:t>
            </a:r>
            <a:endParaRPr lang="en-US" sz="1400" dirty="0"/>
          </a:p>
        </p:txBody>
      </p:sp>
      <p:sp>
        <p:nvSpPr>
          <p:cNvPr id="8" name="Text 6"/>
          <p:cNvSpPr/>
          <p:nvPr/>
        </p:nvSpPr>
        <p:spPr>
          <a:xfrm>
            <a:off x="640080" y="1609344"/>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cacheSet('test', data);</a:t>
            </a:r>
            <a:endParaRPr lang="en-US" sz="1400" dirty="0"/>
          </a:p>
        </p:txBody>
      </p:sp>
      <p:sp>
        <p:nvSpPr>
          <p:cNvPr id="9" name="Text 7"/>
          <p:cNvSpPr/>
          <p:nvPr/>
        </p:nvSpPr>
        <p:spPr>
          <a:xfrm>
            <a:off x="640080" y="1810512"/>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result = await cacheGet('test');</a:t>
            </a:r>
            <a:endParaRPr lang="en-US" sz="1400" dirty="0"/>
          </a:p>
        </p:txBody>
      </p:sp>
      <p:sp>
        <p:nvSpPr>
          <p:cNvPr id="10" name="Text 8"/>
          <p:cNvSpPr/>
          <p:nvPr/>
        </p:nvSpPr>
        <p:spPr>
          <a:xfrm>
            <a:off x="640080" y="2011680"/>
            <a:ext cx="7863840" cy="201168"/>
          </a:xfrm>
          <a:prstGeom prst="rect">
            <a:avLst/>
          </a:prstGeom>
          <a:noFill/>
          <a:ln/>
        </p:spPr>
        <p:txBody>
          <a:bodyPr wrap="square" rtlCol="0" anchor="ctr"/>
          <a:lstStyle/>
          <a:p>
            <a:pPr algn="l" indent="0" marL="0">
              <a:buNone/>
            </a:pPr>
            <a:r>
              <a:rPr lang="en-US" sz="1400" dirty="0">
                <a:solidFill>
                  <a:srgbClr val="A78BFA"/>
                </a:solidFill>
                <a:latin typeface="Consolas" pitchFamily="34" charset="0"/>
                <a:ea typeface="Consolas" pitchFamily="34" charset="-122"/>
                <a:cs typeface="Consolas" pitchFamily="34" charset="-120"/>
              </a:rPr>
              <a:t>    expect(result).toEqual(data);</a:t>
            </a:r>
            <a:endParaRPr lang="en-US" sz="1400" dirty="0"/>
          </a:p>
        </p:txBody>
      </p:sp>
      <p:sp>
        <p:nvSpPr>
          <p:cNvPr id="11" name="Text 9"/>
          <p:cNvSpPr/>
          <p:nvPr/>
        </p:nvSpPr>
        <p:spPr>
          <a:xfrm>
            <a:off x="640080" y="2212848"/>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  });</a:t>
            </a:r>
            <a:endParaRPr lang="en-US" sz="1400" dirty="0"/>
          </a:p>
        </p:txBody>
      </p:sp>
      <p:sp>
        <p:nvSpPr>
          <p:cNvPr id="12" name="Text 10"/>
          <p:cNvSpPr/>
          <p:nvPr/>
        </p:nvSpPr>
        <p:spPr>
          <a:xfrm>
            <a:off x="640080" y="2414016"/>
            <a:ext cx="7863840" cy="201168"/>
          </a:xfrm>
          <a:prstGeom prst="rect">
            <a:avLst/>
          </a:prstGeom>
          <a:noFill/>
          <a:ln/>
        </p:spPr>
        <p:txBody>
          <a:bodyPr wrap="square" rtlCol="0" anchor="ctr"/>
          <a:lstStyle/>
          <a:p>
            <a:pPr algn="l" indent="0" marL="0">
              <a:buNone/>
            </a:pPr>
            <a:endParaRPr lang="en-US" sz="1400" dirty="0"/>
          </a:p>
        </p:txBody>
      </p:sp>
      <p:sp>
        <p:nvSpPr>
          <p:cNvPr id="13" name="Text 11"/>
          <p:cNvSpPr/>
          <p:nvPr/>
        </p:nvSpPr>
        <p:spPr>
          <a:xfrm>
            <a:off x="640080" y="2615184"/>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test('invalidation', async () =&gt; {</a:t>
            </a:r>
            <a:endParaRPr lang="en-US" sz="1400" dirty="0"/>
          </a:p>
        </p:txBody>
      </p:sp>
      <p:sp>
        <p:nvSpPr>
          <p:cNvPr id="14" name="Text 12"/>
          <p:cNvSpPr/>
          <p:nvPr/>
        </p:nvSpPr>
        <p:spPr>
          <a:xfrm>
            <a:off x="640080" y="2816352"/>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cacheSet('temp', 'value');</a:t>
            </a:r>
            <a:endParaRPr lang="en-US" sz="1400" dirty="0"/>
          </a:p>
        </p:txBody>
      </p:sp>
      <p:sp>
        <p:nvSpPr>
          <p:cNvPr id="15" name="Text 13"/>
          <p:cNvSpPr/>
          <p:nvPr/>
        </p:nvSpPr>
        <p:spPr>
          <a:xfrm>
            <a:off x="640080" y="3017520"/>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invalidateCache('temp');</a:t>
            </a:r>
            <a:endParaRPr lang="en-US" sz="1400" dirty="0"/>
          </a:p>
        </p:txBody>
      </p:sp>
      <p:sp>
        <p:nvSpPr>
          <p:cNvPr id="16" name="Text 14"/>
          <p:cNvSpPr/>
          <p:nvPr/>
        </p:nvSpPr>
        <p:spPr>
          <a:xfrm>
            <a:off x="640080" y="3218688"/>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result = await cacheGet('temp');</a:t>
            </a:r>
            <a:endParaRPr lang="en-US" sz="1400" dirty="0"/>
          </a:p>
        </p:txBody>
      </p:sp>
      <p:sp>
        <p:nvSpPr>
          <p:cNvPr id="17" name="Text 15"/>
          <p:cNvSpPr/>
          <p:nvPr/>
        </p:nvSpPr>
        <p:spPr>
          <a:xfrm>
            <a:off x="640080" y="3419856"/>
            <a:ext cx="7863840" cy="201168"/>
          </a:xfrm>
          <a:prstGeom prst="rect">
            <a:avLst/>
          </a:prstGeom>
          <a:noFill/>
          <a:ln/>
        </p:spPr>
        <p:txBody>
          <a:bodyPr wrap="square" rtlCol="0" anchor="ctr"/>
          <a:lstStyle/>
          <a:p>
            <a:pPr algn="l" indent="0" marL="0">
              <a:buNone/>
            </a:pPr>
            <a:r>
              <a:rPr lang="en-US" sz="1400" dirty="0">
                <a:solidFill>
                  <a:srgbClr val="A78BFA"/>
                </a:solidFill>
                <a:latin typeface="Consolas" pitchFamily="34" charset="0"/>
                <a:ea typeface="Consolas" pitchFamily="34" charset="-122"/>
                <a:cs typeface="Consolas" pitchFamily="34" charset="-120"/>
              </a:rPr>
              <a:t>    expect(result).toBeNull();</a:t>
            </a:r>
            <a:endParaRPr lang="en-US" sz="1400" dirty="0"/>
          </a:p>
        </p:txBody>
      </p:sp>
      <p:sp>
        <p:nvSpPr>
          <p:cNvPr id="18" name="Text 16"/>
          <p:cNvSpPr/>
          <p:nvPr/>
        </p:nvSpPr>
        <p:spPr>
          <a:xfrm>
            <a:off x="640080" y="3621024"/>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  });</a:t>
            </a:r>
            <a:endParaRPr lang="en-US" sz="1400" dirty="0"/>
          </a:p>
        </p:txBody>
      </p:sp>
      <p:sp>
        <p:nvSpPr>
          <p:cNvPr id="19" name="Text 17"/>
          <p:cNvSpPr/>
          <p:nvPr/>
        </p:nvSpPr>
        <p:spPr>
          <a:xfrm>
            <a:off x="640080" y="3822192"/>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20" name="Text 18"/>
          <p:cNvSpPr/>
          <p:nvPr/>
        </p:nvSpPr>
        <p:spPr>
          <a:xfrm>
            <a:off x="457200" y="3108960"/>
            <a:ext cx="8229600" cy="155448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Nous avons mis en place des tests unitaires avec Jest couvrant cacheSet, cacheGet et invalidateCache. Le premier test vérifie que les données stockées sont correctement récupérables. Le second test vérifie que l'invalidation supprime la clé. Les tests s'exécutent avec une instance Redis locale dans Docker.</a:t>
            </a:r>
            <a:endParaRPr lang="en-US" sz="1600" dirty="0"/>
          </a:p>
        </p:txBody>
      </p:sp>
      <p:sp>
        <p:nvSpPr>
          <p:cNvPr id="21" name="Shape 19"/>
          <p:cNvSpPr/>
          <p:nvPr/>
        </p:nvSpPr>
        <p:spPr>
          <a:xfrm>
            <a:off x="8503920" y="4754880"/>
            <a:ext cx="365760" cy="365760"/>
          </a:xfrm>
          <a:prstGeom prst="ellipse">
            <a:avLst/>
          </a:prstGeom>
          <a:solidFill>
            <a:srgbClr val="3182CE"/>
          </a:solidFill>
          <a:ln/>
        </p:spPr>
      </p:sp>
      <p:sp>
        <p:nvSpPr>
          <p:cNvPr id="22" name="Text 20"/>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Résultats des Tests Unitaires</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1097280"/>
            <a:ext cx="8229600" cy="1097280"/>
          </a:xfrm>
          <a:prstGeom prst="roundRect">
            <a:avLst>
              <a:gd name="adj" fmla="val 8333"/>
            </a:avLst>
          </a:prstGeom>
          <a:solidFill>
            <a:srgbClr val="10B981"/>
          </a:solidFill>
          <a:ln/>
        </p:spPr>
      </p:sp>
      <p:sp>
        <p:nvSpPr>
          <p:cNvPr id="5" name="Text 3"/>
          <p:cNvSpPr/>
          <p:nvPr/>
        </p:nvSpPr>
        <p:spPr>
          <a:xfrm>
            <a:off x="457200" y="1143000"/>
            <a:ext cx="8229600" cy="45720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 Tous les tests passent avec succès</a:t>
            </a:r>
            <a:endParaRPr lang="en-US" sz="2800" dirty="0"/>
          </a:p>
        </p:txBody>
      </p:sp>
      <p:sp>
        <p:nvSpPr>
          <p:cNvPr id="6" name="Text 4"/>
          <p:cNvSpPr/>
          <p:nvPr/>
        </p:nvSpPr>
        <p:spPr>
          <a:xfrm>
            <a:off x="457200" y="1645920"/>
            <a:ext cx="8229600" cy="365760"/>
          </a:xfrm>
          <a:prstGeom prst="rect">
            <a:avLst/>
          </a:prstGeom>
          <a:noFill/>
          <a:ln/>
        </p:spPr>
        <p:txBody>
          <a:bodyPr wrap="square" rtlCol="0" anchor="ctr"/>
          <a:lstStyle/>
          <a:p>
            <a:pPr algn="ctr" indent="0" marL="0">
              <a:buNone/>
            </a:pPr>
            <a:r>
              <a:rPr lang="en-US" sz="1800" dirty="0">
                <a:solidFill>
                  <a:srgbClr val="FFFFFF"/>
                </a:solidFill>
                <a:latin typeface="Arial" pitchFamily="34" charset="0"/>
                <a:ea typeface="Arial" pitchFamily="34" charset="-122"/>
                <a:cs typeface="Arial" pitchFamily="34" charset="-120"/>
              </a:rPr>
              <a:t>8 tests / 8 passés  -  Couverture : cacheGet, cacheSet, invalidate, TTL, edge cases</a:t>
            </a:r>
            <a:endParaRPr lang="en-US" sz="1800" dirty="0"/>
          </a:p>
        </p:txBody>
      </p:sp>
      <p:sp>
        <p:nvSpPr>
          <p:cNvPr id="7" name="Text 5"/>
          <p:cNvSpPr/>
          <p:nvPr/>
        </p:nvSpPr>
        <p:spPr>
          <a:xfrm>
            <a:off x="457200" y="2377440"/>
            <a:ext cx="8229600" cy="155448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Les résultats sont très satisfaisants : les huit tests passent tous avec succès. Ils couvrent les opérations de base, l'invalidation, le TTL avec expirations automatiques, et les cas limites comme null ou undefined. Cette couverture complète nous donne confiance dans la fiabilité du cache. Les tests s'exécutent automatiquement dans la pipeline d'intégration continue.</a:t>
            </a:r>
            <a:endParaRPr lang="en-US" sz="1600" dirty="0"/>
          </a:p>
        </p:txBody>
      </p:sp>
      <p:sp>
        <p:nvSpPr>
          <p:cNvPr id="8" name="Shape 6"/>
          <p:cNvSpPr/>
          <p:nvPr/>
        </p:nvSpPr>
        <p:spPr>
          <a:xfrm>
            <a:off x="8503920" y="4754880"/>
            <a:ext cx="365760" cy="365760"/>
          </a:xfrm>
          <a:prstGeom prst="ellipse">
            <a:avLst/>
          </a:prstGeom>
          <a:solidFill>
            <a:srgbClr val="3182CE"/>
          </a:solidFill>
          <a:ln/>
        </p:spPr>
      </p:sp>
      <p:sp>
        <p:nvSpPr>
          <p:cNvPr id="9" name="Text 7"/>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Résultats des Tests Unitaires</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1097280"/>
            <a:ext cx="2560320" cy="731520"/>
          </a:xfrm>
          <a:prstGeom prst="roundRect">
            <a:avLst>
              <a:gd name="adj" fmla="val 12500"/>
            </a:avLst>
          </a:prstGeom>
          <a:solidFill>
            <a:srgbClr val="10B981"/>
          </a:solidFill>
          <a:ln/>
        </p:spPr>
      </p:sp>
      <p:sp>
        <p:nvSpPr>
          <p:cNvPr id="5" name="Text 3"/>
          <p:cNvSpPr/>
          <p:nvPr/>
        </p:nvSpPr>
        <p:spPr>
          <a:xfrm>
            <a:off x="457200" y="1143000"/>
            <a:ext cx="2560320" cy="27432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 Tests Passés</a:t>
            </a:r>
            <a:endParaRPr lang="en-US" sz="1400" dirty="0"/>
          </a:p>
        </p:txBody>
      </p:sp>
      <p:sp>
        <p:nvSpPr>
          <p:cNvPr id="6" name="Text 4"/>
          <p:cNvSpPr/>
          <p:nvPr/>
        </p:nvSpPr>
        <p:spPr>
          <a:xfrm>
            <a:off x="457200" y="1417320"/>
            <a:ext cx="2560320" cy="3200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8/8</a:t>
            </a:r>
            <a:endParaRPr lang="en-US" sz="2800" dirty="0"/>
          </a:p>
        </p:txBody>
      </p:sp>
      <p:sp>
        <p:nvSpPr>
          <p:cNvPr id="7" name="Shape 5"/>
          <p:cNvSpPr/>
          <p:nvPr/>
        </p:nvSpPr>
        <p:spPr>
          <a:xfrm>
            <a:off x="3291840" y="1097280"/>
            <a:ext cx="2560320" cy="731520"/>
          </a:xfrm>
          <a:prstGeom prst="roundRect">
            <a:avLst>
              <a:gd name="adj" fmla="val 12500"/>
            </a:avLst>
          </a:prstGeom>
          <a:solidFill>
            <a:srgbClr val="EF4444"/>
          </a:solidFill>
          <a:ln/>
        </p:spPr>
      </p:sp>
      <p:sp>
        <p:nvSpPr>
          <p:cNvPr id="8" name="Text 6"/>
          <p:cNvSpPr/>
          <p:nvPr/>
        </p:nvSpPr>
        <p:spPr>
          <a:xfrm>
            <a:off x="3291840" y="1143000"/>
            <a:ext cx="2560320" cy="27432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 Tests Échoués</a:t>
            </a:r>
            <a:endParaRPr lang="en-US" sz="1400" dirty="0"/>
          </a:p>
        </p:txBody>
      </p:sp>
      <p:sp>
        <p:nvSpPr>
          <p:cNvPr id="9" name="Text 7"/>
          <p:cNvSpPr/>
          <p:nvPr/>
        </p:nvSpPr>
        <p:spPr>
          <a:xfrm>
            <a:off x="3291840" y="1417320"/>
            <a:ext cx="2560320" cy="3200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0</a:t>
            </a:r>
            <a:endParaRPr lang="en-US" sz="2800" dirty="0"/>
          </a:p>
        </p:txBody>
      </p:sp>
      <p:sp>
        <p:nvSpPr>
          <p:cNvPr id="10" name="Shape 8"/>
          <p:cNvSpPr/>
          <p:nvPr/>
        </p:nvSpPr>
        <p:spPr>
          <a:xfrm>
            <a:off x="6126480" y="1097280"/>
            <a:ext cx="2560320" cy="731520"/>
          </a:xfrm>
          <a:prstGeom prst="roundRect">
            <a:avLst>
              <a:gd name="adj" fmla="val 12500"/>
            </a:avLst>
          </a:prstGeom>
          <a:solidFill>
            <a:srgbClr val="3182CE"/>
          </a:solidFill>
          <a:ln/>
        </p:spPr>
      </p:sp>
      <p:sp>
        <p:nvSpPr>
          <p:cNvPr id="11" name="Text 9"/>
          <p:cNvSpPr/>
          <p:nvPr/>
        </p:nvSpPr>
        <p:spPr>
          <a:xfrm>
            <a:off x="6126480" y="1143000"/>
            <a:ext cx="2560320" cy="27432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 Couverture</a:t>
            </a:r>
            <a:endParaRPr lang="en-US" sz="1400" dirty="0"/>
          </a:p>
        </p:txBody>
      </p:sp>
      <p:sp>
        <p:nvSpPr>
          <p:cNvPr id="12" name="Text 10"/>
          <p:cNvSpPr/>
          <p:nvPr/>
        </p:nvSpPr>
        <p:spPr>
          <a:xfrm>
            <a:off x="6126480" y="1417320"/>
            <a:ext cx="2560320" cy="3200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100%</a:t>
            </a:r>
            <a:endParaRPr lang="en-US" sz="2800" dirty="0"/>
          </a:p>
        </p:txBody>
      </p:sp>
      <p:sp>
        <p:nvSpPr>
          <p:cNvPr id="13" name="Text 11"/>
          <p:cNvSpPr/>
          <p:nvPr/>
        </p:nvSpPr>
        <p:spPr>
          <a:xfrm>
            <a:off x="457200" y="1920240"/>
            <a:ext cx="8229600" cy="228600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Voici le récapitulatif final. Les huit tests de la couche de cache ont tous passé avec succès, soit cent pour cent de réussite. Aucun test n'a échoué et la couverture est complète. Ces tests valident que notre implémentation Redis est robuste et prête pour la production. Les cas limites comme les données null, les expirations TTL et les invalidations multiples sont correctement gérés.</a:t>
            </a:r>
            <a:endParaRPr lang="en-US" sz="1600" dirty="0"/>
          </a:p>
        </p:txBody>
      </p:sp>
      <p:sp>
        <p:nvSpPr>
          <p:cNvPr id="14" name="Shape 12"/>
          <p:cNvSpPr/>
          <p:nvPr/>
        </p:nvSpPr>
        <p:spPr>
          <a:xfrm>
            <a:off x="8503920" y="4754880"/>
            <a:ext cx="365760" cy="365760"/>
          </a:xfrm>
          <a:prstGeom prst="ellipse">
            <a:avLst/>
          </a:prstGeom>
          <a:solidFill>
            <a:srgbClr val="3182CE"/>
          </a:solidFill>
          <a:ln/>
        </p:spPr>
      </p:sp>
      <p:sp>
        <p:nvSpPr>
          <p:cNvPr id="15" name="Text 13"/>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Mesures de Performance</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1097280"/>
            <a:ext cx="2560320" cy="1097280"/>
          </a:xfrm>
          <a:prstGeom prst="roundRect">
            <a:avLst>
              <a:gd name="adj" fmla="val 8333"/>
            </a:avLst>
          </a:prstGeom>
          <a:solidFill>
            <a:srgbClr val="FFFFFF"/>
          </a:solidFill>
          <a:ln w="25400">
            <a:solidFill>
              <a:srgbClr val="E2E8F0"/>
            </a:solidFill>
            <a:prstDash val="solid"/>
          </a:ln>
        </p:spPr>
      </p:sp>
      <p:sp>
        <p:nvSpPr>
          <p:cNvPr id="5" name="Text 3"/>
          <p:cNvSpPr/>
          <p:nvPr/>
        </p:nvSpPr>
        <p:spPr>
          <a:xfrm>
            <a:off x="457200" y="1143000"/>
            <a:ext cx="2560320" cy="457200"/>
          </a:xfrm>
          <a:prstGeom prst="rect">
            <a:avLst/>
          </a:prstGeom>
          <a:noFill/>
          <a:ln/>
        </p:spPr>
        <p:txBody>
          <a:bodyPr wrap="square" rtlCol="0" anchor="ctr"/>
          <a:lstStyle/>
          <a:p>
            <a:pPr algn="ctr" indent="0" marL="0">
              <a:buNone/>
            </a:pPr>
            <a:r>
              <a:rPr lang="en-US" sz="3600" b="1" dirty="0">
                <a:solidFill>
                  <a:srgbClr val="1E3A5F"/>
                </a:solidFill>
                <a:latin typeface="Arial" pitchFamily="34" charset="0"/>
                <a:ea typeface="Arial" pitchFamily="34" charset="-122"/>
                <a:cs typeface="Arial" pitchFamily="34" charset="-120"/>
              </a:rPr>
              <a:t>12ms</a:t>
            </a:r>
            <a:endParaRPr lang="en-US" sz="3600" dirty="0"/>
          </a:p>
        </p:txBody>
      </p:sp>
      <p:sp>
        <p:nvSpPr>
          <p:cNvPr id="6" name="Text 4"/>
          <p:cNvSpPr/>
          <p:nvPr/>
        </p:nvSpPr>
        <p:spPr>
          <a:xfrm>
            <a:off x="457200" y="1645920"/>
            <a:ext cx="2560320" cy="228600"/>
          </a:xfrm>
          <a:prstGeom prst="rect">
            <a:avLst/>
          </a:prstGeom>
          <a:noFill/>
          <a:ln/>
        </p:spPr>
        <p:txBody>
          <a:bodyPr wrap="square" rtlCol="0" anchor="ctr"/>
          <a:lstStyle/>
          <a:p>
            <a:pPr algn="ctr" indent="0" marL="0">
              <a:buNone/>
            </a:pPr>
            <a:r>
              <a:rPr lang="en-US" sz="1400" dirty="0">
                <a:solidFill>
                  <a:srgbClr val="2C5282"/>
                </a:solidFill>
                <a:latin typeface="Arial" pitchFamily="34" charset="0"/>
                <a:ea typeface="Arial" pitchFamily="34" charset="-122"/>
                <a:cs typeface="Arial" pitchFamily="34" charset="-120"/>
              </a:rPr>
              <a:t>Avec Cache</a:t>
            </a:r>
            <a:endParaRPr lang="en-US" sz="1400" dirty="0"/>
          </a:p>
        </p:txBody>
      </p:sp>
      <p:sp>
        <p:nvSpPr>
          <p:cNvPr id="7" name="Text 5"/>
          <p:cNvSpPr/>
          <p:nvPr/>
        </p:nvSpPr>
        <p:spPr>
          <a:xfrm>
            <a:off x="457200" y="1874520"/>
            <a:ext cx="2560320" cy="228600"/>
          </a:xfrm>
          <a:prstGeom prst="rect">
            <a:avLst/>
          </a:prstGeom>
          <a:noFill/>
          <a:ln/>
        </p:spPr>
        <p:txBody>
          <a:bodyPr wrap="square" rtlCol="0" anchor="ctr"/>
          <a:lstStyle/>
          <a:p>
            <a:pPr algn="ctr" indent="0" marL="0">
              <a:buNone/>
            </a:pPr>
            <a:r>
              <a:rPr lang="en-US" sz="1200" dirty="0">
                <a:solidFill>
                  <a:srgbClr val="2C5282"/>
                </a:solidFill>
                <a:latin typeface="Arial" pitchFamily="34" charset="0"/>
                <a:ea typeface="Arial" pitchFamily="34" charset="-122"/>
                <a:cs typeface="Arial" pitchFamily="34" charset="-120"/>
              </a:rPr>
              <a:t>moyenne</a:t>
            </a:r>
            <a:endParaRPr lang="en-US" sz="1200" dirty="0"/>
          </a:p>
        </p:txBody>
      </p:sp>
      <p:sp>
        <p:nvSpPr>
          <p:cNvPr id="8" name="Shape 6"/>
          <p:cNvSpPr/>
          <p:nvPr/>
        </p:nvSpPr>
        <p:spPr>
          <a:xfrm>
            <a:off x="3291840" y="1097280"/>
            <a:ext cx="2560320" cy="1097280"/>
          </a:xfrm>
          <a:prstGeom prst="roundRect">
            <a:avLst>
              <a:gd name="adj" fmla="val 8333"/>
            </a:avLst>
          </a:prstGeom>
          <a:solidFill>
            <a:srgbClr val="FFFFFF"/>
          </a:solidFill>
          <a:ln w="25400">
            <a:solidFill>
              <a:srgbClr val="E2E8F0"/>
            </a:solidFill>
            <a:prstDash val="solid"/>
          </a:ln>
        </p:spPr>
      </p:sp>
      <p:sp>
        <p:nvSpPr>
          <p:cNvPr id="9" name="Text 7"/>
          <p:cNvSpPr/>
          <p:nvPr/>
        </p:nvSpPr>
        <p:spPr>
          <a:xfrm>
            <a:off x="3291840" y="1143000"/>
            <a:ext cx="2560320" cy="457200"/>
          </a:xfrm>
          <a:prstGeom prst="rect">
            <a:avLst/>
          </a:prstGeom>
          <a:noFill/>
          <a:ln/>
        </p:spPr>
        <p:txBody>
          <a:bodyPr wrap="square" rtlCol="0" anchor="ctr"/>
          <a:lstStyle/>
          <a:p>
            <a:pPr algn="ctr" indent="0" marL="0">
              <a:buNone/>
            </a:pPr>
            <a:r>
              <a:rPr lang="en-US" sz="3600" b="1" dirty="0">
                <a:solidFill>
                  <a:srgbClr val="1E3A5F"/>
                </a:solidFill>
                <a:latin typeface="Arial" pitchFamily="34" charset="0"/>
                <a:ea typeface="Arial" pitchFamily="34" charset="-122"/>
                <a:cs typeface="Arial" pitchFamily="34" charset="-120"/>
              </a:rPr>
              <a:t>856ms</a:t>
            </a:r>
            <a:endParaRPr lang="en-US" sz="3600" dirty="0"/>
          </a:p>
        </p:txBody>
      </p:sp>
      <p:sp>
        <p:nvSpPr>
          <p:cNvPr id="10" name="Text 8"/>
          <p:cNvSpPr/>
          <p:nvPr/>
        </p:nvSpPr>
        <p:spPr>
          <a:xfrm>
            <a:off x="3291840" y="1645920"/>
            <a:ext cx="2560320" cy="228600"/>
          </a:xfrm>
          <a:prstGeom prst="rect">
            <a:avLst/>
          </a:prstGeom>
          <a:noFill/>
          <a:ln/>
        </p:spPr>
        <p:txBody>
          <a:bodyPr wrap="square" rtlCol="0" anchor="ctr"/>
          <a:lstStyle/>
          <a:p>
            <a:pPr algn="ctr" indent="0" marL="0">
              <a:buNone/>
            </a:pPr>
            <a:r>
              <a:rPr lang="en-US" sz="1400" dirty="0">
                <a:solidFill>
                  <a:srgbClr val="2C5282"/>
                </a:solidFill>
                <a:latin typeface="Arial" pitchFamily="34" charset="0"/>
                <a:ea typeface="Arial" pitchFamily="34" charset="-122"/>
                <a:cs typeface="Arial" pitchFamily="34" charset="-120"/>
              </a:rPr>
              <a:t>Sans Cache</a:t>
            </a:r>
            <a:endParaRPr lang="en-US" sz="1400" dirty="0"/>
          </a:p>
        </p:txBody>
      </p:sp>
      <p:sp>
        <p:nvSpPr>
          <p:cNvPr id="11" name="Text 9"/>
          <p:cNvSpPr/>
          <p:nvPr/>
        </p:nvSpPr>
        <p:spPr>
          <a:xfrm>
            <a:off x="3291840" y="1874520"/>
            <a:ext cx="2560320" cy="228600"/>
          </a:xfrm>
          <a:prstGeom prst="rect">
            <a:avLst/>
          </a:prstGeom>
          <a:noFill/>
          <a:ln/>
        </p:spPr>
        <p:txBody>
          <a:bodyPr wrap="square" rtlCol="0" anchor="ctr"/>
          <a:lstStyle/>
          <a:p>
            <a:pPr algn="ctr" indent="0" marL="0">
              <a:buNone/>
            </a:pPr>
            <a:r>
              <a:rPr lang="en-US" sz="1200" dirty="0">
                <a:solidFill>
                  <a:srgbClr val="2C5282"/>
                </a:solidFill>
                <a:latin typeface="Arial" pitchFamily="34" charset="0"/>
                <a:ea typeface="Arial" pitchFamily="34" charset="-122"/>
                <a:cs typeface="Arial" pitchFamily="34" charset="-120"/>
              </a:rPr>
              <a:t>moyenne</a:t>
            </a:r>
            <a:endParaRPr lang="en-US" sz="1200" dirty="0"/>
          </a:p>
        </p:txBody>
      </p:sp>
      <p:sp>
        <p:nvSpPr>
          <p:cNvPr id="12" name="Shape 10"/>
          <p:cNvSpPr/>
          <p:nvPr/>
        </p:nvSpPr>
        <p:spPr>
          <a:xfrm>
            <a:off x="6126480" y="1097280"/>
            <a:ext cx="2560320" cy="1097280"/>
          </a:xfrm>
          <a:prstGeom prst="roundRect">
            <a:avLst>
              <a:gd name="adj" fmla="val 8333"/>
            </a:avLst>
          </a:prstGeom>
          <a:solidFill>
            <a:srgbClr val="FFFFFF"/>
          </a:solidFill>
          <a:ln w="25400">
            <a:solidFill>
              <a:srgbClr val="10B981"/>
            </a:solidFill>
            <a:prstDash val="solid"/>
          </a:ln>
        </p:spPr>
      </p:sp>
      <p:sp>
        <p:nvSpPr>
          <p:cNvPr id="13" name="Text 11"/>
          <p:cNvSpPr/>
          <p:nvPr/>
        </p:nvSpPr>
        <p:spPr>
          <a:xfrm>
            <a:off x="6126480" y="1143000"/>
            <a:ext cx="2560320" cy="457200"/>
          </a:xfrm>
          <a:prstGeom prst="rect">
            <a:avLst/>
          </a:prstGeom>
          <a:noFill/>
          <a:ln/>
        </p:spPr>
        <p:txBody>
          <a:bodyPr wrap="square" rtlCol="0" anchor="ctr"/>
          <a:lstStyle/>
          <a:p>
            <a:pPr algn="ctr" indent="0" marL="0">
              <a:buNone/>
            </a:pPr>
            <a:r>
              <a:rPr lang="en-US" sz="3600" b="1" dirty="0">
                <a:solidFill>
                  <a:srgbClr val="10B981"/>
                </a:solidFill>
                <a:latin typeface="Arial" pitchFamily="34" charset="0"/>
                <a:ea typeface="Arial" pitchFamily="34" charset="-122"/>
                <a:cs typeface="Arial" pitchFamily="34" charset="-120"/>
              </a:rPr>
              <a:t>99%</a:t>
            </a:r>
            <a:endParaRPr lang="en-US" sz="3600" dirty="0"/>
          </a:p>
        </p:txBody>
      </p:sp>
      <p:sp>
        <p:nvSpPr>
          <p:cNvPr id="14" name="Text 12"/>
          <p:cNvSpPr/>
          <p:nvPr/>
        </p:nvSpPr>
        <p:spPr>
          <a:xfrm>
            <a:off x="6126480" y="1645920"/>
            <a:ext cx="2560320" cy="228600"/>
          </a:xfrm>
          <a:prstGeom prst="rect">
            <a:avLst/>
          </a:prstGeom>
          <a:noFill/>
          <a:ln/>
        </p:spPr>
        <p:txBody>
          <a:bodyPr wrap="square" rtlCol="0" anchor="ctr"/>
          <a:lstStyle/>
          <a:p>
            <a:pPr algn="ctr" indent="0" marL="0">
              <a:buNone/>
            </a:pPr>
            <a:r>
              <a:rPr lang="en-US" sz="1400" dirty="0">
                <a:solidFill>
                  <a:srgbClr val="2C5282"/>
                </a:solidFill>
                <a:latin typeface="Arial" pitchFamily="34" charset="0"/>
                <a:ea typeface="Arial" pitchFamily="34" charset="-122"/>
                <a:cs typeface="Arial" pitchFamily="34" charset="-120"/>
              </a:rPr>
              <a:t>Amélioration</a:t>
            </a:r>
            <a:endParaRPr lang="en-US" sz="1400" dirty="0"/>
          </a:p>
        </p:txBody>
      </p:sp>
      <p:sp>
        <p:nvSpPr>
          <p:cNvPr id="15" name="Text 13"/>
          <p:cNvSpPr/>
          <p:nvPr/>
        </p:nvSpPr>
        <p:spPr>
          <a:xfrm>
            <a:off x="6126480" y="1874520"/>
            <a:ext cx="2560320" cy="228600"/>
          </a:xfrm>
          <a:prstGeom prst="rect">
            <a:avLst/>
          </a:prstGeom>
          <a:noFill/>
          <a:ln/>
        </p:spPr>
        <p:txBody>
          <a:bodyPr wrap="square" rtlCol="0" anchor="ctr"/>
          <a:lstStyle/>
          <a:p>
            <a:pPr algn="ctr" indent="0" marL="0">
              <a:buNone/>
            </a:pPr>
            <a:r>
              <a:rPr lang="en-US" sz="1200" dirty="0">
                <a:solidFill>
                  <a:srgbClr val="2C5282"/>
                </a:solidFill>
                <a:latin typeface="Arial" pitchFamily="34" charset="0"/>
                <a:ea typeface="Arial" pitchFamily="34" charset="-122"/>
                <a:cs typeface="Arial" pitchFamily="34" charset="-120"/>
              </a:rPr>
              <a:t>plus rapide</a:t>
            </a:r>
            <a:endParaRPr lang="en-US" sz="1200" dirty="0"/>
          </a:p>
        </p:txBody>
      </p:sp>
      <p:sp>
        <p:nvSpPr>
          <p:cNvPr id="16" name="Text 14"/>
          <p:cNvSpPr/>
          <p:nvPr/>
        </p:nvSpPr>
        <p:spPr>
          <a:xfrm>
            <a:off x="457200" y="2286000"/>
            <a:ext cx="8229600" cy="201168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Les mesures montrent des résultats impressionnants. Avec le cache Redis, le temps de réponse moyen est de douze millisecondes contre huit cent cinquante-six millisecondes sans cache, soit quatre-vingt-dix-neuf pour cent d'amélioration. Les requêtes getLaunches passent de plusieurs centaines de millisecondes à moins de quinze millisecondes. Les pages se chargent presque instantanément après la première visite.</a:t>
            </a:r>
            <a:endParaRPr lang="en-US" sz="1600" dirty="0"/>
          </a:p>
        </p:txBody>
      </p:sp>
      <p:sp>
        <p:nvSpPr>
          <p:cNvPr id="17" name="Shape 15"/>
          <p:cNvSpPr/>
          <p:nvPr/>
        </p:nvSpPr>
        <p:spPr>
          <a:xfrm>
            <a:off x="8503920" y="4754880"/>
            <a:ext cx="365760" cy="365760"/>
          </a:xfrm>
          <a:prstGeom prst="ellipse">
            <a:avLst/>
          </a:prstGeom>
          <a:solidFill>
            <a:srgbClr val="3182CE"/>
          </a:solidFill>
          <a:ln/>
        </p:spPr>
      </p:sp>
      <p:sp>
        <p:nvSpPr>
          <p:cNvPr id="18" name="Text 16"/>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Mesures de Performance (Suite)</a:t>
            </a:r>
            <a:endParaRPr lang="en-US" sz="2800" dirty="0"/>
          </a:p>
        </p:txBody>
      </p:sp>
      <p:sp>
        <p:nvSpPr>
          <p:cNvPr id="3" name="Shape 1"/>
          <p:cNvSpPr/>
          <p:nvPr/>
        </p:nvSpPr>
        <p:spPr>
          <a:xfrm>
            <a:off x="457200" y="731520"/>
            <a:ext cx="1371600" cy="45720"/>
          </a:xfrm>
          <a:prstGeom prst="rect">
            <a:avLst/>
          </a:prstGeom>
          <a:solidFill>
            <a:srgbClr val="3182CE"/>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286000"/>
                <a:gridCol w="2011680"/>
                <a:gridCol w="2011680"/>
                <a:gridCol w="1920240"/>
              </a:tblGrid>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Opération</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Sans Cache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Avec Cache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Amélioration</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getLaunches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856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12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99.2%</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getPosts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643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15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97.7%</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getLaunchBySlug</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234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8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96.6%</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getCategories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189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5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97.4%</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5" name="Text 2"/>
          <p:cNvSpPr/>
          <p:nvPr/>
        </p:nvSpPr>
        <p:spPr>
          <a:xfrm>
            <a:off x="457200" y="2560320"/>
            <a:ext cx="8229600" cy="201168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Voici le tableau détaillé par opération. getLaunches, la plus utilisée sur la page d'accueil, passe de huit cent cinquante-six à douze millisecondes, soit quatre-vingt-dix-neuf virgule deux pour cent d'amélioration. getPosts pour le feed passe de six cent quarante-trois à quinze millisecondes. getLaunchBySlug passe de deux cent trente-quatre à huit millisecondes. getCategories passe de cent quatre-vingt-neuf à cinq millisecondes.</a:t>
            </a:r>
            <a:endParaRPr lang="en-US" sz="1600" dirty="0"/>
          </a:p>
        </p:txBody>
      </p:sp>
      <p:sp>
        <p:nvSpPr>
          <p:cNvPr id="6" name="Shape 3"/>
          <p:cNvSpPr/>
          <p:nvPr/>
        </p:nvSpPr>
        <p:spPr>
          <a:xfrm>
            <a:off x="8503920" y="4754880"/>
            <a:ext cx="365760" cy="365760"/>
          </a:xfrm>
          <a:prstGeom prst="ellipse">
            <a:avLst/>
          </a:prstGeom>
          <a:solidFill>
            <a:srgbClr val="3182CE"/>
          </a:solidFill>
          <a:ln/>
        </p:spPr>
      </p:sp>
      <p:sp>
        <p:nvSpPr>
          <p:cNvPr id="7" name="Text 4"/>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Comparaison Graphique</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640080" y="731520"/>
            <a:ext cx="731520" cy="2286000"/>
          </a:xfrm>
          <a:prstGeom prst="rect">
            <a:avLst/>
          </a:prstGeom>
          <a:solidFill>
            <a:srgbClr val="EF4444"/>
          </a:solidFill>
          <a:ln/>
        </p:spPr>
      </p:sp>
      <p:sp>
        <p:nvSpPr>
          <p:cNvPr id="5" name="Shape 3"/>
          <p:cNvSpPr/>
          <p:nvPr/>
        </p:nvSpPr>
        <p:spPr>
          <a:xfrm>
            <a:off x="1554480" y="2985473"/>
            <a:ext cx="731520" cy="32047"/>
          </a:xfrm>
          <a:prstGeom prst="rect">
            <a:avLst/>
          </a:prstGeom>
          <a:solidFill>
            <a:srgbClr val="10B981"/>
          </a:solidFill>
          <a:ln/>
        </p:spPr>
      </p:sp>
      <p:sp>
        <p:nvSpPr>
          <p:cNvPr id="6" name="Text 4"/>
          <p:cNvSpPr/>
          <p:nvPr/>
        </p:nvSpPr>
        <p:spPr>
          <a:xfrm>
            <a:off x="640080" y="3108960"/>
            <a:ext cx="1645920" cy="274320"/>
          </a:xfrm>
          <a:prstGeom prst="rect">
            <a:avLst/>
          </a:prstGeom>
          <a:noFill/>
          <a:ln/>
        </p:spPr>
        <p:txBody>
          <a:bodyPr wrap="square" rtlCol="0" anchor="t"/>
          <a:lstStyle/>
          <a:p>
            <a:pPr algn="ctr" indent="0" marL="0">
              <a:buNone/>
            </a:pPr>
            <a:r>
              <a:rPr lang="en-US" sz="1100" dirty="0">
                <a:solidFill>
                  <a:srgbClr val="2C5282"/>
                </a:solidFill>
                <a:latin typeface="Arial" pitchFamily="34" charset="0"/>
                <a:ea typeface="Arial" pitchFamily="34" charset="-122"/>
                <a:cs typeface="Arial" pitchFamily="34" charset="-120"/>
              </a:rPr>
              <a:t>getLaunches</a:t>
            </a:r>
            <a:endParaRPr lang="en-US" sz="1100" dirty="0"/>
          </a:p>
        </p:txBody>
      </p:sp>
      <p:sp>
        <p:nvSpPr>
          <p:cNvPr id="7" name="Shape 5"/>
          <p:cNvSpPr/>
          <p:nvPr/>
        </p:nvSpPr>
        <p:spPr>
          <a:xfrm>
            <a:off x="2743200" y="1300349"/>
            <a:ext cx="731520" cy="1717171"/>
          </a:xfrm>
          <a:prstGeom prst="rect">
            <a:avLst/>
          </a:prstGeom>
          <a:solidFill>
            <a:srgbClr val="EF4444"/>
          </a:solidFill>
          <a:ln/>
        </p:spPr>
      </p:sp>
      <p:sp>
        <p:nvSpPr>
          <p:cNvPr id="8" name="Shape 6"/>
          <p:cNvSpPr/>
          <p:nvPr/>
        </p:nvSpPr>
        <p:spPr>
          <a:xfrm>
            <a:off x="3657600" y="2977462"/>
            <a:ext cx="731520" cy="40058"/>
          </a:xfrm>
          <a:prstGeom prst="rect">
            <a:avLst/>
          </a:prstGeom>
          <a:solidFill>
            <a:srgbClr val="10B981"/>
          </a:solidFill>
          <a:ln/>
        </p:spPr>
      </p:sp>
      <p:sp>
        <p:nvSpPr>
          <p:cNvPr id="9" name="Text 7"/>
          <p:cNvSpPr/>
          <p:nvPr/>
        </p:nvSpPr>
        <p:spPr>
          <a:xfrm>
            <a:off x="2743200" y="3108960"/>
            <a:ext cx="1645920" cy="274320"/>
          </a:xfrm>
          <a:prstGeom prst="rect">
            <a:avLst/>
          </a:prstGeom>
          <a:noFill/>
          <a:ln/>
        </p:spPr>
        <p:txBody>
          <a:bodyPr wrap="square" rtlCol="0" anchor="t"/>
          <a:lstStyle/>
          <a:p>
            <a:pPr algn="ctr" indent="0" marL="0">
              <a:buNone/>
            </a:pPr>
            <a:r>
              <a:rPr lang="en-US" sz="1100" dirty="0">
                <a:solidFill>
                  <a:srgbClr val="2C5282"/>
                </a:solidFill>
                <a:latin typeface="Arial" pitchFamily="34" charset="0"/>
                <a:ea typeface="Arial" pitchFamily="34" charset="-122"/>
                <a:cs typeface="Arial" pitchFamily="34" charset="-120"/>
              </a:rPr>
              <a:t>getPosts</a:t>
            </a:r>
            <a:endParaRPr lang="en-US" sz="1100" dirty="0"/>
          </a:p>
        </p:txBody>
      </p:sp>
      <p:sp>
        <p:nvSpPr>
          <p:cNvPr id="10" name="Shape 8"/>
          <p:cNvSpPr/>
          <p:nvPr/>
        </p:nvSpPr>
        <p:spPr>
          <a:xfrm>
            <a:off x="4846320" y="2392609"/>
            <a:ext cx="731520" cy="624911"/>
          </a:xfrm>
          <a:prstGeom prst="rect">
            <a:avLst/>
          </a:prstGeom>
          <a:solidFill>
            <a:srgbClr val="EF4444"/>
          </a:solidFill>
          <a:ln/>
        </p:spPr>
      </p:sp>
      <p:sp>
        <p:nvSpPr>
          <p:cNvPr id="11" name="Shape 9"/>
          <p:cNvSpPr/>
          <p:nvPr/>
        </p:nvSpPr>
        <p:spPr>
          <a:xfrm>
            <a:off x="5760720" y="2996156"/>
            <a:ext cx="731520" cy="21364"/>
          </a:xfrm>
          <a:prstGeom prst="rect">
            <a:avLst/>
          </a:prstGeom>
          <a:solidFill>
            <a:srgbClr val="10B981"/>
          </a:solidFill>
          <a:ln/>
        </p:spPr>
      </p:sp>
      <p:sp>
        <p:nvSpPr>
          <p:cNvPr id="12" name="Text 10"/>
          <p:cNvSpPr/>
          <p:nvPr/>
        </p:nvSpPr>
        <p:spPr>
          <a:xfrm>
            <a:off x="4846320" y="3108960"/>
            <a:ext cx="1645920" cy="274320"/>
          </a:xfrm>
          <a:prstGeom prst="rect">
            <a:avLst/>
          </a:prstGeom>
          <a:noFill/>
          <a:ln/>
        </p:spPr>
        <p:txBody>
          <a:bodyPr wrap="square" rtlCol="0" anchor="t"/>
          <a:lstStyle/>
          <a:p>
            <a:pPr algn="ctr" indent="0" marL="0">
              <a:buNone/>
            </a:pPr>
            <a:r>
              <a:rPr lang="en-US" sz="1100" dirty="0">
                <a:solidFill>
                  <a:srgbClr val="2C5282"/>
                </a:solidFill>
                <a:latin typeface="Arial" pitchFamily="34" charset="0"/>
                <a:ea typeface="Arial" pitchFamily="34" charset="-122"/>
                <a:cs typeface="Arial" pitchFamily="34" charset="-120"/>
              </a:rPr>
              <a:t>getLaunchBySlug</a:t>
            </a:r>
            <a:endParaRPr lang="en-US" sz="1100" dirty="0"/>
          </a:p>
        </p:txBody>
      </p:sp>
      <p:sp>
        <p:nvSpPr>
          <p:cNvPr id="13" name="Shape 11"/>
          <p:cNvSpPr/>
          <p:nvPr/>
        </p:nvSpPr>
        <p:spPr>
          <a:xfrm>
            <a:off x="6949440" y="2512784"/>
            <a:ext cx="731520" cy="504736"/>
          </a:xfrm>
          <a:prstGeom prst="rect">
            <a:avLst/>
          </a:prstGeom>
          <a:solidFill>
            <a:srgbClr val="EF4444"/>
          </a:solidFill>
          <a:ln/>
        </p:spPr>
      </p:sp>
      <p:sp>
        <p:nvSpPr>
          <p:cNvPr id="14" name="Shape 12"/>
          <p:cNvSpPr/>
          <p:nvPr/>
        </p:nvSpPr>
        <p:spPr>
          <a:xfrm>
            <a:off x="7863840" y="3004167"/>
            <a:ext cx="731520" cy="13353"/>
          </a:xfrm>
          <a:prstGeom prst="rect">
            <a:avLst/>
          </a:prstGeom>
          <a:solidFill>
            <a:srgbClr val="10B981"/>
          </a:solidFill>
          <a:ln/>
        </p:spPr>
      </p:sp>
      <p:sp>
        <p:nvSpPr>
          <p:cNvPr id="15" name="Text 13"/>
          <p:cNvSpPr/>
          <p:nvPr/>
        </p:nvSpPr>
        <p:spPr>
          <a:xfrm>
            <a:off x="6949440" y="3108960"/>
            <a:ext cx="1645920" cy="274320"/>
          </a:xfrm>
          <a:prstGeom prst="rect">
            <a:avLst/>
          </a:prstGeom>
          <a:noFill/>
          <a:ln/>
        </p:spPr>
        <p:txBody>
          <a:bodyPr wrap="square" rtlCol="0" anchor="t"/>
          <a:lstStyle/>
          <a:p>
            <a:pPr algn="ctr" indent="0" marL="0">
              <a:buNone/>
            </a:pPr>
            <a:r>
              <a:rPr lang="en-US" sz="1100" dirty="0">
                <a:solidFill>
                  <a:srgbClr val="2C5282"/>
                </a:solidFill>
                <a:latin typeface="Arial" pitchFamily="34" charset="0"/>
                <a:ea typeface="Arial" pitchFamily="34" charset="-122"/>
                <a:cs typeface="Arial" pitchFamily="34" charset="-120"/>
              </a:rPr>
              <a:t>getCategories</a:t>
            </a:r>
            <a:endParaRPr lang="en-US" sz="1100" dirty="0"/>
          </a:p>
        </p:txBody>
      </p:sp>
      <p:sp>
        <p:nvSpPr>
          <p:cNvPr id="16" name="Shape 14"/>
          <p:cNvSpPr/>
          <p:nvPr/>
        </p:nvSpPr>
        <p:spPr>
          <a:xfrm>
            <a:off x="5943600" y="1097280"/>
            <a:ext cx="274320" cy="182880"/>
          </a:xfrm>
          <a:prstGeom prst="rect">
            <a:avLst/>
          </a:prstGeom>
          <a:solidFill>
            <a:srgbClr val="EF4444"/>
          </a:solidFill>
          <a:ln/>
        </p:spPr>
      </p:sp>
      <p:sp>
        <p:nvSpPr>
          <p:cNvPr id="17" name="Text 15"/>
          <p:cNvSpPr/>
          <p:nvPr/>
        </p:nvSpPr>
        <p:spPr>
          <a:xfrm>
            <a:off x="6309360" y="1051560"/>
            <a:ext cx="1828800" cy="274320"/>
          </a:xfrm>
          <a:prstGeom prst="rect">
            <a:avLst/>
          </a:prstGeom>
          <a:noFill/>
          <a:ln/>
        </p:spPr>
        <p:txBody>
          <a:bodyPr wrap="square" rtlCol="0" anchor="ctr"/>
          <a:lstStyle/>
          <a:p>
            <a:pPr algn="l" indent="0" marL="0">
              <a:buNone/>
            </a:pPr>
            <a:r>
              <a:rPr lang="en-US" sz="1200" dirty="0">
                <a:solidFill>
                  <a:srgbClr val="2C5282"/>
                </a:solidFill>
                <a:latin typeface="Arial" pitchFamily="34" charset="0"/>
                <a:ea typeface="Arial" pitchFamily="34" charset="-122"/>
                <a:cs typeface="Arial" pitchFamily="34" charset="-120"/>
              </a:rPr>
              <a:t>Sans Cache</a:t>
            </a:r>
            <a:endParaRPr lang="en-US" sz="1200" dirty="0"/>
          </a:p>
        </p:txBody>
      </p:sp>
      <p:sp>
        <p:nvSpPr>
          <p:cNvPr id="18" name="Shape 16"/>
          <p:cNvSpPr/>
          <p:nvPr/>
        </p:nvSpPr>
        <p:spPr>
          <a:xfrm>
            <a:off x="5943600" y="1371600"/>
            <a:ext cx="274320" cy="182880"/>
          </a:xfrm>
          <a:prstGeom prst="rect">
            <a:avLst/>
          </a:prstGeom>
          <a:solidFill>
            <a:srgbClr val="10B981"/>
          </a:solidFill>
          <a:ln/>
        </p:spPr>
      </p:sp>
      <p:sp>
        <p:nvSpPr>
          <p:cNvPr id="19" name="Text 17"/>
          <p:cNvSpPr/>
          <p:nvPr/>
        </p:nvSpPr>
        <p:spPr>
          <a:xfrm>
            <a:off x="6309360" y="1325880"/>
            <a:ext cx="1828800" cy="274320"/>
          </a:xfrm>
          <a:prstGeom prst="rect">
            <a:avLst/>
          </a:prstGeom>
          <a:noFill/>
          <a:ln/>
        </p:spPr>
        <p:txBody>
          <a:bodyPr wrap="square" rtlCol="0" anchor="ctr"/>
          <a:lstStyle/>
          <a:p>
            <a:pPr algn="l" indent="0" marL="0">
              <a:buNone/>
            </a:pPr>
            <a:r>
              <a:rPr lang="en-US" sz="1200" dirty="0">
                <a:solidFill>
                  <a:srgbClr val="2C5282"/>
                </a:solidFill>
                <a:latin typeface="Arial" pitchFamily="34" charset="0"/>
                <a:ea typeface="Arial" pitchFamily="34" charset="-122"/>
                <a:cs typeface="Arial" pitchFamily="34" charset="-120"/>
              </a:rPr>
              <a:t>Avec Cache</a:t>
            </a:r>
            <a:endParaRPr lang="en-US" sz="1200" dirty="0"/>
          </a:p>
        </p:txBody>
      </p:sp>
      <p:sp>
        <p:nvSpPr>
          <p:cNvPr id="20" name="Text 18"/>
          <p:cNvSpPr/>
          <p:nvPr/>
        </p:nvSpPr>
        <p:spPr>
          <a:xfrm>
            <a:off x="457200" y="3383280"/>
            <a:ext cx="8229600" cy="137160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Ce graphique illustre l'impact du cache Redis. Les barres rouges sont sans cache, les vertes avec cache. Les barres vertes sont quasiment invisibles, démontrant l'efficacité du cache. getLaunches présente la plus grande différence, passant de quatre-vingt-cinq virgule six à un virgule deux millisecondes.</a:t>
            </a:r>
            <a:endParaRPr lang="en-US" sz="1600" dirty="0"/>
          </a:p>
        </p:txBody>
      </p:sp>
      <p:sp>
        <p:nvSpPr>
          <p:cNvPr id="21" name="Shape 19"/>
          <p:cNvSpPr/>
          <p:nvPr/>
        </p:nvSpPr>
        <p:spPr>
          <a:xfrm>
            <a:off x="8503920" y="4754880"/>
            <a:ext cx="365760" cy="365760"/>
          </a:xfrm>
          <a:prstGeom prst="ellipse">
            <a:avLst/>
          </a:prstGeom>
          <a:solidFill>
            <a:srgbClr val="3182CE"/>
          </a:solidFill>
          <a:ln/>
        </p:spPr>
      </p:sp>
      <p:sp>
        <p:nvSpPr>
          <p:cNvPr id="22" name="Text 20"/>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Conclusion et Résultats</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1097280"/>
            <a:ext cx="2560320" cy="1097280"/>
          </a:xfrm>
          <a:prstGeom prst="roundRect">
            <a:avLst>
              <a:gd name="adj" fmla="val 8333"/>
            </a:avLst>
          </a:prstGeom>
          <a:solidFill>
            <a:srgbClr val="FFFFFF"/>
          </a:solidFill>
          <a:ln w="25400">
            <a:solidFill>
              <a:srgbClr val="E2E8F0"/>
            </a:solidFill>
            <a:prstDash val="solid"/>
          </a:ln>
        </p:spPr>
      </p:sp>
      <p:sp>
        <p:nvSpPr>
          <p:cNvPr id="5" name="Text 3"/>
          <p:cNvSpPr/>
          <p:nvPr/>
        </p:nvSpPr>
        <p:spPr>
          <a:xfrm>
            <a:off x="457200" y="1143000"/>
            <a:ext cx="2560320" cy="457200"/>
          </a:xfrm>
          <a:prstGeom prst="rect">
            <a:avLst/>
          </a:prstGeom>
          <a:noFill/>
          <a:ln/>
        </p:spPr>
        <p:txBody>
          <a:bodyPr wrap="square" rtlCol="0" anchor="ctr"/>
          <a:lstStyle/>
          <a:p>
            <a:pPr algn="ctr" indent="0" marL="0">
              <a:buNone/>
            </a:pPr>
            <a:r>
              <a:rPr lang="en-US" sz="3200" b="1" dirty="0">
                <a:solidFill>
                  <a:srgbClr val="10B981"/>
                </a:solidFill>
                <a:latin typeface="Arial" pitchFamily="34" charset="0"/>
                <a:ea typeface="Arial" pitchFamily="34" charset="-122"/>
                <a:cs typeface="Arial" pitchFamily="34" charset="-120"/>
              </a:rPr>
              <a:t>-99%</a:t>
            </a:r>
            <a:endParaRPr lang="en-US" sz="3200" dirty="0"/>
          </a:p>
        </p:txBody>
      </p:sp>
      <p:sp>
        <p:nvSpPr>
          <p:cNvPr id="6" name="Text 4"/>
          <p:cNvSpPr/>
          <p:nvPr/>
        </p:nvSpPr>
        <p:spPr>
          <a:xfrm>
            <a:off x="457200" y="1645920"/>
            <a:ext cx="2560320" cy="228600"/>
          </a:xfrm>
          <a:prstGeom prst="rect">
            <a:avLst/>
          </a:prstGeom>
          <a:noFill/>
          <a:ln/>
        </p:spPr>
        <p:txBody>
          <a:bodyPr wrap="square" rtlCol="0" anchor="ctr"/>
          <a:lstStyle/>
          <a:p>
            <a:pPr algn="ctr" indent="0" marL="0">
              <a:buNone/>
            </a:pPr>
            <a:r>
              <a:rPr lang="en-US" sz="1400" b="1" dirty="0">
                <a:solidFill>
                  <a:srgbClr val="2C5282"/>
                </a:solidFill>
                <a:latin typeface="Arial" pitchFamily="34" charset="0"/>
                <a:ea typeface="Arial" pitchFamily="34" charset="-122"/>
                <a:cs typeface="Arial" pitchFamily="34" charset="-120"/>
              </a:rPr>
              <a:t>Temps de réponse</a:t>
            </a:r>
            <a:endParaRPr lang="en-US" sz="1400" dirty="0"/>
          </a:p>
        </p:txBody>
      </p:sp>
      <p:sp>
        <p:nvSpPr>
          <p:cNvPr id="7" name="Text 5"/>
          <p:cNvSpPr/>
          <p:nvPr/>
        </p:nvSpPr>
        <p:spPr>
          <a:xfrm>
            <a:off x="457200" y="1874520"/>
            <a:ext cx="2560320" cy="228600"/>
          </a:xfrm>
          <a:prstGeom prst="rect">
            <a:avLst/>
          </a:prstGeom>
          <a:noFill/>
          <a:ln/>
        </p:spPr>
        <p:txBody>
          <a:bodyPr wrap="square" rtlCol="0" anchor="ctr"/>
          <a:lstStyle/>
          <a:p>
            <a:pPr algn="ctr" indent="0" marL="0">
              <a:buNone/>
            </a:pPr>
            <a:r>
              <a:rPr lang="en-US" sz="1200" dirty="0">
                <a:solidFill>
                  <a:srgbClr val="2C5282"/>
                </a:solidFill>
                <a:latin typeface="Arial" pitchFamily="34" charset="0"/>
                <a:ea typeface="Arial" pitchFamily="34" charset="-122"/>
                <a:cs typeface="Arial" pitchFamily="34" charset="-120"/>
              </a:rPr>
              <a:t>en moyenne</a:t>
            </a:r>
            <a:endParaRPr lang="en-US" sz="1200" dirty="0"/>
          </a:p>
        </p:txBody>
      </p:sp>
      <p:sp>
        <p:nvSpPr>
          <p:cNvPr id="8" name="Shape 6"/>
          <p:cNvSpPr/>
          <p:nvPr/>
        </p:nvSpPr>
        <p:spPr>
          <a:xfrm>
            <a:off x="3291840" y="1097280"/>
            <a:ext cx="2560320" cy="1097280"/>
          </a:xfrm>
          <a:prstGeom prst="roundRect">
            <a:avLst>
              <a:gd name="adj" fmla="val 8333"/>
            </a:avLst>
          </a:prstGeom>
          <a:solidFill>
            <a:srgbClr val="FFFFFF"/>
          </a:solidFill>
          <a:ln w="25400">
            <a:solidFill>
              <a:srgbClr val="E2E8F0"/>
            </a:solidFill>
            <a:prstDash val="solid"/>
          </a:ln>
        </p:spPr>
      </p:sp>
      <p:sp>
        <p:nvSpPr>
          <p:cNvPr id="9" name="Text 7"/>
          <p:cNvSpPr/>
          <p:nvPr/>
        </p:nvSpPr>
        <p:spPr>
          <a:xfrm>
            <a:off x="3291840" y="1143000"/>
            <a:ext cx="2560320" cy="457200"/>
          </a:xfrm>
          <a:prstGeom prst="rect">
            <a:avLst/>
          </a:prstGeom>
          <a:noFill/>
          <a:ln/>
        </p:spPr>
        <p:txBody>
          <a:bodyPr wrap="square" rtlCol="0" anchor="ctr"/>
          <a:lstStyle/>
          <a:p>
            <a:pPr algn="ctr" indent="0" marL="0">
              <a:buNone/>
            </a:pPr>
            <a:r>
              <a:rPr lang="en-US" sz="3200" b="1" dirty="0">
                <a:solidFill>
                  <a:srgbClr val="10B981"/>
                </a:solidFill>
                <a:latin typeface="Arial" pitchFamily="34" charset="0"/>
                <a:ea typeface="Arial" pitchFamily="34" charset="-122"/>
                <a:cs typeface="Arial" pitchFamily="34" charset="-120"/>
              </a:rPr>
              <a:t>-85%</a:t>
            </a:r>
            <a:endParaRPr lang="en-US" sz="3200" dirty="0"/>
          </a:p>
        </p:txBody>
      </p:sp>
      <p:sp>
        <p:nvSpPr>
          <p:cNvPr id="10" name="Text 8"/>
          <p:cNvSpPr/>
          <p:nvPr/>
        </p:nvSpPr>
        <p:spPr>
          <a:xfrm>
            <a:off x="3291840" y="1645920"/>
            <a:ext cx="2560320" cy="228600"/>
          </a:xfrm>
          <a:prstGeom prst="rect">
            <a:avLst/>
          </a:prstGeom>
          <a:noFill/>
          <a:ln/>
        </p:spPr>
        <p:txBody>
          <a:bodyPr wrap="square" rtlCol="0" anchor="ctr"/>
          <a:lstStyle/>
          <a:p>
            <a:pPr algn="ctr" indent="0" marL="0">
              <a:buNone/>
            </a:pPr>
            <a:r>
              <a:rPr lang="en-US" sz="1400" b="1" dirty="0">
                <a:solidFill>
                  <a:srgbClr val="2C5282"/>
                </a:solidFill>
                <a:latin typeface="Arial" pitchFamily="34" charset="0"/>
                <a:ea typeface="Arial" pitchFamily="34" charset="-122"/>
                <a:cs typeface="Arial" pitchFamily="34" charset="-120"/>
              </a:rPr>
              <a:t>Charge DB</a:t>
            </a:r>
            <a:endParaRPr lang="en-US" sz="1400" dirty="0"/>
          </a:p>
        </p:txBody>
      </p:sp>
      <p:sp>
        <p:nvSpPr>
          <p:cNvPr id="11" name="Text 9"/>
          <p:cNvSpPr/>
          <p:nvPr/>
        </p:nvSpPr>
        <p:spPr>
          <a:xfrm>
            <a:off x="3291840" y="1874520"/>
            <a:ext cx="2560320" cy="228600"/>
          </a:xfrm>
          <a:prstGeom prst="rect">
            <a:avLst/>
          </a:prstGeom>
          <a:noFill/>
          <a:ln/>
        </p:spPr>
        <p:txBody>
          <a:bodyPr wrap="square" rtlCol="0" anchor="ctr"/>
          <a:lstStyle/>
          <a:p>
            <a:pPr algn="ctr" indent="0" marL="0">
              <a:buNone/>
            </a:pPr>
            <a:r>
              <a:rPr lang="en-US" sz="1200" dirty="0">
                <a:solidFill>
                  <a:srgbClr val="2C5282"/>
                </a:solidFill>
                <a:latin typeface="Arial" pitchFamily="34" charset="0"/>
                <a:ea typeface="Arial" pitchFamily="34" charset="-122"/>
                <a:cs typeface="Arial" pitchFamily="34" charset="-120"/>
              </a:rPr>
              <a:t>requêtes réduites</a:t>
            </a:r>
            <a:endParaRPr lang="en-US" sz="1200" dirty="0"/>
          </a:p>
        </p:txBody>
      </p:sp>
      <p:sp>
        <p:nvSpPr>
          <p:cNvPr id="12" name="Shape 10"/>
          <p:cNvSpPr/>
          <p:nvPr/>
        </p:nvSpPr>
        <p:spPr>
          <a:xfrm>
            <a:off x="6126480" y="1097280"/>
            <a:ext cx="2560320" cy="1097280"/>
          </a:xfrm>
          <a:prstGeom prst="roundRect">
            <a:avLst>
              <a:gd name="adj" fmla="val 8333"/>
            </a:avLst>
          </a:prstGeom>
          <a:solidFill>
            <a:srgbClr val="FFFFFF"/>
          </a:solidFill>
          <a:ln w="25400">
            <a:solidFill>
              <a:srgbClr val="E2E8F0"/>
            </a:solidFill>
            <a:prstDash val="solid"/>
          </a:ln>
        </p:spPr>
      </p:sp>
      <p:sp>
        <p:nvSpPr>
          <p:cNvPr id="13" name="Text 11"/>
          <p:cNvSpPr/>
          <p:nvPr/>
        </p:nvSpPr>
        <p:spPr>
          <a:xfrm>
            <a:off x="6126480" y="1143000"/>
            <a:ext cx="2560320" cy="457200"/>
          </a:xfrm>
          <a:prstGeom prst="rect">
            <a:avLst/>
          </a:prstGeom>
          <a:noFill/>
          <a:ln/>
        </p:spPr>
        <p:txBody>
          <a:bodyPr wrap="square" rtlCol="0" anchor="ctr"/>
          <a:lstStyle/>
          <a:p>
            <a:pPr algn="ctr" indent="0" marL="0">
              <a:buNone/>
            </a:pPr>
            <a:r>
              <a:rPr lang="en-US" sz="3200" b="1" dirty="0">
                <a:solidFill>
                  <a:srgbClr val="10B981"/>
                </a:solidFill>
                <a:latin typeface="Arial" pitchFamily="34" charset="0"/>
                <a:ea typeface="Arial" pitchFamily="34" charset="-122"/>
                <a:cs typeface="Arial" pitchFamily="34" charset="-120"/>
              </a:rPr>
              <a:t>100%</a:t>
            </a:r>
            <a:endParaRPr lang="en-US" sz="3200" dirty="0"/>
          </a:p>
        </p:txBody>
      </p:sp>
      <p:sp>
        <p:nvSpPr>
          <p:cNvPr id="14" name="Text 12"/>
          <p:cNvSpPr/>
          <p:nvPr/>
        </p:nvSpPr>
        <p:spPr>
          <a:xfrm>
            <a:off x="6126480" y="1645920"/>
            <a:ext cx="2560320" cy="228600"/>
          </a:xfrm>
          <a:prstGeom prst="rect">
            <a:avLst/>
          </a:prstGeom>
          <a:noFill/>
          <a:ln/>
        </p:spPr>
        <p:txBody>
          <a:bodyPr wrap="square" rtlCol="0" anchor="ctr"/>
          <a:lstStyle/>
          <a:p>
            <a:pPr algn="ctr" indent="0" marL="0">
              <a:buNone/>
            </a:pPr>
            <a:r>
              <a:rPr lang="en-US" sz="1400" b="1" dirty="0">
                <a:solidFill>
                  <a:srgbClr val="2C5282"/>
                </a:solidFill>
                <a:latin typeface="Arial" pitchFamily="34" charset="0"/>
                <a:ea typeface="Arial" pitchFamily="34" charset="-122"/>
                <a:cs typeface="Arial" pitchFamily="34" charset="-120"/>
              </a:rPr>
              <a:t>Tests</a:t>
            </a:r>
            <a:endParaRPr lang="en-US" sz="1400" dirty="0"/>
          </a:p>
        </p:txBody>
      </p:sp>
      <p:sp>
        <p:nvSpPr>
          <p:cNvPr id="15" name="Text 13"/>
          <p:cNvSpPr/>
          <p:nvPr/>
        </p:nvSpPr>
        <p:spPr>
          <a:xfrm>
            <a:off x="6126480" y="1874520"/>
            <a:ext cx="2560320" cy="228600"/>
          </a:xfrm>
          <a:prstGeom prst="rect">
            <a:avLst/>
          </a:prstGeom>
          <a:noFill/>
          <a:ln/>
        </p:spPr>
        <p:txBody>
          <a:bodyPr wrap="square" rtlCol="0" anchor="ctr"/>
          <a:lstStyle/>
          <a:p>
            <a:pPr algn="ctr" indent="0" marL="0">
              <a:buNone/>
            </a:pPr>
            <a:r>
              <a:rPr lang="en-US" sz="1200" dirty="0">
                <a:solidFill>
                  <a:srgbClr val="2C5282"/>
                </a:solidFill>
                <a:latin typeface="Arial" pitchFamily="34" charset="0"/>
                <a:ea typeface="Arial" pitchFamily="34" charset="-122"/>
                <a:cs typeface="Arial" pitchFamily="34" charset="-120"/>
              </a:rPr>
              <a:t>tous passent</a:t>
            </a:r>
            <a:endParaRPr lang="en-US" sz="1200" dirty="0"/>
          </a:p>
        </p:txBody>
      </p:sp>
      <p:sp>
        <p:nvSpPr>
          <p:cNvPr id="16" name="Text 14"/>
          <p:cNvSpPr/>
          <p:nvPr/>
        </p:nvSpPr>
        <p:spPr>
          <a:xfrm>
            <a:off x="457200" y="2194560"/>
            <a:ext cx="8229600" cy="210312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En conclusion, tous les objectifs ont été atteints. Le temps de réponse moyen a été réduit de quatre-vingt-dix-neuf pour cent. La charge sur PostgreSQL a diminué de quatre-vingt-cinq pour cent grâce à la redirection des requêtes vers Redis. Les huit tests unitaires passent tous. L'intégration du cache distribué avec Redis et Docker Compose a amélioré significativement les performances tout en maintenant la cohérence des données.</a:t>
            </a:r>
            <a:endParaRPr lang="en-US" sz="1600" dirty="0"/>
          </a:p>
        </p:txBody>
      </p:sp>
      <p:sp>
        <p:nvSpPr>
          <p:cNvPr id="17" name="Shape 15"/>
          <p:cNvSpPr/>
          <p:nvPr/>
        </p:nvSpPr>
        <p:spPr>
          <a:xfrm>
            <a:off x="8503920" y="4754880"/>
            <a:ext cx="365760" cy="365760"/>
          </a:xfrm>
          <a:prstGeom prst="ellipse">
            <a:avLst/>
          </a:prstGeom>
          <a:solidFill>
            <a:srgbClr val="3182CE"/>
          </a:solidFill>
          <a:ln/>
        </p:spPr>
      </p:sp>
      <p:sp>
        <p:nvSpPr>
          <p:cNvPr id="18" name="Text 16"/>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Bonnes Pratiques de Cache</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Text 2"/>
          <p:cNvSpPr/>
          <p:nvPr/>
        </p:nvSpPr>
        <p:spPr>
          <a:xfrm>
            <a:off x="457200" y="914400"/>
            <a:ext cx="8229600" cy="347472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Tout au long de ce projet, nous avons appliqué plusieurs bonnes pratiques. Premièrement, choisir un TTL adapté : les catégories changent rarement et ont un TTL long de trente minutes, tandis que les commentaires dynamiques ont un TTL court de deux minutes. Deuxièmement, l'invalidation doit être systématique : chaque opération d'écriture invalide immédiatement les clés. Troisièmement, un préfixe comme saas: évite les collisions. Quatrièmement, les tests unitaires valident le comportement. Enfin, le monitoring permet de suivre l'utilisation du cache.</a:t>
            </a:r>
            <a:endParaRPr lang="en-US" sz="1600" dirty="0"/>
          </a:p>
        </p:txBody>
      </p:sp>
      <p:sp>
        <p:nvSpPr>
          <p:cNvPr id="5" name="Shape 3"/>
          <p:cNvSpPr/>
          <p:nvPr/>
        </p:nvSpPr>
        <p:spPr>
          <a:xfrm>
            <a:off x="8503920" y="4754880"/>
            <a:ext cx="365760" cy="365760"/>
          </a:xfrm>
          <a:prstGeom prst="ellipse">
            <a:avLst/>
          </a:prstGeom>
          <a:solidFill>
            <a:srgbClr val="3182CE"/>
          </a:solidFill>
          <a:ln/>
        </p:spPr>
      </p:sp>
      <p:sp>
        <p:nvSpPr>
          <p:cNvPr id="6" name="Text 4"/>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Perspectives et Améliorations Futures</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Plusieurs pistes d'amélioration sont envisageables. Premièrement, un cluster Redis avec réplication garantirait la haute disponibilité et la tolérance aux pannes en production. Deuxièmement, un cache LRU local côté application complémenterait Redis et réduirait encore la latence. Troisièmement, un système de cache warming préchargerait automatiquement les données populaires au démarrage. Quatrièmement, Redis Streams permettrait une invalidation en temps réel entre plusieurs instances en cas de déploiement multi-serveur. Enfin, un dashboard de monitoring visualiserait les taux de hit et miss, l'occupation mémoire et les performances globales en temps réel.</a:t>
            </a:r>
            <a:endParaRPr lang="en-US" sz="1600" dirty="0"/>
          </a:p>
        </p:txBody>
      </p:sp>
      <p:sp>
        <p:nvSpPr>
          <p:cNvPr id="5" name="Shape 3"/>
          <p:cNvSpPr/>
          <p:nvPr/>
        </p:nvSpPr>
        <p:spPr>
          <a:xfrm>
            <a:off x="8503920" y="4754880"/>
            <a:ext cx="365760" cy="365760"/>
          </a:xfrm>
          <a:prstGeom prst="ellipse">
            <a:avLst/>
          </a:prstGeom>
          <a:solidFill>
            <a:srgbClr val="3182CE"/>
          </a:solidFill>
          <a:ln/>
        </p:spPr>
      </p:sp>
      <p:sp>
        <p:nvSpPr>
          <p:cNvPr id="6" name="Text 4"/>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65760"/>
            <a:ext cx="8229600" cy="731520"/>
          </a:xfrm>
          <a:prstGeom prst="rect">
            <a:avLst/>
          </a:prstGeom>
          <a:noFill/>
          <a:ln/>
        </p:spPr>
        <p:txBody>
          <a:bodyPr wrap="square" rtlCol="0" anchor="ctr"/>
          <a:lstStyle/>
          <a:p>
            <a:pPr algn="ctr" indent="0" marL="0">
              <a:buNone/>
            </a:pPr>
            <a:r>
              <a:rPr lang="en-US" sz="3600" b="1" dirty="0">
                <a:solidFill>
                  <a:srgbClr val="1E3A5F"/>
                </a:solidFill>
                <a:latin typeface="Arial" pitchFamily="34" charset="0"/>
                <a:ea typeface="Arial" pitchFamily="34" charset="-122"/>
                <a:cs typeface="Arial" pitchFamily="34" charset="-120"/>
              </a:rPr>
              <a:t>Merci de votre attention</a:t>
            </a:r>
            <a:endParaRPr lang="en-US" sz="3600" dirty="0"/>
          </a:p>
        </p:txBody>
      </p:sp>
      <p:sp>
        <p:nvSpPr>
          <p:cNvPr id="3" name="Shape 1"/>
          <p:cNvSpPr/>
          <p:nvPr/>
        </p:nvSpPr>
        <p:spPr>
          <a:xfrm>
            <a:off x="3657600" y="1097280"/>
            <a:ext cx="1828800" cy="45720"/>
          </a:xfrm>
          <a:prstGeom prst="rect">
            <a:avLst/>
          </a:prstGeom>
          <a:solidFill>
            <a:srgbClr val="3182CE"/>
          </a:solidFill>
          <a:ln/>
        </p:spPr>
      </p:sp>
      <p:sp>
        <p:nvSpPr>
          <p:cNvPr id="4" name="Text 2"/>
          <p:cNvSpPr/>
          <p:nvPr/>
        </p:nvSpPr>
        <p:spPr>
          <a:xfrm>
            <a:off x="457200" y="1371600"/>
            <a:ext cx="8229600" cy="457200"/>
          </a:xfrm>
          <a:prstGeom prst="rect">
            <a:avLst/>
          </a:prstGeom>
          <a:noFill/>
          <a:ln/>
        </p:spPr>
        <p:txBody>
          <a:bodyPr wrap="square" rtlCol="0" anchor="ctr"/>
          <a:lstStyle/>
          <a:p>
            <a:pPr algn="ctr" indent="0" marL="0">
              <a:buNone/>
            </a:pPr>
            <a:r>
              <a:rPr lang="en-US" sz="2400" dirty="0">
                <a:solidFill>
                  <a:srgbClr val="2C5282"/>
                </a:solidFill>
                <a:latin typeface="Arial" pitchFamily="34" charset="0"/>
                <a:ea typeface="Arial" pitchFamily="34" charset="-122"/>
                <a:cs typeface="Arial" pitchFamily="34" charset="-120"/>
              </a:rPr>
              <a:t>Questions &amp; Discussion</a:t>
            </a:r>
            <a:endParaRPr lang="en-US" sz="2400" dirty="0"/>
          </a:p>
        </p:txBody>
      </p:sp>
      <p:sp>
        <p:nvSpPr>
          <p:cNvPr id="5" name="Shape 3"/>
          <p:cNvSpPr/>
          <p:nvPr/>
        </p:nvSpPr>
        <p:spPr>
          <a:xfrm>
            <a:off x="2286000" y="2103120"/>
            <a:ext cx="4572000" cy="1097280"/>
          </a:xfrm>
          <a:prstGeom prst="roundRect">
            <a:avLst>
              <a:gd name="adj" fmla="val 8333"/>
            </a:avLst>
          </a:prstGeom>
          <a:solidFill>
            <a:srgbClr val="FFFFFF"/>
          </a:solidFill>
          <a:ln w="25400">
            <a:solidFill>
              <a:srgbClr val="E2E8F0"/>
            </a:solidFill>
            <a:prstDash val="solid"/>
          </a:ln>
        </p:spPr>
      </p:sp>
      <p:sp>
        <p:nvSpPr>
          <p:cNvPr id="6" name="Text 4"/>
          <p:cNvSpPr/>
          <p:nvPr/>
        </p:nvSpPr>
        <p:spPr>
          <a:xfrm>
            <a:off x="2286000" y="2148840"/>
            <a:ext cx="4572000" cy="274320"/>
          </a:xfrm>
          <a:prstGeom prst="rect">
            <a:avLst/>
          </a:prstGeom>
          <a:noFill/>
          <a:ln/>
        </p:spPr>
        <p:txBody>
          <a:bodyPr wrap="square" rtlCol="0" anchor="ctr"/>
          <a:lstStyle/>
          <a:p>
            <a:pPr algn="ctr" indent="0" marL="0">
              <a:buNone/>
            </a:pPr>
            <a:r>
              <a:rPr lang="en-US" sz="1400" dirty="0">
                <a:solidFill>
                  <a:srgbClr val="2C5282"/>
                </a:solidFill>
                <a:latin typeface="Arial" pitchFamily="34" charset="0"/>
                <a:ea typeface="Arial" pitchFamily="34" charset="-122"/>
                <a:cs typeface="Arial" pitchFamily="34" charset="-120"/>
              </a:rPr>
              <a:t>Présenté par</a:t>
            </a:r>
            <a:endParaRPr lang="en-US" sz="1400" dirty="0"/>
          </a:p>
        </p:txBody>
      </p:sp>
      <p:sp>
        <p:nvSpPr>
          <p:cNvPr id="7" name="Text 5"/>
          <p:cNvSpPr/>
          <p:nvPr/>
        </p:nvSpPr>
        <p:spPr>
          <a:xfrm>
            <a:off x="2286000" y="2423160"/>
            <a:ext cx="4572000" cy="320040"/>
          </a:xfrm>
          <a:prstGeom prst="rect">
            <a:avLst/>
          </a:prstGeom>
          <a:noFill/>
          <a:ln/>
        </p:spPr>
        <p:txBody>
          <a:bodyPr wrap="square" rtlCol="0" anchor="ctr"/>
          <a:lstStyle/>
          <a:p>
            <a:pPr algn="ctr" indent="0" marL="0">
              <a:buNone/>
            </a:pPr>
            <a:r>
              <a:rPr lang="en-US" sz="2000" b="1" dirty="0">
                <a:solidFill>
                  <a:srgbClr val="1E3A5F"/>
                </a:solidFill>
                <a:latin typeface="Arial" pitchFamily="34" charset="0"/>
                <a:ea typeface="Arial" pitchFamily="34" charset="-122"/>
                <a:cs typeface="Arial" pitchFamily="34" charset="-120"/>
              </a:rPr>
              <a:t>Omar Sarsar · Iliass Hariz</a:t>
            </a:r>
            <a:endParaRPr lang="en-US" sz="2000" dirty="0"/>
          </a:p>
        </p:txBody>
      </p:sp>
      <p:sp>
        <p:nvSpPr>
          <p:cNvPr id="8" name="Text 6"/>
          <p:cNvSpPr/>
          <p:nvPr/>
        </p:nvSpPr>
        <p:spPr>
          <a:xfrm>
            <a:off x="2286000" y="2743200"/>
            <a:ext cx="4572000" cy="274320"/>
          </a:xfrm>
          <a:prstGeom prst="rect">
            <a:avLst/>
          </a:prstGeom>
          <a:noFill/>
          <a:ln/>
        </p:spPr>
        <p:txBody>
          <a:bodyPr wrap="square" rtlCol="0" anchor="ctr"/>
          <a:lstStyle/>
          <a:p>
            <a:pPr algn="ctr" indent="0" marL="0">
              <a:buNone/>
            </a:pPr>
            <a:r>
              <a:rPr lang="en-US" sz="1600" dirty="0">
                <a:solidFill>
                  <a:srgbClr val="2C5282"/>
                </a:solidFill>
                <a:latin typeface="Arial" pitchFamily="34" charset="0"/>
                <a:ea typeface="Arial" pitchFamily="34" charset="-122"/>
                <a:cs typeface="Arial" pitchFamily="34" charset="-120"/>
              </a:rPr>
              <a:t>2026</a:t>
            </a:r>
            <a:endParaRPr lang="en-US" sz="1600" dirty="0"/>
          </a:p>
        </p:txBody>
      </p:sp>
      <p:sp>
        <p:nvSpPr>
          <p:cNvPr id="9" name="Text 7"/>
          <p:cNvSpPr/>
          <p:nvPr/>
        </p:nvSpPr>
        <p:spPr>
          <a:xfrm>
            <a:off x="457200" y="3383280"/>
            <a:ext cx="8229600" cy="137160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Nous vous remercions pour votre attention. Ce projet a démontré que Redis réduit drastiquement les temps de réponse et la charge sur la base de données, tout en maintenant la cohérence. Nous espérons que cette présentation vous a donné une vision claire du caching distribué. N'hésitez pas à poser vos questions.</a:t>
            </a:r>
            <a:endParaRPr lang="en-US" sz="1600" dirty="0"/>
          </a:p>
        </p:txBody>
      </p:sp>
      <p:sp>
        <p:nvSpPr>
          <p:cNvPr id="10" name="Shape 8"/>
          <p:cNvSpPr/>
          <p:nvPr/>
        </p:nvSpPr>
        <p:spPr>
          <a:xfrm>
            <a:off x="8503920" y="4754880"/>
            <a:ext cx="365760" cy="365760"/>
          </a:xfrm>
          <a:prstGeom prst="ellipse">
            <a:avLst/>
          </a:prstGeom>
          <a:solidFill>
            <a:srgbClr val="3182CE"/>
          </a:solidFill>
          <a:ln/>
        </p:spPr>
      </p:sp>
      <p:sp>
        <p:nvSpPr>
          <p:cNvPr id="11" name="Text 9"/>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2026-05-21T18:31:03Z</dcterms:created>
  <dcterms:modified xsi:type="dcterms:W3CDTF">2026-05-21T18:31:03Z</dcterms:modified>
</cp:coreProperties>
</file>