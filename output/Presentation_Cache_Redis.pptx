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32004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Université Mohammed V de Rabat</a:t>
            </a:r>
            <a:endParaRPr lang="en-US" sz="1400" dirty="0"/>
          </a:p>
        </p:txBody>
      </p:sp>
      <p:sp>
        <p:nvSpPr>
          <p:cNvPr id="3" name="Text 1"/>
          <p:cNvSpPr/>
          <p:nvPr/>
        </p:nvSpPr>
        <p:spPr>
          <a:xfrm>
            <a:off x="457200" y="594360"/>
            <a:ext cx="8229600" cy="274320"/>
          </a:xfrm>
          <a:prstGeom prst="rect">
            <a:avLst/>
          </a:prstGeom>
          <a:noFill/>
          <a:ln/>
        </p:spPr>
        <p:txBody>
          <a:bodyPr wrap="square" rtlCol="0" anchor="ctr"/>
          <a:lstStyle/>
          <a:p>
            <a:pPr algn="ctr" indent="0" marL="0">
              <a:buNone/>
            </a:pPr>
            <a:r>
              <a:rPr lang="en-US" sz="1200" dirty="0">
                <a:solidFill>
                  <a:srgbClr val="E2E8F0"/>
                </a:solidFill>
                <a:latin typeface="Arial" pitchFamily="34" charset="0"/>
                <a:ea typeface="Arial" pitchFamily="34" charset="-122"/>
                <a:cs typeface="Arial" pitchFamily="34" charset="-120"/>
              </a:rPr>
              <a:t>Faculté des Sciences - Département Informatique</a:t>
            </a:r>
            <a:endParaRPr lang="en-US" sz="1200" dirty="0"/>
          </a:p>
        </p:txBody>
      </p:sp>
      <p:sp>
        <p:nvSpPr>
          <p:cNvPr id="4" name="Shape 2"/>
          <p:cNvSpPr/>
          <p:nvPr/>
        </p:nvSpPr>
        <p:spPr>
          <a:xfrm>
            <a:off x="3200400" y="914400"/>
            <a:ext cx="2743200" cy="27432"/>
          </a:xfrm>
          <a:prstGeom prst="rect">
            <a:avLst/>
          </a:prstGeom>
          <a:solidFill>
            <a:srgbClr val="3182CE"/>
          </a:solidFill>
          <a:ln/>
        </p:spPr>
      </p:sp>
      <p:sp>
        <p:nvSpPr>
          <p:cNvPr id="5" name="Text 3"/>
          <p:cNvSpPr/>
          <p:nvPr/>
        </p:nvSpPr>
        <p:spPr>
          <a:xfrm>
            <a:off x="457200" y="1097280"/>
            <a:ext cx="8229600" cy="1097280"/>
          </a:xfrm>
          <a:prstGeom prst="rect">
            <a:avLst/>
          </a:prstGeom>
          <a:noFill/>
          <a:ln/>
        </p:spPr>
        <p:txBody>
          <a:bodyPr wrap="square" rtlCol="0" anchor="ctr"/>
          <a:lstStyle/>
          <a:p>
            <a:pPr algn="ctr" indent="0" marL="0">
              <a:buNone/>
            </a:pPr>
            <a:r>
              <a:rPr lang="en-US" sz="3200" b="1" dirty="0">
                <a:solidFill>
                  <a:srgbClr val="1E3A5F"/>
                </a:solidFill>
                <a:latin typeface="Arial" pitchFamily="34" charset="0"/>
                <a:ea typeface="Arial" pitchFamily="34" charset="-122"/>
                <a:cs typeface="Arial" pitchFamily="34" charset="-120"/>
              </a:rPr>
              <a:t>Intégration du Cache Distribué</a:t>
            </a:r>
            <a:endParaRPr lang="en-US" sz="3200" dirty="0"/>
          </a:p>
          <a:p>
            <a:pPr algn="ctr" indent="0" marL="0">
              <a:buNone/>
            </a:pPr>
            <a:r>
              <a:rPr lang="en-US" sz="3200" b="1" dirty="0">
                <a:solidFill>
                  <a:srgbClr val="1E3A5F"/>
                </a:solidFill>
                <a:latin typeface="Arial" pitchFamily="34" charset="0"/>
                <a:ea typeface="Arial" pitchFamily="34" charset="-122"/>
                <a:cs typeface="Arial" pitchFamily="34" charset="-120"/>
              </a:rPr>
              <a:t>avec Redis dans une Application</a:t>
            </a:r>
            <a:endParaRPr lang="en-US" sz="3200" dirty="0"/>
          </a:p>
          <a:p>
            <a:pPr algn="ctr" indent="0" marL="0">
              <a:buNone/>
            </a:pPr>
            <a:r>
              <a:rPr lang="en-US" sz="3200" b="1" dirty="0">
                <a:solidFill>
                  <a:srgbClr val="1E3A5F"/>
                </a:solidFill>
                <a:latin typeface="Arial" pitchFamily="34" charset="0"/>
                <a:ea typeface="Arial" pitchFamily="34" charset="-122"/>
                <a:cs typeface="Arial" pitchFamily="34" charset="-120"/>
              </a:rPr>
              <a:t>Marketplace SaaS</a:t>
            </a:r>
            <a:endParaRPr lang="en-US" sz="3200" dirty="0"/>
          </a:p>
        </p:txBody>
      </p:sp>
      <p:sp>
        <p:nvSpPr>
          <p:cNvPr id="6" name="Text 4"/>
          <p:cNvSpPr/>
          <p:nvPr/>
        </p:nvSpPr>
        <p:spPr>
          <a:xfrm>
            <a:off x="457200" y="2286000"/>
            <a:ext cx="8229600" cy="365760"/>
          </a:xfrm>
          <a:prstGeom prst="rect">
            <a:avLst/>
          </a:prstGeom>
          <a:noFill/>
          <a:ln/>
        </p:spPr>
        <p:txBody>
          <a:bodyPr wrap="square" rtlCol="0" anchor="ctr"/>
          <a:lstStyle/>
          <a:p>
            <a:pPr algn="ctr" indent="0" marL="0">
              <a:buNone/>
            </a:pPr>
            <a:r>
              <a:rPr lang="en-US" sz="1600" dirty="0">
                <a:solidFill>
                  <a:srgbClr val="2C5282"/>
                </a:solidFill>
                <a:latin typeface="Arial" pitchFamily="34" charset="0"/>
                <a:ea typeface="Arial" pitchFamily="34" charset="-122"/>
                <a:cs typeface="Arial" pitchFamily="34" charset="-120"/>
              </a:rPr>
              <a:t>Projet de Fin d'Études - Année Universitaire 2025/2026</a:t>
            </a:r>
            <a:endParaRPr lang="en-US" sz="1600" dirty="0"/>
          </a:p>
        </p:txBody>
      </p:sp>
      <p:sp>
        <p:nvSpPr>
          <p:cNvPr id="7" name="Shape 5"/>
          <p:cNvSpPr/>
          <p:nvPr/>
        </p:nvSpPr>
        <p:spPr>
          <a:xfrm>
            <a:off x="2286000" y="2743200"/>
            <a:ext cx="4572000" cy="640080"/>
          </a:xfrm>
          <a:prstGeom prst="roundRect">
            <a:avLst>
              <a:gd name="adj" fmla="val 14286"/>
            </a:avLst>
          </a:prstGeom>
          <a:solidFill>
            <a:srgbClr val="FFFFFF"/>
          </a:solidFill>
          <a:ln w="25400">
            <a:solidFill>
              <a:srgbClr val="E2E8F0"/>
            </a:solidFill>
            <a:prstDash val="solid"/>
          </a:ln>
        </p:spPr>
      </p:sp>
      <p:sp>
        <p:nvSpPr>
          <p:cNvPr id="8" name="Text 6"/>
          <p:cNvSpPr/>
          <p:nvPr/>
        </p:nvSpPr>
        <p:spPr>
          <a:xfrm>
            <a:off x="2286000" y="2788920"/>
            <a:ext cx="4572000" cy="18288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Présenté par</a:t>
            </a:r>
            <a:endParaRPr lang="en-US" sz="1200" dirty="0"/>
          </a:p>
        </p:txBody>
      </p:sp>
      <p:sp>
        <p:nvSpPr>
          <p:cNvPr id="9" name="Text 7"/>
          <p:cNvSpPr/>
          <p:nvPr/>
        </p:nvSpPr>
        <p:spPr>
          <a:xfrm>
            <a:off x="2286000" y="3017520"/>
            <a:ext cx="4572000" cy="274320"/>
          </a:xfrm>
          <a:prstGeom prst="rect">
            <a:avLst/>
          </a:prstGeom>
          <a:noFill/>
          <a:ln/>
        </p:spPr>
        <p:txBody>
          <a:bodyPr wrap="square" rtlCol="0" anchor="ctr"/>
          <a:lstStyle/>
          <a:p>
            <a:pPr algn="ctr" indent="0" marL="0">
              <a:buNone/>
            </a:pPr>
            <a:r>
              <a:rPr lang="en-US" sz="1800" b="1" dirty="0">
                <a:solidFill>
                  <a:srgbClr val="1E3A5F"/>
                </a:solidFill>
                <a:latin typeface="Arial" pitchFamily="34" charset="0"/>
                <a:ea typeface="Arial" pitchFamily="34" charset="-122"/>
                <a:cs typeface="Arial" pitchFamily="34" charset="-120"/>
              </a:rPr>
              <a:t>Omar Sarsar  ·  Iliass Hariz</a:t>
            </a:r>
            <a:endParaRPr lang="en-US" sz="1800" dirty="0"/>
          </a:p>
        </p:txBody>
      </p:sp>
      <p:sp>
        <p:nvSpPr>
          <p:cNvPr id="10" name="Text 8"/>
          <p:cNvSpPr/>
          <p:nvPr/>
        </p:nvSpPr>
        <p:spPr>
          <a:xfrm>
            <a:off x="457200" y="3474720"/>
            <a:ext cx="8229600" cy="1280160"/>
          </a:xfrm>
          <a:prstGeom prst="rect">
            <a:avLst/>
          </a:prstGeom>
          <a:noFill/>
          <a:ln/>
        </p:spPr>
        <p:txBody>
          <a:bodyPr wrap="square" rtlCol="0" anchor="t"/>
          <a:lstStyle/>
          <a:p>
            <a:pPr algn="ctr" indent="0" marL="0">
              <a:buNone/>
            </a:pPr>
            <a:r>
              <a:rPr lang="en-US" sz="2200" dirty="0">
                <a:solidFill>
                  <a:srgbClr val="2C5282"/>
                </a:solidFill>
                <a:latin typeface="Arial" pitchFamily="34" charset="0"/>
                <a:ea typeface="Arial" pitchFamily="34" charset="-122"/>
                <a:cs typeface="Arial" pitchFamily="34" charset="-120"/>
              </a:rPr>
              <a:t>Bonjour. Je vais présenter notre projet d'intégration d'un cache distribué Redis dans une application marketplace SaaS. Nous verrons l'architecture, l'implémentation, les tests et les résultats de performance.</a:t>
            </a:r>
            <a:endParaRPr lang="en-US" sz="2200" dirty="0"/>
          </a:p>
        </p:txBody>
      </p:sp>
      <p:sp>
        <p:nvSpPr>
          <p:cNvPr id="11" name="Shape 9"/>
          <p:cNvSpPr/>
          <p:nvPr/>
        </p:nvSpPr>
        <p:spPr>
          <a:xfrm>
            <a:off x="8503920" y="4754880"/>
            <a:ext cx="320040" cy="320040"/>
          </a:xfrm>
          <a:prstGeom prst="ellipse">
            <a:avLst/>
          </a:prstGeom>
          <a:solidFill>
            <a:srgbClr val="3182CE"/>
          </a:solidFill>
          <a:ln/>
        </p:spPr>
      </p:sp>
      <p:sp>
        <p:nvSpPr>
          <p:cNvPr id="12" name="Text 10"/>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1E3A5F"/>
                </a:solidFill>
                <a:latin typeface="Arial" pitchFamily="34" charset="0"/>
                <a:ea typeface="Arial" pitchFamily="34" charset="-122"/>
                <a:cs typeface="Arial" pitchFamily="34" charset="-120"/>
              </a:rPr>
              <a:t>Plan de la Présentation</a:t>
            </a:r>
            <a:endParaRPr lang="en-US" sz="3200" dirty="0"/>
          </a:p>
        </p:txBody>
      </p:sp>
      <p:sp>
        <p:nvSpPr>
          <p:cNvPr id="3" name="Shape 1"/>
          <p:cNvSpPr/>
          <p:nvPr/>
        </p:nvSpPr>
        <p:spPr>
          <a:xfrm>
            <a:off x="457200" y="914400"/>
            <a:ext cx="1828800" cy="45720"/>
          </a:xfrm>
          <a:prstGeom prst="rect">
            <a:avLst/>
          </a:prstGeom>
          <a:solidFill>
            <a:srgbClr val="3182CE"/>
          </a:solidFill>
          <a:ln/>
        </p:spPr>
      </p:sp>
      <p:sp>
        <p:nvSpPr>
          <p:cNvPr id="4" name="Text 2"/>
          <p:cNvSpPr/>
          <p:nvPr/>
        </p:nvSpPr>
        <p:spPr>
          <a:xfrm>
            <a:off x="457200" y="1188720"/>
            <a:ext cx="8229600" cy="3200400"/>
          </a:xfrm>
          <a:prstGeom prst="rect">
            <a:avLst/>
          </a:prstGeom>
          <a:noFill/>
          <a:ln/>
        </p:spPr>
        <p:txBody>
          <a:bodyPr wrap="square" rtlCol="0" anchor="t"/>
          <a:lstStyle/>
          <a:p>
            <a:pPr algn="l" indent="0" marL="0">
              <a:buNone/>
            </a:pPr>
            <a:r>
              <a:rPr lang="en-US" sz="1800" dirty="0">
                <a:solidFill>
                  <a:srgbClr val="2C5282"/>
                </a:solidFill>
                <a:latin typeface="Arial" pitchFamily="34" charset="0"/>
                <a:ea typeface="Arial" pitchFamily="34" charset="-122"/>
                <a:cs typeface="Arial" pitchFamily="34" charset="-120"/>
              </a:rPr>
              <a:t>Dans cette présentation, nous allons d'abord décrire le contexte du projet et expliquer pourquoi un cache distribué était nécessaire. Ensuite, nous présenterons l'architecture du système avec le pattern Cache-Aside, suivi de l'infrastructure Docker mise en place. Nous détaillerons ensuite la couche d'abstraction du cache et son intégration dans les actions de l'application, ainsi que la stratégie d'invalidation pour maintenir la cohérence des données. Après cela, nous montrerons les résultats des tests unitaires et des benchmarks de performance. Enfin, nous conclurons avec une analyse des résultats et quelques perspectives pour l'avenir.</a:t>
            </a:r>
            <a:endParaRPr lang="en-US" sz="1800" dirty="0"/>
          </a:p>
        </p:txBody>
      </p:sp>
      <p:sp>
        <p:nvSpPr>
          <p:cNvPr id="5" name="Shape 3"/>
          <p:cNvSpPr/>
          <p:nvPr/>
        </p:nvSpPr>
        <p:spPr>
          <a:xfrm>
            <a:off x="8503920" y="4754880"/>
            <a:ext cx="320040" cy="320040"/>
          </a:xfrm>
          <a:prstGeom prst="ellipse">
            <a:avLst/>
          </a:prstGeom>
          <a:solidFill>
            <a:srgbClr val="3182CE"/>
          </a:solidFill>
          <a:ln/>
        </p:spPr>
      </p:sp>
      <p:sp>
        <p:nvSpPr>
          <p:cNvPr id="6" name="Text 4"/>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Introduction et Contexte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Text 2"/>
          <p:cNvSpPr/>
          <p:nvPr/>
        </p:nvSpPr>
        <p:spPr>
          <a:xfrm>
            <a:off x="457200" y="914400"/>
            <a:ext cx="8229600" cy="10972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Ce projet intègre Redis comme cache distribué dans une application marketplace SaaS. L'augmentation des utilisateurs a causé des ralentissements sur les pages affichant les listes de produits.</a:t>
            </a:r>
            <a:endParaRPr lang="en-US" sz="1600" dirty="0"/>
          </a:p>
        </p:txBody>
      </p:sp>
      <p:sp>
        <p:nvSpPr>
          <p:cNvPr id="5" name="Text 3"/>
          <p:cNvSpPr/>
          <p:nvPr/>
        </p:nvSpPr>
        <p:spPr>
          <a:xfrm>
            <a:off x="457200" y="2103120"/>
            <a:ext cx="8229600" cy="10972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L'objectif est d'améliorer les performances en vérifiant le cache avant PostgreSQL. Cela réduit le temps de réponse et la charge sur la base de données tout en maintenant la cohérence via une stratégie d'invalidation.</a:t>
            </a:r>
            <a:endParaRPr lang="en-US" sz="1600" dirty="0"/>
          </a:p>
        </p:txBody>
      </p:sp>
      <p:sp>
        <p:nvSpPr>
          <p:cNvPr id="6" name="Shape 4"/>
          <p:cNvSpPr/>
          <p:nvPr/>
        </p:nvSpPr>
        <p:spPr>
          <a:xfrm>
            <a:off x="457200" y="3200400"/>
            <a:ext cx="8229600" cy="1188720"/>
          </a:xfrm>
          <a:prstGeom prst="roundRect">
            <a:avLst>
              <a:gd name="adj" fmla="val 7692"/>
            </a:avLst>
          </a:prstGeom>
          <a:solidFill>
            <a:srgbClr val="FFFFFF"/>
          </a:solidFill>
          <a:ln w="25400">
            <a:solidFill>
              <a:srgbClr val="E2E8F0"/>
            </a:solidFill>
            <a:prstDash val="solid"/>
          </a:ln>
        </p:spPr>
      </p:sp>
      <p:sp>
        <p:nvSpPr>
          <p:cNvPr id="7" name="Text 5"/>
          <p:cNvSpPr/>
          <p:nvPr/>
        </p:nvSpPr>
        <p:spPr>
          <a:xfrm>
            <a:off x="640080" y="3246120"/>
            <a:ext cx="7863840" cy="320040"/>
          </a:xfrm>
          <a:prstGeom prst="rect">
            <a:avLst/>
          </a:prstGeom>
          <a:noFill/>
          <a:ln/>
        </p:spPr>
        <p:txBody>
          <a:bodyPr wrap="square" rtlCol="0" anchor="ctr"/>
          <a:lstStyle/>
          <a:p>
            <a:pPr algn="l" indent="0" marL="0">
              <a:buNone/>
            </a:pPr>
            <a:r>
              <a:rPr lang="en-US" sz="1800" b="1" dirty="0">
                <a:solidFill>
                  <a:srgbClr val="1E3A5F"/>
                </a:solidFill>
                <a:latin typeface="Arial" pitchFamily="34" charset="0"/>
                <a:ea typeface="Arial" pitchFamily="34" charset="-122"/>
                <a:cs typeface="Arial" pitchFamily="34" charset="-120"/>
              </a:rPr>
              <a:t>Objectifs du Projet</a:t>
            </a:r>
            <a:endParaRPr lang="en-US" sz="1800" dirty="0"/>
          </a:p>
        </p:txBody>
      </p:sp>
      <p:sp>
        <p:nvSpPr>
          <p:cNvPr id="8" name="Text 6"/>
          <p:cNvSpPr/>
          <p:nvPr/>
        </p:nvSpPr>
        <p:spPr>
          <a:xfrm>
            <a:off x="640080" y="3611880"/>
            <a:ext cx="7863840" cy="77724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Nous avons déployé Redis avec Docker Compose, modifié l'application pour utiliser le cache en lecture et écriture, puis mesuré l'amélioration des performances.</a:t>
            </a:r>
            <a:endParaRPr lang="en-US" sz="1600" dirty="0"/>
          </a:p>
        </p:txBody>
      </p:sp>
      <p:sp>
        <p:nvSpPr>
          <p:cNvPr id="9" name="Shape 7"/>
          <p:cNvSpPr/>
          <p:nvPr/>
        </p:nvSpPr>
        <p:spPr>
          <a:xfrm>
            <a:off x="8503920" y="4754880"/>
            <a:ext cx="320040" cy="320040"/>
          </a:xfrm>
          <a:prstGeom prst="ellipse">
            <a:avLst/>
          </a:prstGeom>
          <a:solidFill>
            <a:srgbClr val="3182CE"/>
          </a:solidFill>
          <a:ln/>
        </p:spPr>
      </p:sp>
      <p:sp>
        <p:nvSpPr>
          <p:cNvPr id="10" name="Text 8"/>
          <p:cNvSpPr/>
          <p:nvPr/>
        </p:nvSpPr>
        <p:spPr>
          <a:xfrm>
            <a:off x="8503920" y="4754880"/>
            <a:ext cx="32004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Architecture du Système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3200400" y="1188720"/>
            <a:ext cx="2743200" cy="731520"/>
          </a:xfrm>
          <a:prstGeom prst="roundRect">
            <a:avLst>
              <a:gd name="adj" fmla="val 12500"/>
            </a:avLst>
          </a:prstGeom>
          <a:solidFill>
            <a:srgbClr val="3182CE"/>
          </a:solidFill>
          <a:ln/>
        </p:spPr>
      </p:sp>
      <p:sp>
        <p:nvSpPr>
          <p:cNvPr id="5" name="Text 3"/>
          <p:cNvSpPr/>
          <p:nvPr/>
        </p:nvSpPr>
        <p:spPr>
          <a:xfrm>
            <a:off x="3200400" y="1188720"/>
            <a:ext cx="2743200" cy="7315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Next.js App</a:t>
            </a:r>
            <a:endParaRPr lang="en-US" sz="1800" dirty="0"/>
          </a:p>
        </p:txBody>
      </p:sp>
      <p:sp>
        <p:nvSpPr>
          <p:cNvPr id="6" name="Shape 4"/>
          <p:cNvSpPr/>
          <p:nvPr/>
        </p:nvSpPr>
        <p:spPr>
          <a:xfrm>
            <a:off x="457200" y="2560320"/>
            <a:ext cx="2743200" cy="731520"/>
          </a:xfrm>
          <a:prstGeom prst="roundRect">
            <a:avLst>
              <a:gd name="adj" fmla="val 12500"/>
            </a:avLst>
          </a:prstGeom>
          <a:solidFill>
            <a:srgbClr val="DC382D"/>
          </a:solidFill>
          <a:ln/>
        </p:spPr>
      </p:sp>
      <p:sp>
        <p:nvSpPr>
          <p:cNvPr id="7" name="Text 5"/>
          <p:cNvSpPr/>
          <p:nvPr/>
        </p:nvSpPr>
        <p:spPr>
          <a:xfrm>
            <a:off x="457200" y="2560320"/>
            <a:ext cx="2743200" cy="7315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Redis Cache</a:t>
            </a:r>
            <a:endParaRPr lang="en-US" sz="1800" dirty="0"/>
          </a:p>
        </p:txBody>
      </p:sp>
      <p:sp>
        <p:nvSpPr>
          <p:cNvPr id="8" name="Shape 6"/>
          <p:cNvSpPr/>
          <p:nvPr/>
        </p:nvSpPr>
        <p:spPr>
          <a:xfrm>
            <a:off x="5943600" y="2560320"/>
            <a:ext cx="2743200" cy="731520"/>
          </a:xfrm>
          <a:prstGeom prst="roundRect">
            <a:avLst>
              <a:gd name="adj" fmla="val 12500"/>
            </a:avLst>
          </a:prstGeom>
          <a:solidFill>
            <a:srgbClr val="2C5282"/>
          </a:solidFill>
          <a:ln/>
        </p:spPr>
      </p:sp>
      <p:sp>
        <p:nvSpPr>
          <p:cNvPr id="9" name="Text 7"/>
          <p:cNvSpPr/>
          <p:nvPr/>
        </p:nvSpPr>
        <p:spPr>
          <a:xfrm>
            <a:off x="5943600" y="2560320"/>
            <a:ext cx="2743200" cy="7315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PostgreSQL</a:t>
            </a:r>
            <a:endParaRPr lang="en-US" sz="1800" dirty="0"/>
          </a:p>
        </p:txBody>
      </p:sp>
      <p:sp>
        <p:nvSpPr>
          <p:cNvPr id="10" name="Text 8"/>
          <p:cNvSpPr/>
          <p:nvPr/>
        </p:nvSpPr>
        <p:spPr>
          <a:xfrm>
            <a:off x="1828800" y="1920240"/>
            <a:ext cx="1371600" cy="640080"/>
          </a:xfrm>
          <a:prstGeom prst="rect">
            <a:avLst/>
          </a:prstGeom>
          <a:noFill/>
          <a:ln/>
        </p:spPr>
        <p:txBody>
          <a:bodyPr wrap="square" rtlCol="0" anchor="ctr"/>
          <a:lstStyle/>
          <a:p>
            <a:pPr algn="ctr" indent="0" marL="0">
              <a:buNone/>
            </a:pPr>
            <a:r>
              <a:rPr lang="en-US" sz="4000" dirty="0">
                <a:solidFill>
                  <a:srgbClr val="E2E8F0"/>
                </a:solidFill>
                <a:latin typeface="Arial" pitchFamily="34" charset="0"/>
                <a:ea typeface="Arial" pitchFamily="34" charset="-122"/>
                <a:cs typeface="Arial" pitchFamily="34" charset="-120"/>
              </a:rPr>
              <a:t>↓</a:t>
            </a:r>
            <a:endParaRPr lang="en-US" sz="4000" dirty="0"/>
          </a:p>
        </p:txBody>
      </p:sp>
      <p:sp>
        <p:nvSpPr>
          <p:cNvPr id="11" name="Text 9"/>
          <p:cNvSpPr/>
          <p:nvPr/>
        </p:nvSpPr>
        <p:spPr>
          <a:xfrm>
            <a:off x="5943600" y="1920240"/>
            <a:ext cx="1371600" cy="640080"/>
          </a:xfrm>
          <a:prstGeom prst="rect">
            <a:avLst/>
          </a:prstGeom>
          <a:noFill/>
          <a:ln/>
        </p:spPr>
        <p:txBody>
          <a:bodyPr wrap="square" rtlCol="0" anchor="ctr"/>
          <a:lstStyle/>
          <a:p>
            <a:pPr algn="ctr" indent="0" marL="0">
              <a:buNone/>
            </a:pPr>
            <a:r>
              <a:rPr lang="en-US" sz="4000" dirty="0">
                <a:solidFill>
                  <a:srgbClr val="E2E8F0"/>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457200" y="3383280"/>
            <a:ext cx="8229600" cy="13716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Notre architecture utilise le pattern Cache-Aside. L'application vérifie d'abord Redis. Si les données y sont, elles sont retournées immédiatement. Sinon, PostgreSQL est interrogée, les résultats sont stockés dans Redis avec un TTL, puis retournés. Cette approche sert les requêtes fréquentes depuis la mémoire.</a:t>
            </a:r>
            <a:endParaRPr lang="en-US" sz="1600" dirty="0"/>
          </a:p>
        </p:txBody>
      </p:sp>
      <p:sp>
        <p:nvSpPr>
          <p:cNvPr id="13" name="Shape 11"/>
          <p:cNvSpPr/>
          <p:nvPr/>
        </p:nvSpPr>
        <p:spPr>
          <a:xfrm>
            <a:off x="8503920" y="4754880"/>
            <a:ext cx="365760" cy="365760"/>
          </a:xfrm>
          <a:prstGeom prst="ellipse">
            <a:avLst/>
          </a:prstGeom>
          <a:solidFill>
            <a:srgbClr val="3182CE"/>
          </a:solidFill>
          <a:ln/>
        </p:spPr>
      </p:sp>
      <p:sp>
        <p:nvSpPr>
          <p:cNvPr id="14" name="Text 12"/>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l" indent="0" marL="0">
              <a:buNone/>
            </a:pPr>
            <a:r>
              <a:rPr lang="en-US" sz="3200" b="1" dirty="0">
                <a:solidFill>
                  <a:srgbClr val="1E3A5F"/>
                </a:solidFill>
                <a:latin typeface="Arial" pitchFamily="34" charset="0"/>
                <a:ea typeface="Arial" pitchFamily="34" charset="-122"/>
                <a:cs typeface="Arial" pitchFamily="34" charset="-120"/>
              </a:rPr>
              <a:t>Infrastructure Docker</a:t>
            </a:r>
            <a:endParaRPr lang="en-US" sz="3200" dirty="0"/>
          </a:p>
        </p:txBody>
      </p:sp>
      <p:sp>
        <p:nvSpPr>
          <p:cNvPr id="3" name="Shape 1"/>
          <p:cNvSpPr/>
          <p:nvPr/>
        </p:nvSpPr>
        <p:spPr>
          <a:xfrm>
            <a:off x="457200" y="914400"/>
            <a:ext cx="1371600" cy="45720"/>
          </a:xfrm>
          <a:prstGeom prst="rect">
            <a:avLst/>
          </a:prstGeom>
          <a:solidFill>
            <a:srgbClr val="3182CE"/>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2743200"/>
                <a:gridCol w="1828800"/>
                <a:gridCol w="1828800"/>
              </a:tblGrid>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Service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Image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Port</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Description</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PostgreSQL</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postgres:16-alpine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5434:5432</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Base de données principale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Redis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redis:7-alpine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6379:6379</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Cache distribué en mémoire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Next.js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Dockerfile.dev</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3000:3000</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Application web</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3017520"/>
            <a:ext cx="8229600" cy="164592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Notre infrastructure utilise Docker Compose avec trois services. PostgreSQL 16 sur Alpine sert de base de données sur le port 5434. Redis 7 sur Alpine fonctionne comme cache sur le port 6379 avec un volume persistant et un healthcheck. Next.js est construit depuis un Dockerfile personnalisé sur le port 3000. Cette containerisation facilite le déploiement.</a:t>
            </a:r>
            <a:endParaRPr lang="en-US" sz="1600" dirty="0"/>
          </a:p>
        </p:txBody>
      </p:sp>
      <p:sp>
        <p:nvSpPr>
          <p:cNvPr id="6" name="Shape 3"/>
          <p:cNvSpPr/>
          <p:nvPr/>
        </p:nvSpPr>
        <p:spPr>
          <a:xfrm>
            <a:off x="8503920" y="4754880"/>
            <a:ext cx="365760" cy="365760"/>
          </a:xfrm>
          <a:prstGeom prst="ellipse">
            <a:avLst/>
          </a:prstGeom>
          <a:solidFill>
            <a:srgbClr val="3182CE"/>
          </a:solidFill>
          <a:ln/>
        </p:spPr>
      </p:sp>
      <p:sp>
        <p:nvSpPr>
          <p:cNvPr id="7" name="Text 4"/>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Couche d'Abstraction du Cache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914400"/>
            <a:ext cx="8229600" cy="2560320"/>
          </a:xfrm>
          <a:prstGeom prst="roundRect">
            <a:avLst>
              <a:gd name="adj" fmla="val 1786"/>
            </a:avLst>
          </a:prstGeom>
          <a:solidFill>
            <a:srgbClr val="1A202C"/>
          </a:solidFill>
          <a:ln/>
        </p:spPr>
      </p:sp>
      <p:sp>
        <p:nvSpPr>
          <p:cNvPr id="5" name="Text 3"/>
          <p:cNvSpPr/>
          <p:nvPr/>
        </p:nvSpPr>
        <p:spPr>
          <a:xfrm>
            <a:off x="640080" y="1005840"/>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src/lib/cache.ts</a:t>
            </a:r>
            <a:endParaRPr lang="en-US" sz="1400" dirty="0"/>
          </a:p>
        </p:txBody>
      </p:sp>
      <p:sp>
        <p:nvSpPr>
          <p:cNvPr id="6" name="Text 4"/>
          <p:cNvSpPr/>
          <p:nvPr/>
        </p:nvSpPr>
        <p:spPr>
          <a:xfrm>
            <a:off x="640080" y="122529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cacheGet&lt;T&gt;(key: string) {</a:t>
            </a:r>
            <a:endParaRPr lang="en-US" sz="1400" dirty="0"/>
          </a:p>
        </p:txBody>
      </p:sp>
      <p:sp>
        <p:nvSpPr>
          <p:cNvPr id="7" name="Text 5"/>
          <p:cNvSpPr/>
          <p:nvPr/>
        </p:nvSpPr>
        <p:spPr>
          <a:xfrm>
            <a:off x="640080" y="144475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client = getRedisClient();</a:t>
            </a:r>
            <a:endParaRPr lang="en-US" sz="1400" dirty="0"/>
          </a:p>
        </p:txBody>
      </p:sp>
      <p:sp>
        <p:nvSpPr>
          <p:cNvPr id="8" name="Text 6"/>
          <p:cNvSpPr/>
          <p:nvPr/>
        </p:nvSpPr>
        <p:spPr>
          <a:xfrm>
            <a:off x="640080" y="166420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data = await client.get(key);</a:t>
            </a:r>
            <a:endParaRPr lang="en-US" sz="1400" dirty="0"/>
          </a:p>
        </p:txBody>
      </p:sp>
      <p:sp>
        <p:nvSpPr>
          <p:cNvPr id="9" name="Text 7"/>
          <p:cNvSpPr/>
          <p:nvPr/>
        </p:nvSpPr>
        <p:spPr>
          <a:xfrm>
            <a:off x="640080" y="188366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if (!data) return null;</a:t>
            </a:r>
            <a:endParaRPr lang="en-US" sz="1400" dirty="0"/>
          </a:p>
        </p:txBody>
      </p:sp>
      <p:sp>
        <p:nvSpPr>
          <p:cNvPr id="10" name="Text 8"/>
          <p:cNvSpPr/>
          <p:nvPr/>
        </p:nvSpPr>
        <p:spPr>
          <a:xfrm>
            <a:off x="640080" y="210312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return JSON.parse(data) as T;</a:t>
            </a:r>
            <a:endParaRPr lang="en-US" sz="1400" dirty="0"/>
          </a:p>
        </p:txBody>
      </p:sp>
      <p:sp>
        <p:nvSpPr>
          <p:cNvPr id="11" name="Text 9"/>
          <p:cNvSpPr/>
          <p:nvPr/>
        </p:nvSpPr>
        <p:spPr>
          <a:xfrm>
            <a:off x="640080" y="2322576"/>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12" name="Text 10"/>
          <p:cNvSpPr/>
          <p:nvPr/>
        </p:nvSpPr>
        <p:spPr>
          <a:xfrm>
            <a:off x="640080" y="2542032"/>
            <a:ext cx="7863840" cy="201168"/>
          </a:xfrm>
          <a:prstGeom prst="rect">
            <a:avLst/>
          </a:prstGeom>
          <a:noFill/>
          <a:ln/>
        </p:spPr>
        <p:txBody>
          <a:bodyPr wrap="square" rtlCol="0" anchor="ctr"/>
          <a:lstStyle/>
          <a:p>
            <a:pPr algn="l" indent="0" marL="0">
              <a:buNone/>
            </a:pPr>
            <a:endParaRPr lang="en-US" sz="1400" dirty="0"/>
          </a:p>
        </p:txBody>
      </p:sp>
      <p:sp>
        <p:nvSpPr>
          <p:cNvPr id="13" name="Text 11"/>
          <p:cNvSpPr/>
          <p:nvPr/>
        </p:nvSpPr>
        <p:spPr>
          <a:xfrm>
            <a:off x="640080" y="276148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cacheSet(key, value, ttl = 300) {</a:t>
            </a:r>
            <a:endParaRPr lang="en-US" sz="1400" dirty="0"/>
          </a:p>
        </p:txBody>
      </p:sp>
      <p:sp>
        <p:nvSpPr>
          <p:cNvPr id="14" name="Text 12"/>
          <p:cNvSpPr/>
          <p:nvPr/>
        </p:nvSpPr>
        <p:spPr>
          <a:xfrm>
            <a:off x="640080" y="298094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client = getRedisClient();</a:t>
            </a:r>
            <a:endParaRPr lang="en-US" sz="1400" dirty="0"/>
          </a:p>
        </p:txBody>
      </p:sp>
      <p:sp>
        <p:nvSpPr>
          <p:cNvPr id="15" name="Text 13"/>
          <p:cNvSpPr/>
          <p:nvPr/>
        </p:nvSpPr>
        <p:spPr>
          <a:xfrm>
            <a:off x="640080" y="320040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client.setex(key, ttl, JSON.stringify(value));</a:t>
            </a:r>
            <a:endParaRPr lang="en-US" sz="1400" dirty="0"/>
          </a:p>
        </p:txBody>
      </p:sp>
      <p:sp>
        <p:nvSpPr>
          <p:cNvPr id="16" name="Text 14"/>
          <p:cNvSpPr/>
          <p:nvPr/>
        </p:nvSpPr>
        <p:spPr>
          <a:xfrm>
            <a:off x="640080" y="3419856"/>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17" name="Text 15"/>
          <p:cNvSpPr/>
          <p:nvPr/>
        </p:nvSpPr>
        <p:spPr>
          <a:xfrm>
            <a:off x="457200" y="3383280"/>
            <a:ext cx="8229600" cy="13716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La couche d'abstraction dans src/lib/cache.ts fournit une interface simple pour Redis. cacheGet récupère et parse les données JSON avec typage TypeScript. cacheSet stocke les données avec un TTL configurable de 300 secondes par défaut. Cette abstraction simplifie l'intégration.</a:t>
            </a:r>
            <a:endParaRPr lang="en-US" sz="1600" dirty="0"/>
          </a:p>
        </p:txBody>
      </p:sp>
      <p:sp>
        <p:nvSpPr>
          <p:cNvPr id="18" name="Shape 16"/>
          <p:cNvSpPr/>
          <p:nvPr/>
        </p:nvSpPr>
        <p:spPr>
          <a:xfrm>
            <a:off x="8503920" y="4754880"/>
            <a:ext cx="365760" cy="365760"/>
          </a:xfrm>
          <a:prstGeom prst="ellipse">
            <a:avLst/>
          </a:prstGeom>
          <a:solidFill>
            <a:srgbClr val="3182CE"/>
          </a:solidFill>
          <a:ln/>
        </p:spPr>
      </p:sp>
      <p:sp>
        <p:nvSpPr>
          <p:cNvPr id="19" name="Text 17"/>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Intégration dans les Actions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280160"/>
            <a:ext cx="2286000" cy="548640"/>
          </a:xfrm>
          <a:prstGeom prst="roundRect">
            <a:avLst>
              <a:gd name="adj" fmla="val 16667"/>
            </a:avLst>
          </a:prstGeom>
          <a:solidFill>
            <a:srgbClr val="2C5282"/>
          </a:solidFill>
          <a:ln/>
        </p:spPr>
      </p:sp>
      <p:sp>
        <p:nvSpPr>
          <p:cNvPr id="5" name="Text 3"/>
          <p:cNvSpPr/>
          <p:nvPr/>
        </p:nvSpPr>
        <p:spPr>
          <a:xfrm>
            <a:off x="457200" y="1280160"/>
            <a:ext cx="2286000" cy="54864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 Vérifier Cache</a:t>
            </a:r>
            <a:endParaRPr lang="en-US" sz="1600" dirty="0"/>
          </a:p>
        </p:txBody>
      </p:sp>
      <p:sp>
        <p:nvSpPr>
          <p:cNvPr id="6" name="Text 4"/>
          <p:cNvSpPr/>
          <p:nvPr/>
        </p:nvSpPr>
        <p:spPr>
          <a:xfrm>
            <a:off x="2834640" y="1280160"/>
            <a:ext cx="457200" cy="548640"/>
          </a:xfrm>
          <a:prstGeom prst="rect">
            <a:avLst/>
          </a:prstGeom>
          <a:noFill/>
          <a:ln/>
        </p:spPr>
        <p:txBody>
          <a:bodyPr wrap="square" rtlCol="0" anchor="ctr"/>
          <a:lstStyle/>
          <a:p>
            <a:pPr algn="ctr" indent="0" marL="0">
              <a:buNone/>
            </a:pPr>
            <a:r>
              <a:rPr lang="en-US" sz="2400" dirty="0">
                <a:solidFill>
                  <a:srgbClr val="3182CE"/>
                </a:solidFill>
                <a:latin typeface="Arial" pitchFamily="34" charset="0"/>
                <a:ea typeface="Arial" pitchFamily="34" charset="-122"/>
                <a:cs typeface="Arial" pitchFamily="34" charset="-120"/>
              </a:rPr>
              <a:t>→</a:t>
            </a:r>
            <a:endParaRPr lang="en-US" sz="2400" dirty="0"/>
          </a:p>
        </p:txBody>
      </p:sp>
      <p:sp>
        <p:nvSpPr>
          <p:cNvPr id="7" name="Shape 5"/>
          <p:cNvSpPr/>
          <p:nvPr/>
        </p:nvSpPr>
        <p:spPr>
          <a:xfrm>
            <a:off x="3383280" y="1280160"/>
            <a:ext cx="2286000" cy="548640"/>
          </a:xfrm>
          <a:prstGeom prst="roundRect">
            <a:avLst>
              <a:gd name="adj" fmla="val 16667"/>
            </a:avLst>
          </a:prstGeom>
          <a:solidFill>
            <a:srgbClr val="059669"/>
          </a:solidFill>
          <a:ln/>
        </p:spPr>
      </p:sp>
      <p:sp>
        <p:nvSpPr>
          <p:cNvPr id="8" name="Text 6"/>
          <p:cNvSpPr/>
          <p:nvPr/>
        </p:nvSpPr>
        <p:spPr>
          <a:xfrm>
            <a:off x="3383280" y="1280160"/>
            <a:ext cx="2286000" cy="54864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 Cache Hit?</a:t>
            </a:r>
            <a:endParaRPr lang="en-US" sz="1600" dirty="0"/>
          </a:p>
        </p:txBody>
      </p:sp>
      <p:sp>
        <p:nvSpPr>
          <p:cNvPr id="9" name="Text 7"/>
          <p:cNvSpPr/>
          <p:nvPr/>
        </p:nvSpPr>
        <p:spPr>
          <a:xfrm>
            <a:off x="4297680" y="1828800"/>
            <a:ext cx="457200" cy="640080"/>
          </a:xfrm>
          <a:prstGeom prst="rect">
            <a:avLst/>
          </a:prstGeom>
          <a:noFill/>
          <a:ln/>
        </p:spPr>
        <p:txBody>
          <a:bodyPr wrap="square" rtlCol="0" anchor="ctr"/>
          <a:lstStyle/>
          <a:p>
            <a:pPr algn="ctr" indent="0" marL="0">
              <a:buNone/>
            </a:pPr>
            <a:r>
              <a:rPr lang="en-US" sz="2400" dirty="0">
                <a:solidFill>
                  <a:srgbClr val="059669"/>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3383280" y="2286000"/>
            <a:ext cx="2286000" cy="548640"/>
          </a:xfrm>
          <a:prstGeom prst="roundRect">
            <a:avLst>
              <a:gd name="adj" fmla="val 16667"/>
            </a:avLst>
          </a:prstGeom>
          <a:solidFill>
            <a:srgbClr val="10B981"/>
          </a:solidFill>
          <a:ln/>
        </p:spPr>
      </p:sp>
      <p:sp>
        <p:nvSpPr>
          <p:cNvPr id="11" name="Text 9"/>
          <p:cNvSpPr/>
          <p:nvPr/>
        </p:nvSpPr>
        <p:spPr>
          <a:xfrm>
            <a:off x="3383280" y="2286000"/>
            <a:ext cx="2286000" cy="5486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Oui: Retourner données</a:t>
            </a:r>
            <a:endParaRPr lang="en-US" sz="1400" dirty="0"/>
          </a:p>
        </p:txBody>
      </p:sp>
      <p:sp>
        <p:nvSpPr>
          <p:cNvPr id="12" name="Text 10"/>
          <p:cNvSpPr/>
          <p:nvPr/>
        </p:nvSpPr>
        <p:spPr>
          <a:xfrm>
            <a:off x="5760720" y="1280160"/>
            <a:ext cx="457200" cy="548640"/>
          </a:xfrm>
          <a:prstGeom prst="rect">
            <a:avLst/>
          </a:prstGeom>
          <a:noFill/>
          <a:ln/>
        </p:spPr>
        <p:txBody>
          <a:bodyPr wrap="square" rtlCol="0" anchor="ctr"/>
          <a:lstStyle/>
          <a:p>
            <a:pPr algn="ctr" indent="0" marL="0">
              <a:buNone/>
            </a:pPr>
            <a:r>
              <a:rPr lang="en-US" sz="2400" dirty="0">
                <a:solidFill>
                  <a:srgbClr val="3182CE"/>
                </a:solidFill>
                <a:latin typeface="Arial" pitchFamily="34" charset="0"/>
                <a:ea typeface="Arial" pitchFamily="34" charset="-122"/>
                <a:cs typeface="Arial" pitchFamily="34" charset="-120"/>
              </a:rPr>
              <a:t>→</a:t>
            </a:r>
            <a:endParaRPr lang="en-US" sz="2400" dirty="0"/>
          </a:p>
        </p:txBody>
      </p:sp>
      <p:sp>
        <p:nvSpPr>
          <p:cNvPr id="13" name="Shape 11"/>
          <p:cNvSpPr/>
          <p:nvPr/>
        </p:nvSpPr>
        <p:spPr>
          <a:xfrm>
            <a:off x="6309360" y="1280160"/>
            <a:ext cx="2286000" cy="548640"/>
          </a:xfrm>
          <a:prstGeom prst="roundRect">
            <a:avLst>
              <a:gd name="adj" fmla="val 16667"/>
            </a:avLst>
          </a:prstGeom>
          <a:solidFill>
            <a:srgbClr val="DC2626"/>
          </a:solidFill>
          <a:ln/>
        </p:spPr>
      </p:sp>
      <p:sp>
        <p:nvSpPr>
          <p:cNvPr id="14" name="Text 12"/>
          <p:cNvSpPr/>
          <p:nvPr/>
        </p:nvSpPr>
        <p:spPr>
          <a:xfrm>
            <a:off x="6309360" y="1280160"/>
            <a:ext cx="2286000" cy="54864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 Cache Miss</a:t>
            </a:r>
            <a:endParaRPr lang="en-US" sz="1600" dirty="0"/>
          </a:p>
        </p:txBody>
      </p:sp>
      <p:sp>
        <p:nvSpPr>
          <p:cNvPr id="15" name="Text 13"/>
          <p:cNvSpPr/>
          <p:nvPr/>
        </p:nvSpPr>
        <p:spPr>
          <a:xfrm>
            <a:off x="7223760" y="182880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6309360" y="2286000"/>
            <a:ext cx="2286000" cy="548640"/>
          </a:xfrm>
          <a:prstGeom prst="roundRect">
            <a:avLst>
              <a:gd name="adj" fmla="val 16667"/>
            </a:avLst>
          </a:prstGeom>
          <a:solidFill>
            <a:srgbClr val="2C5282"/>
          </a:solidFill>
          <a:ln/>
        </p:spPr>
      </p:sp>
      <p:sp>
        <p:nvSpPr>
          <p:cNvPr id="17" name="Text 15"/>
          <p:cNvSpPr/>
          <p:nvPr/>
        </p:nvSpPr>
        <p:spPr>
          <a:xfrm>
            <a:off x="6309360" y="2286000"/>
            <a:ext cx="2286000" cy="54864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 Interroger DB</a:t>
            </a:r>
            <a:endParaRPr lang="en-US" sz="1400" dirty="0"/>
          </a:p>
        </p:txBody>
      </p:sp>
      <p:sp>
        <p:nvSpPr>
          <p:cNvPr id="18" name="Text 16"/>
          <p:cNvSpPr/>
          <p:nvPr/>
        </p:nvSpPr>
        <p:spPr>
          <a:xfrm>
            <a:off x="457200" y="2743200"/>
            <a:ext cx="8229600" cy="15544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L'intégration suit le pattern Cache-Aside. Chaque action génère une clé unique et vérifie Redis. Si les données existent, elles sont retournées. Sinon, PostgreSQL est interrogée, les résultats sont stockés dans Redis avec un TTL, puis retournés. Cette logique est appliquée sur toutes les lectures fréquentes.</a:t>
            </a:r>
            <a:endParaRPr lang="en-US" sz="1600" dirty="0"/>
          </a:p>
        </p:txBody>
      </p:sp>
      <p:sp>
        <p:nvSpPr>
          <p:cNvPr id="19" name="Shape 17"/>
          <p:cNvSpPr/>
          <p:nvPr/>
        </p:nvSpPr>
        <p:spPr>
          <a:xfrm>
            <a:off x="8503920" y="4754880"/>
            <a:ext cx="365760" cy="365760"/>
          </a:xfrm>
          <a:prstGeom prst="ellipse">
            <a:avLst/>
          </a:prstGeom>
          <a:solidFill>
            <a:srgbClr val="3182CE"/>
          </a:solidFill>
          <a:ln/>
        </p:spPr>
      </p:sp>
      <p:sp>
        <p:nvSpPr>
          <p:cNvPr id="20" name="Text 18"/>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Cache dans Launch Actions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914400"/>
            <a:ext cx="8229600" cy="2560320"/>
          </a:xfrm>
          <a:prstGeom prst="roundRect">
            <a:avLst>
              <a:gd name="adj" fmla="val 1786"/>
            </a:avLst>
          </a:prstGeom>
          <a:solidFill>
            <a:srgbClr val="1A202C"/>
          </a:solidFill>
          <a:ln/>
        </p:spPr>
      </p:sp>
      <p:sp>
        <p:nvSpPr>
          <p:cNvPr id="5" name="Text 3"/>
          <p:cNvSpPr/>
          <p:nvPr/>
        </p:nvSpPr>
        <p:spPr>
          <a:xfrm>
            <a:off x="640080" y="100584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export async function getLaunches({ filter, sort, search }) {</a:t>
            </a:r>
            <a:endParaRPr lang="en-US" sz="1400" dirty="0"/>
          </a:p>
        </p:txBody>
      </p:sp>
      <p:sp>
        <p:nvSpPr>
          <p:cNvPr id="6" name="Text 4"/>
          <p:cNvSpPr/>
          <p:nvPr/>
        </p:nvSpPr>
        <p:spPr>
          <a:xfrm>
            <a:off x="640080" y="120700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cacheKey = buildLaunchesKey(filter, sort, search);</a:t>
            </a:r>
            <a:endParaRPr lang="en-US" sz="1400" dirty="0"/>
          </a:p>
        </p:txBody>
      </p:sp>
      <p:sp>
        <p:nvSpPr>
          <p:cNvPr id="7" name="Text 5"/>
          <p:cNvSpPr/>
          <p:nvPr/>
        </p:nvSpPr>
        <p:spPr>
          <a:xfrm>
            <a:off x="640080" y="1408176"/>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8" name="Text 6"/>
          <p:cNvSpPr/>
          <p:nvPr/>
        </p:nvSpPr>
        <p:spPr>
          <a:xfrm>
            <a:off x="640080" y="1609344"/>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 1. Vérifier le cache</a:t>
            </a:r>
            <a:endParaRPr lang="en-US" sz="1400" dirty="0"/>
          </a:p>
        </p:txBody>
      </p:sp>
      <p:sp>
        <p:nvSpPr>
          <p:cNvPr id="9" name="Text 7"/>
          <p:cNvSpPr/>
          <p:nvPr/>
        </p:nvSpPr>
        <p:spPr>
          <a:xfrm>
            <a:off x="640080" y="1810512"/>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const cached = await cacheGet(cacheKey);</a:t>
            </a:r>
            <a:endParaRPr lang="en-US" sz="1400" dirty="0"/>
          </a:p>
        </p:txBody>
      </p:sp>
      <p:sp>
        <p:nvSpPr>
          <p:cNvPr id="10" name="Text 8"/>
          <p:cNvSpPr/>
          <p:nvPr/>
        </p:nvSpPr>
        <p:spPr>
          <a:xfrm>
            <a:off x="640080" y="201168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if (cached) return cached;</a:t>
            </a:r>
            <a:endParaRPr lang="en-US" sz="1400" dirty="0"/>
          </a:p>
        </p:txBody>
      </p:sp>
      <p:sp>
        <p:nvSpPr>
          <p:cNvPr id="11" name="Text 9"/>
          <p:cNvSpPr/>
          <p:nvPr/>
        </p:nvSpPr>
        <p:spPr>
          <a:xfrm>
            <a:off x="640080" y="2212848"/>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2" name="Text 10"/>
          <p:cNvSpPr/>
          <p:nvPr/>
        </p:nvSpPr>
        <p:spPr>
          <a:xfrm>
            <a:off x="640080" y="2414016"/>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 2. Interroger la base de données</a:t>
            </a:r>
            <a:endParaRPr lang="en-US" sz="1400" dirty="0"/>
          </a:p>
        </p:txBody>
      </p:sp>
      <p:sp>
        <p:nvSpPr>
          <p:cNvPr id="13" name="Text 11"/>
          <p:cNvSpPr/>
          <p:nvPr/>
        </p:nvSpPr>
        <p:spPr>
          <a:xfrm>
            <a:off x="640080" y="261518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results = await db.query(...);</a:t>
            </a:r>
            <a:endParaRPr lang="en-US" sz="1400" dirty="0"/>
          </a:p>
        </p:txBody>
      </p:sp>
      <p:sp>
        <p:nvSpPr>
          <p:cNvPr id="14" name="Text 12"/>
          <p:cNvSpPr/>
          <p:nvPr/>
        </p:nvSpPr>
        <p:spPr>
          <a:xfrm>
            <a:off x="640080" y="2816352"/>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5" name="Text 13"/>
          <p:cNvSpPr/>
          <p:nvPr/>
        </p:nvSpPr>
        <p:spPr>
          <a:xfrm>
            <a:off x="640080" y="3017520"/>
            <a:ext cx="7863840" cy="201168"/>
          </a:xfrm>
          <a:prstGeom prst="rect">
            <a:avLst/>
          </a:prstGeom>
          <a:noFill/>
          <a:ln/>
        </p:spPr>
        <p:txBody>
          <a:bodyPr wrap="square" rtlCol="0" anchor="ctr"/>
          <a:lstStyle/>
          <a:p>
            <a:pPr algn="l" indent="0" marL="0">
              <a:buNone/>
            </a:pPr>
            <a:r>
              <a:rPr lang="en-US" sz="1400" dirty="0">
                <a:solidFill>
                  <a:srgbClr val="718096"/>
                </a:solidFill>
                <a:latin typeface="Consolas" pitchFamily="34" charset="0"/>
                <a:ea typeface="Consolas" pitchFamily="34" charset="-122"/>
                <a:cs typeface="Consolas" pitchFamily="34" charset="-120"/>
              </a:rPr>
              <a:t>  // 3. Stocker dans le cache</a:t>
            </a:r>
            <a:endParaRPr lang="en-US" sz="1400" dirty="0"/>
          </a:p>
        </p:txBody>
      </p:sp>
      <p:sp>
        <p:nvSpPr>
          <p:cNvPr id="16" name="Text 14"/>
          <p:cNvSpPr/>
          <p:nvPr/>
        </p:nvSpPr>
        <p:spPr>
          <a:xfrm>
            <a:off x="640080" y="3218688"/>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await cacheSet(cacheKey, results, 300);</a:t>
            </a:r>
            <a:endParaRPr lang="en-US" sz="1400" dirty="0"/>
          </a:p>
        </p:txBody>
      </p:sp>
      <p:sp>
        <p:nvSpPr>
          <p:cNvPr id="17" name="Text 15"/>
          <p:cNvSpPr/>
          <p:nvPr/>
        </p:nvSpPr>
        <p:spPr>
          <a:xfrm>
            <a:off x="640080" y="341985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return results;</a:t>
            </a:r>
            <a:endParaRPr lang="en-US" sz="1400" dirty="0"/>
          </a:p>
        </p:txBody>
      </p:sp>
      <p:sp>
        <p:nvSpPr>
          <p:cNvPr id="18" name="Text 16"/>
          <p:cNvSpPr/>
          <p:nvPr/>
        </p:nvSpPr>
        <p:spPr>
          <a:xfrm>
            <a:off x="640080" y="3621024"/>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19" name="Text 17"/>
          <p:cNvSpPr/>
          <p:nvPr/>
        </p:nvSpPr>
        <p:spPr>
          <a:xfrm>
            <a:off x="457200" y="3383280"/>
            <a:ext cx="8229600" cy="13716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Voici getLaunches en action. Elle génère une clé unique avec filter, sort et search. Elle vérifie le cache et retourne les résultats s'ils existent. Sinon, elle interroge PostgreSQL, stocke avec un TTL de 300 secondes, puis retourne. L'invalidation est déclenchée lors des opérations d'écriture.</a:t>
            </a:r>
            <a:endParaRPr lang="en-US" sz="1600" dirty="0"/>
          </a:p>
        </p:txBody>
      </p:sp>
      <p:sp>
        <p:nvSpPr>
          <p:cNvPr id="20" name="Shape 18"/>
          <p:cNvSpPr/>
          <p:nvPr/>
        </p:nvSpPr>
        <p:spPr>
          <a:xfrm>
            <a:off x="8503920" y="4754880"/>
            <a:ext cx="365760" cy="365760"/>
          </a:xfrm>
          <a:prstGeom prst="ellipse">
            <a:avLst/>
          </a:prstGeom>
          <a:solidFill>
            <a:srgbClr val="3182CE"/>
          </a:solidFill>
          <a:ln/>
        </p:spPr>
      </p:sp>
      <p:sp>
        <p:nvSpPr>
          <p:cNvPr id="21" name="Text 19"/>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Cache dans Post Actions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914400"/>
            <a:ext cx="8229600" cy="2011680"/>
          </a:xfrm>
          <a:prstGeom prst="roundRect">
            <a:avLst>
              <a:gd name="adj" fmla="val 2273"/>
            </a:avLst>
          </a:prstGeom>
          <a:solidFill>
            <a:srgbClr val="1A202C"/>
          </a:solidFill>
          <a:ln/>
        </p:spPr>
      </p:sp>
      <p:sp>
        <p:nvSpPr>
          <p:cNvPr id="5" name="Text 3"/>
          <p:cNvSpPr/>
          <p:nvPr/>
        </p:nvSpPr>
        <p:spPr>
          <a:xfrm>
            <a:off x="640080" y="10058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export async function getPosts({ sort, type, search }) {</a:t>
            </a:r>
            <a:endParaRPr lang="en-US" sz="1500" dirty="0"/>
          </a:p>
        </p:txBody>
      </p:sp>
      <p:sp>
        <p:nvSpPr>
          <p:cNvPr id="6" name="Text 4"/>
          <p:cNvSpPr/>
          <p:nvPr/>
        </p:nvSpPr>
        <p:spPr>
          <a:xfrm>
            <a:off x="640080" y="12344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  const cacheKey = buildPostsKey(sort, type, search);</a:t>
            </a:r>
            <a:endParaRPr lang="en-US" sz="1500" dirty="0"/>
          </a:p>
        </p:txBody>
      </p:sp>
      <p:sp>
        <p:nvSpPr>
          <p:cNvPr id="7" name="Text 5"/>
          <p:cNvSpPr/>
          <p:nvPr/>
        </p:nvSpPr>
        <p:spPr>
          <a:xfrm>
            <a:off x="640080" y="1463040"/>
            <a:ext cx="7863840" cy="219456"/>
          </a:xfrm>
          <a:prstGeom prst="rect">
            <a:avLst/>
          </a:prstGeom>
          <a:noFill/>
          <a:ln/>
        </p:spPr>
        <p:txBody>
          <a:bodyPr wrap="square" rtlCol="0" anchor="ctr"/>
          <a:lstStyle/>
          <a:p>
            <a:pPr algn="l" indent="0" marL="0">
              <a:buNone/>
            </a:pPr>
            <a:r>
              <a:rPr lang="en-US" sz="1500" dirty="0">
                <a:solidFill>
                  <a:srgbClr val="E2E8F0"/>
                </a:solidFill>
                <a:latin typeface="Consolas" pitchFamily="34" charset="0"/>
                <a:ea typeface="Consolas" pitchFamily="34" charset="-122"/>
                <a:cs typeface="Consolas" pitchFamily="34" charset="-120"/>
              </a:rPr>
              <a:t>  </a:t>
            </a:r>
            <a:endParaRPr lang="en-US" sz="1500" dirty="0"/>
          </a:p>
        </p:txBody>
      </p:sp>
      <p:sp>
        <p:nvSpPr>
          <p:cNvPr id="8" name="Text 6"/>
          <p:cNvSpPr/>
          <p:nvPr/>
        </p:nvSpPr>
        <p:spPr>
          <a:xfrm>
            <a:off x="640080" y="1691640"/>
            <a:ext cx="7863840" cy="219456"/>
          </a:xfrm>
          <a:prstGeom prst="rect">
            <a:avLst/>
          </a:prstGeom>
          <a:noFill/>
          <a:ln/>
        </p:spPr>
        <p:txBody>
          <a:bodyPr wrap="square" rtlCol="0" anchor="ctr"/>
          <a:lstStyle/>
          <a:p>
            <a:pPr algn="l" indent="0" marL="0">
              <a:buNone/>
            </a:pPr>
            <a:r>
              <a:rPr lang="en-US" sz="1500" dirty="0">
                <a:solidFill>
                  <a:srgbClr val="FBBF24"/>
                </a:solidFill>
                <a:latin typeface="Consolas" pitchFamily="34" charset="0"/>
                <a:ea typeface="Consolas" pitchFamily="34" charset="-122"/>
                <a:cs typeface="Consolas" pitchFamily="34" charset="-120"/>
              </a:rPr>
              <a:t>  const cached = await cacheGet(cacheKey);</a:t>
            </a:r>
            <a:endParaRPr lang="en-US" sz="1500" dirty="0"/>
          </a:p>
        </p:txBody>
      </p:sp>
      <p:sp>
        <p:nvSpPr>
          <p:cNvPr id="9" name="Text 7"/>
          <p:cNvSpPr/>
          <p:nvPr/>
        </p:nvSpPr>
        <p:spPr>
          <a:xfrm>
            <a:off x="640080" y="19202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  if (cached) return cached;</a:t>
            </a:r>
            <a:endParaRPr lang="en-US" sz="1500" dirty="0"/>
          </a:p>
        </p:txBody>
      </p:sp>
      <p:sp>
        <p:nvSpPr>
          <p:cNvPr id="10" name="Text 8"/>
          <p:cNvSpPr/>
          <p:nvPr/>
        </p:nvSpPr>
        <p:spPr>
          <a:xfrm>
            <a:off x="640080" y="2148840"/>
            <a:ext cx="7863840" cy="219456"/>
          </a:xfrm>
          <a:prstGeom prst="rect">
            <a:avLst/>
          </a:prstGeom>
          <a:noFill/>
          <a:ln/>
        </p:spPr>
        <p:txBody>
          <a:bodyPr wrap="square" rtlCol="0" anchor="ctr"/>
          <a:lstStyle/>
          <a:p>
            <a:pPr algn="l" indent="0" marL="0">
              <a:buNone/>
            </a:pPr>
            <a:r>
              <a:rPr lang="en-US" sz="1500" dirty="0">
                <a:solidFill>
                  <a:srgbClr val="E2E8F0"/>
                </a:solidFill>
                <a:latin typeface="Consolas" pitchFamily="34" charset="0"/>
                <a:ea typeface="Consolas" pitchFamily="34" charset="-122"/>
                <a:cs typeface="Consolas" pitchFamily="34" charset="-120"/>
              </a:rPr>
              <a:t>  </a:t>
            </a:r>
            <a:endParaRPr lang="en-US" sz="1500" dirty="0"/>
          </a:p>
        </p:txBody>
      </p:sp>
      <p:sp>
        <p:nvSpPr>
          <p:cNvPr id="11" name="Text 9"/>
          <p:cNvSpPr/>
          <p:nvPr/>
        </p:nvSpPr>
        <p:spPr>
          <a:xfrm>
            <a:off x="640080" y="23774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  const results = await db.query(...);</a:t>
            </a:r>
            <a:endParaRPr lang="en-US" sz="1500" dirty="0"/>
          </a:p>
        </p:txBody>
      </p:sp>
      <p:sp>
        <p:nvSpPr>
          <p:cNvPr id="12" name="Text 10"/>
          <p:cNvSpPr/>
          <p:nvPr/>
        </p:nvSpPr>
        <p:spPr>
          <a:xfrm>
            <a:off x="640080" y="2606040"/>
            <a:ext cx="7863840" cy="219456"/>
          </a:xfrm>
          <a:prstGeom prst="rect">
            <a:avLst/>
          </a:prstGeom>
          <a:noFill/>
          <a:ln/>
        </p:spPr>
        <p:txBody>
          <a:bodyPr wrap="square" rtlCol="0" anchor="ctr"/>
          <a:lstStyle/>
          <a:p>
            <a:pPr algn="l" indent="0" marL="0">
              <a:buNone/>
            </a:pPr>
            <a:r>
              <a:rPr lang="en-US" sz="1500" dirty="0">
                <a:solidFill>
                  <a:srgbClr val="FBBF24"/>
                </a:solidFill>
                <a:latin typeface="Consolas" pitchFamily="34" charset="0"/>
                <a:ea typeface="Consolas" pitchFamily="34" charset="-122"/>
                <a:cs typeface="Consolas" pitchFamily="34" charset="-120"/>
              </a:rPr>
              <a:t>  await cacheSet(cacheKey, results, 180);</a:t>
            </a:r>
            <a:endParaRPr lang="en-US" sz="1500" dirty="0"/>
          </a:p>
        </p:txBody>
      </p:sp>
      <p:sp>
        <p:nvSpPr>
          <p:cNvPr id="13" name="Text 11"/>
          <p:cNvSpPr/>
          <p:nvPr/>
        </p:nvSpPr>
        <p:spPr>
          <a:xfrm>
            <a:off x="640080" y="2834640"/>
            <a:ext cx="7863840" cy="219456"/>
          </a:xfrm>
          <a:prstGeom prst="rect">
            <a:avLst/>
          </a:prstGeom>
          <a:noFill/>
          <a:ln/>
        </p:spPr>
        <p:txBody>
          <a:bodyPr wrap="square" rtlCol="0" anchor="ctr"/>
          <a:lstStyle/>
          <a:p>
            <a:pPr algn="l" indent="0" marL="0">
              <a:buNone/>
            </a:pPr>
            <a:r>
              <a:rPr lang="en-US" sz="1500" dirty="0">
                <a:solidFill>
                  <a:srgbClr val="63B3ED"/>
                </a:solidFill>
                <a:latin typeface="Consolas" pitchFamily="34" charset="0"/>
                <a:ea typeface="Consolas" pitchFamily="34" charset="-122"/>
                <a:cs typeface="Consolas" pitchFamily="34" charset="-120"/>
              </a:rPr>
              <a:t>  return results;</a:t>
            </a:r>
            <a:endParaRPr lang="en-US" sz="1500" dirty="0"/>
          </a:p>
        </p:txBody>
      </p:sp>
      <p:sp>
        <p:nvSpPr>
          <p:cNvPr id="14" name="Text 12"/>
          <p:cNvSpPr/>
          <p:nvPr/>
        </p:nvSpPr>
        <p:spPr>
          <a:xfrm>
            <a:off x="640080" y="3063240"/>
            <a:ext cx="7863840" cy="219456"/>
          </a:xfrm>
          <a:prstGeom prst="rect">
            <a:avLst/>
          </a:prstGeom>
          <a:noFill/>
          <a:ln/>
        </p:spPr>
        <p:txBody>
          <a:bodyPr wrap="square" rtlCol="0" anchor="ctr"/>
          <a:lstStyle/>
          <a:p>
            <a:pPr algn="l" indent="0" marL="0">
              <a:buNone/>
            </a:pPr>
            <a:r>
              <a:rPr lang="en-US" sz="1500" dirty="0">
                <a:solidFill>
                  <a:srgbClr val="E2E8F0"/>
                </a:solidFill>
                <a:latin typeface="Consolas" pitchFamily="34" charset="0"/>
                <a:ea typeface="Consolas" pitchFamily="34" charset="-122"/>
                <a:cs typeface="Consolas" pitchFamily="34" charset="-120"/>
              </a:rPr>
              <a:t>}</a:t>
            </a:r>
            <a:endParaRPr lang="en-US" sz="1500" dirty="0"/>
          </a:p>
        </p:txBody>
      </p:sp>
      <p:sp>
        <p:nvSpPr>
          <p:cNvPr id="15" name="Text 13"/>
          <p:cNvSpPr/>
          <p:nvPr/>
        </p:nvSpPr>
        <p:spPr>
          <a:xfrm>
            <a:off x="457200" y="3108960"/>
            <a:ext cx="8229600" cy="146304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De la même manière, getPosts utilise une clé générée à partir de sort, type et search. Le TTL est de 180 secondes car les posts changent plus fréquemment. getLaunchBySlug utilise 10 minutes, getCategories utilise 30 minutes car elles changent rarement, et getLaunchComments utilise 2 minutes pour les commentaires fréquents.</a:t>
            </a:r>
            <a:endParaRPr lang="en-US" sz="1600" dirty="0"/>
          </a:p>
        </p:txBody>
      </p:sp>
      <p:sp>
        <p:nvSpPr>
          <p:cNvPr id="16" name="Shape 14"/>
          <p:cNvSpPr/>
          <p:nvPr/>
        </p:nvSpPr>
        <p:spPr>
          <a:xfrm>
            <a:off x="8503920" y="4754880"/>
            <a:ext cx="365760" cy="365760"/>
          </a:xfrm>
          <a:prstGeom prst="ellipse">
            <a:avLst/>
          </a:prstGeom>
          <a:solidFill>
            <a:srgbClr val="3182CE"/>
          </a:solidFill>
          <a:ln/>
        </p:spPr>
      </p:sp>
      <p:sp>
        <p:nvSpPr>
          <p:cNvPr id="17" name="Text 15"/>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Stratégie d'Invalidation</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1828800" cy="457200"/>
          </a:xfrm>
          <a:prstGeom prst="roundRect">
            <a:avLst>
              <a:gd name="adj" fmla="val 20000"/>
            </a:avLst>
          </a:prstGeom>
          <a:solidFill>
            <a:srgbClr val="DC2626"/>
          </a:solidFill>
          <a:ln/>
        </p:spPr>
      </p:sp>
      <p:sp>
        <p:nvSpPr>
          <p:cNvPr id="5" name="Text 3"/>
          <p:cNvSpPr/>
          <p:nvPr/>
        </p:nvSpPr>
        <p:spPr>
          <a:xfrm>
            <a:off x="457200" y="1097280"/>
            <a:ext cx="18288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Create</a:t>
            </a:r>
            <a:endParaRPr lang="en-US" sz="1400" dirty="0"/>
          </a:p>
        </p:txBody>
      </p:sp>
      <p:sp>
        <p:nvSpPr>
          <p:cNvPr id="6" name="Shape 4"/>
          <p:cNvSpPr/>
          <p:nvPr/>
        </p:nvSpPr>
        <p:spPr>
          <a:xfrm>
            <a:off x="2560320" y="1097280"/>
            <a:ext cx="1828800" cy="457200"/>
          </a:xfrm>
          <a:prstGeom prst="roundRect">
            <a:avLst>
              <a:gd name="adj" fmla="val 20000"/>
            </a:avLst>
          </a:prstGeom>
          <a:solidFill>
            <a:srgbClr val="DC2626"/>
          </a:solidFill>
          <a:ln/>
        </p:spPr>
      </p:sp>
      <p:sp>
        <p:nvSpPr>
          <p:cNvPr id="7" name="Text 5"/>
          <p:cNvSpPr/>
          <p:nvPr/>
        </p:nvSpPr>
        <p:spPr>
          <a:xfrm>
            <a:off x="2560320" y="1097280"/>
            <a:ext cx="18288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Update</a:t>
            </a:r>
            <a:endParaRPr lang="en-US" sz="1400" dirty="0"/>
          </a:p>
        </p:txBody>
      </p:sp>
      <p:sp>
        <p:nvSpPr>
          <p:cNvPr id="8" name="Shape 6"/>
          <p:cNvSpPr/>
          <p:nvPr/>
        </p:nvSpPr>
        <p:spPr>
          <a:xfrm>
            <a:off x="4663440" y="1097280"/>
            <a:ext cx="1828800" cy="457200"/>
          </a:xfrm>
          <a:prstGeom prst="roundRect">
            <a:avLst>
              <a:gd name="adj" fmla="val 20000"/>
            </a:avLst>
          </a:prstGeom>
          <a:solidFill>
            <a:srgbClr val="DC2626"/>
          </a:solidFill>
          <a:ln/>
        </p:spPr>
      </p:sp>
      <p:sp>
        <p:nvSpPr>
          <p:cNvPr id="9" name="Text 7"/>
          <p:cNvSpPr/>
          <p:nvPr/>
        </p:nvSpPr>
        <p:spPr>
          <a:xfrm>
            <a:off x="4663440" y="1097280"/>
            <a:ext cx="18288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Delete</a:t>
            </a:r>
            <a:endParaRPr lang="en-US" sz="1400" dirty="0"/>
          </a:p>
        </p:txBody>
      </p:sp>
      <p:sp>
        <p:nvSpPr>
          <p:cNvPr id="10" name="Shape 8"/>
          <p:cNvSpPr/>
          <p:nvPr/>
        </p:nvSpPr>
        <p:spPr>
          <a:xfrm>
            <a:off x="6766560" y="1097280"/>
            <a:ext cx="1828800" cy="457200"/>
          </a:xfrm>
          <a:prstGeom prst="roundRect">
            <a:avLst>
              <a:gd name="adj" fmla="val 20000"/>
            </a:avLst>
          </a:prstGeom>
          <a:solidFill>
            <a:srgbClr val="DC2626"/>
          </a:solidFill>
          <a:ln/>
        </p:spPr>
      </p:sp>
      <p:sp>
        <p:nvSpPr>
          <p:cNvPr id="11" name="Text 9"/>
          <p:cNvSpPr/>
          <p:nvPr/>
        </p:nvSpPr>
        <p:spPr>
          <a:xfrm>
            <a:off x="6766560" y="1097280"/>
            <a:ext cx="18288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Upvote</a:t>
            </a:r>
            <a:endParaRPr lang="en-US" sz="1400" dirty="0"/>
          </a:p>
        </p:txBody>
      </p:sp>
      <p:sp>
        <p:nvSpPr>
          <p:cNvPr id="12" name="Text 10"/>
          <p:cNvSpPr/>
          <p:nvPr/>
        </p:nvSpPr>
        <p:spPr>
          <a:xfrm>
            <a:off x="1371600" y="155448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3" name="Text 11"/>
          <p:cNvSpPr/>
          <p:nvPr/>
        </p:nvSpPr>
        <p:spPr>
          <a:xfrm>
            <a:off x="3474720" y="155448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4" name="Text 12"/>
          <p:cNvSpPr/>
          <p:nvPr/>
        </p:nvSpPr>
        <p:spPr>
          <a:xfrm>
            <a:off x="5577840" y="155448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5" name="Text 13"/>
          <p:cNvSpPr/>
          <p:nvPr/>
        </p:nvSpPr>
        <p:spPr>
          <a:xfrm>
            <a:off x="7680960" y="1554480"/>
            <a:ext cx="457200" cy="640080"/>
          </a:xfrm>
          <a:prstGeom prst="rect">
            <a:avLst/>
          </a:prstGeom>
          <a:noFill/>
          <a:ln/>
        </p:spPr>
        <p:txBody>
          <a:bodyPr wrap="square" rtlCol="0" anchor="ctr"/>
          <a:lstStyle/>
          <a:p>
            <a:pPr algn="ctr" indent="0" marL="0">
              <a:buNone/>
            </a:pPr>
            <a:r>
              <a:rPr lang="en-US" sz="2400" dirty="0">
                <a:solidFill>
                  <a:srgbClr val="DC262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2286000" y="2011680"/>
            <a:ext cx="4572000" cy="457200"/>
          </a:xfrm>
          <a:prstGeom prst="roundRect">
            <a:avLst>
              <a:gd name="adj" fmla="val 20000"/>
            </a:avLst>
          </a:prstGeom>
          <a:solidFill>
            <a:srgbClr val="7C3AED"/>
          </a:solidFill>
          <a:ln/>
        </p:spPr>
      </p:sp>
      <p:sp>
        <p:nvSpPr>
          <p:cNvPr id="17" name="Text 15"/>
          <p:cNvSpPr/>
          <p:nvPr/>
        </p:nvSpPr>
        <p:spPr>
          <a:xfrm>
            <a:off x="2286000" y="2011680"/>
            <a:ext cx="4572000" cy="457200"/>
          </a:xfrm>
          <a:prstGeom prst="rect">
            <a:avLst/>
          </a:prstGeom>
          <a:noFill/>
          <a:ln/>
        </p:spPr>
        <p:txBody>
          <a:bodyPr wrap="square"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invalidateCache(cacheKey)</a:t>
            </a:r>
            <a:endParaRPr lang="en-US" sz="1600" dirty="0"/>
          </a:p>
        </p:txBody>
      </p:sp>
      <p:sp>
        <p:nvSpPr>
          <p:cNvPr id="18" name="Text 16"/>
          <p:cNvSpPr/>
          <p:nvPr/>
        </p:nvSpPr>
        <p:spPr>
          <a:xfrm>
            <a:off x="457200" y="2651760"/>
            <a:ext cx="8229600" cy="146304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L'invalidation est essentielle pour la cohérence. Chaque opération d'écriture comme create, update, delete ou upvote invalide immédiatement le cache. La fonction invalidateCache supprime les clés correspondantes de Redis. Le TTL sert de mécanisme d'expiration automatique. Les clés utilisent le préfixe saas: pour éviter les collisions.</a:t>
            </a:r>
            <a:endParaRPr lang="en-US" sz="1600" dirty="0"/>
          </a:p>
        </p:txBody>
      </p:sp>
      <p:sp>
        <p:nvSpPr>
          <p:cNvPr id="19" name="Shape 17"/>
          <p:cNvSpPr/>
          <p:nvPr/>
        </p:nvSpPr>
        <p:spPr>
          <a:xfrm>
            <a:off x="8503920" y="4754880"/>
            <a:ext cx="365760" cy="365760"/>
          </a:xfrm>
          <a:prstGeom prst="ellipse">
            <a:avLst/>
          </a:prstGeom>
          <a:solidFill>
            <a:srgbClr val="3182CE"/>
          </a:solidFill>
          <a:ln/>
        </p:spPr>
      </p:sp>
      <p:sp>
        <p:nvSpPr>
          <p:cNvPr id="20" name="Text 18"/>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Tests Unitaires du Cache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914400"/>
            <a:ext cx="8229600" cy="2194560"/>
          </a:xfrm>
          <a:prstGeom prst="roundRect">
            <a:avLst>
              <a:gd name="adj" fmla="val 2083"/>
            </a:avLst>
          </a:prstGeom>
          <a:solidFill>
            <a:srgbClr val="1A202C"/>
          </a:solidFill>
          <a:ln/>
        </p:spPr>
      </p:sp>
      <p:sp>
        <p:nvSpPr>
          <p:cNvPr id="5" name="Text 3"/>
          <p:cNvSpPr/>
          <p:nvPr/>
        </p:nvSpPr>
        <p:spPr>
          <a:xfrm>
            <a:off x="640080" y="1005840"/>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describe('Cache', () =&gt; {</a:t>
            </a:r>
            <a:endParaRPr lang="en-US" sz="1400" dirty="0"/>
          </a:p>
        </p:txBody>
      </p:sp>
      <p:sp>
        <p:nvSpPr>
          <p:cNvPr id="6" name="Text 4"/>
          <p:cNvSpPr/>
          <p:nvPr/>
        </p:nvSpPr>
        <p:spPr>
          <a:xfrm>
            <a:off x="640080" y="1207008"/>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test('set &amp; get', async () =&gt; {</a:t>
            </a:r>
            <a:endParaRPr lang="en-US" sz="1400" dirty="0"/>
          </a:p>
        </p:txBody>
      </p:sp>
      <p:sp>
        <p:nvSpPr>
          <p:cNvPr id="7" name="Text 5"/>
          <p:cNvSpPr/>
          <p:nvPr/>
        </p:nvSpPr>
        <p:spPr>
          <a:xfrm>
            <a:off x="640080" y="1408176"/>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data = { foo: 'bar' };</a:t>
            </a:r>
            <a:endParaRPr lang="en-US" sz="1400" dirty="0"/>
          </a:p>
        </p:txBody>
      </p:sp>
      <p:sp>
        <p:nvSpPr>
          <p:cNvPr id="8" name="Text 6"/>
          <p:cNvSpPr/>
          <p:nvPr/>
        </p:nvSpPr>
        <p:spPr>
          <a:xfrm>
            <a:off x="640080" y="1609344"/>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cacheSet('test', data);</a:t>
            </a:r>
            <a:endParaRPr lang="en-US" sz="1400" dirty="0"/>
          </a:p>
        </p:txBody>
      </p:sp>
      <p:sp>
        <p:nvSpPr>
          <p:cNvPr id="9" name="Text 7"/>
          <p:cNvSpPr/>
          <p:nvPr/>
        </p:nvSpPr>
        <p:spPr>
          <a:xfrm>
            <a:off x="640080" y="181051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 = await cacheGet('test');</a:t>
            </a:r>
            <a:endParaRPr lang="en-US" sz="1400" dirty="0"/>
          </a:p>
        </p:txBody>
      </p:sp>
      <p:sp>
        <p:nvSpPr>
          <p:cNvPr id="10" name="Text 8"/>
          <p:cNvSpPr/>
          <p:nvPr/>
        </p:nvSpPr>
        <p:spPr>
          <a:xfrm>
            <a:off x="640080" y="2011680"/>
            <a:ext cx="7863840" cy="201168"/>
          </a:xfrm>
          <a:prstGeom prst="rect">
            <a:avLst/>
          </a:prstGeom>
          <a:noFill/>
          <a:ln/>
        </p:spPr>
        <p:txBody>
          <a:bodyPr wrap="square" rtlCol="0" anchor="ctr"/>
          <a:lstStyle/>
          <a:p>
            <a:pPr algn="l" indent="0" marL="0">
              <a:buNone/>
            </a:pPr>
            <a:r>
              <a:rPr lang="en-US" sz="1400" dirty="0">
                <a:solidFill>
                  <a:srgbClr val="A78BFA"/>
                </a:solidFill>
                <a:latin typeface="Consolas" pitchFamily="34" charset="0"/>
                <a:ea typeface="Consolas" pitchFamily="34" charset="-122"/>
                <a:cs typeface="Consolas" pitchFamily="34" charset="-120"/>
              </a:rPr>
              <a:t>    expect(result).toEqual(data);</a:t>
            </a:r>
            <a:endParaRPr lang="en-US" sz="1400" dirty="0"/>
          </a:p>
        </p:txBody>
      </p:sp>
      <p:sp>
        <p:nvSpPr>
          <p:cNvPr id="11" name="Text 9"/>
          <p:cNvSpPr/>
          <p:nvPr/>
        </p:nvSpPr>
        <p:spPr>
          <a:xfrm>
            <a:off x="640080" y="2212848"/>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2" name="Text 10"/>
          <p:cNvSpPr/>
          <p:nvPr/>
        </p:nvSpPr>
        <p:spPr>
          <a:xfrm>
            <a:off x="640080" y="2414016"/>
            <a:ext cx="7863840" cy="201168"/>
          </a:xfrm>
          <a:prstGeom prst="rect">
            <a:avLst/>
          </a:prstGeom>
          <a:noFill/>
          <a:ln/>
        </p:spPr>
        <p:txBody>
          <a:bodyPr wrap="square" rtlCol="0" anchor="ctr"/>
          <a:lstStyle/>
          <a:p>
            <a:pPr algn="l" indent="0" marL="0">
              <a:buNone/>
            </a:pPr>
            <a:endParaRPr lang="en-US" sz="1400" dirty="0"/>
          </a:p>
        </p:txBody>
      </p:sp>
      <p:sp>
        <p:nvSpPr>
          <p:cNvPr id="13" name="Text 11"/>
          <p:cNvSpPr/>
          <p:nvPr/>
        </p:nvSpPr>
        <p:spPr>
          <a:xfrm>
            <a:off x="640080" y="2615184"/>
            <a:ext cx="7863840" cy="201168"/>
          </a:xfrm>
          <a:prstGeom prst="rect">
            <a:avLst/>
          </a:prstGeom>
          <a:noFill/>
          <a:ln/>
        </p:spPr>
        <p:txBody>
          <a:bodyPr wrap="square" rtlCol="0" anchor="ctr"/>
          <a:lstStyle/>
          <a:p>
            <a:pPr algn="l" indent="0" marL="0">
              <a:buNone/>
            </a:pPr>
            <a:r>
              <a:rPr lang="en-US" sz="1400" dirty="0">
                <a:solidFill>
                  <a:srgbClr val="FBBF24"/>
                </a:solidFill>
                <a:latin typeface="Consolas" pitchFamily="34" charset="0"/>
                <a:ea typeface="Consolas" pitchFamily="34" charset="-122"/>
                <a:cs typeface="Consolas" pitchFamily="34" charset="-120"/>
              </a:rPr>
              <a:t>  test('invalidation', async () =&gt; {</a:t>
            </a:r>
            <a:endParaRPr lang="en-US" sz="1400" dirty="0"/>
          </a:p>
        </p:txBody>
      </p:sp>
      <p:sp>
        <p:nvSpPr>
          <p:cNvPr id="14" name="Text 12"/>
          <p:cNvSpPr/>
          <p:nvPr/>
        </p:nvSpPr>
        <p:spPr>
          <a:xfrm>
            <a:off x="640080" y="2816352"/>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cacheSet('temp', 'value');</a:t>
            </a:r>
            <a:endParaRPr lang="en-US" sz="1400" dirty="0"/>
          </a:p>
        </p:txBody>
      </p:sp>
      <p:sp>
        <p:nvSpPr>
          <p:cNvPr id="15" name="Text 13"/>
          <p:cNvSpPr/>
          <p:nvPr/>
        </p:nvSpPr>
        <p:spPr>
          <a:xfrm>
            <a:off x="640080" y="3017520"/>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await invalidateCache('temp');</a:t>
            </a:r>
            <a:endParaRPr lang="en-US" sz="1400" dirty="0"/>
          </a:p>
        </p:txBody>
      </p:sp>
      <p:sp>
        <p:nvSpPr>
          <p:cNvPr id="16" name="Text 14"/>
          <p:cNvSpPr/>
          <p:nvPr/>
        </p:nvSpPr>
        <p:spPr>
          <a:xfrm>
            <a:off x="640080" y="3218688"/>
            <a:ext cx="7863840" cy="201168"/>
          </a:xfrm>
          <a:prstGeom prst="rect">
            <a:avLst/>
          </a:prstGeom>
          <a:noFill/>
          <a:ln/>
        </p:spPr>
        <p:txBody>
          <a:bodyPr wrap="square" rtlCol="0" anchor="ctr"/>
          <a:lstStyle/>
          <a:p>
            <a:pPr algn="l" indent="0" marL="0">
              <a:buNone/>
            </a:pPr>
            <a:r>
              <a:rPr lang="en-US" sz="1400" dirty="0">
                <a:solidFill>
                  <a:srgbClr val="63B3ED"/>
                </a:solidFill>
                <a:latin typeface="Consolas" pitchFamily="34" charset="0"/>
                <a:ea typeface="Consolas" pitchFamily="34" charset="-122"/>
                <a:cs typeface="Consolas" pitchFamily="34" charset="-120"/>
              </a:rPr>
              <a:t>    const result = await cacheGet('temp');</a:t>
            </a:r>
            <a:endParaRPr lang="en-US" sz="1400" dirty="0"/>
          </a:p>
        </p:txBody>
      </p:sp>
      <p:sp>
        <p:nvSpPr>
          <p:cNvPr id="17" name="Text 15"/>
          <p:cNvSpPr/>
          <p:nvPr/>
        </p:nvSpPr>
        <p:spPr>
          <a:xfrm>
            <a:off x="640080" y="3419856"/>
            <a:ext cx="7863840" cy="201168"/>
          </a:xfrm>
          <a:prstGeom prst="rect">
            <a:avLst/>
          </a:prstGeom>
          <a:noFill/>
          <a:ln/>
        </p:spPr>
        <p:txBody>
          <a:bodyPr wrap="square" rtlCol="0" anchor="ctr"/>
          <a:lstStyle/>
          <a:p>
            <a:pPr algn="l" indent="0" marL="0">
              <a:buNone/>
            </a:pPr>
            <a:r>
              <a:rPr lang="en-US" sz="1400" dirty="0">
                <a:solidFill>
                  <a:srgbClr val="A78BFA"/>
                </a:solidFill>
                <a:latin typeface="Consolas" pitchFamily="34" charset="0"/>
                <a:ea typeface="Consolas" pitchFamily="34" charset="-122"/>
                <a:cs typeface="Consolas" pitchFamily="34" charset="-120"/>
              </a:rPr>
              <a:t>    expect(result).toBeNull();</a:t>
            </a:r>
            <a:endParaRPr lang="en-US" sz="1400" dirty="0"/>
          </a:p>
        </p:txBody>
      </p:sp>
      <p:sp>
        <p:nvSpPr>
          <p:cNvPr id="18" name="Text 16"/>
          <p:cNvSpPr/>
          <p:nvPr/>
        </p:nvSpPr>
        <p:spPr>
          <a:xfrm>
            <a:off x="640080" y="3621024"/>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  });</a:t>
            </a:r>
            <a:endParaRPr lang="en-US" sz="1400" dirty="0"/>
          </a:p>
        </p:txBody>
      </p:sp>
      <p:sp>
        <p:nvSpPr>
          <p:cNvPr id="19" name="Text 17"/>
          <p:cNvSpPr/>
          <p:nvPr/>
        </p:nvSpPr>
        <p:spPr>
          <a:xfrm>
            <a:off x="640080" y="3822192"/>
            <a:ext cx="7863840" cy="201168"/>
          </a:xfrm>
          <a:prstGeom prst="rect">
            <a:avLst/>
          </a:prstGeom>
          <a:noFill/>
          <a:ln/>
        </p:spPr>
        <p:txBody>
          <a:bodyPr wrap="square" rtlCol="0" anchor="ctr"/>
          <a:lstStyle/>
          <a:p>
            <a:pPr algn="l" indent="0" marL="0">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20" name="Text 18"/>
          <p:cNvSpPr/>
          <p:nvPr/>
        </p:nvSpPr>
        <p:spPr>
          <a:xfrm>
            <a:off x="457200" y="3108960"/>
            <a:ext cx="8229600" cy="15544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Nous avons mis en place des tests unitaires avec Jest couvrant cacheSet, cacheGet et invalidateCache. Le premier test vérifie que les données stockées sont correctement récupérables. Le second test vérifie que l'invalidation supprime la clé. Les tests s'exécutent avec une instance Redis locale dans Docker.</a:t>
            </a:r>
            <a:endParaRPr lang="en-US" sz="1600" dirty="0"/>
          </a:p>
        </p:txBody>
      </p:sp>
      <p:sp>
        <p:nvSpPr>
          <p:cNvPr id="21" name="Shape 19"/>
          <p:cNvSpPr/>
          <p:nvPr/>
        </p:nvSpPr>
        <p:spPr>
          <a:xfrm>
            <a:off x="8503920" y="4754880"/>
            <a:ext cx="365760" cy="365760"/>
          </a:xfrm>
          <a:prstGeom prst="ellipse">
            <a:avLst/>
          </a:prstGeom>
          <a:solidFill>
            <a:srgbClr val="3182CE"/>
          </a:solidFill>
          <a:ln/>
        </p:spPr>
      </p:sp>
      <p:sp>
        <p:nvSpPr>
          <p:cNvPr id="22" name="Text 20"/>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Résultats des Tests Unitaires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8229600" cy="1097280"/>
          </a:xfrm>
          <a:prstGeom prst="roundRect">
            <a:avLst>
              <a:gd name="adj" fmla="val 8333"/>
            </a:avLst>
          </a:prstGeom>
          <a:solidFill>
            <a:srgbClr val="10B981"/>
          </a:solidFill>
          <a:ln/>
        </p:spPr>
      </p:sp>
      <p:sp>
        <p:nvSpPr>
          <p:cNvPr id="5" name="Text 3"/>
          <p:cNvSpPr/>
          <p:nvPr/>
        </p:nvSpPr>
        <p:spPr>
          <a:xfrm>
            <a:off x="457200" y="1143000"/>
            <a:ext cx="8229600" cy="45720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 Tous les tests passent avec succès</a:t>
            </a:r>
            <a:endParaRPr lang="en-US" sz="2800" dirty="0"/>
          </a:p>
        </p:txBody>
      </p:sp>
      <p:sp>
        <p:nvSpPr>
          <p:cNvPr id="6" name="Text 4"/>
          <p:cNvSpPr/>
          <p:nvPr/>
        </p:nvSpPr>
        <p:spPr>
          <a:xfrm>
            <a:off x="457200" y="1645920"/>
            <a:ext cx="8229600" cy="365760"/>
          </a:xfrm>
          <a:prstGeom prst="rect">
            <a:avLst/>
          </a:prstGeom>
          <a:noFill/>
          <a:ln/>
        </p:spPr>
        <p:txBody>
          <a:bodyPr wrap="square"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8 tests / 8 passés  -  Couverture : cacheGet, cacheSet, invalidate, TTL, edge cases</a:t>
            </a:r>
            <a:endParaRPr lang="en-US" sz="1800" dirty="0"/>
          </a:p>
        </p:txBody>
      </p:sp>
      <p:sp>
        <p:nvSpPr>
          <p:cNvPr id="7" name="Text 5"/>
          <p:cNvSpPr/>
          <p:nvPr/>
        </p:nvSpPr>
        <p:spPr>
          <a:xfrm>
            <a:off x="457200" y="2377440"/>
            <a:ext cx="8229600" cy="15544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Les résultats sont très satisfaisants : les huit tests passent tous avec succès. Ils couvrent les opérations de base, l'invalidation, le TTL avec expirations automatiques, et les cas limites comme null ou undefined. Cette couverture complète nous donne confiance dans la fiabilité du cache. Les tests s'exécutent automatiquement dans la pipeline d'intégration continue.</a:t>
            </a:r>
            <a:endParaRPr lang="en-US" sz="1600" dirty="0"/>
          </a:p>
        </p:txBody>
      </p:sp>
      <p:sp>
        <p:nvSpPr>
          <p:cNvPr id="8" name="Shape 6"/>
          <p:cNvSpPr/>
          <p:nvPr/>
        </p:nvSpPr>
        <p:spPr>
          <a:xfrm>
            <a:off x="8503920" y="4754880"/>
            <a:ext cx="365760" cy="365760"/>
          </a:xfrm>
          <a:prstGeom prst="ellipse">
            <a:avLst/>
          </a:prstGeom>
          <a:solidFill>
            <a:srgbClr val="3182CE"/>
          </a:solidFill>
          <a:ln/>
        </p:spPr>
      </p:sp>
      <p:sp>
        <p:nvSpPr>
          <p:cNvPr id="9" name="Text 7"/>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Résultats des Tests Unitaires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2560320" cy="731520"/>
          </a:xfrm>
          <a:prstGeom prst="roundRect">
            <a:avLst>
              <a:gd name="adj" fmla="val 12500"/>
            </a:avLst>
          </a:prstGeom>
          <a:solidFill>
            <a:srgbClr val="10B981"/>
          </a:solidFill>
          <a:ln/>
        </p:spPr>
      </p:sp>
      <p:sp>
        <p:nvSpPr>
          <p:cNvPr id="5" name="Text 3"/>
          <p:cNvSpPr/>
          <p:nvPr/>
        </p:nvSpPr>
        <p:spPr>
          <a:xfrm>
            <a:off x="45720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 Tests Passés</a:t>
            </a:r>
            <a:endParaRPr lang="en-US" sz="1400" dirty="0"/>
          </a:p>
        </p:txBody>
      </p:sp>
      <p:sp>
        <p:nvSpPr>
          <p:cNvPr id="6" name="Text 4"/>
          <p:cNvSpPr/>
          <p:nvPr/>
        </p:nvSpPr>
        <p:spPr>
          <a:xfrm>
            <a:off x="457200" y="1417320"/>
            <a:ext cx="2560320" cy="3200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8/8</a:t>
            </a:r>
            <a:endParaRPr lang="en-US" sz="2800" dirty="0"/>
          </a:p>
        </p:txBody>
      </p:sp>
      <p:sp>
        <p:nvSpPr>
          <p:cNvPr id="7" name="Shape 5"/>
          <p:cNvSpPr/>
          <p:nvPr/>
        </p:nvSpPr>
        <p:spPr>
          <a:xfrm>
            <a:off x="3291840" y="1097280"/>
            <a:ext cx="2560320" cy="731520"/>
          </a:xfrm>
          <a:prstGeom prst="roundRect">
            <a:avLst>
              <a:gd name="adj" fmla="val 12500"/>
            </a:avLst>
          </a:prstGeom>
          <a:solidFill>
            <a:srgbClr val="EF4444"/>
          </a:solidFill>
          <a:ln/>
        </p:spPr>
      </p:sp>
      <p:sp>
        <p:nvSpPr>
          <p:cNvPr id="8" name="Text 6"/>
          <p:cNvSpPr/>
          <p:nvPr/>
        </p:nvSpPr>
        <p:spPr>
          <a:xfrm>
            <a:off x="329184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 Tests Échoués</a:t>
            </a:r>
            <a:endParaRPr lang="en-US" sz="1400" dirty="0"/>
          </a:p>
        </p:txBody>
      </p:sp>
      <p:sp>
        <p:nvSpPr>
          <p:cNvPr id="9" name="Text 7"/>
          <p:cNvSpPr/>
          <p:nvPr/>
        </p:nvSpPr>
        <p:spPr>
          <a:xfrm>
            <a:off x="3291840" y="1417320"/>
            <a:ext cx="2560320" cy="3200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0</a:t>
            </a:r>
            <a:endParaRPr lang="en-US" sz="2800" dirty="0"/>
          </a:p>
        </p:txBody>
      </p:sp>
      <p:sp>
        <p:nvSpPr>
          <p:cNvPr id="10" name="Shape 8"/>
          <p:cNvSpPr/>
          <p:nvPr/>
        </p:nvSpPr>
        <p:spPr>
          <a:xfrm>
            <a:off x="6126480" y="1097280"/>
            <a:ext cx="2560320" cy="731520"/>
          </a:xfrm>
          <a:prstGeom prst="roundRect">
            <a:avLst>
              <a:gd name="adj" fmla="val 12500"/>
            </a:avLst>
          </a:prstGeom>
          <a:solidFill>
            <a:srgbClr val="3182CE"/>
          </a:solidFill>
          <a:ln/>
        </p:spPr>
      </p:sp>
      <p:sp>
        <p:nvSpPr>
          <p:cNvPr id="11" name="Text 9"/>
          <p:cNvSpPr/>
          <p:nvPr/>
        </p:nvSpPr>
        <p:spPr>
          <a:xfrm>
            <a:off x="6126480" y="1143000"/>
            <a:ext cx="2560320" cy="27432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 Couverture</a:t>
            </a:r>
            <a:endParaRPr lang="en-US" sz="1400" dirty="0"/>
          </a:p>
        </p:txBody>
      </p:sp>
      <p:sp>
        <p:nvSpPr>
          <p:cNvPr id="12" name="Text 10"/>
          <p:cNvSpPr/>
          <p:nvPr/>
        </p:nvSpPr>
        <p:spPr>
          <a:xfrm>
            <a:off x="6126480" y="1417320"/>
            <a:ext cx="2560320" cy="3200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100%</a:t>
            </a:r>
            <a:endParaRPr lang="en-US" sz="2800" dirty="0"/>
          </a:p>
        </p:txBody>
      </p:sp>
      <p:sp>
        <p:nvSpPr>
          <p:cNvPr id="13" name="Text 11"/>
          <p:cNvSpPr/>
          <p:nvPr/>
        </p:nvSpPr>
        <p:spPr>
          <a:xfrm>
            <a:off x="457200" y="1920240"/>
            <a:ext cx="8229600" cy="22860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Voici le récapitulatif final. Les huit tests de la couche de cache ont tous passé avec succès, soit cent pour cent de réussite. Aucun test n'a échoué et la couverture est complète. Ces tests valident que notre implémentation Redis est robuste et prête pour la production. Les cas limites comme les données null, les expirations TTL et les invalidations multiples sont correctement gérés.</a:t>
            </a:r>
            <a:endParaRPr lang="en-US" sz="1600" dirty="0"/>
          </a:p>
        </p:txBody>
      </p:sp>
      <p:sp>
        <p:nvSpPr>
          <p:cNvPr id="14" name="Shape 12"/>
          <p:cNvSpPr/>
          <p:nvPr/>
        </p:nvSpPr>
        <p:spPr>
          <a:xfrm>
            <a:off x="8503920" y="4754880"/>
            <a:ext cx="365760" cy="365760"/>
          </a:xfrm>
          <a:prstGeom prst="ellipse">
            <a:avLst/>
          </a:prstGeom>
          <a:solidFill>
            <a:srgbClr val="3182CE"/>
          </a:solidFill>
          <a:ln/>
        </p:spPr>
      </p:sp>
      <p:sp>
        <p:nvSpPr>
          <p:cNvPr id="15" name="Text 13"/>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Mesures de Performance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2560320" cy="1097280"/>
          </a:xfrm>
          <a:prstGeom prst="roundRect">
            <a:avLst>
              <a:gd name="adj" fmla="val 8333"/>
            </a:avLst>
          </a:prstGeom>
          <a:solidFill>
            <a:srgbClr val="FFFFFF"/>
          </a:solidFill>
          <a:ln w="25400">
            <a:solidFill>
              <a:srgbClr val="E2E8F0"/>
            </a:solidFill>
            <a:prstDash val="solid"/>
          </a:ln>
        </p:spPr>
      </p:sp>
      <p:sp>
        <p:nvSpPr>
          <p:cNvPr id="5" name="Text 3"/>
          <p:cNvSpPr/>
          <p:nvPr/>
        </p:nvSpPr>
        <p:spPr>
          <a:xfrm>
            <a:off x="457200" y="1143000"/>
            <a:ext cx="2560320" cy="457200"/>
          </a:xfrm>
          <a:prstGeom prst="rect">
            <a:avLst/>
          </a:prstGeom>
          <a:noFill/>
          <a:ln/>
        </p:spPr>
        <p:txBody>
          <a:bodyPr wrap="square" rtlCol="0" anchor="ctr"/>
          <a:lstStyle/>
          <a:p>
            <a:pPr algn="ctr" indent="0" marL="0">
              <a:buNone/>
            </a:pPr>
            <a:r>
              <a:rPr lang="en-US" sz="3600" b="1" dirty="0">
                <a:solidFill>
                  <a:srgbClr val="1E3A5F"/>
                </a:solidFill>
                <a:latin typeface="Arial" pitchFamily="34" charset="0"/>
                <a:ea typeface="Arial" pitchFamily="34" charset="-122"/>
                <a:cs typeface="Arial" pitchFamily="34" charset="-120"/>
              </a:rPr>
              <a:t>12ms</a:t>
            </a:r>
            <a:endParaRPr lang="en-US" sz="3600" dirty="0"/>
          </a:p>
        </p:txBody>
      </p:sp>
      <p:sp>
        <p:nvSpPr>
          <p:cNvPr id="6" name="Text 4"/>
          <p:cNvSpPr/>
          <p:nvPr/>
        </p:nvSpPr>
        <p:spPr>
          <a:xfrm>
            <a:off x="457200" y="1645920"/>
            <a:ext cx="2560320" cy="22860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Avec Cache</a:t>
            </a:r>
            <a:endParaRPr lang="en-US" sz="1400" dirty="0"/>
          </a:p>
        </p:txBody>
      </p:sp>
      <p:sp>
        <p:nvSpPr>
          <p:cNvPr id="7" name="Text 5"/>
          <p:cNvSpPr/>
          <p:nvPr/>
        </p:nvSpPr>
        <p:spPr>
          <a:xfrm>
            <a:off x="45720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moyenne</a:t>
            </a:r>
            <a:endParaRPr lang="en-US" sz="1200" dirty="0"/>
          </a:p>
        </p:txBody>
      </p:sp>
      <p:sp>
        <p:nvSpPr>
          <p:cNvPr id="8" name="Shape 6"/>
          <p:cNvSpPr/>
          <p:nvPr/>
        </p:nvSpPr>
        <p:spPr>
          <a:xfrm>
            <a:off x="3291840" y="1097280"/>
            <a:ext cx="2560320" cy="1097280"/>
          </a:xfrm>
          <a:prstGeom prst="roundRect">
            <a:avLst>
              <a:gd name="adj" fmla="val 8333"/>
            </a:avLst>
          </a:prstGeom>
          <a:solidFill>
            <a:srgbClr val="FFFFFF"/>
          </a:solidFill>
          <a:ln w="25400">
            <a:solidFill>
              <a:srgbClr val="E2E8F0"/>
            </a:solidFill>
            <a:prstDash val="solid"/>
          </a:ln>
        </p:spPr>
      </p:sp>
      <p:sp>
        <p:nvSpPr>
          <p:cNvPr id="9" name="Text 7"/>
          <p:cNvSpPr/>
          <p:nvPr/>
        </p:nvSpPr>
        <p:spPr>
          <a:xfrm>
            <a:off x="3291840" y="1143000"/>
            <a:ext cx="2560320" cy="457200"/>
          </a:xfrm>
          <a:prstGeom prst="rect">
            <a:avLst/>
          </a:prstGeom>
          <a:noFill/>
          <a:ln/>
        </p:spPr>
        <p:txBody>
          <a:bodyPr wrap="square" rtlCol="0" anchor="ctr"/>
          <a:lstStyle/>
          <a:p>
            <a:pPr algn="ctr" indent="0" marL="0">
              <a:buNone/>
            </a:pPr>
            <a:r>
              <a:rPr lang="en-US" sz="3600" b="1" dirty="0">
                <a:solidFill>
                  <a:srgbClr val="1E3A5F"/>
                </a:solidFill>
                <a:latin typeface="Arial" pitchFamily="34" charset="0"/>
                <a:ea typeface="Arial" pitchFamily="34" charset="-122"/>
                <a:cs typeface="Arial" pitchFamily="34" charset="-120"/>
              </a:rPr>
              <a:t>856ms</a:t>
            </a:r>
            <a:endParaRPr lang="en-US" sz="3600" dirty="0"/>
          </a:p>
        </p:txBody>
      </p:sp>
      <p:sp>
        <p:nvSpPr>
          <p:cNvPr id="10" name="Text 8"/>
          <p:cNvSpPr/>
          <p:nvPr/>
        </p:nvSpPr>
        <p:spPr>
          <a:xfrm>
            <a:off x="3291840" y="1645920"/>
            <a:ext cx="2560320" cy="22860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Sans Cache</a:t>
            </a:r>
            <a:endParaRPr lang="en-US" sz="1400" dirty="0"/>
          </a:p>
        </p:txBody>
      </p:sp>
      <p:sp>
        <p:nvSpPr>
          <p:cNvPr id="11" name="Text 9"/>
          <p:cNvSpPr/>
          <p:nvPr/>
        </p:nvSpPr>
        <p:spPr>
          <a:xfrm>
            <a:off x="329184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moyenne</a:t>
            </a:r>
            <a:endParaRPr lang="en-US" sz="1200" dirty="0"/>
          </a:p>
        </p:txBody>
      </p:sp>
      <p:sp>
        <p:nvSpPr>
          <p:cNvPr id="12" name="Shape 10"/>
          <p:cNvSpPr/>
          <p:nvPr/>
        </p:nvSpPr>
        <p:spPr>
          <a:xfrm>
            <a:off x="6126480" y="1097280"/>
            <a:ext cx="2560320" cy="1097280"/>
          </a:xfrm>
          <a:prstGeom prst="roundRect">
            <a:avLst>
              <a:gd name="adj" fmla="val 8333"/>
            </a:avLst>
          </a:prstGeom>
          <a:solidFill>
            <a:srgbClr val="FFFFFF"/>
          </a:solidFill>
          <a:ln w="25400">
            <a:solidFill>
              <a:srgbClr val="10B981"/>
            </a:solidFill>
            <a:prstDash val="solid"/>
          </a:ln>
        </p:spPr>
      </p:sp>
      <p:sp>
        <p:nvSpPr>
          <p:cNvPr id="13" name="Text 11"/>
          <p:cNvSpPr/>
          <p:nvPr/>
        </p:nvSpPr>
        <p:spPr>
          <a:xfrm>
            <a:off x="6126480" y="1143000"/>
            <a:ext cx="2560320" cy="457200"/>
          </a:xfrm>
          <a:prstGeom prst="rect">
            <a:avLst/>
          </a:prstGeom>
          <a:noFill/>
          <a:ln/>
        </p:spPr>
        <p:txBody>
          <a:bodyPr wrap="square" rtlCol="0" anchor="ctr"/>
          <a:lstStyle/>
          <a:p>
            <a:pPr algn="ctr" indent="0" marL="0">
              <a:buNone/>
            </a:pPr>
            <a:r>
              <a:rPr lang="en-US" sz="3600" b="1" dirty="0">
                <a:solidFill>
                  <a:srgbClr val="10B981"/>
                </a:solidFill>
                <a:latin typeface="Arial" pitchFamily="34" charset="0"/>
                <a:ea typeface="Arial" pitchFamily="34" charset="-122"/>
                <a:cs typeface="Arial" pitchFamily="34" charset="-120"/>
              </a:rPr>
              <a:t>99%</a:t>
            </a:r>
            <a:endParaRPr lang="en-US" sz="3600" dirty="0"/>
          </a:p>
        </p:txBody>
      </p:sp>
      <p:sp>
        <p:nvSpPr>
          <p:cNvPr id="14" name="Text 12"/>
          <p:cNvSpPr/>
          <p:nvPr/>
        </p:nvSpPr>
        <p:spPr>
          <a:xfrm>
            <a:off x="6126480" y="1645920"/>
            <a:ext cx="2560320" cy="22860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Amélioration</a:t>
            </a:r>
            <a:endParaRPr lang="en-US" sz="1400" dirty="0"/>
          </a:p>
        </p:txBody>
      </p:sp>
      <p:sp>
        <p:nvSpPr>
          <p:cNvPr id="15" name="Text 13"/>
          <p:cNvSpPr/>
          <p:nvPr/>
        </p:nvSpPr>
        <p:spPr>
          <a:xfrm>
            <a:off x="612648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plus rapide</a:t>
            </a:r>
            <a:endParaRPr lang="en-US" sz="1200" dirty="0"/>
          </a:p>
        </p:txBody>
      </p:sp>
      <p:sp>
        <p:nvSpPr>
          <p:cNvPr id="16" name="Text 14"/>
          <p:cNvSpPr/>
          <p:nvPr/>
        </p:nvSpPr>
        <p:spPr>
          <a:xfrm>
            <a:off x="457200" y="2286000"/>
            <a:ext cx="8229600" cy="20116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Les mesures montrent des résultats impressionnants. Avec le cache Redis, le temps de réponse moyen est de douze millisecondes contre huit cent cinquante-six millisecondes sans cache, soit quatre-vingt-dix-neuf pour cent d'amélioration. Les requêtes getLaunches passent de plusieurs centaines de millisecondes à moins de quinze millisecondes. Les pages se chargent presque instantanément après la première visite.</a:t>
            </a:r>
            <a:endParaRPr lang="en-US" sz="1600" dirty="0"/>
          </a:p>
        </p:txBody>
      </p:sp>
      <p:sp>
        <p:nvSpPr>
          <p:cNvPr id="17" name="Shape 15"/>
          <p:cNvSpPr/>
          <p:nvPr/>
        </p:nvSpPr>
        <p:spPr>
          <a:xfrm>
            <a:off x="8503920" y="4754880"/>
            <a:ext cx="365760" cy="365760"/>
          </a:xfrm>
          <a:prstGeom prst="ellipse">
            <a:avLst/>
          </a:prstGeom>
          <a:solidFill>
            <a:srgbClr val="3182CE"/>
          </a:solidFill>
          <a:ln/>
        </p:spPr>
      </p:sp>
      <p:sp>
        <p:nvSpPr>
          <p:cNvPr id="18" name="Text 16"/>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Mesures de Performance (Suite)</a:t>
            </a:r>
            <a:endParaRPr lang="en-US" sz="2800" dirty="0"/>
          </a:p>
        </p:txBody>
      </p:sp>
      <p:sp>
        <p:nvSpPr>
          <p:cNvPr id="3" name="Shape 1"/>
          <p:cNvSpPr/>
          <p:nvPr/>
        </p:nvSpPr>
        <p:spPr>
          <a:xfrm>
            <a:off x="457200" y="731520"/>
            <a:ext cx="1371600" cy="45720"/>
          </a:xfrm>
          <a:prstGeom prst="rect">
            <a:avLst/>
          </a:prstGeom>
          <a:solidFill>
            <a:srgbClr val="3182CE"/>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286000"/>
                <a:gridCol w="2011680"/>
                <a:gridCol w="2011680"/>
                <a:gridCol w="1920240"/>
              </a:tblGrid>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Opération</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Sans Cache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Avec Cache</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Amélioration</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getLaunches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856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12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99.2%</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getPosts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643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15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97.7%</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getLaunchBySlug</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234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8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96.6%</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getCategories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189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5 ms</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2C5282"/>
                          </a:solidFill>
                          <a:latin typeface="Arial" pitchFamily="34" charset="0"/>
                          <a:ea typeface="Arial" pitchFamily="34" charset="-122"/>
                          <a:cs typeface="Arial" pitchFamily="34" charset="-120"/>
                        </a:rPr>
                        <a:t>97.4%</a:t>
                      </a:r>
                      <a:endParaRPr lang="en-US" sz="1600" dirty="0">
                        <a:latin typeface="Arial" charset="0"/>
                        <a:ea typeface="Arial" charset="0"/>
                        <a:cs typeface="Arial"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2560320"/>
            <a:ext cx="8229600" cy="201168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Voici le tableau détaillé par opération. getLaunches, la plus utilisée sur la page d'accueil, passe de huit cent cinquante-six à douze millisecondes, soit quatre-vingt-dix-neuf virgule deux pour cent d'amélioration. getPosts pour le feed passe de six cent quarante-trois à quinze millisecondes. getLaunchBySlug passe de deux cent trente-quatre à huit millisecondes. getCategories passe de cent quatre-vingt-neuf à cinq millisecondes.</a:t>
            </a:r>
            <a:endParaRPr lang="en-US" sz="1600" dirty="0"/>
          </a:p>
        </p:txBody>
      </p:sp>
      <p:sp>
        <p:nvSpPr>
          <p:cNvPr id="6" name="Shape 3"/>
          <p:cNvSpPr/>
          <p:nvPr/>
        </p:nvSpPr>
        <p:spPr>
          <a:xfrm>
            <a:off x="8503920" y="4754880"/>
            <a:ext cx="365760" cy="365760"/>
          </a:xfrm>
          <a:prstGeom prst="ellipse">
            <a:avLst/>
          </a:prstGeom>
          <a:solidFill>
            <a:srgbClr val="3182CE"/>
          </a:solidFill>
          <a:ln/>
        </p:spPr>
      </p:sp>
      <p:sp>
        <p:nvSpPr>
          <p:cNvPr id="7" name="Text 4"/>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Comparaison Graphique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640080" y="731520"/>
            <a:ext cx="731520" cy="2286000"/>
          </a:xfrm>
          <a:prstGeom prst="rect">
            <a:avLst/>
          </a:prstGeom>
          <a:solidFill>
            <a:srgbClr val="EF4444"/>
          </a:solidFill>
          <a:ln/>
        </p:spPr>
      </p:sp>
      <p:sp>
        <p:nvSpPr>
          <p:cNvPr id="5" name="Shape 3"/>
          <p:cNvSpPr/>
          <p:nvPr/>
        </p:nvSpPr>
        <p:spPr>
          <a:xfrm>
            <a:off x="1554480" y="2985473"/>
            <a:ext cx="731520" cy="32047"/>
          </a:xfrm>
          <a:prstGeom prst="rect">
            <a:avLst/>
          </a:prstGeom>
          <a:solidFill>
            <a:srgbClr val="10B981"/>
          </a:solidFill>
          <a:ln/>
        </p:spPr>
      </p:sp>
      <p:sp>
        <p:nvSpPr>
          <p:cNvPr id="6" name="Text 4"/>
          <p:cNvSpPr/>
          <p:nvPr/>
        </p:nvSpPr>
        <p:spPr>
          <a:xfrm>
            <a:off x="640080" y="3108960"/>
            <a:ext cx="1645920" cy="274320"/>
          </a:xfrm>
          <a:prstGeom prst="rect">
            <a:avLst/>
          </a:prstGeom>
          <a:noFill/>
          <a:ln/>
        </p:spPr>
        <p:txBody>
          <a:bodyPr wrap="square" rtlCol="0" anchor="t"/>
          <a:lstStyle/>
          <a:p>
            <a:pPr algn="ctr" indent="0" marL="0">
              <a:buNone/>
            </a:pPr>
            <a:r>
              <a:rPr lang="en-US" sz="1100" dirty="0">
                <a:solidFill>
                  <a:srgbClr val="2C5282"/>
                </a:solidFill>
                <a:latin typeface="Arial" pitchFamily="34" charset="0"/>
                <a:ea typeface="Arial" pitchFamily="34" charset="-122"/>
                <a:cs typeface="Arial" pitchFamily="34" charset="-120"/>
              </a:rPr>
              <a:t>getLaunches</a:t>
            </a:r>
            <a:endParaRPr lang="en-US" sz="1100" dirty="0"/>
          </a:p>
        </p:txBody>
      </p:sp>
      <p:sp>
        <p:nvSpPr>
          <p:cNvPr id="7" name="Shape 5"/>
          <p:cNvSpPr/>
          <p:nvPr/>
        </p:nvSpPr>
        <p:spPr>
          <a:xfrm>
            <a:off x="2743200" y="1300349"/>
            <a:ext cx="731520" cy="1717171"/>
          </a:xfrm>
          <a:prstGeom prst="rect">
            <a:avLst/>
          </a:prstGeom>
          <a:solidFill>
            <a:srgbClr val="EF4444"/>
          </a:solidFill>
          <a:ln/>
        </p:spPr>
      </p:sp>
      <p:sp>
        <p:nvSpPr>
          <p:cNvPr id="8" name="Shape 6"/>
          <p:cNvSpPr/>
          <p:nvPr/>
        </p:nvSpPr>
        <p:spPr>
          <a:xfrm>
            <a:off x="3657600" y="2977462"/>
            <a:ext cx="731520" cy="40058"/>
          </a:xfrm>
          <a:prstGeom prst="rect">
            <a:avLst/>
          </a:prstGeom>
          <a:solidFill>
            <a:srgbClr val="10B981"/>
          </a:solidFill>
          <a:ln/>
        </p:spPr>
      </p:sp>
      <p:sp>
        <p:nvSpPr>
          <p:cNvPr id="9" name="Text 7"/>
          <p:cNvSpPr/>
          <p:nvPr/>
        </p:nvSpPr>
        <p:spPr>
          <a:xfrm>
            <a:off x="2743200" y="3108960"/>
            <a:ext cx="1645920" cy="274320"/>
          </a:xfrm>
          <a:prstGeom prst="rect">
            <a:avLst/>
          </a:prstGeom>
          <a:noFill/>
          <a:ln/>
        </p:spPr>
        <p:txBody>
          <a:bodyPr wrap="square" rtlCol="0" anchor="t"/>
          <a:lstStyle/>
          <a:p>
            <a:pPr algn="ctr" indent="0" marL="0">
              <a:buNone/>
            </a:pPr>
            <a:r>
              <a:rPr lang="en-US" sz="1100" dirty="0">
                <a:solidFill>
                  <a:srgbClr val="2C5282"/>
                </a:solidFill>
                <a:latin typeface="Arial" pitchFamily="34" charset="0"/>
                <a:ea typeface="Arial" pitchFamily="34" charset="-122"/>
                <a:cs typeface="Arial" pitchFamily="34" charset="-120"/>
              </a:rPr>
              <a:t>getPosts</a:t>
            </a:r>
            <a:endParaRPr lang="en-US" sz="1100" dirty="0"/>
          </a:p>
        </p:txBody>
      </p:sp>
      <p:sp>
        <p:nvSpPr>
          <p:cNvPr id="10" name="Shape 8"/>
          <p:cNvSpPr/>
          <p:nvPr/>
        </p:nvSpPr>
        <p:spPr>
          <a:xfrm>
            <a:off x="4846320" y="2392609"/>
            <a:ext cx="731520" cy="624911"/>
          </a:xfrm>
          <a:prstGeom prst="rect">
            <a:avLst/>
          </a:prstGeom>
          <a:solidFill>
            <a:srgbClr val="EF4444"/>
          </a:solidFill>
          <a:ln/>
        </p:spPr>
      </p:sp>
      <p:sp>
        <p:nvSpPr>
          <p:cNvPr id="11" name="Shape 9"/>
          <p:cNvSpPr/>
          <p:nvPr/>
        </p:nvSpPr>
        <p:spPr>
          <a:xfrm>
            <a:off x="5760720" y="2996156"/>
            <a:ext cx="731520" cy="21364"/>
          </a:xfrm>
          <a:prstGeom prst="rect">
            <a:avLst/>
          </a:prstGeom>
          <a:solidFill>
            <a:srgbClr val="10B981"/>
          </a:solidFill>
          <a:ln/>
        </p:spPr>
      </p:sp>
      <p:sp>
        <p:nvSpPr>
          <p:cNvPr id="12" name="Text 10"/>
          <p:cNvSpPr/>
          <p:nvPr/>
        </p:nvSpPr>
        <p:spPr>
          <a:xfrm>
            <a:off x="4846320" y="3108960"/>
            <a:ext cx="1645920" cy="274320"/>
          </a:xfrm>
          <a:prstGeom prst="rect">
            <a:avLst/>
          </a:prstGeom>
          <a:noFill/>
          <a:ln/>
        </p:spPr>
        <p:txBody>
          <a:bodyPr wrap="square" rtlCol="0" anchor="t"/>
          <a:lstStyle/>
          <a:p>
            <a:pPr algn="ctr" indent="0" marL="0">
              <a:buNone/>
            </a:pPr>
            <a:r>
              <a:rPr lang="en-US" sz="1100" dirty="0">
                <a:solidFill>
                  <a:srgbClr val="2C5282"/>
                </a:solidFill>
                <a:latin typeface="Arial" pitchFamily="34" charset="0"/>
                <a:ea typeface="Arial" pitchFamily="34" charset="-122"/>
                <a:cs typeface="Arial" pitchFamily="34" charset="-120"/>
              </a:rPr>
              <a:t>getLaunchBySlug</a:t>
            </a:r>
            <a:endParaRPr lang="en-US" sz="1100" dirty="0"/>
          </a:p>
        </p:txBody>
      </p:sp>
      <p:sp>
        <p:nvSpPr>
          <p:cNvPr id="13" name="Shape 11"/>
          <p:cNvSpPr/>
          <p:nvPr/>
        </p:nvSpPr>
        <p:spPr>
          <a:xfrm>
            <a:off x="6949440" y="2512784"/>
            <a:ext cx="731520" cy="504736"/>
          </a:xfrm>
          <a:prstGeom prst="rect">
            <a:avLst/>
          </a:prstGeom>
          <a:solidFill>
            <a:srgbClr val="EF4444"/>
          </a:solidFill>
          <a:ln/>
        </p:spPr>
      </p:sp>
      <p:sp>
        <p:nvSpPr>
          <p:cNvPr id="14" name="Shape 12"/>
          <p:cNvSpPr/>
          <p:nvPr/>
        </p:nvSpPr>
        <p:spPr>
          <a:xfrm>
            <a:off x="7863840" y="3004167"/>
            <a:ext cx="731520" cy="13353"/>
          </a:xfrm>
          <a:prstGeom prst="rect">
            <a:avLst/>
          </a:prstGeom>
          <a:solidFill>
            <a:srgbClr val="10B981"/>
          </a:solidFill>
          <a:ln/>
        </p:spPr>
      </p:sp>
      <p:sp>
        <p:nvSpPr>
          <p:cNvPr id="15" name="Text 13"/>
          <p:cNvSpPr/>
          <p:nvPr/>
        </p:nvSpPr>
        <p:spPr>
          <a:xfrm>
            <a:off x="6949440" y="3108960"/>
            <a:ext cx="1645920" cy="274320"/>
          </a:xfrm>
          <a:prstGeom prst="rect">
            <a:avLst/>
          </a:prstGeom>
          <a:noFill/>
          <a:ln/>
        </p:spPr>
        <p:txBody>
          <a:bodyPr wrap="square" rtlCol="0" anchor="t"/>
          <a:lstStyle/>
          <a:p>
            <a:pPr algn="ctr" indent="0" marL="0">
              <a:buNone/>
            </a:pPr>
            <a:r>
              <a:rPr lang="en-US" sz="1100" dirty="0">
                <a:solidFill>
                  <a:srgbClr val="2C5282"/>
                </a:solidFill>
                <a:latin typeface="Arial" pitchFamily="34" charset="0"/>
                <a:ea typeface="Arial" pitchFamily="34" charset="-122"/>
                <a:cs typeface="Arial" pitchFamily="34" charset="-120"/>
              </a:rPr>
              <a:t>getCategories</a:t>
            </a:r>
            <a:endParaRPr lang="en-US" sz="1100" dirty="0"/>
          </a:p>
        </p:txBody>
      </p:sp>
      <p:sp>
        <p:nvSpPr>
          <p:cNvPr id="16" name="Shape 14"/>
          <p:cNvSpPr/>
          <p:nvPr/>
        </p:nvSpPr>
        <p:spPr>
          <a:xfrm>
            <a:off x="5943600" y="1097280"/>
            <a:ext cx="274320" cy="182880"/>
          </a:xfrm>
          <a:prstGeom prst="rect">
            <a:avLst/>
          </a:prstGeom>
          <a:solidFill>
            <a:srgbClr val="EF4444"/>
          </a:solidFill>
          <a:ln/>
        </p:spPr>
      </p:sp>
      <p:sp>
        <p:nvSpPr>
          <p:cNvPr id="17" name="Text 15"/>
          <p:cNvSpPr/>
          <p:nvPr/>
        </p:nvSpPr>
        <p:spPr>
          <a:xfrm>
            <a:off x="6309360" y="1051560"/>
            <a:ext cx="1828800" cy="274320"/>
          </a:xfrm>
          <a:prstGeom prst="rect">
            <a:avLst/>
          </a:prstGeom>
          <a:noFill/>
          <a:ln/>
        </p:spPr>
        <p:txBody>
          <a:bodyPr wrap="square" rtlCol="0" anchor="ctr"/>
          <a:lstStyle/>
          <a:p>
            <a:pPr algn="l" indent="0" marL="0">
              <a:buNone/>
            </a:pPr>
            <a:r>
              <a:rPr lang="en-US" sz="1200" dirty="0">
                <a:solidFill>
                  <a:srgbClr val="2C5282"/>
                </a:solidFill>
                <a:latin typeface="Arial" pitchFamily="34" charset="0"/>
                <a:ea typeface="Arial" pitchFamily="34" charset="-122"/>
                <a:cs typeface="Arial" pitchFamily="34" charset="-120"/>
              </a:rPr>
              <a:t>Sans Cache</a:t>
            </a:r>
            <a:endParaRPr lang="en-US" sz="1200" dirty="0"/>
          </a:p>
        </p:txBody>
      </p:sp>
      <p:sp>
        <p:nvSpPr>
          <p:cNvPr id="18" name="Shape 16"/>
          <p:cNvSpPr/>
          <p:nvPr/>
        </p:nvSpPr>
        <p:spPr>
          <a:xfrm>
            <a:off x="5943600" y="1371600"/>
            <a:ext cx="274320" cy="182880"/>
          </a:xfrm>
          <a:prstGeom prst="rect">
            <a:avLst/>
          </a:prstGeom>
          <a:solidFill>
            <a:srgbClr val="10B981"/>
          </a:solidFill>
          <a:ln/>
        </p:spPr>
      </p:sp>
      <p:sp>
        <p:nvSpPr>
          <p:cNvPr id="19" name="Text 17"/>
          <p:cNvSpPr/>
          <p:nvPr/>
        </p:nvSpPr>
        <p:spPr>
          <a:xfrm>
            <a:off x="6309360" y="1325880"/>
            <a:ext cx="1828800" cy="274320"/>
          </a:xfrm>
          <a:prstGeom prst="rect">
            <a:avLst/>
          </a:prstGeom>
          <a:noFill/>
          <a:ln/>
        </p:spPr>
        <p:txBody>
          <a:bodyPr wrap="square" rtlCol="0" anchor="ctr"/>
          <a:lstStyle/>
          <a:p>
            <a:pPr algn="l" indent="0" marL="0">
              <a:buNone/>
            </a:pPr>
            <a:r>
              <a:rPr lang="en-US" sz="1200" dirty="0">
                <a:solidFill>
                  <a:srgbClr val="2C5282"/>
                </a:solidFill>
                <a:latin typeface="Arial" pitchFamily="34" charset="0"/>
                <a:ea typeface="Arial" pitchFamily="34" charset="-122"/>
                <a:cs typeface="Arial" pitchFamily="34" charset="-120"/>
              </a:rPr>
              <a:t>Avec Cache</a:t>
            </a:r>
            <a:endParaRPr lang="en-US" sz="1200" dirty="0"/>
          </a:p>
        </p:txBody>
      </p:sp>
      <p:sp>
        <p:nvSpPr>
          <p:cNvPr id="20" name="Text 18"/>
          <p:cNvSpPr/>
          <p:nvPr/>
        </p:nvSpPr>
        <p:spPr>
          <a:xfrm>
            <a:off x="457200" y="3383280"/>
            <a:ext cx="8229600" cy="13716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Ce graphique illustre l'impact du cache Redis. Les barres rouges sont sans cache, les vertes avec cache. Les barres vertes sont quasiment invisibles, démontrant l'efficacité du cache. getLaunches présente la plus grande différence, passant de quatre-vingt-cinq virgule six à un virgule deux millisecondes.</a:t>
            </a:r>
            <a:endParaRPr lang="en-US" sz="1600" dirty="0"/>
          </a:p>
        </p:txBody>
      </p:sp>
      <p:sp>
        <p:nvSpPr>
          <p:cNvPr id="21" name="Shape 19"/>
          <p:cNvSpPr/>
          <p:nvPr/>
        </p:nvSpPr>
        <p:spPr>
          <a:xfrm>
            <a:off x="8503920" y="4754880"/>
            <a:ext cx="365760" cy="365760"/>
          </a:xfrm>
          <a:prstGeom prst="ellipse">
            <a:avLst/>
          </a:prstGeom>
          <a:solidFill>
            <a:srgbClr val="3182CE"/>
          </a:solidFill>
          <a:ln/>
        </p:spPr>
      </p:sp>
      <p:sp>
        <p:nvSpPr>
          <p:cNvPr id="22" name="Text 20"/>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Conclusion et Résultats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Shape 2"/>
          <p:cNvSpPr/>
          <p:nvPr/>
        </p:nvSpPr>
        <p:spPr>
          <a:xfrm>
            <a:off x="457200" y="1097280"/>
            <a:ext cx="2560320" cy="1097280"/>
          </a:xfrm>
          <a:prstGeom prst="roundRect">
            <a:avLst>
              <a:gd name="adj" fmla="val 8333"/>
            </a:avLst>
          </a:prstGeom>
          <a:solidFill>
            <a:srgbClr val="FFFFFF"/>
          </a:solidFill>
          <a:ln w="25400">
            <a:solidFill>
              <a:srgbClr val="E2E8F0"/>
            </a:solidFill>
            <a:prstDash val="solid"/>
          </a:ln>
        </p:spPr>
      </p:sp>
      <p:sp>
        <p:nvSpPr>
          <p:cNvPr id="5" name="Text 3"/>
          <p:cNvSpPr/>
          <p:nvPr/>
        </p:nvSpPr>
        <p:spPr>
          <a:xfrm>
            <a:off x="457200" y="1143000"/>
            <a:ext cx="2560320" cy="457200"/>
          </a:xfrm>
          <a:prstGeom prst="rect">
            <a:avLst/>
          </a:prstGeom>
          <a:noFill/>
          <a:ln/>
        </p:spPr>
        <p:txBody>
          <a:bodyPr wrap="square" rtlCol="0" anchor="ctr"/>
          <a:lstStyle/>
          <a:p>
            <a:pPr algn="ctr" indent="0" marL="0">
              <a:buNone/>
            </a:pPr>
            <a:r>
              <a:rPr lang="en-US" sz="3200" b="1" dirty="0">
                <a:solidFill>
                  <a:srgbClr val="10B981"/>
                </a:solidFill>
                <a:latin typeface="Arial" pitchFamily="34" charset="0"/>
                <a:ea typeface="Arial" pitchFamily="34" charset="-122"/>
                <a:cs typeface="Arial" pitchFamily="34" charset="-120"/>
              </a:rPr>
              <a:t>-99%</a:t>
            </a:r>
            <a:endParaRPr lang="en-US" sz="3200" dirty="0"/>
          </a:p>
        </p:txBody>
      </p:sp>
      <p:sp>
        <p:nvSpPr>
          <p:cNvPr id="6" name="Text 4"/>
          <p:cNvSpPr/>
          <p:nvPr/>
        </p:nvSpPr>
        <p:spPr>
          <a:xfrm>
            <a:off x="457200" y="1645920"/>
            <a:ext cx="2560320" cy="228600"/>
          </a:xfrm>
          <a:prstGeom prst="rect">
            <a:avLst/>
          </a:prstGeom>
          <a:noFill/>
          <a:ln/>
        </p:spPr>
        <p:txBody>
          <a:bodyPr wrap="square" rtlCol="0" anchor="ctr"/>
          <a:lstStyle/>
          <a:p>
            <a:pPr algn="ctr" indent="0" marL="0">
              <a:buNone/>
            </a:pPr>
            <a:r>
              <a:rPr lang="en-US" sz="1400" b="1" dirty="0">
                <a:solidFill>
                  <a:srgbClr val="2C5282"/>
                </a:solidFill>
                <a:latin typeface="Arial" pitchFamily="34" charset="0"/>
                <a:ea typeface="Arial" pitchFamily="34" charset="-122"/>
                <a:cs typeface="Arial" pitchFamily="34" charset="-120"/>
              </a:rPr>
              <a:t>Temps de réponse</a:t>
            </a:r>
            <a:endParaRPr lang="en-US" sz="1400" dirty="0"/>
          </a:p>
        </p:txBody>
      </p:sp>
      <p:sp>
        <p:nvSpPr>
          <p:cNvPr id="7" name="Text 5"/>
          <p:cNvSpPr/>
          <p:nvPr/>
        </p:nvSpPr>
        <p:spPr>
          <a:xfrm>
            <a:off x="45720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en moyenne</a:t>
            </a:r>
            <a:endParaRPr lang="en-US" sz="1200" dirty="0"/>
          </a:p>
        </p:txBody>
      </p:sp>
      <p:sp>
        <p:nvSpPr>
          <p:cNvPr id="8" name="Shape 6"/>
          <p:cNvSpPr/>
          <p:nvPr/>
        </p:nvSpPr>
        <p:spPr>
          <a:xfrm>
            <a:off x="3291840" y="1097280"/>
            <a:ext cx="2560320" cy="1097280"/>
          </a:xfrm>
          <a:prstGeom prst="roundRect">
            <a:avLst>
              <a:gd name="adj" fmla="val 8333"/>
            </a:avLst>
          </a:prstGeom>
          <a:solidFill>
            <a:srgbClr val="FFFFFF"/>
          </a:solidFill>
          <a:ln w="25400">
            <a:solidFill>
              <a:srgbClr val="E2E8F0"/>
            </a:solidFill>
            <a:prstDash val="solid"/>
          </a:ln>
        </p:spPr>
      </p:sp>
      <p:sp>
        <p:nvSpPr>
          <p:cNvPr id="9" name="Text 7"/>
          <p:cNvSpPr/>
          <p:nvPr/>
        </p:nvSpPr>
        <p:spPr>
          <a:xfrm>
            <a:off x="3291840" y="1143000"/>
            <a:ext cx="2560320" cy="457200"/>
          </a:xfrm>
          <a:prstGeom prst="rect">
            <a:avLst/>
          </a:prstGeom>
          <a:noFill/>
          <a:ln/>
        </p:spPr>
        <p:txBody>
          <a:bodyPr wrap="square" rtlCol="0" anchor="ctr"/>
          <a:lstStyle/>
          <a:p>
            <a:pPr algn="ctr" indent="0" marL="0">
              <a:buNone/>
            </a:pPr>
            <a:r>
              <a:rPr lang="en-US" sz="3200" b="1" dirty="0">
                <a:solidFill>
                  <a:srgbClr val="10B981"/>
                </a:solidFill>
                <a:latin typeface="Arial" pitchFamily="34" charset="0"/>
                <a:ea typeface="Arial" pitchFamily="34" charset="-122"/>
                <a:cs typeface="Arial" pitchFamily="34" charset="-120"/>
              </a:rPr>
              <a:t>-85%</a:t>
            </a:r>
            <a:endParaRPr lang="en-US" sz="3200" dirty="0"/>
          </a:p>
        </p:txBody>
      </p:sp>
      <p:sp>
        <p:nvSpPr>
          <p:cNvPr id="10" name="Text 8"/>
          <p:cNvSpPr/>
          <p:nvPr/>
        </p:nvSpPr>
        <p:spPr>
          <a:xfrm>
            <a:off x="3291840" y="1645920"/>
            <a:ext cx="2560320" cy="228600"/>
          </a:xfrm>
          <a:prstGeom prst="rect">
            <a:avLst/>
          </a:prstGeom>
          <a:noFill/>
          <a:ln/>
        </p:spPr>
        <p:txBody>
          <a:bodyPr wrap="square" rtlCol="0" anchor="ctr"/>
          <a:lstStyle/>
          <a:p>
            <a:pPr algn="ctr" indent="0" marL="0">
              <a:buNone/>
            </a:pPr>
            <a:r>
              <a:rPr lang="en-US" sz="1400" b="1" dirty="0">
                <a:solidFill>
                  <a:srgbClr val="2C5282"/>
                </a:solidFill>
                <a:latin typeface="Arial" pitchFamily="34" charset="0"/>
                <a:ea typeface="Arial" pitchFamily="34" charset="-122"/>
                <a:cs typeface="Arial" pitchFamily="34" charset="-120"/>
              </a:rPr>
              <a:t>Charge DB</a:t>
            </a:r>
            <a:endParaRPr lang="en-US" sz="1400" dirty="0"/>
          </a:p>
        </p:txBody>
      </p:sp>
      <p:sp>
        <p:nvSpPr>
          <p:cNvPr id="11" name="Text 9"/>
          <p:cNvSpPr/>
          <p:nvPr/>
        </p:nvSpPr>
        <p:spPr>
          <a:xfrm>
            <a:off x="329184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requêtes réduites</a:t>
            </a:r>
            <a:endParaRPr lang="en-US" sz="1200" dirty="0"/>
          </a:p>
        </p:txBody>
      </p:sp>
      <p:sp>
        <p:nvSpPr>
          <p:cNvPr id="12" name="Shape 10"/>
          <p:cNvSpPr/>
          <p:nvPr/>
        </p:nvSpPr>
        <p:spPr>
          <a:xfrm>
            <a:off x="6126480" y="1097280"/>
            <a:ext cx="2560320" cy="1097280"/>
          </a:xfrm>
          <a:prstGeom prst="roundRect">
            <a:avLst>
              <a:gd name="adj" fmla="val 8333"/>
            </a:avLst>
          </a:prstGeom>
          <a:solidFill>
            <a:srgbClr val="FFFFFF"/>
          </a:solidFill>
          <a:ln w="25400">
            <a:solidFill>
              <a:srgbClr val="E2E8F0"/>
            </a:solidFill>
            <a:prstDash val="solid"/>
          </a:ln>
        </p:spPr>
      </p:sp>
      <p:sp>
        <p:nvSpPr>
          <p:cNvPr id="13" name="Text 11"/>
          <p:cNvSpPr/>
          <p:nvPr/>
        </p:nvSpPr>
        <p:spPr>
          <a:xfrm>
            <a:off x="6126480" y="1143000"/>
            <a:ext cx="2560320" cy="457200"/>
          </a:xfrm>
          <a:prstGeom prst="rect">
            <a:avLst/>
          </a:prstGeom>
          <a:noFill/>
          <a:ln/>
        </p:spPr>
        <p:txBody>
          <a:bodyPr wrap="square" rtlCol="0" anchor="ctr"/>
          <a:lstStyle/>
          <a:p>
            <a:pPr algn="ctr" indent="0" marL="0">
              <a:buNone/>
            </a:pPr>
            <a:r>
              <a:rPr lang="en-US" sz="3200" b="1" dirty="0">
                <a:solidFill>
                  <a:srgbClr val="10B981"/>
                </a:solidFill>
                <a:latin typeface="Arial" pitchFamily="34" charset="0"/>
                <a:ea typeface="Arial" pitchFamily="34" charset="-122"/>
                <a:cs typeface="Arial" pitchFamily="34" charset="-120"/>
              </a:rPr>
              <a:t>100%</a:t>
            </a:r>
            <a:endParaRPr lang="en-US" sz="3200" dirty="0"/>
          </a:p>
        </p:txBody>
      </p:sp>
      <p:sp>
        <p:nvSpPr>
          <p:cNvPr id="14" name="Text 12"/>
          <p:cNvSpPr/>
          <p:nvPr/>
        </p:nvSpPr>
        <p:spPr>
          <a:xfrm>
            <a:off x="6126480" y="1645920"/>
            <a:ext cx="2560320" cy="228600"/>
          </a:xfrm>
          <a:prstGeom prst="rect">
            <a:avLst/>
          </a:prstGeom>
          <a:noFill/>
          <a:ln/>
        </p:spPr>
        <p:txBody>
          <a:bodyPr wrap="square" rtlCol="0" anchor="ctr"/>
          <a:lstStyle/>
          <a:p>
            <a:pPr algn="ctr" indent="0" marL="0">
              <a:buNone/>
            </a:pPr>
            <a:r>
              <a:rPr lang="en-US" sz="1400" b="1" dirty="0">
                <a:solidFill>
                  <a:srgbClr val="2C5282"/>
                </a:solidFill>
                <a:latin typeface="Arial" pitchFamily="34" charset="0"/>
                <a:ea typeface="Arial" pitchFamily="34" charset="-122"/>
                <a:cs typeface="Arial" pitchFamily="34" charset="-120"/>
              </a:rPr>
              <a:t>Tests</a:t>
            </a:r>
            <a:endParaRPr lang="en-US" sz="1400" dirty="0"/>
          </a:p>
        </p:txBody>
      </p:sp>
      <p:sp>
        <p:nvSpPr>
          <p:cNvPr id="15" name="Text 13"/>
          <p:cNvSpPr/>
          <p:nvPr/>
        </p:nvSpPr>
        <p:spPr>
          <a:xfrm>
            <a:off x="6126480" y="1874520"/>
            <a:ext cx="2560320" cy="228600"/>
          </a:xfrm>
          <a:prstGeom prst="rect">
            <a:avLst/>
          </a:prstGeom>
          <a:noFill/>
          <a:ln/>
        </p:spPr>
        <p:txBody>
          <a:bodyPr wrap="square" rtlCol="0" anchor="ctr"/>
          <a:lstStyle/>
          <a:p>
            <a:pPr algn="ctr" indent="0" marL="0">
              <a:buNone/>
            </a:pPr>
            <a:r>
              <a:rPr lang="en-US" sz="1200" dirty="0">
                <a:solidFill>
                  <a:srgbClr val="2C5282"/>
                </a:solidFill>
                <a:latin typeface="Arial" pitchFamily="34" charset="0"/>
                <a:ea typeface="Arial" pitchFamily="34" charset="-122"/>
                <a:cs typeface="Arial" pitchFamily="34" charset="-120"/>
              </a:rPr>
              <a:t>tous passent</a:t>
            </a:r>
            <a:endParaRPr lang="en-US" sz="1200" dirty="0"/>
          </a:p>
        </p:txBody>
      </p:sp>
      <p:sp>
        <p:nvSpPr>
          <p:cNvPr id="16" name="Text 14"/>
          <p:cNvSpPr/>
          <p:nvPr/>
        </p:nvSpPr>
        <p:spPr>
          <a:xfrm>
            <a:off x="457200" y="2194560"/>
            <a:ext cx="8229600" cy="210312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En conclusion, tous les objectifs ont été atteints. Le temps de réponse moyen a été réduit de quatre-vingt-dix-neuf pour cent. La charge sur PostgreSQL a diminué de quatre-vingt-cinq pour cent grâce à la redirection des requêtes vers Redis. Les huit tests unitaires passent tous. L'intégration du cache distribué avec Redis et Docker Compose a amélioré significativement les performances tout en maintenant la cohérence des données.</a:t>
            </a:r>
            <a:endParaRPr lang="en-US" sz="1600" dirty="0"/>
          </a:p>
        </p:txBody>
      </p:sp>
      <p:sp>
        <p:nvSpPr>
          <p:cNvPr id="17" name="Shape 15"/>
          <p:cNvSpPr/>
          <p:nvPr/>
        </p:nvSpPr>
        <p:spPr>
          <a:xfrm>
            <a:off x="8503920" y="4754880"/>
            <a:ext cx="365760" cy="365760"/>
          </a:xfrm>
          <a:prstGeom prst="ellipse">
            <a:avLst/>
          </a:prstGeom>
          <a:solidFill>
            <a:srgbClr val="3182CE"/>
          </a:solidFill>
          <a:ln/>
        </p:spPr>
      </p:sp>
      <p:sp>
        <p:nvSpPr>
          <p:cNvPr id="18" name="Text 16"/>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Bonnes Pratiques de Cache</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Text 2"/>
          <p:cNvSpPr/>
          <p:nvPr/>
        </p:nvSpPr>
        <p:spPr>
          <a:xfrm>
            <a:off x="457200" y="914400"/>
            <a:ext cx="8229600" cy="347472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Tout au long de ce projet, nous avons appliqué plusieurs bonnes pratiques. Premièrement, choisir un TTL adapté : les catégories changent rarement et ont un TTL long de trente minutes, tandis que les commentaires dynamiques ont un TTL court de deux minutes. Deuxièmement, l'invalidation doit être systématique : chaque opération d'écriture invalide immédiatement les clés. Troisièmement, un préfixe comme saas: évite les collisions. Quatrièmement, les tests unitaires valident le comportement. Enfin, le monitoring permet de suivre l'utilisation du cache.</a:t>
            </a:r>
            <a:endParaRPr lang="en-US" sz="1600" dirty="0"/>
          </a:p>
        </p:txBody>
      </p:sp>
      <p:sp>
        <p:nvSpPr>
          <p:cNvPr id="5" name="Shape 3"/>
          <p:cNvSpPr/>
          <p:nvPr/>
        </p:nvSpPr>
        <p:spPr>
          <a:xfrm>
            <a:off x="8503920" y="4754880"/>
            <a:ext cx="365760" cy="365760"/>
          </a:xfrm>
          <a:prstGeom prst="ellipse">
            <a:avLst/>
          </a:prstGeom>
          <a:solidFill>
            <a:srgbClr val="3182CE"/>
          </a:solidFill>
          <a:ln/>
        </p:spPr>
      </p:sp>
      <p:sp>
        <p:nvSpPr>
          <p:cNvPr id="6" name="Text 4"/>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rtlCol="0" anchor="ctr"/>
          <a:lstStyle/>
          <a:p>
            <a:pPr algn="l" indent="0" marL="0">
              <a:buNone/>
            </a:pPr>
            <a:r>
              <a:rPr lang="en-US" sz="2800" b="1" dirty="0">
                <a:solidFill>
                  <a:srgbClr val="1E3A5F"/>
                </a:solidFill>
                <a:latin typeface="Arial" pitchFamily="34" charset="0"/>
                <a:ea typeface="Arial" pitchFamily="34" charset="-122"/>
                <a:cs typeface="Arial" pitchFamily="34" charset="-120"/>
              </a:rPr>
              <a:t>Perspectives et Améliorations Futures</a:t>
            </a:r>
            <a:endParaRPr lang="en-US" sz="2800" dirty="0"/>
          </a:p>
        </p:txBody>
      </p:sp>
      <p:sp>
        <p:nvSpPr>
          <p:cNvPr id="3" name="Shape 1"/>
          <p:cNvSpPr/>
          <p:nvPr/>
        </p:nvSpPr>
        <p:spPr>
          <a:xfrm>
            <a:off x="457200" y="731520"/>
            <a:ext cx="1371600" cy="45720"/>
          </a:xfrm>
          <a:prstGeom prst="rect">
            <a:avLst/>
          </a:prstGeom>
          <a:solidFill>
            <a:srgbClr val="3182CE"/>
          </a:solidFill>
          <a:ln/>
        </p:spPr>
      </p:sp>
      <p:sp>
        <p:nvSpPr>
          <p:cNvPr id="4" name="Text 2"/>
          <p:cNvSpPr/>
          <p:nvPr/>
        </p:nvSpPr>
        <p:spPr>
          <a:xfrm>
            <a:off x="457200" y="914400"/>
            <a:ext cx="8229600" cy="32004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Plusieurs pistes d'amélioration sont envisageables. Premièrement, un cluster Redis avec réplication garantirait la haute disponibilité et la tolérance aux pannes en production. Deuxièmement, un cache LRU local côté application complémenterait Redis et réduirait encore la latence. Troisièmement, un système de cache warming préchargerait automatiquement les données populaires au démarrage. Quatrièmement, Redis Streams permettrait une invalidation en temps réel entre plusieurs instances en cas de déploiement multi-serveur. Enfin, un dashboard de monitoring visualiserait les taux de hit et miss, l'occupation mémoire et les performances globales en temps réel.</a:t>
            </a:r>
            <a:endParaRPr lang="en-US" sz="1600" dirty="0"/>
          </a:p>
        </p:txBody>
      </p:sp>
      <p:sp>
        <p:nvSpPr>
          <p:cNvPr id="5" name="Shape 3"/>
          <p:cNvSpPr/>
          <p:nvPr/>
        </p:nvSpPr>
        <p:spPr>
          <a:xfrm>
            <a:off x="8503920" y="4754880"/>
            <a:ext cx="365760" cy="365760"/>
          </a:xfrm>
          <a:prstGeom prst="ellipse">
            <a:avLst/>
          </a:prstGeom>
          <a:solidFill>
            <a:srgbClr val="3182CE"/>
          </a:solidFill>
          <a:ln/>
        </p:spPr>
      </p:sp>
      <p:sp>
        <p:nvSpPr>
          <p:cNvPr id="6" name="Text 4"/>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365760"/>
            <a:ext cx="8229600" cy="731520"/>
          </a:xfrm>
          <a:prstGeom prst="rect">
            <a:avLst/>
          </a:prstGeom>
          <a:noFill/>
          <a:ln/>
        </p:spPr>
        <p:txBody>
          <a:bodyPr wrap="square" rtlCol="0" anchor="ctr"/>
          <a:lstStyle/>
          <a:p>
            <a:pPr algn="ctr" indent="0" marL="0">
              <a:buNone/>
            </a:pPr>
            <a:r>
              <a:rPr lang="en-US" sz="3600" b="1" dirty="0">
                <a:solidFill>
                  <a:srgbClr val="1E3A5F"/>
                </a:solidFill>
                <a:latin typeface="Arial" pitchFamily="34" charset="0"/>
                <a:ea typeface="Arial" pitchFamily="34" charset="-122"/>
                <a:cs typeface="Arial" pitchFamily="34" charset="-120"/>
              </a:rPr>
              <a:t>Merci de votre attention</a:t>
            </a:r>
            <a:endParaRPr lang="en-US" sz="3600" dirty="0"/>
          </a:p>
        </p:txBody>
      </p:sp>
      <p:sp>
        <p:nvSpPr>
          <p:cNvPr id="3" name="Shape 1"/>
          <p:cNvSpPr/>
          <p:nvPr/>
        </p:nvSpPr>
        <p:spPr>
          <a:xfrm>
            <a:off x="3657600" y="1097280"/>
            <a:ext cx="1828800" cy="45720"/>
          </a:xfrm>
          <a:prstGeom prst="rect">
            <a:avLst/>
          </a:prstGeom>
          <a:solidFill>
            <a:srgbClr val="3182CE"/>
          </a:solidFill>
          <a:ln/>
        </p:spPr>
      </p:sp>
      <p:sp>
        <p:nvSpPr>
          <p:cNvPr id="4" name="Text 2"/>
          <p:cNvSpPr/>
          <p:nvPr/>
        </p:nvSpPr>
        <p:spPr>
          <a:xfrm>
            <a:off x="457200" y="1371600"/>
            <a:ext cx="8229600" cy="457200"/>
          </a:xfrm>
          <a:prstGeom prst="rect">
            <a:avLst/>
          </a:prstGeom>
          <a:noFill/>
          <a:ln/>
        </p:spPr>
        <p:txBody>
          <a:bodyPr wrap="square" rtlCol="0" anchor="ctr"/>
          <a:lstStyle/>
          <a:p>
            <a:pPr algn="ctr" indent="0" marL="0">
              <a:buNone/>
            </a:pPr>
            <a:r>
              <a:rPr lang="en-US" sz="2400" dirty="0">
                <a:solidFill>
                  <a:srgbClr val="2C5282"/>
                </a:solidFill>
                <a:latin typeface="Arial" pitchFamily="34" charset="0"/>
                <a:ea typeface="Arial" pitchFamily="34" charset="-122"/>
                <a:cs typeface="Arial" pitchFamily="34" charset="-120"/>
              </a:rPr>
              <a:t>Questions &amp; Discussion</a:t>
            </a:r>
            <a:endParaRPr lang="en-US" sz="2400" dirty="0"/>
          </a:p>
        </p:txBody>
      </p:sp>
      <p:sp>
        <p:nvSpPr>
          <p:cNvPr id="5" name="Shape 3"/>
          <p:cNvSpPr/>
          <p:nvPr/>
        </p:nvSpPr>
        <p:spPr>
          <a:xfrm>
            <a:off x="2286000" y="2103120"/>
            <a:ext cx="4572000" cy="1097280"/>
          </a:xfrm>
          <a:prstGeom prst="roundRect">
            <a:avLst>
              <a:gd name="adj" fmla="val 8333"/>
            </a:avLst>
          </a:prstGeom>
          <a:solidFill>
            <a:srgbClr val="FFFFFF"/>
          </a:solidFill>
          <a:ln w="25400">
            <a:solidFill>
              <a:srgbClr val="E2E8F0"/>
            </a:solidFill>
            <a:prstDash val="solid"/>
          </a:ln>
        </p:spPr>
      </p:sp>
      <p:sp>
        <p:nvSpPr>
          <p:cNvPr id="6" name="Text 4"/>
          <p:cNvSpPr/>
          <p:nvPr/>
        </p:nvSpPr>
        <p:spPr>
          <a:xfrm>
            <a:off x="2286000" y="2148840"/>
            <a:ext cx="4572000" cy="274320"/>
          </a:xfrm>
          <a:prstGeom prst="rect">
            <a:avLst/>
          </a:prstGeom>
          <a:noFill/>
          <a:ln/>
        </p:spPr>
        <p:txBody>
          <a:bodyPr wrap="square" rtlCol="0" anchor="ctr"/>
          <a:lstStyle/>
          <a:p>
            <a:pPr algn="ctr" indent="0" marL="0">
              <a:buNone/>
            </a:pPr>
            <a:r>
              <a:rPr lang="en-US" sz="1400" dirty="0">
                <a:solidFill>
                  <a:srgbClr val="2C5282"/>
                </a:solidFill>
                <a:latin typeface="Arial" pitchFamily="34" charset="0"/>
                <a:ea typeface="Arial" pitchFamily="34" charset="-122"/>
                <a:cs typeface="Arial" pitchFamily="34" charset="-120"/>
              </a:rPr>
              <a:t>Présenté par</a:t>
            </a:r>
            <a:endParaRPr lang="en-US" sz="1400" dirty="0"/>
          </a:p>
        </p:txBody>
      </p:sp>
      <p:sp>
        <p:nvSpPr>
          <p:cNvPr id="7" name="Text 5"/>
          <p:cNvSpPr/>
          <p:nvPr/>
        </p:nvSpPr>
        <p:spPr>
          <a:xfrm>
            <a:off x="2286000" y="2423160"/>
            <a:ext cx="4572000" cy="320040"/>
          </a:xfrm>
          <a:prstGeom prst="rect">
            <a:avLst/>
          </a:prstGeom>
          <a:noFill/>
          <a:ln/>
        </p:spPr>
        <p:txBody>
          <a:bodyPr wrap="square" rtlCol="0" anchor="ctr"/>
          <a:lstStyle/>
          <a:p>
            <a:pPr algn="ctr" indent="0" marL="0">
              <a:buNone/>
            </a:pPr>
            <a:r>
              <a:rPr lang="en-US" sz="2000" b="1" dirty="0">
                <a:solidFill>
                  <a:srgbClr val="1E3A5F"/>
                </a:solidFill>
                <a:latin typeface="Arial" pitchFamily="34" charset="0"/>
                <a:ea typeface="Arial" pitchFamily="34" charset="-122"/>
                <a:cs typeface="Arial" pitchFamily="34" charset="-120"/>
              </a:rPr>
              <a:t>Omar Sarsar · Iliass Hariz</a:t>
            </a:r>
            <a:endParaRPr lang="en-US" sz="2000" dirty="0"/>
          </a:p>
        </p:txBody>
      </p:sp>
      <p:sp>
        <p:nvSpPr>
          <p:cNvPr id="8" name="Text 6"/>
          <p:cNvSpPr/>
          <p:nvPr/>
        </p:nvSpPr>
        <p:spPr>
          <a:xfrm>
            <a:off x="2286000" y="2743200"/>
            <a:ext cx="4572000" cy="274320"/>
          </a:xfrm>
          <a:prstGeom prst="rect">
            <a:avLst/>
          </a:prstGeom>
          <a:noFill/>
          <a:ln/>
        </p:spPr>
        <p:txBody>
          <a:bodyPr wrap="square" rtlCol="0" anchor="ctr"/>
          <a:lstStyle/>
          <a:p>
            <a:pPr algn="ctr" indent="0" marL="0">
              <a:buNone/>
            </a:pPr>
            <a:r>
              <a:rPr lang="en-US" sz="1600" dirty="0">
                <a:solidFill>
                  <a:srgbClr val="2C5282"/>
                </a:solidFill>
                <a:latin typeface="Arial" pitchFamily="34" charset="0"/>
                <a:ea typeface="Arial" pitchFamily="34" charset="-122"/>
                <a:cs typeface="Arial" pitchFamily="34" charset="-120"/>
              </a:rPr>
              <a:t>2026</a:t>
            </a:r>
            <a:endParaRPr lang="en-US" sz="1600" dirty="0"/>
          </a:p>
        </p:txBody>
      </p:sp>
      <p:sp>
        <p:nvSpPr>
          <p:cNvPr id="9" name="Text 7"/>
          <p:cNvSpPr/>
          <p:nvPr/>
        </p:nvSpPr>
        <p:spPr>
          <a:xfrm>
            <a:off x="457200" y="3383280"/>
            <a:ext cx="8229600" cy="1371600"/>
          </a:xfrm>
          <a:prstGeom prst="rect">
            <a:avLst/>
          </a:prstGeom>
          <a:noFill/>
          <a:ln/>
        </p:spPr>
        <p:txBody>
          <a:bodyPr wrap="square" rtlCol="0" anchor="t"/>
          <a:lstStyle/>
          <a:p>
            <a:pPr algn="l" indent="0" marL="0">
              <a:buNone/>
            </a:pPr>
            <a:r>
              <a:rPr lang="en-US" sz="1600" dirty="0">
                <a:solidFill>
                  <a:srgbClr val="2C5282"/>
                </a:solidFill>
                <a:latin typeface="Arial" pitchFamily="34" charset="0"/>
                <a:ea typeface="Arial" pitchFamily="34" charset="-122"/>
                <a:cs typeface="Arial" pitchFamily="34" charset="-120"/>
              </a:rPr>
              <a:t>Nous vous remercions pour votre attention. Ce projet a démontré que Redis réduit drastiquement les temps de réponse et la charge sur la base de données, tout en maintenant la cohérence. Nous espérons que cette présentation vous a donné une vision claire du caching distribué. N'hésitez pas à poser vos questions.</a:t>
            </a:r>
            <a:endParaRPr lang="en-US" sz="1600" dirty="0"/>
          </a:p>
        </p:txBody>
      </p:sp>
      <p:sp>
        <p:nvSpPr>
          <p:cNvPr id="10" name="Shape 8"/>
          <p:cNvSpPr/>
          <p:nvPr/>
        </p:nvSpPr>
        <p:spPr>
          <a:xfrm>
            <a:off x="8503920" y="4754880"/>
            <a:ext cx="365760" cy="365760"/>
          </a:xfrm>
          <a:prstGeom prst="ellipse">
            <a:avLst/>
          </a:prstGeom>
          <a:solidFill>
            <a:srgbClr val="3182CE"/>
          </a:solidFill>
          <a:ln/>
        </p:spPr>
      </p:sp>
      <p:sp>
        <p:nvSpPr>
          <p:cNvPr id="11" name="Text 9"/>
          <p:cNvSpPr/>
          <p:nvPr/>
        </p:nvSpPr>
        <p:spPr>
          <a:xfrm>
            <a:off x="8503920" y="4754880"/>
            <a:ext cx="36576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2026-05-21T00:15:26Z</dcterms:created>
  <dcterms:modified xsi:type="dcterms:W3CDTF">2026-05-21T00:15:26Z</dcterms:modified>
</cp:coreProperties>
</file>