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suis Omar Sarsar et je suis accompagné d'Iliass Hariz. Nous allons présenter notre projet d'intégration d'un cache distribué Redis dans une application marketplace SaaS. Ce projet a été réalisé dans le cadre de notre formation. Nous allons décrire le contexte, l'architecture, l'implémentation, les tests et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intègre un cache distribué Redis dans une application marketplace SaaS. Cette application permet aux utilisateurs de lancer et vendre des produits logiciels avec un système de messagerie. L'augmentation du nombre d'utilisateurs a causé des ralentissements sur les pages affichant les listes de produits. L'objectif est d'améliorer les performances en vérifiant le cache avant PostgreSQL, ce qui réduit le temps de réponse et la charge sur la base de données tout en maintenant la cohérence via une stratégie d'invalidation. Pour atteindre cet objectif, nous avons déployé Redis avec Docker Compose, modifié l'application pour utiliser le cache en lecture et écriture, puis mesuré l'amélioration des performances.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architecture utilise le pattern Cache-Aside, aussi appele Lazy Loading. Quand l'application Next.js recoit une requete, elle verifie d'abord si les donnees sont disponibles dans le cache Redis. Si elles y sont, l'application les retourne immediatement sans interroger la base de donnees. Si les donnees ne sont pas dans le cache, l'application les recupere depuis PostgreSQL, les stocke dans Redis avec un temps de vie defini, puis les retourne au client. Cette approche permet de servir les requetes frequentes directement depuis la memoire, ce qui est beaucoup plus rapide que d'interroger la base de donnees a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L'infrastructure de notre projet est entierement containerisee avec Docker Compose. Nous utilisons PostgreSQL version 16 sur Alpine comme base de donnees principale, Redis version 7 sur Alpine comme serveur de cache distribue en memoire, et notre application Next.js est construite a partir d'un Dockerfile personnalise. La configuration Redis inclut un volume persistant pour les donnees nomme redis_data, un healthcheck integre pour surveiller l'etat du service, et une connexion via la variable d'environnement REDIS_URL. Le demarrage automatique est gere par Docker Compose, ce qui facilite grandement le deploiement et la maintenance de l'infrastructure.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couche d'abstraction du cache est le coeur de notre solution. Elle se trouve dans le fichier src/lib/cache.ts et fournit une interface simple et reutilisable pour interagir avec Redis. La fonction cacheGet permet de recuperer des donnees en specifiant le type generique T pour le typage TypeScript. Elle recupere la valeur depuis Redis et la parse depuis JSON. La fonction cacheSet permet de stocker des donnees avec un temps de vie configurable, qui est de 300 secondes par defaut mais peut etre ajuste selon les besoins. Cette abstraction cache toute la complexite de la connexion Redis et de la serialisation JSON, ce qui rend l'integration tres simple dans le reste de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L'integration du cache dans les actions de l'application suit le pattern Cache-Aside que nous avons vu precedemment. Concretement, quand une action est appelee comme getLaunches ou getPosts, elle genere d'abord une cle de cache unique basee sur les parametres de la requete. Ensuite, elle verifie si des donnees sont deja presentes dans Redis avec cette cle. Si c'est le cas, elles sont retournees immediatement. Sinon, l'action interroge la base de donnees PostgreSQL, stocke les resultats dans Redis avec un TTL approprie, puis les retourne. Cette logique est appliquee de maniere coherente sur toutes les operations de lecture frequentes.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 Iliass Hariz prend la suite. La strategie d'invalidation du cache est essentielle pour maintenir la coherence des donnees. Chaque fois qu'une operation d'ecriture est effectuee comme la creation, la mise a jour, la suppression ou l'upvote d'un lancement, le cache est invalide immediatement. La fonction invalidateCache supprime les cles correspondantes de Redis pour forcer les relectures ulterieures a aller chercher les donnees dans la base de donnees. Nous utilisons egalement le TTL comme mecanisme d'expiration automatique. Les cles de cache sont normalisees avec un prefixe saas: pour eviter les collisions et faciliter la 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resultats des tests unitaires sont tres satisfaisants. Les huit tests ecrits passent tous avec succes, soit cent pour cent de reussite. Ces tests couvrent les operations de base comme cacheGet et cacheSet, l'invalidation avec invalidateCache, le comportement du TTL avec les expirations automatiques, et des cas limites comme la gestion des donnees null ou undefined. La couverture est complete pour les fonctions principales de la couche d'abstraction. Ces resultats nous donnent confiance dans la fiabilite du cache et nous permettent d'evoluer en toute securite. Les tests sont executes automatiquement dans la pipeline d'integration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mesures de performance montrent des resultats impressionnants. Avec le cache Redis, le temps de reponse moyen est de douze millisecondes contre huit cent cinquante-six millisecondes sans cache, soit quatre-vingt-dix-neuf pour cent d'amelioration. Les requetes getLaunches, les plus frequentes sur la page d'accueil, passent de plusieurs centaines de millisecondes a moins de quinze millisecondes. L'operation getPosts pour le feed passe de six cent quarante-trois a quinze millisecondes. getLaunchBySlug pour la page detaillee d'un produit passe de deux cent trente-quatre a huit millisecondes. Enfin, getCategories, qui change rarement, passe de cent quatre-vingt-neuf a cinq millisecondes. Ces resultats demontrent l'efficacite du cache Redis sur tous les types de requetes.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vous remercions pour votre attention. Ce projet a demontre que Redis peut reduire drastiquement les temps de reponse et la charge sur la base de donnees, tout en maintenant la coherence des donnees grace a une strategie d'invalidation appropriee. Nous esperons que cette presentation vous a donne une vision claire des avantages et des bonnes pratiques du caching distribue. N'hesitez pas a nous poser des questions sur les aspects techniques, les performances ou les ameliorations futures envisagees.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731520"/>
            <a:ext cx="8229600" cy="914400"/>
          </a:xfrm>
          <a:prstGeom prst="rect">
            <a:avLst/>
          </a:prstGeom>
          <a:noFill/>
          <a:ln/>
        </p:spPr>
        <p:txBody>
          <a:bodyPr wrap="square"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Projet 11</a:t>
            </a:r>
            <a:endParaRPr lang="en-US" sz="4800" dirty="0"/>
          </a:p>
        </p:txBody>
      </p:sp>
      <p:sp>
        <p:nvSpPr>
          <p:cNvPr id="3" name="Text 1"/>
          <p:cNvSpPr/>
          <p:nvPr/>
        </p:nvSpPr>
        <p:spPr>
          <a:xfrm>
            <a:off x="457200" y="1645920"/>
            <a:ext cx="8229600" cy="548640"/>
          </a:xfrm>
          <a:prstGeom prst="rect">
            <a:avLst/>
          </a:prstGeom>
          <a:noFill/>
          <a:ln/>
        </p:spPr>
        <p:txBody>
          <a:bodyPr wrap="square" rtlCol="0" anchor="ctr"/>
          <a:lstStyle/>
          <a:p>
            <a:pPr algn="ctr" indent="0" marL="0">
              <a:buNone/>
            </a:pPr>
            <a:r>
              <a:rPr lang="en-US" sz="2800" dirty="0">
                <a:solidFill>
                  <a:srgbClr val="63B3ED"/>
                </a:solidFill>
                <a:latin typeface="Arial" pitchFamily="34" charset="0"/>
                <a:ea typeface="Arial" pitchFamily="34" charset="-122"/>
                <a:cs typeface="Arial" pitchFamily="34" charset="-120"/>
              </a:rPr>
              <a:t>Cache Distribué avec Redis</a:t>
            </a:r>
            <a:endParaRPr lang="en-US" sz="2800" dirty="0"/>
          </a:p>
        </p:txBody>
      </p:sp>
      <p:sp>
        <p:nvSpPr>
          <p:cNvPr id="4" name="Text 2"/>
          <p:cNvSpPr/>
          <p:nvPr/>
        </p:nvSpPr>
        <p:spPr>
          <a:xfrm>
            <a:off x="457200" y="2560320"/>
            <a:ext cx="8229600" cy="36576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Omar Sarsar &amp; Iliass Hariz</a:t>
            </a:r>
            <a:endParaRPr lang="en-US" sz="2000" dirty="0"/>
          </a:p>
        </p:txBody>
      </p:sp>
      <p:sp>
        <p:nvSpPr>
          <p:cNvPr id="5" name="Text 3"/>
          <p:cNvSpPr/>
          <p:nvPr/>
        </p:nvSpPr>
        <p:spPr>
          <a:xfrm>
            <a:off x="457200" y="3017520"/>
            <a:ext cx="8229600" cy="274320"/>
          </a:xfrm>
          <a:prstGeom prst="rect">
            <a:avLst/>
          </a:prstGeom>
          <a:noFill/>
          <a:ln/>
        </p:spPr>
        <p:txBody>
          <a:bodyPr wrap="square" rtlCol="0" anchor="ctr"/>
          <a:lstStyle/>
          <a:p>
            <a:pPr algn="ctr" indent="0" marL="0">
              <a:buNone/>
            </a:pPr>
            <a:r>
              <a:rPr lang="en-US" sz="1600" dirty="0">
                <a:solidFill>
                  <a:srgbClr val="E2E8F0"/>
                </a:solidFill>
                <a:latin typeface="Arial" pitchFamily="34" charset="0"/>
                <a:ea typeface="Arial" pitchFamily="34" charset="-122"/>
                <a:cs typeface="Arial" pitchFamily="34" charset="-120"/>
              </a:rPr>
              <a:t>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Contexte et Objectifs</a:t>
            </a:r>
            <a:endParaRPr lang="en-US" sz="3200" dirty="0"/>
          </a:p>
        </p:txBody>
      </p:sp>
      <p:sp>
        <p:nvSpPr>
          <p:cNvPr id="3" name="Shape 1"/>
          <p:cNvSpPr/>
          <p:nvPr/>
        </p:nvSpPr>
        <p:spPr>
          <a:xfrm>
            <a:off x="457200" y="914400"/>
            <a:ext cx="1828800" cy="45720"/>
          </a:xfrm>
          <a:prstGeom prst="rect">
            <a:avLst/>
          </a:prstGeom>
          <a:solidFill>
            <a:srgbClr val="63B3ED"/>
          </a:solidFill>
          <a:ln/>
        </p:spPr>
      </p:sp>
      <p:sp>
        <p:nvSpPr>
          <p:cNvPr id="4" name="Text 2"/>
          <p:cNvSpPr/>
          <p:nvPr/>
        </p:nvSpPr>
        <p:spPr>
          <a:xfrm>
            <a:off x="640080" y="1188720"/>
            <a:ext cx="7863840" cy="457200"/>
          </a:xfrm>
          <a:prstGeom prst="rect">
            <a:avLst/>
          </a:prstGeom>
          <a:noFill/>
          <a:ln/>
        </p:spPr>
        <p:txBody>
          <a:bodyPr wrap="square" rtlCol="0" anchor="ctr"/>
          <a:lstStyle/>
          <a:p>
            <a:pPr algn="l" indent="0" marL="0">
              <a:buNone/>
            </a:pPr>
            <a:r>
              <a:rPr lang="en-US" sz="2200" dirty="0">
                <a:solidFill>
                  <a:srgbClr val="E2E8F0"/>
                </a:solidFill>
                <a:latin typeface="Arial" pitchFamily="34" charset="0"/>
                <a:ea typeface="Arial" pitchFamily="34" charset="-122"/>
                <a:cs typeface="Arial" pitchFamily="34" charset="-120"/>
              </a:rPr>
              <a:t>Application marketplace SaaS</a:t>
            </a:r>
            <a:endParaRPr lang="en-US" sz="2200" dirty="0"/>
          </a:p>
        </p:txBody>
      </p:sp>
      <p:sp>
        <p:nvSpPr>
          <p:cNvPr id="5" name="Text 3"/>
          <p:cNvSpPr/>
          <p:nvPr/>
        </p:nvSpPr>
        <p:spPr>
          <a:xfrm>
            <a:off x="640080" y="1737360"/>
            <a:ext cx="7863840" cy="457200"/>
          </a:xfrm>
          <a:prstGeom prst="rect">
            <a:avLst/>
          </a:prstGeom>
          <a:noFill/>
          <a:ln/>
        </p:spPr>
        <p:txBody>
          <a:bodyPr wrap="square" rtlCol="0" anchor="ctr"/>
          <a:lstStyle/>
          <a:p>
            <a:pPr algn="l" indent="0" marL="0">
              <a:buNone/>
            </a:pPr>
            <a:r>
              <a:rPr lang="en-US" sz="2200" dirty="0">
                <a:solidFill>
                  <a:srgbClr val="E2E8F0"/>
                </a:solidFill>
                <a:latin typeface="Arial" pitchFamily="34" charset="0"/>
                <a:ea typeface="Arial" pitchFamily="34" charset="-122"/>
                <a:cs typeface="Arial" pitchFamily="34" charset="-120"/>
              </a:rPr>
              <a:t>Ralentissements sur les pages de listes</a:t>
            </a:r>
            <a:endParaRPr lang="en-US" sz="2200" dirty="0"/>
          </a:p>
        </p:txBody>
      </p:sp>
      <p:sp>
        <p:nvSpPr>
          <p:cNvPr id="6" name="Text 4"/>
          <p:cNvSpPr/>
          <p:nvPr/>
        </p:nvSpPr>
        <p:spPr>
          <a:xfrm>
            <a:off x="640080" y="2286000"/>
            <a:ext cx="7863840" cy="457200"/>
          </a:xfrm>
          <a:prstGeom prst="rect">
            <a:avLst/>
          </a:prstGeom>
          <a:noFill/>
          <a:ln/>
        </p:spPr>
        <p:txBody>
          <a:bodyPr wrap="square" rtlCol="0" anchor="ctr"/>
          <a:lstStyle/>
          <a:p>
            <a:pPr algn="l" indent="0" marL="0">
              <a:buNone/>
            </a:pPr>
            <a:r>
              <a:rPr lang="en-US" sz="2200" dirty="0">
                <a:solidFill>
                  <a:srgbClr val="E2E8F0"/>
                </a:solidFill>
                <a:latin typeface="Arial" pitchFamily="34" charset="0"/>
                <a:ea typeface="Arial" pitchFamily="34" charset="-122"/>
                <a:cs typeface="Arial" pitchFamily="34" charset="-120"/>
              </a:rPr>
              <a:t>Solution : cache distribué Redis</a:t>
            </a:r>
            <a:endParaRPr lang="en-US" sz="2200" dirty="0"/>
          </a:p>
        </p:txBody>
      </p:sp>
      <p:sp>
        <p:nvSpPr>
          <p:cNvPr id="7" name="Text 5"/>
          <p:cNvSpPr/>
          <p:nvPr/>
        </p:nvSpPr>
        <p:spPr>
          <a:xfrm>
            <a:off x="640080" y="2834640"/>
            <a:ext cx="7863840" cy="457200"/>
          </a:xfrm>
          <a:prstGeom prst="rect">
            <a:avLst/>
          </a:prstGeom>
          <a:noFill/>
          <a:ln/>
        </p:spPr>
        <p:txBody>
          <a:bodyPr wrap="square" rtlCol="0" anchor="ctr"/>
          <a:lstStyle/>
          <a:p>
            <a:pPr algn="l" indent="0" marL="0">
              <a:buNone/>
            </a:pPr>
            <a:r>
              <a:rPr lang="en-US" sz="2200" dirty="0">
                <a:solidFill>
                  <a:srgbClr val="E2E8F0"/>
                </a:solidFill>
                <a:latin typeface="Arial" pitchFamily="34" charset="0"/>
                <a:ea typeface="Arial" pitchFamily="34" charset="-122"/>
                <a:cs typeface="Arial" pitchFamily="34" charset="-120"/>
              </a:rPr>
              <a:t>Déploiement avec Docker Compose</a:t>
            </a:r>
            <a:endParaRPr lang="en-US" sz="2200" dirty="0"/>
          </a:p>
        </p:txBody>
      </p:sp>
      <p:sp>
        <p:nvSpPr>
          <p:cNvPr id="8" name="Text 6"/>
          <p:cNvSpPr/>
          <p:nvPr/>
        </p:nvSpPr>
        <p:spPr>
          <a:xfrm>
            <a:off x="640080" y="3383280"/>
            <a:ext cx="7863840" cy="457200"/>
          </a:xfrm>
          <a:prstGeom prst="rect">
            <a:avLst/>
          </a:prstGeom>
          <a:noFill/>
          <a:ln/>
        </p:spPr>
        <p:txBody>
          <a:bodyPr wrap="square" rtlCol="0" anchor="ctr"/>
          <a:lstStyle/>
          <a:p>
            <a:pPr algn="l" indent="0" marL="0">
              <a:buNone/>
            </a:pPr>
            <a:r>
              <a:rPr lang="en-US" sz="2200" dirty="0">
                <a:solidFill>
                  <a:srgbClr val="E2E8F0"/>
                </a:solidFill>
                <a:latin typeface="Arial" pitchFamily="34" charset="0"/>
                <a:ea typeface="Arial" pitchFamily="34" charset="-122"/>
                <a:cs typeface="Arial" pitchFamily="34" charset="-120"/>
              </a:rPr>
              <a:t>Mesure de l'amélioration des performances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Architecture du Système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640080" y="1005840"/>
            <a:ext cx="7863840" cy="457200"/>
          </a:xfrm>
          <a:prstGeom prst="rect">
            <a:avLst/>
          </a:prstGeom>
          <a:noFill/>
          <a:ln/>
        </p:spPr>
        <p:txBody>
          <a:bodyPr wrap="square" rtlCol="0" anchor="ctr"/>
          <a:lstStyle/>
          <a:p>
            <a:pPr algn="l" indent="0" marL="0">
              <a:buNone/>
            </a:pPr>
            <a:r>
              <a:rPr lang="en-US" sz="2200" dirty="0">
                <a:solidFill>
                  <a:srgbClr val="E2E8F0"/>
                </a:solidFill>
                <a:latin typeface="Arial" pitchFamily="34" charset="0"/>
                <a:ea typeface="Arial" pitchFamily="34" charset="-122"/>
                <a:cs typeface="Arial" pitchFamily="34" charset="-120"/>
              </a:rPr>
              <a:t>Pattern Cache-Aside (Lazy Loading)</a:t>
            </a:r>
            <a:endParaRPr lang="en-US" sz="2200" dirty="0"/>
          </a:p>
        </p:txBody>
      </p:sp>
      <p:sp>
        <p:nvSpPr>
          <p:cNvPr id="5" name="Text 3"/>
          <p:cNvSpPr/>
          <p:nvPr/>
        </p:nvSpPr>
        <p:spPr>
          <a:xfrm>
            <a:off x="640080" y="1554480"/>
            <a:ext cx="7863840" cy="457200"/>
          </a:xfrm>
          <a:prstGeom prst="rect">
            <a:avLst/>
          </a:prstGeom>
          <a:noFill/>
          <a:ln/>
        </p:spPr>
        <p:txBody>
          <a:bodyPr wrap="square" rtlCol="0" anchor="ctr"/>
          <a:lstStyle/>
          <a:p>
            <a:pPr algn="l" indent="0" marL="0">
              <a:buNone/>
            </a:pPr>
            <a:r>
              <a:rPr lang="en-US" sz="2200" dirty="0">
                <a:solidFill>
                  <a:srgbClr val="E2E8F0"/>
                </a:solidFill>
                <a:latin typeface="Arial" pitchFamily="34" charset="0"/>
                <a:ea typeface="Arial" pitchFamily="34" charset="-122"/>
                <a:cs typeface="Arial" pitchFamily="34" charset="-120"/>
              </a:rPr>
              <a:t>Vérification du cache avant la base de données</a:t>
            </a:r>
            <a:endParaRPr lang="en-US" sz="2200" dirty="0"/>
          </a:p>
        </p:txBody>
      </p:sp>
      <p:sp>
        <p:nvSpPr>
          <p:cNvPr id="6" name="Text 4"/>
          <p:cNvSpPr/>
          <p:nvPr/>
        </p:nvSpPr>
        <p:spPr>
          <a:xfrm>
            <a:off x="640080" y="2103120"/>
            <a:ext cx="7863840" cy="457200"/>
          </a:xfrm>
          <a:prstGeom prst="rect">
            <a:avLst/>
          </a:prstGeom>
          <a:noFill/>
          <a:ln/>
        </p:spPr>
        <p:txBody>
          <a:bodyPr wrap="square" rtlCol="0" anchor="ctr"/>
          <a:lstStyle/>
          <a:p>
            <a:pPr algn="l" indent="0" marL="0">
              <a:buNone/>
            </a:pPr>
            <a:r>
              <a:rPr lang="en-US" sz="2200" dirty="0">
                <a:solidFill>
                  <a:srgbClr val="E2E8F0"/>
                </a:solidFill>
                <a:latin typeface="Arial" pitchFamily="34" charset="0"/>
                <a:ea typeface="Arial" pitchFamily="34" charset="-122"/>
                <a:cs typeface="Arial" pitchFamily="34" charset="-120"/>
              </a:rPr>
              <a:t>Stockage des résultats avec TTL configurable</a:t>
            </a:r>
            <a:endParaRPr lang="en-US" sz="2200" dirty="0"/>
          </a:p>
        </p:txBody>
      </p:sp>
      <p:sp>
        <p:nvSpPr>
          <p:cNvPr id="7" name="Text 5"/>
          <p:cNvSpPr/>
          <p:nvPr/>
        </p:nvSpPr>
        <p:spPr>
          <a:xfrm>
            <a:off x="640080" y="2651760"/>
            <a:ext cx="7863840" cy="457200"/>
          </a:xfrm>
          <a:prstGeom prst="rect">
            <a:avLst/>
          </a:prstGeom>
          <a:noFill/>
          <a:ln/>
        </p:spPr>
        <p:txBody>
          <a:bodyPr wrap="square" rtlCol="0" anchor="ctr"/>
          <a:lstStyle/>
          <a:p>
            <a:pPr algn="l" indent="0" marL="0">
              <a:buNone/>
            </a:pPr>
            <a:r>
              <a:rPr lang="en-US" sz="2200" dirty="0">
                <a:solidFill>
                  <a:srgbClr val="E2E8F0"/>
                </a:solidFill>
                <a:latin typeface="Arial" pitchFamily="34" charset="0"/>
                <a:ea typeface="Arial" pitchFamily="34" charset="-122"/>
                <a:cs typeface="Arial" pitchFamily="34" charset="-120"/>
              </a:rPr>
              <a:t>Réduction drastique du temps de réponse</a:t>
            </a:r>
            <a:endParaRPr lang="en-US" sz="2200" dirty="0"/>
          </a:p>
        </p:txBody>
      </p:sp>
      <p:sp>
        <p:nvSpPr>
          <p:cNvPr id="8" name="Shape 6"/>
          <p:cNvSpPr/>
          <p:nvPr/>
        </p:nvSpPr>
        <p:spPr>
          <a:xfrm>
            <a:off x="3200400" y="3474720"/>
            <a:ext cx="2743200" cy="640080"/>
          </a:xfrm>
          <a:prstGeom prst="roundRect">
            <a:avLst>
              <a:gd name="adj" fmla="val 14286"/>
            </a:avLst>
          </a:prstGeom>
          <a:solidFill>
            <a:srgbClr val="63B3ED"/>
          </a:solidFill>
          <a:ln/>
        </p:spPr>
      </p:sp>
      <p:sp>
        <p:nvSpPr>
          <p:cNvPr id="9" name="Text 7"/>
          <p:cNvSpPr/>
          <p:nvPr/>
        </p:nvSpPr>
        <p:spPr>
          <a:xfrm>
            <a:off x="3200400" y="3474720"/>
            <a:ext cx="2743200" cy="6400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Next.js App</a:t>
            </a:r>
            <a:endParaRPr lang="en-US" sz="1600" dirty="0"/>
          </a:p>
        </p:txBody>
      </p:sp>
      <p:sp>
        <p:nvSpPr>
          <p:cNvPr id="10" name="Shape 8"/>
          <p:cNvSpPr/>
          <p:nvPr/>
        </p:nvSpPr>
        <p:spPr>
          <a:xfrm>
            <a:off x="457200" y="4206240"/>
            <a:ext cx="2743200" cy="640080"/>
          </a:xfrm>
          <a:prstGeom prst="roundRect">
            <a:avLst>
              <a:gd name="adj" fmla="val 14286"/>
            </a:avLst>
          </a:prstGeom>
          <a:solidFill>
            <a:srgbClr val="DC382D"/>
          </a:solidFill>
          <a:ln/>
        </p:spPr>
      </p:sp>
      <p:sp>
        <p:nvSpPr>
          <p:cNvPr id="11" name="Text 9"/>
          <p:cNvSpPr/>
          <p:nvPr/>
        </p:nvSpPr>
        <p:spPr>
          <a:xfrm>
            <a:off x="457200" y="4206240"/>
            <a:ext cx="2743200" cy="6400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Redis Cache</a:t>
            </a:r>
            <a:endParaRPr lang="en-US" sz="1600" dirty="0"/>
          </a:p>
        </p:txBody>
      </p:sp>
      <p:sp>
        <p:nvSpPr>
          <p:cNvPr id="12" name="Shape 10"/>
          <p:cNvSpPr/>
          <p:nvPr/>
        </p:nvSpPr>
        <p:spPr>
          <a:xfrm>
            <a:off x="5943600" y="4206240"/>
            <a:ext cx="2743200" cy="640080"/>
          </a:xfrm>
          <a:prstGeom prst="roundRect">
            <a:avLst>
              <a:gd name="adj" fmla="val 14286"/>
            </a:avLst>
          </a:prstGeom>
          <a:solidFill>
            <a:srgbClr val="2C5282"/>
          </a:solidFill>
          <a:ln/>
        </p:spPr>
      </p:sp>
      <p:sp>
        <p:nvSpPr>
          <p:cNvPr id="13" name="Text 11"/>
          <p:cNvSpPr/>
          <p:nvPr/>
        </p:nvSpPr>
        <p:spPr>
          <a:xfrm>
            <a:off x="5943600" y="4206240"/>
            <a:ext cx="2743200" cy="6400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PostgreSQL</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Infrastructure Docker</a:t>
            </a:r>
            <a:endParaRPr lang="en-US" sz="2800" dirty="0"/>
          </a:p>
        </p:txBody>
      </p:sp>
      <p:sp>
        <p:nvSpPr>
          <p:cNvPr id="3" name="Shape 1"/>
          <p:cNvSpPr/>
          <p:nvPr/>
        </p:nvSpPr>
        <p:spPr>
          <a:xfrm>
            <a:off x="457200" y="731520"/>
            <a:ext cx="1828800" cy="45720"/>
          </a:xfrm>
          <a:prstGeom prst="rect">
            <a:avLst/>
          </a:prstGeom>
          <a:solidFill>
            <a:srgbClr val="63B3ED"/>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286000"/>
                <a:gridCol w="2743200"/>
                <a:gridCol w="2286000"/>
              </a:tblGrid>
              <a:tr h="0">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Service</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Image</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Port</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PostgreSQL</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postgres:16-alpine</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5434:5432</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Redis</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redis:7-alpine</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6379:6379</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r h="0">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Next.js</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Dockerfile.dev</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c>
                  <a:txBody>
                    <a:bodyPr/>
                    <a:lstStyle/>
                    <a:p>
                      <a:pPr algn="ctr" indent="0" marL="0">
                        <a:buNone/>
                      </a:pPr>
                      <a:r>
                        <a:rPr lang="en-US" sz="1800" dirty="0">
                          <a:solidFill>
                            <a:srgbClr val="E2E8F0"/>
                          </a:solidFill>
                          <a:latin typeface="Arial" pitchFamily="34" charset="0"/>
                          <a:ea typeface="Arial" pitchFamily="34" charset="-122"/>
                          <a:cs typeface="Arial" pitchFamily="34" charset="-120"/>
                        </a:rPr>
                        <a:t>3000:3000</a:t>
                      </a:r>
                      <a:endParaRPr lang="en-US" sz="1800" dirty="0">
                        <a:latin typeface="Arial" charset="0"/>
                        <a:ea typeface="Arial" charset="0"/>
                        <a:cs typeface="Arial" charset="0"/>
                      </a:endParaRPr>
                    </a:p>
                  </a:txBody>
                  <a:tcPr marL="91440" marR="91440" marT="45720" marB="45720" anchor="ctr">
                    <a:lnL w="12700" cap="flat" cmpd="sng" algn="ctr">
                      <a:solidFill>
                        <a:srgbClr val="4A5568"/>
                      </a:solidFill>
                      <a:prstDash val="solid"/>
                      <a:round/>
                      <a:headEnd type="none" w="med" len="med"/>
                      <a:tailEnd type="none" w="med" len="med"/>
                    </a:lnL>
                    <a:lnR w="12700" cap="flat" cmpd="sng" algn="ctr">
                      <a:solidFill>
                        <a:srgbClr val="4A5568"/>
                      </a:solidFill>
                      <a:prstDash val="solid"/>
                      <a:round/>
                      <a:headEnd type="none" w="med" len="med"/>
                      <a:tailEnd type="none" w="med" len="med"/>
                    </a:lnR>
                    <a:lnT w="12700" cap="flat" cmpd="sng" algn="ctr">
                      <a:solidFill>
                        <a:srgbClr val="4A5568"/>
                      </a:solidFill>
                      <a:prstDash val="solid"/>
                      <a:round/>
                      <a:headEnd type="none" w="med" len="med"/>
                      <a:tailEnd type="none" w="med" len="med"/>
                    </a:lnT>
                    <a:lnB w="12700" cap="flat" cmpd="sng" algn="ctr">
                      <a:solidFill>
                        <a:srgbClr val="4A5568"/>
                      </a:solidFill>
                      <a:prstDash val="solid"/>
                      <a:round/>
                      <a:headEnd type="none" w="med" len="med"/>
                      <a:tailEnd type="none" w="med" len="med"/>
                    </a:lnB>
                    <a:solidFill>
                      <a:srgbClr val="2C5282"/>
                    </a:solidFill>
                  </a:tcPr>
                </a:tc>
              </a:tr>
            </a:tbl>
          </a:graphicData>
        </a:graphic>
      </p:graphicFrame>
      <p:sp>
        <p:nvSpPr>
          <p:cNvPr id="5" name="Text 2"/>
          <p:cNvSpPr/>
          <p:nvPr/>
        </p:nvSpPr>
        <p:spPr>
          <a:xfrm>
            <a:off x="640080" y="3108960"/>
            <a:ext cx="7863840" cy="41148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Docker Compose pour l'orchestration</a:t>
            </a:r>
            <a:endParaRPr lang="en-US" sz="2000" dirty="0"/>
          </a:p>
        </p:txBody>
      </p:sp>
      <p:sp>
        <p:nvSpPr>
          <p:cNvPr id="6" name="Text 3"/>
          <p:cNvSpPr/>
          <p:nvPr/>
        </p:nvSpPr>
        <p:spPr>
          <a:xfrm>
            <a:off x="640080" y="3566160"/>
            <a:ext cx="7863840" cy="41148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Volume persistant redis_data</a:t>
            </a:r>
            <a:endParaRPr lang="en-US" sz="2000" dirty="0"/>
          </a:p>
        </p:txBody>
      </p:sp>
      <p:sp>
        <p:nvSpPr>
          <p:cNvPr id="7" name="Text 4"/>
          <p:cNvSpPr/>
          <p:nvPr/>
        </p:nvSpPr>
        <p:spPr>
          <a:xfrm>
            <a:off x="640080" y="4023360"/>
            <a:ext cx="7863840" cy="41148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Healthcheck intégré pour Redis</a:t>
            </a:r>
            <a:endParaRPr lang="en-US" sz="2000" dirty="0"/>
          </a:p>
        </p:txBody>
      </p:sp>
      <p:sp>
        <p:nvSpPr>
          <p:cNvPr id="8" name="Text 5"/>
          <p:cNvSpPr/>
          <p:nvPr/>
        </p:nvSpPr>
        <p:spPr>
          <a:xfrm>
            <a:off x="640080" y="4480560"/>
            <a:ext cx="7863840" cy="41148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Variable REDIS_URL pour la connexion</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Couche d'Abstraction du Cache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640080" y="100584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src/lib/cache.ts</a:t>
            </a:r>
            <a:endParaRPr lang="en-US" sz="2000" dirty="0"/>
          </a:p>
        </p:txBody>
      </p:sp>
      <p:sp>
        <p:nvSpPr>
          <p:cNvPr id="5" name="Text 3"/>
          <p:cNvSpPr/>
          <p:nvPr/>
        </p:nvSpPr>
        <p:spPr>
          <a:xfrm>
            <a:off x="640080" y="150876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cacheGet : récupération avec typage TypeScript</a:t>
            </a:r>
            <a:endParaRPr lang="en-US" sz="2000" dirty="0"/>
          </a:p>
        </p:txBody>
      </p:sp>
      <p:sp>
        <p:nvSpPr>
          <p:cNvPr id="6" name="Text 4"/>
          <p:cNvSpPr/>
          <p:nvPr/>
        </p:nvSpPr>
        <p:spPr>
          <a:xfrm>
            <a:off x="640080" y="201168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cacheSet : stockage avec TTL configurable</a:t>
            </a:r>
            <a:endParaRPr lang="en-US" sz="2000" dirty="0"/>
          </a:p>
        </p:txBody>
      </p:sp>
      <p:sp>
        <p:nvSpPr>
          <p:cNvPr id="7" name="Text 5"/>
          <p:cNvSpPr/>
          <p:nvPr/>
        </p:nvSpPr>
        <p:spPr>
          <a:xfrm>
            <a:off x="640080" y="251460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TTL par défaut : 300 secondes</a:t>
            </a:r>
            <a:endParaRPr lang="en-US" sz="2000" dirty="0"/>
          </a:p>
        </p:txBody>
      </p:sp>
      <p:sp>
        <p:nvSpPr>
          <p:cNvPr id="8" name="Text 6"/>
          <p:cNvSpPr/>
          <p:nvPr/>
        </p:nvSpPr>
        <p:spPr>
          <a:xfrm>
            <a:off x="640080" y="301752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Interface simple et réutilisable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Intégration dans les Actions</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640080" y="100584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1. Génération de clé unique</a:t>
            </a:r>
            <a:endParaRPr lang="en-US" sz="2000" dirty="0"/>
          </a:p>
        </p:txBody>
      </p:sp>
      <p:sp>
        <p:nvSpPr>
          <p:cNvPr id="5" name="Text 3"/>
          <p:cNvSpPr/>
          <p:nvPr/>
        </p:nvSpPr>
        <p:spPr>
          <a:xfrm>
            <a:off x="640080" y="150876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2. Vérification Redis (Cache Hit?)</a:t>
            </a:r>
            <a:endParaRPr lang="en-US" sz="2000" dirty="0"/>
          </a:p>
        </p:txBody>
      </p:sp>
      <p:sp>
        <p:nvSpPr>
          <p:cNvPr id="6" name="Text 4"/>
          <p:cNvSpPr/>
          <p:nvPr/>
        </p:nvSpPr>
        <p:spPr>
          <a:xfrm>
            <a:off x="640080" y="201168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3. Cache Miss : interrogation PostgreSQL</a:t>
            </a:r>
            <a:endParaRPr lang="en-US" sz="2000" dirty="0"/>
          </a:p>
        </p:txBody>
      </p:sp>
      <p:sp>
        <p:nvSpPr>
          <p:cNvPr id="7" name="Text 5"/>
          <p:cNvSpPr/>
          <p:nvPr/>
        </p:nvSpPr>
        <p:spPr>
          <a:xfrm>
            <a:off x="640080" y="251460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4. Stockage dans Redis avec TTL</a:t>
            </a:r>
            <a:endParaRPr lang="en-US" sz="2000" dirty="0"/>
          </a:p>
        </p:txBody>
      </p:sp>
      <p:sp>
        <p:nvSpPr>
          <p:cNvPr id="8" name="Text 6"/>
          <p:cNvSpPr/>
          <p:nvPr/>
        </p:nvSpPr>
        <p:spPr>
          <a:xfrm>
            <a:off x="640080" y="301752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5. Application sur toutes les lectures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Invalidation du Cache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Text 2"/>
          <p:cNvSpPr/>
          <p:nvPr/>
        </p:nvSpPr>
        <p:spPr>
          <a:xfrm>
            <a:off x="640080" y="100584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Create, Update, Delete, Upvote</a:t>
            </a:r>
            <a:endParaRPr lang="en-US" sz="2000" dirty="0"/>
          </a:p>
        </p:txBody>
      </p:sp>
      <p:sp>
        <p:nvSpPr>
          <p:cNvPr id="5" name="Text 3"/>
          <p:cNvSpPr/>
          <p:nvPr/>
        </p:nvSpPr>
        <p:spPr>
          <a:xfrm>
            <a:off x="640080" y="150876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invalidateCache(cacheKey)</a:t>
            </a:r>
            <a:endParaRPr lang="en-US" sz="2000" dirty="0"/>
          </a:p>
        </p:txBody>
      </p:sp>
      <p:sp>
        <p:nvSpPr>
          <p:cNvPr id="6" name="Text 4"/>
          <p:cNvSpPr/>
          <p:nvPr/>
        </p:nvSpPr>
        <p:spPr>
          <a:xfrm>
            <a:off x="640080" y="201168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TTL comme expiration automatique</a:t>
            </a:r>
            <a:endParaRPr lang="en-US" sz="2000" dirty="0"/>
          </a:p>
        </p:txBody>
      </p:sp>
      <p:sp>
        <p:nvSpPr>
          <p:cNvPr id="7" name="Text 5"/>
          <p:cNvSpPr/>
          <p:nvPr/>
        </p:nvSpPr>
        <p:spPr>
          <a:xfrm>
            <a:off x="640080" y="251460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Préfixe saas: pour éviter les collisions</a:t>
            </a:r>
            <a:endParaRPr lang="en-US" sz="2000" dirty="0"/>
          </a:p>
        </p:txBody>
      </p:sp>
      <p:sp>
        <p:nvSpPr>
          <p:cNvPr id="8" name="Text 6"/>
          <p:cNvSpPr/>
          <p:nvPr/>
        </p:nvSpPr>
        <p:spPr>
          <a:xfrm>
            <a:off x="640080" y="301752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Maintien de la cohérence des données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Tests et Validation</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Shape 2"/>
          <p:cNvSpPr/>
          <p:nvPr/>
        </p:nvSpPr>
        <p:spPr>
          <a:xfrm>
            <a:off x="457200" y="1097280"/>
            <a:ext cx="8229600" cy="914400"/>
          </a:xfrm>
          <a:prstGeom prst="roundRect">
            <a:avLst>
              <a:gd name="adj" fmla="val 10000"/>
            </a:avLst>
          </a:prstGeom>
          <a:solidFill>
            <a:srgbClr val="059669"/>
          </a:solidFill>
          <a:ln/>
        </p:spPr>
      </p:sp>
      <p:sp>
        <p:nvSpPr>
          <p:cNvPr id="5" name="Text 3"/>
          <p:cNvSpPr/>
          <p:nvPr/>
        </p:nvSpPr>
        <p:spPr>
          <a:xfrm>
            <a:off x="457200" y="1188720"/>
            <a:ext cx="8229600" cy="45720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 8 tests / 8 passés</a:t>
            </a:r>
            <a:endParaRPr lang="en-US" sz="3200" dirty="0"/>
          </a:p>
        </p:txBody>
      </p:sp>
      <p:sp>
        <p:nvSpPr>
          <p:cNvPr id="6" name="Text 4"/>
          <p:cNvSpPr/>
          <p:nvPr/>
        </p:nvSpPr>
        <p:spPr>
          <a:xfrm>
            <a:off x="457200" y="1645920"/>
            <a:ext cx="8229600" cy="274320"/>
          </a:xfrm>
          <a:prstGeom prst="rect">
            <a:avLst/>
          </a:prstGeom>
          <a:noFill/>
          <a:ln/>
        </p:spPr>
        <p:txBody>
          <a:bodyPr wrap="square"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Couverture : cacheGet, cacheSet, invalidate, TTL, edge cases</a:t>
            </a:r>
            <a:endParaRPr lang="en-US" sz="1600" dirty="0"/>
          </a:p>
        </p:txBody>
      </p:sp>
      <p:sp>
        <p:nvSpPr>
          <p:cNvPr id="7" name="Text 5"/>
          <p:cNvSpPr/>
          <p:nvPr/>
        </p:nvSpPr>
        <p:spPr>
          <a:xfrm>
            <a:off x="640080" y="228600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Tests Jest avec instance Redis locale</a:t>
            </a:r>
            <a:endParaRPr lang="en-US" sz="2000" dirty="0"/>
          </a:p>
        </p:txBody>
      </p:sp>
      <p:sp>
        <p:nvSpPr>
          <p:cNvPr id="8" name="Text 6"/>
          <p:cNvSpPr/>
          <p:nvPr/>
        </p:nvSpPr>
        <p:spPr>
          <a:xfrm>
            <a:off x="640080" y="278892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Validation du set, get et invalidation</a:t>
            </a:r>
            <a:endParaRPr lang="en-US" sz="2000" dirty="0"/>
          </a:p>
        </p:txBody>
      </p:sp>
      <p:sp>
        <p:nvSpPr>
          <p:cNvPr id="9" name="Text 7"/>
          <p:cNvSpPr/>
          <p:nvPr/>
        </p:nvSpPr>
        <p:spPr>
          <a:xfrm>
            <a:off x="640080" y="329184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Gestion des cas limites (null, undefined)</a:t>
            </a:r>
            <a:endParaRPr lang="en-US" sz="2000" dirty="0"/>
          </a:p>
        </p:txBody>
      </p:sp>
      <p:sp>
        <p:nvSpPr>
          <p:cNvPr id="10" name="Text 8"/>
          <p:cNvSpPr/>
          <p:nvPr/>
        </p:nvSpPr>
        <p:spPr>
          <a:xfrm>
            <a:off x="640080" y="379476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Tests executes dans la pipeline CI</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FFFFFF"/>
                </a:solidFill>
                <a:latin typeface="Arial" pitchFamily="34" charset="0"/>
                <a:ea typeface="Arial" pitchFamily="34" charset="-122"/>
                <a:cs typeface="Arial" pitchFamily="34" charset="-120"/>
              </a:rPr>
              <a:t>Résultats de Performance</a:t>
            </a:r>
            <a:endParaRPr lang="en-US" sz="2800" dirty="0"/>
          </a:p>
        </p:txBody>
      </p:sp>
      <p:sp>
        <p:nvSpPr>
          <p:cNvPr id="3" name="Shape 1"/>
          <p:cNvSpPr/>
          <p:nvPr/>
        </p:nvSpPr>
        <p:spPr>
          <a:xfrm>
            <a:off x="457200" y="731520"/>
            <a:ext cx="1828800" cy="45720"/>
          </a:xfrm>
          <a:prstGeom prst="rect">
            <a:avLst/>
          </a:prstGeom>
          <a:solidFill>
            <a:srgbClr val="63B3ED"/>
          </a:solidFill>
          <a:ln/>
        </p:spPr>
      </p:sp>
      <p:sp>
        <p:nvSpPr>
          <p:cNvPr id="4" name="Shape 2"/>
          <p:cNvSpPr/>
          <p:nvPr/>
        </p:nvSpPr>
        <p:spPr>
          <a:xfrm>
            <a:off x="457200" y="1097280"/>
            <a:ext cx="2560320" cy="914400"/>
          </a:xfrm>
          <a:prstGeom prst="roundRect">
            <a:avLst>
              <a:gd name="adj" fmla="val 10000"/>
            </a:avLst>
          </a:prstGeom>
          <a:solidFill>
            <a:srgbClr val="2C5282"/>
          </a:solidFill>
          <a:ln/>
        </p:spPr>
      </p:sp>
      <p:sp>
        <p:nvSpPr>
          <p:cNvPr id="5" name="Text 3"/>
          <p:cNvSpPr/>
          <p:nvPr/>
        </p:nvSpPr>
        <p:spPr>
          <a:xfrm>
            <a:off x="457200" y="1143000"/>
            <a:ext cx="2560320" cy="457200"/>
          </a:xfrm>
          <a:prstGeom prst="rect">
            <a:avLst/>
          </a:prstGeom>
          <a:noFill/>
          <a:ln/>
        </p:spPr>
        <p:txBody>
          <a:bodyPr wrap="square" rtlCol="0" anchor="ctr"/>
          <a:lstStyle/>
          <a:p>
            <a:pPr algn="ctr" indent="0" marL="0">
              <a:buNone/>
            </a:pPr>
            <a:r>
              <a:rPr lang="en-US" sz="3600" b="1" dirty="0">
                <a:solidFill>
                  <a:srgbClr val="63B3ED"/>
                </a:solidFill>
                <a:latin typeface="Arial" pitchFamily="34" charset="0"/>
                <a:ea typeface="Arial" pitchFamily="34" charset="-122"/>
                <a:cs typeface="Arial" pitchFamily="34" charset="-120"/>
              </a:rPr>
              <a:t>12ms</a:t>
            </a:r>
            <a:endParaRPr lang="en-US" sz="3600" dirty="0"/>
          </a:p>
        </p:txBody>
      </p:sp>
      <p:sp>
        <p:nvSpPr>
          <p:cNvPr id="6" name="Text 4"/>
          <p:cNvSpPr/>
          <p:nvPr/>
        </p:nvSpPr>
        <p:spPr>
          <a:xfrm>
            <a:off x="457200" y="1645920"/>
            <a:ext cx="2560320" cy="274320"/>
          </a:xfrm>
          <a:prstGeom prst="rect">
            <a:avLst/>
          </a:prstGeom>
          <a:noFill/>
          <a:ln/>
        </p:spPr>
        <p:txBody>
          <a:bodyPr wrap="square"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Avec Cache</a:t>
            </a:r>
            <a:endParaRPr lang="en-US" sz="1600" dirty="0"/>
          </a:p>
        </p:txBody>
      </p:sp>
      <p:sp>
        <p:nvSpPr>
          <p:cNvPr id="7" name="Shape 5"/>
          <p:cNvSpPr/>
          <p:nvPr/>
        </p:nvSpPr>
        <p:spPr>
          <a:xfrm>
            <a:off x="3291840" y="1097280"/>
            <a:ext cx="2560320" cy="914400"/>
          </a:xfrm>
          <a:prstGeom prst="roundRect">
            <a:avLst>
              <a:gd name="adj" fmla="val 10000"/>
            </a:avLst>
          </a:prstGeom>
          <a:solidFill>
            <a:srgbClr val="2C5282"/>
          </a:solidFill>
          <a:ln/>
        </p:spPr>
      </p:sp>
      <p:sp>
        <p:nvSpPr>
          <p:cNvPr id="8" name="Text 6"/>
          <p:cNvSpPr/>
          <p:nvPr/>
        </p:nvSpPr>
        <p:spPr>
          <a:xfrm>
            <a:off x="3291840" y="1143000"/>
            <a:ext cx="2560320" cy="457200"/>
          </a:xfrm>
          <a:prstGeom prst="rect">
            <a:avLst/>
          </a:prstGeom>
          <a:noFill/>
          <a:ln/>
        </p:spPr>
        <p:txBody>
          <a:bodyPr wrap="square" rtlCol="0" anchor="ctr"/>
          <a:lstStyle/>
          <a:p>
            <a:pPr algn="ctr" indent="0" marL="0">
              <a:buNone/>
            </a:pPr>
            <a:r>
              <a:rPr lang="en-US" sz="3600" b="1" dirty="0">
                <a:solidFill>
                  <a:srgbClr val="63B3ED"/>
                </a:solidFill>
                <a:latin typeface="Arial" pitchFamily="34" charset="0"/>
                <a:ea typeface="Arial" pitchFamily="34" charset="-122"/>
                <a:cs typeface="Arial" pitchFamily="34" charset="-120"/>
              </a:rPr>
              <a:t>856ms</a:t>
            </a:r>
            <a:endParaRPr lang="en-US" sz="3600" dirty="0"/>
          </a:p>
        </p:txBody>
      </p:sp>
      <p:sp>
        <p:nvSpPr>
          <p:cNvPr id="9" name="Text 7"/>
          <p:cNvSpPr/>
          <p:nvPr/>
        </p:nvSpPr>
        <p:spPr>
          <a:xfrm>
            <a:off x="3291840" y="1645920"/>
            <a:ext cx="2560320" cy="274320"/>
          </a:xfrm>
          <a:prstGeom prst="rect">
            <a:avLst/>
          </a:prstGeom>
          <a:noFill/>
          <a:ln/>
        </p:spPr>
        <p:txBody>
          <a:bodyPr wrap="square"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Sans Cache</a:t>
            </a:r>
            <a:endParaRPr lang="en-US" sz="1600" dirty="0"/>
          </a:p>
        </p:txBody>
      </p:sp>
      <p:sp>
        <p:nvSpPr>
          <p:cNvPr id="10" name="Shape 8"/>
          <p:cNvSpPr/>
          <p:nvPr/>
        </p:nvSpPr>
        <p:spPr>
          <a:xfrm>
            <a:off x="6126480" y="1097280"/>
            <a:ext cx="2560320" cy="914400"/>
          </a:xfrm>
          <a:prstGeom prst="roundRect">
            <a:avLst>
              <a:gd name="adj" fmla="val 10000"/>
            </a:avLst>
          </a:prstGeom>
          <a:solidFill>
            <a:srgbClr val="2C5282"/>
          </a:solidFill>
          <a:ln/>
        </p:spPr>
      </p:sp>
      <p:sp>
        <p:nvSpPr>
          <p:cNvPr id="11" name="Text 9"/>
          <p:cNvSpPr/>
          <p:nvPr/>
        </p:nvSpPr>
        <p:spPr>
          <a:xfrm>
            <a:off x="6126480" y="1143000"/>
            <a:ext cx="2560320" cy="457200"/>
          </a:xfrm>
          <a:prstGeom prst="rect">
            <a:avLst/>
          </a:prstGeom>
          <a:noFill/>
          <a:ln/>
        </p:spPr>
        <p:txBody>
          <a:bodyPr wrap="square" rtlCol="0" anchor="ctr"/>
          <a:lstStyle/>
          <a:p>
            <a:pPr algn="ctr" indent="0" marL="0">
              <a:buNone/>
            </a:pPr>
            <a:r>
              <a:rPr lang="en-US" sz="3600" b="1" dirty="0">
                <a:solidFill>
                  <a:srgbClr val="63B3ED"/>
                </a:solidFill>
                <a:latin typeface="Arial" pitchFamily="34" charset="0"/>
                <a:ea typeface="Arial" pitchFamily="34" charset="-122"/>
                <a:cs typeface="Arial" pitchFamily="34" charset="-120"/>
              </a:rPr>
              <a:t>99%</a:t>
            </a:r>
            <a:endParaRPr lang="en-US" sz="3600" dirty="0"/>
          </a:p>
        </p:txBody>
      </p:sp>
      <p:sp>
        <p:nvSpPr>
          <p:cNvPr id="12" name="Text 10"/>
          <p:cNvSpPr/>
          <p:nvPr/>
        </p:nvSpPr>
        <p:spPr>
          <a:xfrm>
            <a:off x="6126480" y="1645920"/>
            <a:ext cx="2560320" cy="274320"/>
          </a:xfrm>
          <a:prstGeom prst="rect">
            <a:avLst/>
          </a:prstGeom>
          <a:noFill/>
          <a:ln/>
        </p:spPr>
        <p:txBody>
          <a:bodyPr wrap="square"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Amélioration</a:t>
            </a:r>
            <a:endParaRPr lang="en-US" sz="1600" dirty="0"/>
          </a:p>
        </p:txBody>
      </p:sp>
      <p:sp>
        <p:nvSpPr>
          <p:cNvPr id="13" name="Text 11"/>
          <p:cNvSpPr/>
          <p:nvPr/>
        </p:nvSpPr>
        <p:spPr>
          <a:xfrm>
            <a:off x="640080" y="228600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getLaunches : 856ms → 12ms (99.2%)</a:t>
            </a:r>
            <a:endParaRPr lang="en-US" sz="2000" dirty="0"/>
          </a:p>
        </p:txBody>
      </p:sp>
      <p:sp>
        <p:nvSpPr>
          <p:cNvPr id="14" name="Text 12"/>
          <p:cNvSpPr/>
          <p:nvPr/>
        </p:nvSpPr>
        <p:spPr>
          <a:xfrm>
            <a:off x="640080" y="278892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getPosts : 643ms → 15ms (97.7%)</a:t>
            </a:r>
            <a:endParaRPr lang="en-US" sz="2000" dirty="0"/>
          </a:p>
        </p:txBody>
      </p:sp>
      <p:sp>
        <p:nvSpPr>
          <p:cNvPr id="15" name="Text 13"/>
          <p:cNvSpPr/>
          <p:nvPr/>
        </p:nvSpPr>
        <p:spPr>
          <a:xfrm>
            <a:off x="640080" y="329184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getLaunchBySlug : 234ms → 8ms (96.6%)</a:t>
            </a:r>
            <a:endParaRPr lang="en-US" sz="2000" dirty="0"/>
          </a:p>
        </p:txBody>
      </p:sp>
      <p:sp>
        <p:nvSpPr>
          <p:cNvPr id="16" name="Text 14"/>
          <p:cNvSpPr/>
          <p:nvPr/>
        </p:nvSpPr>
        <p:spPr>
          <a:xfrm>
            <a:off x="640080" y="3794760"/>
            <a:ext cx="7863840" cy="457200"/>
          </a:xfrm>
          <a:prstGeom prst="rect">
            <a:avLst/>
          </a:prstGeom>
          <a:noFill/>
          <a:ln/>
        </p:spPr>
        <p:txBody>
          <a:bodyPr wrap="square" rtlCol="0" anchor="ctr"/>
          <a:lstStyle/>
          <a:p>
            <a:pPr algn="l" indent="0" marL="0">
              <a:buNone/>
            </a:pPr>
            <a:r>
              <a:rPr lang="en-US" sz="2000" dirty="0">
                <a:solidFill>
                  <a:srgbClr val="E2E8F0"/>
                </a:solidFill>
                <a:latin typeface="Arial" pitchFamily="34" charset="0"/>
                <a:ea typeface="Arial" pitchFamily="34" charset="-122"/>
                <a:cs typeface="Arial" pitchFamily="34" charset="-120"/>
              </a:rPr>
              <a:t>getCategories : 189ms → 5ms (97.4%)</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731520"/>
            <a:ext cx="8229600" cy="731520"/>
          </a:xfrm>
          <a:prstGeom prst="rect">
            <a:avLst/>
          </a:prstGeom>
          <a:noFill/>
          <a:ln/>
        </p:spPr>
        <p:txBody>
          <a:bodyPr wrap="square"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Merci de votre attention</a:t>
            </a:r>
            <a:endParaRPr lang="en-US" sz="3600" dirty="0"/>
          </a:p>
        </p:txBody>
      </p:sp>
      <p:sp>
        <p:nvSpPr>
          <p:cNvPr id="3" name="Shape 1"/>
          <p:cNvSpPr/>
          <p:nvPr/>
        </p:nvSpPr>
        <p:spPr>
          <a:xfrm>
            <a:off x="3657600" y="1463040"/>
            <a:ext cx="1828800" cy="45720"/>
          </a:xfrm>
          <a:prstGeom prst="rect">
            <a:avLst/>
          </a:prstGeom>
          <a:solidFill>
            <a:srgbClr val="63B3ED"/>
          </a:solidFill>
          <a:ln/>
        </p:spPr>
      </p:sp>
      <p:sp>
        <p:nvSpPr>
          <p:cNvPr id="4" name="Text 2"/>
          <p:cNvSpPr/>
          <p:nvPr/>
        </p:nvSpPr>
        <p:spPr>
          <a:xfrm>
            <a:off x="457200" y="1645920"/>
            <a:ext cx="8229600" cy="457200"/>
          </a:xfrm>
          <a:prstGeom prst="rect">
            <a:avLst/>
          </a:prstGeom>
          <a:noFill/>
          <a:ln/>
        </p:spPr>
        <p:txBody>
          <a:bodyPr wrap="square" rtlCol="0" anchor="ctr"/>
          <a:lstStyle/>
          <a:p>
            <a:pPr algn="ctr" indent="0" marL="0">
              <a:buNone/>
            </a:pPr>
            <a:r>
              <a:rPr lang="en-US" sz="2400" dirty="0">
                <a:solidFill>
                  <a:srgbClr val="E2E8F0"/>
                </a:solidFill>
                <a:latin typeface="Arial" pitchFamily="34" charset="0"/>
                <a:ea typeface="Arial" pitchFamily="34" charset="-122"/>
                <a:cs typeface="Arial" pitchFamily="34" charset="-120"/>
              </a:rPr>
              <a:t>Questions et Discussion</a:t>
            </a:r>
            <a:endParaRPr lang="en-US" sz="2400" dirty="0"/>
          </a:p>
        </p:txBody>
      </p:sp>
      <p:sp>
        <p:nvSpPr>
          <p:cNvPr id="5" name="Shape 3"/>
          <p:cNvSpPr/>
          <p:nvPr/>
        </p:nvSpPr>
        <p:spPr>
          <a:xfrm>
            <a:off x="2286000" y="2286000"/>
            <a:ext cx="4572000" cy="914400"/>
          </a:xfrm>
          <a:prstGeom prst="roundRect">
            <a:avLst>
              <a:gd name="adj" fmla="val 10000"/>
            </a:avLst>
          </a:prstGeom>
          <a:solidFill>
            <a:srgbClr val="2C5282"/>
          </a:solidFill>
          <a:ln w="25400">
            <a:solidFill>
              <a:srgbClr val="63B3ED"/>
            </a:solidFill>
            <a:prstDash val="solid"/>
          </a:ln>
        </p:spPr>
      </p:sp>
      <p:sp>
        <p:nvSpPr>
          <p:cNvPr id="6" name="Text 4"/>
          <p:cNvSpPr/>
          <p:nvPr/>
        </p:nvSpPr>
        <p:spPr>
          <a:xfrm>
            <a:off x="2286000" y="2468880"/>
            <a:ext cx="4572000" cy="32004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Omar Sarsar &amp; Iliass Hariz</a:t>
            </a:r>
            <a:endParaRPr lang="en-US" sz="2000" dirty="0"/>
          </a:p>
        </p:txBody>
      </p:sp>
      <p:sp>
        <p:nvSpPr>
          <p:cNvPr id="7" name="Text 5"/>
          <p:cNvSpPr/>
          <p:nvPr/>
        </p:nvSpPr>
        <p:spPr>
          <a:xfrm>
            <a:off x="2286000" y="2834640"/>
            <a:ext cx="4572000" cy="228600"/>
          </a:xfrm>
          <a:prstGeom prst="rect">
            <a:avLst/>
          </a:prstGeom>
          <a:noFill/>
          <a:ln/>
        </p:spPr>
        <p:txBody>
          <a:bodyPr wrap="square" rtlCol="0" anchor="ctr"/>
          <a:lstStyle/>
          <a:p>
            <a:pPr algn="ctr" indent="0" marL="0">
              <a:buNone/>
            </a:pPr>
            <a:r>
              <a:rPr lang="en-US" sz="1600" dirty="0">
                <a:solidFill>
                  <a:srgbClr val="E2E8F0"/>
                </a:solidFill>
                <a:latin typeface="Arial" pitchFamily="34" charset="0"/>
                <a:ea typeface="Arial" pitchFamily="34" charset="-122"/>
                <a:cs typeface="Arial" pitchFamily="34" charset="-120"/>
              </a:rPr>
              <a:t>2026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2026-05-21T19:31:08Z</dcterms:created>
  <dcterms:modified xsi:type="dcterms:W3CDTF">2026-05-21T19:31:08Z</dcterms:modified>
</cp:coreProperties>
</file>