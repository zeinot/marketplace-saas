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6256000" cy="9144000"/>
  <p:notesSz cx="9144000" cy="16256000"/>
  <p:embeddedFontLst>
    <p:embeddedFont>
      <p:font typeface="Quattrocento Sans" charset="-122" pitchFamily="34"/>
      <p:regular r:id="rId17"/>
    </p:embeddedFont>
    <p:embeddedFont>
      <p:font typeface="Liter" charset="-122" pitchFamily="34"/>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Sans Cache (ms)</c:v>
                </c:pt>
              </c:strCache>
            </c:strRef>
          </c:tx>
          <c:spPr>
            <a:solidFill>
              <a:srgbClr val="64748B"/>
            </a:solidFill>
            <a:effectLst/>
          </c:spPr>
          <c:invertIfNegative val="0"/>
          <c:dLbls>
            <c:numFmt formatCode="#,##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cat>
            <c:multiLvlStrRef>
              <c:f>Sheet1!$A$2:$A$5</c:f>
              <c:multiLvlStrCache>
                <c:ptCount val="4"/>
                <c:lvl>
                  <c:pt idx="0">
                    <c:v>getLaunches</c:v>
                  </c:pt>
                  <c:pt idx="1">
                    <c:v>getPosts</c:v>
                  </c:pt>
                  <c:pt idx="2">
                    <c:v>getLaunchBySlug</c:v>
                  </c:pt>
                  <c:pt idx="3">
                    <c:v>getCategories</c:v>
                  </c:pt>
                </c:lvl>
              </c:multiLvlStrCache>
            </c:multiLvlStrRef>
          </c:cat>
          <c:val>
            <c:numRef>
              <c:f>Sheet1!$B$2:$B$5</c:f>
              <c:numCache>
                <c:formatCode>General</c:formatCode>
                <c:ptCount val="4"/>
                <c:pt idx="0">
                  <c:v>856</c:v>
                </c:pt>
                <c:pt idx="1">
                  <c:v>643</c:v>
                </c:pt>
                <c:pt idx="2">
                  <c:v>234</c:v>
                </c:pt>
                <c:pt idx="3">
                  <c:v>189</c:v>
                </c:pt>
              </c:numCache>
            </c:numRef>
          </c:val>
        </c:ser>
        <c:ser>
          <c:idx val="1"/>
          <c:order val="1"/>
          <c:tx>
            <c:strRef>
              <c:f>Sheet1!$C$1</c:f>
              <c:strCache>
                <c:ptCount val="1"/>
                <c:pt idx="0">
                  <c:v>Avec Cache (ms)</c:v>
                </c:pt>
              </c:strCache>
            </c:strRef>
          </c:tx>
          <c:spPr>
            <a:solidFill>
              <a:srgbClr val="DC382D"/>
            </a:solidFill>
            <a:effectLst/>
          </c:spPr>
          <c:invertIfNegative val="0"/>
          <c:dLbls>
            <c:numFmt formatCode="#,##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cat>
            <c:multiLvlStrRef>
              <c:f>Sheet1!$A$2:$A$5</c:f>
              <c:multiLvlStrCache>
                <c:ptCount val="4"/>
                <c:lvl>
                  <c:pt idx="0">
                    <c:v>getLaunches</c:v>
                  </c:pt>
                  <c:pt idx="1">
                    <c:v>getPosts</c:v>
                  </c:pt>
                  <c:pt idx="2">
                    <c:v>getLaunchBySlug</c:v>
                  </c:pt>
                  <c:pt idx="3">
                    <c:v>getCategories</c:v>
                  </c:pt>
                </c:lvl>
              </c:multiLvlStrCache>
            </c:multiLvlStrRef>
          </c:cat>
          <c:val>
            <c:numRef>
              <c:f>Sheet1!$C$2:$C$5</c:f>
              <c:numCache>
                <c:formatCode>General</c:formatCode>
                <c:ptCount val="4"/>
                <c:pt idx="0">
                  <c:v>12</c:v>
                </c:pt>
                <c:pt idx="1">
                  <c:v>15</c:v>
                </c:pt>
                <c:pt idx="2">
                  <c:v>8</c:v>
                </c:pt>
                <c:pt idx="3">
                  <c:v>5</c:v>
                </c:pt>
              </c:numCache>
            </c:numRef>
          </c:val>
        </c:ser>
        <c:dLbls>
          <c:numFmt formatCode="#,##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gapWidth val="67"/>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title>
          <c:tx>
            <c:rich>
              <a:bodyPr/>
              <a:lstStyle/>
              <a:p>
                <a:pPr>
                  <a:defRPr sz="1200" b="0" i="0" u="none" strike="noStrike">
                    <a:solidFill>
                      <a:srgbClr val="64748B"/>
                    </a:solidFill>
                    <a:latin typeface="Arial"/>
                  </a:defRPr>
                </a:pPr>
                <a:r>
                  <a:rPr sz="1200" b="0" i="0" u="none" strike="noStrike">
                    <a:solidFill>
                      <a:srgbClr val="64748B"/>
                    </a:solidFill>
                    <a:latin typeface="Arial"/>
                  </a:rPr>
                  <a:t>Temps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0F172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suis Omar Sarsar et je suis accompagne d'Iliass Hariz. Nous allons presenter notre projet d'integration d'un cache distribue Redis dans une application marketplace SaaS. Ce projet a ete realise dans le cadre de notre formation. Nous allons decrire le contexte, l'architecture, l'implementation, les tests et les resultats.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integre un cache distribue Redis dans une application marketplace SaaS. L'augmentation du nombre d'utilisateurs a cause des ralentissements sur les pages affichant les listes de produits. L'objectif est d'ameliorer les performances en verifiant le cache avant PostgreSQL, ce qui reduit le temps de reponse et la charge sur la base de donnees tout en maintenant la coherence via une strategie d'invalidation.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utilise le pattern Cache-Aside. L'application verifie d'abord Redis. Si les donnees y sont, elles sont retournees immediatement. Sinon, PostgreSQL est interrogee, les resultats sont stockes dans Redis avec un TTL, puis retournes.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L'infrastructure utilise Docker Compose avec trois services. PostgreSQL 16 sur Alpine sert de base de donnees sur le port 5434. Redis 7 sur Alpine fonctionne comme cache sur le port 6379 avec un volume persistant et un healthcheck. Next.js est construit depuis un Dockerfile personnalise sur le port 3000.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couche d'abstraction dans src/lib/cache.ts fournit une interface simple pour Redis. cacheGet recupere et parse les donnees JSON avec typage TypeScript. cacheSet stocke les donnees avec un TTL configurable de 300 secondes par defaut.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L'integration suit le pattern Cache-Aside. Chaque action genere une cle unique et verifie Redis. Si les donnees existent, elles sont retournees. Sinon, PostgreSQL est interrogee, les resultats sont stockes dans Redis avec un TTL, puis retournes.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strategie d'invalidation est essentielle pour maintenir la coherence. Chaque operation d'ecriture invalide immediatement le cache. La fonction invalidateCache() supprime les cles correspondantes de Redis. Le TTL sert de mecanisme d'expiration automatique.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resultats sont tres satisfaisants : les huit tests passent tous avec succes, soit cent pour cent de reussite. Ces tests couvrent les operations de base, l'invalidation, le TTL avec expirations automatiques, et les cas limites comme null ou undefined.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mesures montrent des resultats impressionnants. Avec le cache Redis, le temps de reponse moyen est de douze millisecondes contre huit cent cinquante-six millisecondes sans cache, soit quatre-vingt-dix-neuf pour cent d'amelioration.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remercions pour votre attention. Ce projet a demontre que Redis reduit drastiquement les temps de reponse et la charge sur la base de donnees, tout en maintenant la coherence. N'hesitez pas a poser vos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34xzctlmbooas/mnt/agents/output/redis_cache/images/2_The_Evolution_of_Redis_From_Cache.png">    </p:cNvPr>
          <p:cNvPicPr>
            <a:picLocks noChangeAspect="1"/>
          </p:cNvPicPr>
          <p:nvPr/>
        </p:nvPicPr>
        <p:blipFill>
          <a:blip r:embed="rId1"/>
          <a:srcRect l="222" r="222" t="0" b="0"/>
          <a:stretch/>
        </p:blipFill>
        <p:spPr>
          <a:xfrm>
            <a:off x="0" y="0"/>
            <a:ext cx="16256000" cy="9144000"/>
          </a:xfrm>
          <a:prstGeom prst="rect">
            <a:avLst/>
          </a:prstGeom>
        </p:spPr>
      </p:pic>
      <p:sp>
        <p:nvSpPr>
          <p:cNvPr id="4" name="Shape 0"/>
          <p:cNvSpPr/>
          <p:nvPr/>
        </p:nvSpPr>
        <p:spPr>
          <a:xfrm>
            <a:off x="0" y="0"/>
            <a:ext cx="16256000" cy="9144000"/>
          </a:xfrm>
          <a:prstGeom prst="rect">
            <a:avLst/>
          </a:prstGeom>
          <a:gradFill rotWithShape="1" flip="none">
            <a:gsLst>
              <a:gs pos="0">
                <a:srgbClr val="0F172A">
                  <a:alpha val="80000"/>
                </a:srgbClr>
              </a:gs>
              <a:gs pos="50000">
                <a:srgbClr val="0F172A">
                  <a:alpha val="80000"/>
                </a:srgbClr>
              </a:gs>
              <a:gs pos="100000">
                <a:srgbClr val="0F172A">
                  <a:alpha val="90000"/>
                </a:srgbClr>
              </a:gs>
            </a:gsLst>
            <a:lin ang="5400000" scaled="1"/>
          </a:gradFill>
          <a:ln w="12700">
            <a:solidFill>
              <a:srgbClr val="333333"/>
            </a:solidFill>
            <a:prstDash val="solid"/>
          </a:ln>
        </p:spPr>
      </p:sp>
      <p:sp>
        <p:nvSpPr>
          <p:cNvPr id="5" name="Shape 1"/>
          <p:cNvSpPr/>
          <p:nvPr/>
        </p:nvSpPr>
        <p:spPr>
          <a:xfrm>
            <a:off x="0" y="0"/>
            <a:ext cx="16256000" cy="50800"/>
          </a:xfrm>
          <a:prstGeom prst="rect">
            <a:avLst/>
          </a:prstGeom>
          <a:solidFill>
            <a:srgbClr val="DC382D"/>
          </a:solidFill>
          <a:ln/>
        </p:spPr>
      </p:sp>
      <p:sp>
        <p:nvSpPr>
          <p:cNvPr id="6" name="Text 2"/>
          <p:cNvSpPr/>
          <p:nvPr/>
        </p:nvSpPr>
        <p:spPr>
          <a:xfrm>
            <a:off x="4318000" y="2286000"/>
            <a:ext cx="7620000" cy="355600"/>
          </a:xfrm>
          <a:prstGeom prst="rect">
            <a:avLst/>
          </a:prstGeom>
          <a:noFill/>
          <a:ln/>
        </p:spPr>
        <p:txBody>
          <a:bodyPr wrap="none" lIns="0" tIns="0" rIns="0" bIns="0" rtlCol="0" anchor="ctr"/>
          <a:lstStyle/>
          <a:p>
            <a:pPr algn="ctr">
              <a:lnSpc>
                <a:spcPct val="100000"/>
              </a:lnSpc>
            </a:pPr>
            <a:r>
              <a:rPr lang="en-US" sz="1400" spc="400" kern="0" dirty="0">
                <a:solidFill>
                  <a:srgbClr val="94A3B8"/>
                </a:solidFill>
                <a:latin typeface="Quattrocento Sans" pitchFamily="34" charset="0"/>
                <a:ea typeface="Quattrocento Sans" pitchFamily="34" charset="-122"/>
                <a:cs typeface="Quattrocento Sans" pitchFamily="34" charset="-120"/>
              </a:rPr>
              <a:t>PROJET DE FIN D'ETUDES 2025/2026</a:t>
            </a:r>
            <a:endParaRPr lang="en-US" sz="1600" dirty="0"/>
          </a:p>
        </p:txBody>
      </p:sp>
      <p:sp>
        <p:nvSpPr>
          <p:cNvPr id="7" name="Text 3"/>
          <p:cNvSpPr/>
          <p:nvPr/>
        </p:nvSpPr>
        <p:spPr>
          <a:xfrm>
            <a:off x="1778000" y="2667000"/>
            <a:ext cx="12700000" cy="2159000"/>
          </a:xfrm>
          <a:prstGeom prst="rect">
            <a:avLst/>
          </a:prstGeom>
          <a:noFill/>
          <a:ln/>
        </p:spPr>
        <p:txBody>
          <a:bodyPr wrap="square" lIns="0" tIns="0" rIns="0" bIns="0" rtlCol="0" anchor="ctr"/>
          <a:lstStyle/>
          <a:p>
            <a:pPr algn="ctr">
              <a:lnSpc>
                <a:spcPct val="120000"/>
              </a:lnSpc>
            </a:pPr>
            <a:r>
              <a:rPr lang="en-US" sz="5600" b="1" spc="300" kern="0" dirty="0">
                <a:solidFill>
                  <a:srgbClr val="FFFFFF"/>
                </a:solidFill>
                <a:latin typeface="Liter" pitchFamily="34" charset="0"/>
                <a:ea typeface="Liter" pitchFamily="34" charset="-122"/>
                <a:cs typeface="Liter" pitchFamily="34" charset="-120"/>
              </a:rPr>
              <a:t>CACHE DISTRIBUE</a:t>
            </a:r>
            <a:endParaRPr lang="en-US" sz="1600" dirty="0"/>
          </a:p>
          <a:p>
            <a:pPr algn="ctr">
              <a:lnSpc>
                <a:spcPct val="120000"/>
              </a:lnSpc>
            </a:pPr>
            <a:r>
              <a:rPr lang="en-US" sz="5600" b="1" spc="300" kern="0" dirty="0">
                <a:solidFill>
                  <a:srgbClr val="FFFFFF"/>
                </a:solidFill>
                <a:latin typeface="Liter" pitchFamily="34" charset="0"/>
                <a:ea typeface="Liter" pitchFamily="34" charset="-122"/>
                <a:cs typeface="Liter" pitchFamily="34" charset="-120"/>
              </a:rPr>
              <a:t>AVEC REDIS</a:t>
            </a:r>
            <a:endParaRPr lang="en-US" sz="1600" dirty="0"/>
          </a:p>
        </p:txBody>
      </p:sp>
      <p:sp>
        <p:nvSpPr>
          <p:cNvPr id="8" name="Shape 4"/>
          <p:cNvSpPr/>
          <p:nvPr/>
        </p:nvSpPr>
        <p:spPr>
          <a:xfrm>
            <a:off x="7175500" y="4953000"/>
            <a:ext cx="1905000" cy="50800"/>
          </a:xfrm>
          <a:prstGeom prst="rect">
            <a:avLst/>
          </a:prstGeom>
          <a:solidFill>
            <a:srgbClr val="DC382D"/>
          </a:solidFill>
          <a:ln/>
        </p:spPr>
      </p:sp>
      <p:sp>
        <p:nvSpPr>
          <p:cNvPr id="9" name="Text 5"/>
          <p:cNvSpPr/>
          <p:nvPr/>
        </p:nvSpPr>
        <p:spPr>
          <a:xfrm>
            <a:off x="5588000" y="5207000"/>
            <a:ext cx="5080000" cy="381000"/>
          </a:xfrm>
          <a:prstGeom prst="rect">
            <a:avLst/>
          </a:prstGeom>
          <a:noFill/>
          <a:ln/>
        </p:spPr>
        <p:txBody>
          <a:bodyPr wrap="none" lIns="0" tIns="0" rIns="0" bIns="0" rtlCol="0" anchor="ctr"/>
          <a:lstStyle/>
          <a:p>
            <a:pPr algn="ctr">
              <a:lnSpc>
                <a:spcPct val="100000"/>
              </a:lnSpc>
            </a:pPr>
            <a:r>
              <a:rPr lang="en-US" sz="1800" dirty="0">
                <a:solidFill>
                  <a:srgbClr val="94A3B8"/>
                </a:solidFill>
                <a:latin typeface="Quattrocento Sans" pitchFamily="34" charset="0"/>
                <a:ea typeface="Quattrocento Sans" pitchFamily="34" charset="-122"/>
                <a:cs typeface="Quattrocento Sans" pitchFamily="34" charset="-120"/>
              </a:rPr>
              <a:t>Projet 11</a:t>
            </a:r>
            <a:endParaRPr lang="en-US" sz="1600" dirty="0"/>
          </a:p>
        </p:txBody>
      </p:sp>
      <p:sp>
        <p:nvSpPr>
          <p:cNvPr id="10" name="Shape 6"/>
          <p:cNvSpPr/>
          <p:nvPr/>
        </p:nvSpPr>
        <p:spPr>
          <a:xfrm>
            <a:off x="4953000" y="6096000"/>
            <a:ext cx="6350000" cy="1016000"/>
          </a:xfrm>
          <a:prstGeom prst="roundRect">
            <a:avLst>
              <a:gd name="adj" fmla="val 8000"/>
            </a:avLst>
          </a:prstGeom>
          <a:solidFill>
            <a:srgbClr val="FFFFFF">
              <a:alpha val="8235"/>
            </a:srgbClr>
          </a:solidFill>
          <a:ln w="12700">
            <a:solidFill>
              <a:srgbClr val="FFFFFF">
                <a:alpha val="18824"/>
              </a:srgbClr>
            </a:solidFill>
            <a:prstDash val="solid"/>
          </a:ln>
        </p:spPr>
      </p:sp>
      <p:sp>
        <p:nvSpPr>
          <p:cNvPr id="11" name="Text 7"/>
          <p:cNvSpPr/>
          <p:nvPr/>
        </p:nvSpPr>
        <p:spPr>
          <a:xfrm>
            <a:off x="4953000" y="6096000"/>
            <a:ext cx="6350000" cy="1016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Omar Sarsar</a:t>
            </a:r>
            <a:pPr algn="ctr">
              <a:lnSpc>
                <a:spcPct val="100000"/>
              </a:lnSpc>
            </a:pPr>
            <a:r>
              <a:rPr lang="en-US" sz="1800" dirty="0">
                <a:solidFill>
                  <a:srgbClr val="FFFFFF"/>
                </a:solidFill>
                <a:latin typeface="Quattrocento Sans" pitchFamily="34" charset="0"/>
                <a:ea typeface="Quattrocento Sans" pitchFamily="34" charset="-122"/>
                <a:cs typeface="Quattrocento Sans" pitchFamily="34" charset="-120"/>
              </a:rPr>
              <a:t> &amp; </a:t>
            </a:r>
            <a:pPr algn="ct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Iliass Hariz</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01</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CONTEXTE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02 ARCHITECTURE 03 INFRASTRUCTURE 04 ABSTRACTION 05 INTEGRATION 06 INVALIDATION 07 TESTS 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CONTEXTE ET OBJECTIFS</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Shape 5"/>
          <p:cNvSpPr/>
          <p:nvPr/>
        </p:nvSpPr>
        <p:spPr>
          <a:xfrm>
            <a:off x="762000" y="1524000"/>
            <a:ext cx="2743200" cy="317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9" name="Shape 6"/>
          <p:cNvSpPr/>
          <p:nvPr/>
        </p:nvSpPr>
        <p:spPr>
          <a:xfrm>
            <a:off x="987425" y="1778000"/>
            <a:ext cx="514350" cy="457200"/>
          </a:xfrm>
          <a:custGeom>
            <a:avLst/>
            <a:gdLst/>
            <a:ahLst/>
            <a:cxnLst/>
            <a:rect l="l" t="t" r="r" b="b"/>
            <a:pathLst>
              <a:path w="514350" h="457200">
                <a:moveTo>
                  <a:pt x="0" y="300038"/>
                </a:moveTo>
                <a:cubicBezTo>
                  <a:pt x="0" y="371029"/>
                  <a:pt x="57596" y="428625"/>
                  <a:pt x="128588" y="428625"/>
                </a:cubicBezTo>
                <a:lnTo>
                  <a:pt x="400050" y="428625"/>
                </a:lnTo>
                <a:cubicBezTo>
                  <a:pt x="463183" y="428625"/>
                  <a:pt x="514350" y="377458"/>
                  <a:pt x="514350" y="314325"/>
                </a:cubicBezTo>
                <a:cubicBezTo>
                  <a:pt x="514350" y="268248"/>
                  <a:pt x="487114" y="228511"/>
                  <a:pt x="447824" y="210473"/>
                </a:cubicBezTo>
                <a:cubicBezTo>
                  <a:pt x="453807" y="198775"/>
                  <a:pt x="457200" y="185470"/>
                  <a:pt x="457200" y="171450"/>
                </a:cubicBezTo>
                <a:cubicBezTo>
                  <a:pt x="457200" y="124123"/>
                  <a:pt x="418802" y="85725"/>
                  <a:pt x="371475" y="85725"/>
                </a:cubicBezTo>
                <a:cubicBezTo>
                  <a:pt x="355669" y="85725"/>
                  <a:pt x="340935" y="90011"/>
                  <a:pt x="328255" y="97423"/>
                </a:cubicBezTo>
                <a:cubicBezTo>
                  <a:pt x="306735" y="56525"/>
                  <a:pt x="263783" y="28575"/>
                  <a:pt x="214313" y="28575"/>
                </a:cubicBezTo>
                <a:cubicBezTo>
                  <a:pt x="143321" y="28575"/>
                  <a:pt x="85725" y="86171"/>
                  <a:pt x="85725" y="157163"/>
                </a:cubicBezTo>
                <a:cubicBezTo>
                  <a:pt x="85725" y="164306"/>
                  <a:pt x="86350" y="171361"/>
                  <a:pt x="87422" y="178147"/>
                </a:cubicBezTo>
                <a:cubicBezTo>
                  <a:pt x="36612" y="195292"/>
                  <a:pt x="0" y="243423"/>
                  <a:pt x="0" y="300038"/>
                </a:cubicBezTo>
                <a:close/>
              </a:path>
            </a:pathLst>
          </a:custGeom>
          <a:solidFill>
            <a:srgbClr val="DC382D"/>
          </a:solidFill>
          <a:ln/>
        </p:spPr>
      </p:sp>
      <p:sp>
        <p:nvSpPr>
          <p:cNvPr id="10" name="Text 7"/>
          <p:cNvSpPr/>
          <p:nvPr/>
        </p:nvSpPr>
        <p:spPr>
          <a:xfrm>
            <a:off x="1016000" y="2387600"/>
            <a:ext cx="2235200" cy="3556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Marketplace SaaS</a:t>
            </a:r>
            <a:endParaRPr lang="en-US" sz="2000" dirty="0"/>
          </a:p>
        </p:txBody>
      </p:sp>
      <p:sp>
        <p:nvSpPr>
          <p:cNvPr id="11" name="Text 8"/>
          <p:cNvSpPr/>
          <p:nvPr/>
        </p:nvSpPr>
        <p:spPr>
          <a:xfrm>
            <a:off x="1016000" y="2819400"/>
            <a:ext cx="2235200" cy="1651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Application marketplace SaaS avec des ralentissements croissants sur les pages produits</a:t>
            </a:r>
            <a:endParaRPr lang="en-US" sz="1600" dirty="0"/>
          </a:p>
        </p:txBody>
      </p:sp>
      <p:sp>
        <p:nvSpPr>
          <p:cNvPr id="12" name="Shape 9"/>
          <p:cNvSpPr/>
          <p:nvPr/>
        </p:nvSpPr>
        <p:spPr>
          <a:xfrm>
            <a:off x="3759200" y="1524000"/>
            <a:ext cx="2743200" cy="317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3" name="Shape 10"/>
          <p:cNvSpPr/>
          <p:nvPr/>
        </p:nvSpPr>
        <p:spPr>
          <a:xfrm>
            <a:off x="4013200" y="1778000"/>
            <a:ext cx="457200" cy="457200"/>
          </a:xfrm>
          <a:custGeom>
            <a:avLst/>
            <a:gdLst/>
            <a:ahLst/>
            <a:cxnLst/>
            <a:rect l="l" t="t" r="r" b="b"/>
            <a:pathLst>
              <a:path w="457200" h="457200">
                <a:moveTo>
                  <a:pt x="0" y="228600"/>
                </a:moveTo>
                <a:cubicBezTo>
                  <a:pt x="0" y="102432"/>
                  <a:pt x="102432" y="0"/>
                  <a:pt x="228600" y="0"/>
                </a:cubicBezTo>
                <a:cubicBezTo>
                  <a:pt x="354768" y="0"/>
                  <a:pt x="457200" y="102432"/>
                  <a:pt x="457200" y="228600"/>
                </a:cubicBezTo>
                <a:cubicBezTo>
                  <a:pt x="457200" y="354768"/>
                  <a:pt x="354768" y="457200"/>
                  <a:pt x="228600" y="457200"/>
                </a:cubicBezTo>
                <a:cubicBezTo>
                  <a:pt x="102432" y="457200"/>
                  <a:pt x="0" y="354768"/>
                  <a:pt x="0" y="228600"/>
                </a:cubicBezTo>
                <a:close/>
                <a:moveTo>
                  <a:pt x="257175" y="85725"/>
                </a:moveTo>
                <a:cubicBezTo>
                  <a:pt x="257175" y="69954"/>
                  <a:pt x="244371" y="57150"/>
                  <a:pt x="228600" y="57150"/>
                </a:cubicBezTo>
                <a:cubicBezTo>
                  <a:pt x="212829" y="57150"/>
                  <a:pt x="200025" y="69954"/>
                  <a:pt x="200025" y="85725"/>
                </a:cubicBezTo>
                <a:cubicBezTo>
                  <a:pt x="200025" y="101496"/>
                  <a:pt x="212829" y="114300"/>
                  <a:pt x="228600" y="114300"/>
                </a:cubicBezTo>
                <a:cubicBezTo>
                  <a:pt x="244371" y="114300"/>
                  <a:pt x="257175" y="101496"/>
                  <a:pt x="257175" y="85725"/>
                </a:cubicBezTo>
                <a:close/>
                <a:moveTo>
                  <a:pt x="228600" y="371475"/>
                </a:moveTo>
                <a:cubicBezTo>
                  <a:pt x="260122" y="371475"/>
                  <a:pt x="285750" y="345847"/>
                  <a:pt x="285750" y="314325"/>
                </a:cubicBezTo>
                <a:cubicBezTo>
                  <a:pt x="285750" y="299859"/>
                  <a:pt x="280392" y="286554"/>
                  <a:pt x="271463" y="276552"/>
                </a:cubicBezTo>
                <a:lnTo>
                  <a:pt x="333524" y="152519"/>
                </a:lnTo>
                <a:cubicBezTo>
                  <a:pt x="338792" y="141893"/>
                  <a:pt x="334506" y="129034"/>
                  <a:pt x="323969" y="123765"/>
                </a:cubicBezTo>
                <a:cubicBezTo>
                  <a:pt x="313432" y="118497"/>
                  <a:pt x="300484" y="122783"/>
                  <a:pt x="295215" y="133320"/>
                </a:cubicBezTo>
                <a:lnTo>
                  <a:pt x="233154" y="257354"/>
                </a:lnTo>
                <a:cubicBezTo>
                  <a:pt x="231636" y="257264"/>
                  <a:pt x="230118" y="257175"/>
                  <a:pt x="228600" y="257175"/>
                </a:cubicBezTo>
                <a:cubicBezTo>
                  <a:pt x="197078" y="257175"/>
                  <a:pt x="171450" y="282803"/>
                  <a:pt x="171450" y="314325"/>
                </a:cubicBezTo>
                <a:cubicBezTo>
                  <a:pt x="171450" y="345847"/>
                  <a:pt x="197078" y="371475"/>
                  <a:pt x="228600" y="371475"/>
                </a:cubicBezTo>
                <a:close/>
                <a:moveTo>
                  <a:pt x="157163" y="128588"/>
                </a:moveTo>
                <a:cubicBezTo>
                  <a:pt x="157163" y="112817"/>
                  <a:pt x="144358" y="100013"/>
                  <a:pt x="128588" y="100013"/>
                </a:cubicBezTo>
                <a:cubicBezTo>
                  <a:pt x="112817" y="100013"/>
                  <a:pt x="100013" y="112817"/>
                  <a:pt x="100013" y="128588"/>
                </a:cubicBezTo>
                <a:cubicBezTo>
                  <a:pt x="100013" y="144358"/>
                  <a:pt x="112817" y="157163"/>
                  <a:pt x="128588" y="157163"/>
                </a:cubicBezTo>
                <a:cubicBezTo>
                  <a:pt x="144358" y="157163"/>
                  <a:pt x="157163" y="144358"/>
                  <a:pt x="157163" y="128588"/>
                </a:cubicBezTo>
                <a:close/>
                <a:moveTo>
                  <a:pt x="85725" y="257175"/>
                </a:moveTo>
                <a:cubicBezTo>
                  <a:pt x="101496" y="257175"/>
                  <a:pt x="114300" y="244371"/>
                  <a:pt x="114300" y="228600"/>
                </a:cubicBezTo>
                <a:cubicBezTo>
                  <a:pt x="114300" y="212829"/>
                  <a:pt x="101496" y="200025"/>
                  <a:pt x="85725" y="200025"/>
                </a:cubicBezTo>
                <a:cubicBezTo>
                  <a:pt x="69954" y="200025"/>
                  <a:pt x="57150" y="212829"/>
                  <a:pt x="57150" y="228600"/>
                </a:cubicBezTo>
                <a:cubicBezTo>
                  <a:pt x="57150" y="244371"/>
                  <a:pt x="69954" y="257175"/>
                  <a:pt x="85725" y="257175"/>
                </a:cubicBezTo>
                <a:close/>
                <a:moveTo>
                  <a:pt x="400050" y="228600"/>
                </a:moveTo>
                <a:cubicBezTo>
                  <a:pt x="400050" y="212829"/>
                  <a:pt x="387246" y="200025"/>
                  <a:pt x="371475" y="200025"/>
                </a:cubicBezTo>
                <a:cubicBezTo>
                  <a:pt x="355704" y="200025"/>
                  <a:pt x="342900" y="212829"/>
                  <a:pt x="342900" y="228600"/>
                </a:cubicBezTo>
                <a:cubicBezTo>
                  <a:pt x="342900" y="244371"/>
                  <a:pt x="355704" y="257175"/>
                  <a:pt x="371475" y="257175"/>
                </a:cubicBezTo>
                <a:cubicBezTo>
                  <a:pt x="387246" y="257175"/>
                  <a:pt x="400050" y="244371"/>
                  <a:pt x="400050" y="228600"/>
                </a:cubicBezTo>
                <a:close/>
              </a:path>
            </a:pathLst>
          </a:custGeom>
          <a:solidFill>
            <a:srgbClr val="DC382D"/>
          </a:solidFill>
          <a:ln/>
        </p:spPr>
      </p:sp>
      <p:sp>
        <p:nvSpPr>
          <p:cNvPr id="14" name="Text 11"/>
          <p:cNvSpPr/>
          <p:nvPr/>
        </p:nvSpPr>
        <p:spPr>
          <a:xfrm>
            <a:off x="4013200" y="2387600"/>
            <a:ext cx="22352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Performances</a:t>
            </a:r>
            <a:endParaRPr lang="en-US" sz="2000" dirty="0"/>
          </a:p>
        </p:txBody>
      </p:sp>
      <p:sp>
        <p:nvSpPr>
          <p:cNvPr id="15" name="Text 12"/>
          <p:cNvSpPr/>
          <p:nvPr/>
        </p:nvSpPr>
        <p:spPr>
          <a:xfrm>
            <a:off x="4013200" y="2819400"/>
            <a:ext cx="2235200" cy="1651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Ralentissements sur les pages dues a la charge sur la base de donnees PostgreSQL</a:t>
            </a:r>
            <a:endParaRPr lang="en-US" sz="1600" dirty="0"/>
          </a:p>
        </p:txBody>
      </p:sp>
      <p:sp>
        <p:nvSpPr>
          <p:cNvPr id="16" name="Shape 13"/>
          <p:cNvSpPr/>
          <p:nvPr/>
        </p:nvSpPr>
        <p:spPr>
          <a:xfrm>
            <a:off x="6756400" y="1524000"/>
            <a:ext cx="2743200" cy="317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7" name="Shape 14"/>
          <p:cNvSpPr/>
          <p:nvPr/>
        </p:nvSpPr>
        <p:spPr>
          <a:xfrm>
            <a:off x="7038975" y="1778000"/>
            <a:ext cx="400050" cy="457200"/>
          </a:xfrm>
          <a:custGeom>
            <a:avLst/>
            <a:gdLst/>
            <a:ahLst/>
            <a:cxnLst/>
            <a:rect l="l" t="t" r="r" b="b"/>
            <a:pathLst>
              <a:path w="400050" h="45720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DC382D"/>
          </a:solidFill>
          <a:ln/>
        </p:spPr>
      </p:sp>
      <p:sp>
        <p:nvSpPr>
          <p:cNvPr id="18" name="Text 15"/>
          <p:cNvSpPr/>
          <p:nvPr/>
        </p:nvSpPr>
        <p:spPr>
          <a:xfrm>
            <a:off x="7010400" y="2387600"/>
            <a:ext cx="22352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Cache Redis</a:t>
            </a:r>
            <a:endParaRPr lang="en-US" sz="2000" dirty="0"/>
          </a:p>
        </p:txBody>
      </p:sp>
      <p:sp>
        <p:nvSpPr>
          <p:cNvPr id="19" name="Text 16"/>
          <p:cNvSpPr/>
          <p:nvPr/>
        </p:nvSpPr>
        <p:spPr>
          <a:xfrm>
            <a:off x="7010400" y="2819400"/>
            <a:ext cx="2235200" cy="1651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Solution : integration d'un cache distribue Redis pour reduire les temps de reponse</a:t>
            </a:r>
            <a:endParaRPr lang="en-US" sz="1600" dirty="0"/>
          </a:p>
        </p:txBody>
      </p:sp>
      <p:sp>
        <p:nvSpPr>
          <p:cNvPr id="20" name="Shape 17"/>
          <p:cNvSpPr/>
          <p:nvPr/>
        </p:nvSpPr>
        <p:spPr>
          <a:xfrm>
            <a:off x="9753600" y="1524000"/>
            <a:ext cx="2743200" cy="317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1" name="Shape 18"/>
          <p:cNvSpPr/>
          <p:nvPr/>
        </p:nvSpPr>
        <p:spPr>
          <a:xfrm>
            <a:off x="9950450" y="1778000"/>
            <a:ext cx="571500" cy="457200"/>
          </a:xfrm>
          <a:custGeom>
            <a:avLst/>
            <a:gdLst/>
            <a:ahLst/>
            <a:cxnLst/>
            <a:rect l="l" t="t" r="r" b="b"/>
            <a:pathLst>
              <a:path w="571500" h="457200">
                <a:moveTo>
                  <a:pt x="312450" y="211009"/>
                </a:moveTo>
                <a:lnTo>
                  <a:pt x="253425" y="211009"/>
                </a:lnTo>
                <a:lnTo>
                  <a:pt x="253425" y="157966"/>
                </a:lnTo>
                <a:lnTo>
                  <a:pt x="312450" y="157966"/>
                </a:lnTo>
                <a:lnTo>
                  <a:pt x="312450" y="211009"/>
                </a:lnTo>
                <a:close/>
                <a:moveTo>
                  <a:pt x="312450" y="28575"/>
                </a:moveTo>
                <a:lnTo>
                  <a:pt x="253425" y="28575"/>
                </a:lnTo>
                <a:lnTo>
                  <a:pt x="253425" y="82778"/>
                </a:lnTo>
                <a:lnTo>
                  <a:pt x="312450" y="82778"/>
                </a:lnTo>
                <a:lnTo>
                  <a:pt x="312450" y="28575"/>
                </a:lnTo>
                <a:close/>
                <a:moveTo>
                  <a:pt x="382280" y="157877"/>
                </a:moveTo>
                <a:lnTo>
                  <a:pt x="323255" y="157877"/>
                </a:lnTo>
                <a:lnTo>
                  <a:pt x="323255" y="210919"/>
                </a:lnTo>
                <a:lnTo>
                  <a:pt x="382280" y="210919"/>
                </a:lnTo>
                <a:lnTo>
                  <a:pt x="382280" y="157877"/>
                </a:lnTo>
                <a:close/>
                <a:moveTo>
                  <a:pt x="242709" y="93494"/>
                </a:moveTo>
                <a:lnTo>
                  <a:pt x="183684" y="93494"/>
                </a:lnTo>
                <a:lnTo>
                  <a:pt x="183684" y="147161"/>
                </a:lnTo>
                <a:lnTo>
                  <a:pt x="242709" y="147161"/>
                </a:lnTo>
                <a:lnTo>
                  <a:pt x="242709" y="93494"/>
                </a:lnTo>
                <a:close/>
                <a:moveTo>
                  <a:pt x="312450" y="93494"/>
                </a:moveTo>
                <a:lnTo>
                  <a:pt x="253425" y="93494"/>
                </a:lnTo>
                <a:lnTo>
                  <a:pt x="253425" y="147161"/>
                </a:lnTo>
                <a:lnTo>
                  <a:pt x="312450" y="147161"/>
                </a:lnTo>
                <a:lnTo>
                  <a:pt x="312450" y="93494"/>
                </a:lnTo>
                <a:close/>
                <a:moveTo>
                  <a:pt x="559624" y="182791"/>
                </a:moveTo>
                <a:cubicBezTo>
                  <a:pt x="546765" y="174129"/>
                  <a:pt x="517118" y="171004"/>
                  <a:pt x="494348" y="175290"/>
                </a:cubicBezTo>
                <a:cubicBezTo>
                  <a:pt x="491401" y="153859"/>
                  <a:pt x="479435" y="135195"/>
                  <a:pt x="457646" y="118408"/>
                </a:cubicBezTo>
                <a:lnTo>
                  <a:pt x="445145" y="110103"/>
                </a:lnTo>
                <a:lnTo>
                  <a:pt x="436840" y="122605"/>
                </a:lnTo>
                <a:cubicBezTo>
                  <a:pt x="420410" y="147429"/>
                  <a:pt x="415945" y="188327"/>
                  <a:pt x="433536" y="215295"/>
                </a:cubicBezTo>
                <a:cubicBezTo>
                  <a:pt x="425768" y="219492"/>
                  <a:pt x="410498" y="225207"/>
                  <a:pt x="390317" y="224850"/>
                </a:cubicBezTo>
                <a:lnTo>
                  <a:pt x="2143" y="224850"/>
                </a:lnTo>
                <a:cubicBezTo>
                  <a:pt x="-5626" y="270212"/>
                  <a:pt x="7322" y="329148"/>
                  <a:pt x="41434" y="369600"/>
                </a:cubicBezTo>
                <a:cubicBezTo>
                  <a:pt x="74563" y="408801"/>
                  <a:pt x="124212" y="428714"/>
                  <a:pt x="189131" y="428714"/>
                </a:cubicBezTo>
                <a:cubicBezTo>
                  <a:pt x="329684" y="428714"/>
                  <a:pt x="433715" y="363974"/>
                  <a:pt x="482382" y="246370"/>
                </a:cubicBezTo>
                <a:cubicBezTo>
                  <a:pt x="501491" y="246727"/>
                  <a:pt x="542746" y="246459"/>
                  <a:pt x="563910" y="206008"/>
                </a:cubicBezTo>
                <a:cubicBezTo>
                  <a:pt x="565249" y="203775"/>
                  <a:pt x="569803" y="194221"/>
                  <a:pt x="571500" y="190738"/>
                </a:cubicBezTo>
                <a:lnTo>
                  <a:pt x="559624" y="182791"/>
                </a:lnTo>
                <a:close/>
                <a:moveTo>
                  <a:pt x="103227" y="157877"/>
                </a:moveTo>
                <a:lnTo>
                  <a:pt x="44291" y="157877"/>
                </a:lnTo>
                <a:lnTo>
                  <a:pt x="44291" y="210919"/>
                </a:lnTo>
                <a:lnTo>
                  <a:pt x="103316" y="210919"/>
                </a:lnTo>
                <a:lnTo>
                  <a:pt x="103316" y="157877"/>
                </a:lnTo>
                <a:lnTo>
                  <a:pt x="103227" y="157877"/>
                </a:lnTo>
                <a:close/>
                <a:moveTo>
                  <a:pt x="172968" y="157877"/>
                </a:moveTo>
                <a:lnTo>
                  <a:pt x="113943" y="157877"/>
                </a:lnTo>
                <a:lnTo>
                  <a:pt x="113943" y="210919"/>
                </a:lnTo>
                <a:lnTo>
                  <a:pt x="172968" y="210919"/>
                </a:lnTo>
                <a:lnTo>
                  <a:pt x="172968" y="157877"/>
                </a:lnTo>
                <a:close/>
                <a:moveTo>
                  <a:pt x="242709" y="157877"/>
                </a:moveTo>
                <a:lnTo>
                  <a:pt x="183684" y="157877"/>
                </a:lnTo>
                <a:lnTo>
                  <a:pt x="183684" y="210919"/>
                </a:lnTo>
                <a:lnTo>
                  <a:pt x="242709" y="210919"/>
                </a:lnTo>
                <a:lnTo>
                  <a:pt x="242709" y="157877"/>
                </a:lnTo>
                <a:close/>
                <a:moveTo>
                  <a:pt x="172968" y="93494"/>
                </a:moveTo>
                <a:lnTo>
                  <a:pt x="113943" y="93494"/>
                </a:lnTo>
                <a:lnTo>
                  <a:pt x="113943" y="147161"/>
                </a:lnTo>
                <a:lnTo>
                  <a:pt x="172968" y="147161"/>
                </a:lnTo>
                <a:lnTo>
                  <a:pt x="172968" y="93494"/>
                </a:lnTo>
                <a:close/>
              </a:path>
            </a:pathLst>
          </a:custGeom>
          <a:solidFill>
            <a:srgbClr val="DC382D"/>
          </a:solidFill>
          <a:ln/>
        </p:spPr>
      </p:sp>
      <p:sp>
        <p:nvSpPr>
          <p:cNvPr id="22" name="Text 19"/>
          <p:cNvSpPr/>
          <p:nvPr/>
        </p:nvSpPr>
        <p:spPr>
          <a:xfrm>
            <a:off x="10007600" y="2387600"/>
            <a:ext cx="22352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Docker Compose</a:t>
            </a:r>
            <a:endParaRPr lang="en-US" sz="2000" dirty="0"/>
          </a:p>
        </p:txBody>
      </p:sp>
      <p:sp>
        <p:nvSpPr>
          <p:cNvPr id="23" name="Text 20"/>
          <p:cNvSpPr/>
          <p:nvPr/>
        </p:nvSpPr>
        <p:spPr>
          <a:xfrm>
            <a:off x="10007600" y="2819400"/>
            <a:ext cx="2235200" cy="1651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Deploiement containerise avec Docker Compose pour l'orchestration des services</a:t>
            </a:r>
            <a:endParaRPr lang="en-US" sz="1600" dirty="0"/>
          </a:p>
        </p:txBody>
      </p:sp>
      <p:sp>
        <p:nvSpPr>
          <p:cNvPr id="24" name="Shape 21"/>
          <p:cNvSpPr/>
          <p:nvPr/>
        </p:nvSpPr>
        <p:spPr>
          <a:xfrm>
            <a:off x="12750800" y="1524000"/>
            <a:ext cx="2743200" cy="317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5" name="Shape 22"/>
          <p:cNvSpPr/>
          <p:nvPr/>
        </p:nvSpPr>
        <p:spPr>
          <a:xfrm>
            <a:off x="13004800" y="1778000"/>
            <a:ext cx="457200" cy="457200"/>
          </a:xfrm>
          <a:custGeom>
            <a:avLst/>
            <a:gdLst/>
            <a:ahLst/>
            <a:cxnLst/>
            <a:rect l="l" t="t" r="r" b="b"/>
            <a:pathLst>
              <a:path w="457200" h="457200">
                <a:moveTo>
                  <a:pt x="57150" y="57150"/>
                </a:moveTo>
                <a:cubicBezTo>
                  <a:pt x="57150" y="41344"/>
                  <a:pt x="44381" y="28575"/>
                  <a:pt x="28575" y="28575"/>
                </a:cubicBezTo>
                <a:cubicBezTo>
                  <a:pt x="12769" y="28575"/>
                  <a:pt x="0" y="41344"/>
                  <a:pt x="0" y="57150"/>
                </a:cubicBezTo>
                <a:lnTo>
                  <a:pt x="0" y="357188"/>
                </a:lnTo>
                <a:cubicBezTo>
                  <a:pt x="0" y="396657"/>
                  <a:pt x="31968" y="428625"/>
                  <a:pt x="71438" y="428625"/>
                </a:cubicBezTo>
                <a:lnTo>
                  <a:pt x="428625" y="428625"/>
                </a:lnTo>
                <a:cubicBezTo>
                  <a:pt x="444431" y="428625"/>
                  <a:pt x="457200" y="415856"/>
                  <a:pt x="457200" y="400050"/>
                </a:cubicBezTo>
                <a:cubicBezTo>
                  <a:pt x="457200" y="384244"/>
                  <a:pt x="444431" y="371475"/>
                  <a:pt x="428625" y="371475"/>
                </a:cubicBezTo>
                <a:lnTo>
                  <a:pt x="71438" y="371475"/>
                </a:lnTo>
                <a:cubicBezTo>
                  <a:pt x="63579" y="371475"/>
                  <a:pt x="57150" y="365046"/>
                  <a:pt x="57150" y="357188"/>
                </a:cubicBezTo>
                <a:lnTo>
                  <a:pt x="57150" y="57150"/>
                </a:lnTo>
                <a:close/>
                <a:moveTo>
                  <a:pt x="420231" y="134481"/>
                </a:moveTo>
                <a:cubicBezTo>
                  <a:pt x="431393" y="123319"/>
                  <a:pt x="431393" y="105192"/>
                  <a:pt x="420231" y="94030"/>
                </a:cubicBezTo>
                <a:cubicBezTo>
                  <a:pt x="409069" y="82867"/>
                  <a:pt x="390942" y="82867"/>
                  <a:pt x="379780" y="94030"/>
                </a:cubicBezTo>
                <a:lnTo>
                  <a:pt x="285750" y="188149"/>
                </a:lnTo>
                <a:lnTo>
                  <a:pt x="234494" y="136981"/>
                </a:lnTo>
                <a:cubicBezTo>
                  <a:pt x="223331" y="125819"/>
                  <a:pt x="205204" y="125819"/>
                  <a:pt x="194042" y="136981"/>
                </a:cubicBezTo>
                <a:lnTo>
                  <a:pt x="108317" y="222706"/>
                </a:lnTo>
                <a:cubicBezTo>
                  <a:pt x="97155" y="233869"/>
                  <a:pt x="97155" y="251996"/>
                  <a:pt x="108317" y="263158"/>
                </a:cubicBezTo>
                <a:cubicBezTo>
                  <a:pt x="119479" y="274320"/>
                  <a:pt x="137606" y="274320"/>
                  <a:pt x="148769" y="263158"/>
                </a:cubicBezTo>
                <a:lnTo>
                  <a:pt x="214313" y="197614"/>
                </a:lnTo>
                <a:lnTo>
                  <a:pt x="265569" y="248870"/>
                </a:lnTo>
                <a:cubicBezTo>
                  <a:pt x="276731" y="260033"/>
                  <a:pt x="294858" y="260033"/>
                  <a:pt x="306020" y="248870"/>
                </a:cubicBezTo>
                <a:lnTo>
                  <a:pt x="420320" y="134570"/>
                </a:lnTo>
                <a:close/>
              </a:path>
            </a:pathLst>
          </a:custGeom>
          <a:solidFill>
            <a:srgbClr val="DC382D"/>
          </a:solidFill>
          <a:ln/>
        </p:spPr>
      </p:sp>
      <p:sp>
        <p:nvSpPr>
          <p:cNvPr id="26" name="Text 23"/>
          <p:cNvSpPr/>
          <p:nvPr/>
        </p:nvSpPr>
        <p:spPr>
          <a:xfrm>
            <a:off x="13004800" y="2387600"/>
            <a:ext cx="22352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Mesures</a:t>
            </a:r>
            <a:endParaRPr lang="en-US" sz="2000" dirty="0"/>
          </a:p>
        </p:txBody>
      </p:sp>
      <p:sp>
        <p:nvSpPr>
          <p:cNvPr id="27" name="Text 24"/>
          <p:cNvSpPr/>
          <p:nvPr/>
        </p:nvSpPr>
        <p:spPr>
          <a:xfrm>
            <a:off x="13004800" y="2819400"/>
            <a:ext cx="2235200" cy="1651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Mesure et comparaison des performances avant et apres l'integration du cache</a:t>
            </a:r>
            <a:endParaRPr lang="en-US" sz="1600" dirty="0"/>
          </a:p>
        </p:txBody>
      </p:sp>
      <p:sp>
        <p:nvSpPr>
          <p:cNvPr id="28" name="Shape 25"/>
          <p:cNvSpPr/>
          <p:nvPr/>
        </p:nvSpPr>
        <p:spPr>
          <a:xfrm>
            <a:off x="762000" y="5080000"/>
            <a:ext cx="14732000" cy="3302000"/>
          </a:xfrm>
          <a:prstGeom prst="roundRect">
            <a:avLst>
              <a:gd name="adj" fmla="val 6000"/>
            </a:avLst>
          </a:prstGeom>
          <a:solidFill>
            <a:srgbClr val="FEF2F2"/>
          </a:solidFill>
          <a:ln w="12700">
            <a:solidFill>
              <a:srgbClr val="FECACA"/>
            </a:solidFill>
            <a:prstDash val="solid"/>
          </a:ln>
        </p:spPr>
      </p:sp>
      <p:sp>
        <p:nvSpPr>
          <p:cNvPr id="29" name="Shape 26"/>
          <p:cNvSpPr/>
          <p:nvPr/>
        </p:nvSpPr>
        <p:spPr>
          <a:xfrm>
            <a:off x="762000" y="5080000"/>
            <a:ext cx="50800" cy="3302000"/>
          </a:xfrm>
          <a:prstGeom prst="rect">
            <a:avLst/>
          </a:prstGeom>
          <a:solidFill>
            <a:srgbClr val="DC382D"/>
          </a:solidFill>
          <a:ln/>
        </p:spPr>
      </p:sp>
      <p:sp>
        <p:nvSpPr>
          <p:cNvPr id="30" name="Text 27"/>
          <p:cNvSpPr/>
          <p:nvPr/>
        </p:nvSpPr>
        <p:spPr>
          <a:xfrm>
            <a:off x="1143000" y="5334000"/>
            <a:ext cx="508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Objectif Principal</a:t>
            </a:r>
            <a:endParaRPr lang="en-US" sz="2000" dirty="0"/>
          </a:p>
        </p:txBody>
      </p:sp>
      <p:sp>
        <p:nvSpPr>
          <p:cNvPr id="31" name="Text 28"/>
          <p:cNvSpPr/>
          <p:nvPr/>
        </p:nvSpPr>
        <p:spPr>
          <a:xfrm>
            <a:off x="1143000" y="5842000"/>
            <a:ext cx="13970000" cy="2286000"/>
          </a:xfrm>
          <a:prstGeom prst="rect">
            <a:avLst/>
          </a:prstGeom>
          <a:noFill/>
          <a:ln/>
        </p:spPr>
        <p:txBody>
          <a:bodyPr wrap="square" lIns="0" tIns="0" rIns="0" bIns="0" rtlCol="0" anchor="t"/>
          <a:lstStyle/>
          <a:p>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Ameliorer les performances de l'application marketplace en implementant un </a:t>
            </a:r>
            <a:pPr>
              <a:lnSpc>
                <a:spcPct val="160000"/>
              </a:lnSpc>
            </a:pPr>
            <a:r>
              <a:rPr lang="en-US" sz="1800" b="1" dirty="0">
                <a:solidFill>
                  <a:srgbClr val="0F172A"/>
                </a:solidFill>
                <a:latin typeface="QuattrocentoSans" pitchFamily="34" charset="0"/>
                <a:ea typeface="QuattrocentoSans" pitchFamily="34" charset="-122"/>
                <a:cs typeface="QuattrocentoSans" pitchFamily="34" charset="-120"/>
              </a:rPr>
              <a:t>cache distribue Redis</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 qui verifie le cache avant d'interroger PostgreSQL. Cette approche permet de :</a:t>
            </a:r>
            <a:endParaRPr lang="en-US" sz="1800" dirty="0"/>
          </a:p>
          <a:p>
            <a:pPr marL="285750" indent="-285750">
              <a:lnSpc>
                <a:spcPct val="160000"/>
              </a:lnSpc>
              <a:spcBef>
                <a:spcPts val="10"/>
              </a:spcBef>
              <a:buSzPct val="100000"/>
              <a:buChar char="•"/>
            </a:pPr>
            <a:r>
              <a:rPr lang="en-US" sz="1800" dirty="0">
                <a:solidFill>
                  <a:srgbClr val="0F172A"/>
                </a:solidFill>
                <a:latin typeface="QuattrocentoSans" pitchFamily="34" charset="0"/>
                <a:ea typeface="QuattrocentoSans" pitchFamily="34" charset="-122"/>
                <a:cs typeface="QuattrocentoSans" pitchFamily="34" charset="-120"/>
              </a:rPr>
              <a:t>Reduire le </a:t>
            </a:r>
            <a:pPr>
              <a:lnSpc>
                <a:spcPct val="160000"/>
              </a:lnSpc>
              <a:spcBef>
                <a:spcPts val="10"/>
              </a:spcBef>
            </a:pPr>
            <a:r>
              <a:rPr lang="en-US" sz="1800" b="1" dirty="0">
                <a:solidFill>
                  <a:srgbClr val="0F172A"/>
                </a:solidFill>
                <a:latin typeface="QuattrocentoSans" pitchFamily="34" charset="0"/>
                <a:ea typeface="QuattrocentoSans" pitchFamily="34" charset="-122"/>
                <a:cs typeface="QuattrocentoSans" pitchFamily="34" charset="-120"/>
              </a:rPr>
              <a:t>temps de reponse</a:t>
            </a:r>
            <a:pPr>
              <a:lnSpc>
                <a:spcPct val="160000"/>
              </a:lnSpc>
              <a:spcBef>
                <a:spcPts val="10"/>
              </a:spcBef>
            </a:pPr>
            <a:r>
              <a:rPr lang="en-US" sz="1800" dirty="0">
                <a:solidFill>
                  <a:srgbClr val="0F172A"/>
                </a:solidFill>
                <a:latin typeface="QuattrocentoSans" pitchFamily="34" charset="0"/>
                <a:ea typeface="QuattrocentoSans" pitchFamily="34" charset="-122"/>
                <a:cs typeface="QuattrocentoSans" pitchFamily="34" charset="-120"/>
              </a:rPr>
              <a:t> des pages produits</a:t>
            </a:r>
            <a:endParaRPr lang="en-US" sz="1800" dirty="0"/>
          </a:p>
          <a:p>
            <a:pPr marL="285750" indent="-285750">
              <a:lnSpc>
                <a:spcPct val="160000"/>
              </a:lnSpc>
              <a:spcBef>
                <a:spcPts val="10"/>
              </a:spcBef>
              <a:buSzPct val="100000"/>
              <a:buChar char="•"/>
            </a:pPr>
            <a:r>
              <a:rPr lang="en-US" sz="1800" dirty="0">
                <a:solidFill>
                  <a:srgbClr val="0F172A"/>
                </a:solidFill>
                <a:latin typeface="QuattrocentoSans" pitchFamily="34" charset="0"/>
                <a:ea typeface="QuattrocentoSans" pitchFamily="34" charset="-122"/>
                <a:cs typeface="QuattrocentoSans" pitchFamily="34" charset="-120"/>
              </a:rPr>
              <a:t>Diminuer la </a:t>
            </a:r>
            <a:pPr>
              <a:lnSpc>
                <a:spcPct val="160000"/>
              </a:lnSpc>
              <a:spcBef>
                <a:spcPts val="10"/>
              </a:spcBef>
            </a:pPr>
            <a:r>
              <a:rPr lang="en-US" sz="1800" b="1" dirty="0">
                <a:solidFill>
                  <a:srgbClr val="0F172A"/>
                </a:solidFill>
                <a:latin typeface="QuattrocentoSans" pitchFamily="34" charset="0"/>
                <a:ea typeface="QuattrocentoSans" pitchFamily="34" charset="-122"/>
                <a:cs typeface="QuattrocentoSans" pitchFamily="34" charset="-120"/>
              </a:rPr>
              <a:t>charge sur la base de donnees</a:t>
            </a:r>
            <a:endParaRPr lang="en-US" sz="1800" dirty="0"/>
          </a:p>
          <a:p>
            <a:pPr marL="285750" indent="-285750">
              <a:lnSpc>
                <a:spcPct val="160000"/>
              </a:lnSpc>
              <a:spcBef>
                <a:spcPts val="10"/>
              </a:spcBef>
              <a:buSzPct val="100000"/>
              <a:buChar char="•"/>
            </a:pPr>
            <a:r>
              <a:rPr lang="en-US" sz="1800" dirty="0">
                <a:solidFill>
                  <a:srgbClr val="0F172A"/>
                </a:solidFill>
                <a:latin typeface="QuattrocentoSans" pitchFamily="34" charset="0"/>
                <a:ea typeface="QuattrocentoSans" pitchFamily="34" charset="-122"/>
                <a:cs typeface="QuattrocentoSans" pitchFamily="34" charset="-120"/>
              </a:rPr>
              <a:t>Maintenir la </a:t>
            </a:r>
            <a:pPr>
              <a:lnSpc>
                <a:spcPct val="160000"/>
              </a:lnSpc>
              <a:spcBef>
                <a:spcPts val="10"/>
              </a:spcBef>
            </a:pPr>
            <a:r>
              <a:rPr lang="en-US" sz="1800" b="1" dirty="0">
                <a:solidFill>
                  <a:srgbClr val="0F172A"/>
                </a:solidFill>
                <a:latin typeface="QuattrocentoSans" pitchFamily="34" charset="0"/>
                <a:ea typeface="QuattrocentoSans" pitchFamily="34" charset="-122"/>
                <a:cs typeface="QuattrocentoSans" pitchFamily="34" charset="-120"/>
              </a:rPr>
              <a:t>coherence des donnees</a:t>
            </a:r>
            <a:pPr>
              <a:lnSpc>
                <a:spcPct val="160000"/>
              </a:lnSpc>
              <a:spcBef>
                <a:spcPts val="10"/>
              </a:spcBef>
            </a:pPr>
            <a:r>
              <a:rPr lang="en-US" sz="1800" dirty="0">
                <a:solidFill>
                  <a:srgbClr val="0F172A"/>
                </a:solidFill>
                <a:latin typeface="QuattrocentoSans" pitchFamily="34" charset="0"/>
                <a:ea typeface="QuattrocentoSans" pitchFamily="34" charset="-122"/>
                <a:cs typeface="QuattrocentoSans" pitchFamily="34" charset="-120"/>
              </a:rPr>
              <a:t> via une strategie d'invalidation</a:t>
            </a:r>
            <a:endParaRPr lang="en-US" sz="18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16256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02</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ARCHITECTURE</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03 INFRASTRUCTURE 04 ABSTRACTION 05 INTEGRATION 06 INVALIDATION 07 TESTS 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ARCHITECTURE DU SYSTEME</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Text 5"/>
          <p:cNvSpPr/>
          <p:nvPr/>
        </p:nvSpPr>
        <p:spPr>
          <a:xfrm>
            <a:off x="762000" y="1524000"/>
            <a:ext cx="6604000" cy="3556000"/>
          </a:xfrm>
          <a:prstGeom prst="rect">
            <a:avLst/>
          </a:prstGeom>
          <a:noFill/>
          <a:ln/>
        </p:spPr>
        <p:txBody>
          <a:bodyPr wrap="square" lIns="0" tIns="0" rIns="0" bIns="0" rtlCol="0" anchor="t"/>
          <a:lstStyle/>
          <a:p>
            <a:pPr>
              <a:lnSpc>
                <a:spcPct val="160000"/>
              </a:lnSpc>
            </a:pPr>
            <a:r>
              <a:rPr lang="en-US" sz="1800" b="1" dirty="0">
                <a:solidFill>
                  <a:srgbClr val="1E293B"/>
                </a:solidFill>
                <a:latin typeface="QuattrocentoSans" pitchFamily="34" charset="0"/>
                <a:ea typeface="QuattrocentoSans" pitchFamily="34" charset="-122"/>
                <a:cs typeface="QuattrocentoSans" pitchFamily="34" charset="-120"/>
              </a:rPr>
              <a:t>Pattern Cache-Aside</a:t>
            </a:r>
            <a:endParaRPr lang="en-US" sz="1800" dirty="0"/>
          </a:p>
          <a:p>
            <a:pPr>
              <a:lnSpc>
                <a:spcPct val="160000"/>
              </a:lnSpc>
              <a:spcBef>
                <a:spcPts val="1200"/>
              </a:spcBef>
            </a:pPr>
            <a:r>
              <a:rPr lang="en-US" sz="1800" dirty="0">
                <a:solidFill>
                  <a:srgbClr val="0F172A"/>
                </a:solidFill>
                <a:latin typeface="QuattrocentoSans" pitchFamily="34" charset="0"/>
                <a:ea typeface="QuattrocentoSans" pitchFamily="34" charset="-122"/>
                <a:cs typeface="QuattrocentoSans" pitchFamily="34" charset="-120"/>
              </a:rPr>
              <a:t>L'architecture suit le pattern </a:t>
            </a:r>
            <a:pPr>
              <a:lnSpc>
                <a:spcPct val="160000"/>
              </a:lnSpc>
              <a:spcBef>
                <a:spcPts val="1200"/>
              </a:spcBef>
            </a:pPr>
            <a:r>
              <a:rPr lang="en-US" sz="1800" b="1" dirty="0">
                <a:solidFill>
                  <a:srgbClr val="0F172A"/>
                </a:solidFill>
                <a:latin typeface="QuattrocentoSans" pitchFamily="34" charset="0"/>
                <a:ea typeface="QuattrocentoSans" pitchFamily="34" charset="-122"/>
                <a:cs typeface="QuattrocentoSans" pitchFamily="34" charset="-120"/>
              </a:rPr>
              <a:t>Cache-Aside</a:t>
            </a:r>
            <a:pPr>
              <a:lnSpc>
                <a:spcPct val="160000"/>
              </a:lnSpc>
              <a:spcBef>
                <a:spcPts val="1200"/>
              </a:spcBef>
            </a:pPr>
            <a:r>
              <a:rPr lang="en-US" sz="1800" dirty="0">
                <a:solidFill>
                  <a:srgbClr val="0F172A"/>
                </a:solidFill>
                <a:latin typeface="QuattrocentoSans" pitchFamily="34" charset="0"/>
                <a:ea typeface="QuattrocentoSans" pitchFamily="34" charset="-122"/>
                <a:cs typeface="QuattrocentoSans" pitchFamily="34" charset="-120"/>
              </a:rPr>
              <a:t> (Lazy Loading) :</a:t>
            </a:r>
            <a:endParaRPr lang="en-US" sz="1800" dirty="0"/>
          </a:p>
          <a:p>
            <a:pPr marL="285750" indent="-285750">
              <a:lnSpc>
                <a:spcPct val="160000"/>
              </a:lnSpc>
              <a:spcBef>
                <a:spcPts val="10"/>
              </a:spcBef>
              <a:buSzPct val="100000"/>
              <a:buChar char="•"/>
            </a:pPr>
            <a:r>
              <a:rPr lang="en-US" sz="1800" dirty="0">
                <a:solidFill>
                  <a:srgbClr val="0F172A"/>
                </a:solidFill>
                <a:latin typeface="QuattrocentoSans" pitchFamily="34" charset="0"/>
                <a:ea typeface="QuattrocentoSans" pitchFamily="34" charset="-122"/>
                <a:cs typeface="QuattrocentoSans" pitchFamily="34" charset="-120"/>
              </a:rPr>
              <a:t>Verification </a:t>
            </a:r>
            <a:pPr>
              <a:lnSpc>
                <a:spcPct val="160000"/>
              </a:lnSpc>
              <a:spcBef>
                <a:spcPts val="10"/>
              </a:spcBef>
            </a:pPr>
            <a:r>
              <a:rPr lang="en-US" sz="1800" b="1" dirty="0">
                <a:solidFill>
                  <a:srgbClr val="0F172A"/>
                </a:solidFill>
                <a:latin typeface="QuattrocentoSans" pitchFamily="34" charset="0"/>
                <a:ea typeface="QuattrocentoSans" pitchFamily="34" charset="-122"/>
                <a:cs typeface="QuattrocentoSans" pitchFamily="34" charset="-120"/>
              </a:rPr>
              <a:t>Redis</a:t>
            </a:r>
            <a:pPr>
              <a:lnSpc>
                <a:spcPct val="160000"/>
              </a:lnSpc>
              <a:spcBef>
                <a:spcPts val="10"/>
              </a:spcBef>
            </a:pPr>
            <a:r>
              <a:rPr lang="en-US" sz="1800" dirty="0">
                <a:solidFill>
                  <a:srgbClr val="0F172A"/>
                </a:solidFill>
                <a:latin typeface="QuattrocentoSans" pitchFamily="34" charset="0"/>
                <a:ea typeface="QuattrocentoSans" pitchFamily="34" charset="-122"/>
                <a:cs typeface="QuattrocentoSans" pitchFamily="34" charset="-120"/>
              </a:rPr>
              <a:t> avant la base de donnees</a:t>
            </a:r>
            <a:endParaRPr lang="en-US" sz="1800" dirty="0"/>
          </a:p>
          <a:p>
            <a:pPr marL="285750" indent="-285750">
              <a:lnSpc>
                <a:spcPct val="160000"/>
              </a:lnSpc>
              <a:spcBef>
                <a:spcPts val="10"/>
              </a:spcBef>
              <a:buSzPct val="100000"/>
              <a:buChar char="•"/>
            </a:pPr>
            <a:r>
              <a:rPr lang="en-US" sz="1800" dirty="0">
                <a:solidFill>
                  <a:srgbClr val="0F172A"/>
                </a:solidFill>
                <a:latin typeface="QuattrocentoSans" pitchFamily="34" charset="0"/>
                <a:ea typeface="QuattrocentoSans" pitchFamily="34" charset="-122"/>
                <a:cs typeface="QuattrocentoSans" pitchFamily="34" charset="-120"/>
              </a:rPr>
              <a:t>Stockage avec </a:t>
            </a:r>
            <a:pPr>
              <a:lnSpc>
                <a:spcPct val="160000"/>
              </a:lnSpc>
              <a:spcBef>
                <a:spcPts val="10"/>
              </a:spcBef>
            </a:pPr>
            <a:r>
              <a:rPr lang="en-US" sz="1800" b="1" dirty="0">
                <a:solidFill>
                  <a:srgbClr val="0F172A"/>
                </a:solidFill>
                <a:latin typeface="QuattrocentoSans" pitchFamily="34" charset="0"/>
                <a:ea typeface="QuattrocentoSans" pitchFamily="34" charset="-122"/>
                <a:cs typeface="QuattrocentoSans" pitchFamily="34" charset="-120"/>
              </a:rPr>
              <a:t>TTL configurable</a:t>
            </a:r>
            <a:endParaRPr lang="en-US" sz="1800" dirty="0"/>
          </a:p>
          <a:p>
            <a:pPr marL="285750" indent="-285750">
              <a:lnSpc>
                <a:spcPct val="160000"/>
              </a:lnSpc>
              <a:spcBef>
                <a:spcPts val="10"/>
              </a:spcBef>
              <a:buSzPct val="100000"/>
              <a:buChar char="•"/>
            </a:pPr>
            <a:r>
              <a:rPr lang="en-US" sz="1800" dirty="0">
                <a:solidFill>
                  <a:srgbClr val="0F172A"/>
                </a:solidFill>
                <a:latin typeface="QuattrocentoSans" pitchFamily="34" charset="0"/>
                <a:ea typeface="QuattrocentoSans" pitchFamily="34" charset="-122"/>
                <a:cs typeface="QuattrocentoSans" pitchFamily="34" charset="-120"/>
              </a:rPr>
              <a:t>Reduction significative du </a:t>
            </a:r>
            <a:pPr>
              <a:lnSpc>
                <a:spcPct val="160000"/>
              </a:lnSpc>
              <a:spcBef>
                <a:spcPts val="10"/>
              </a:spcBef>
            </a:pPr>
            <a:r>
              <a:rPr lang="en-US" sz="1800" b="1" dirty="0">
                <a:solidFill>
                  <a:srgbClr val="0F172A"/>
                </a:solidFill>
                <a:latin typeface="QuattrocentoSans" pitchFamily="34" charset="0"/>
                <a:ea typeface="QuattrocentoSans" pitchFamily="34" charset="-122"/>
                <a:cs typeface="QuattrocentoSans" pitchFamily="34" charset="-120"/>
              </a:rPr>
              <a:t>temps de reponse</a:t>
            </a:r>
            <a:endParaRPr lang="en-US" sz="1800" dirty="0"/>
          </a:p>
          <a:p>
            <a:pPr>
              <a:lnSpc>
                <a:spcPct val="160000"/>
              </a:lnSpc>
              <a:spcBef>
                <a:spcPts val="1600"/>
              </a:spcBef>
            </a:pPr>
            <a:r>
              <a:rPr lang="en-US" sz="1400" dirty="0">
                <a:solidFill>
                  <a:srgbClr val="64748B"/>
                </a:solidFill>
                <a:latin typeface="QuattrocentoSans" pitchFamily="34" charset="0"/>
                <a:ea typeface="QuattrocentoSans" pitchFamily="34" charset="-122"/>
                <a:cs typeface="QuattrocentoSans" pitchFamily="34" charset="-120"/>
              </a:rPr>
              <a:t>Le cache est mis a jour uniquement en cas de "cache miss", minimisant ainsi les acces a PostgreSQL.</a:t>
            </a:r>
            <a:endParaRPr lang="en-US" sz="1800" dirty="0"/>
          </a:p>
        </p:txBody>
      </p:sp>
      <p:sp>
        <p:nvSpPr>
          <p:cNvPr id="9" name="Shape 6"/>
          <p:cNvSpPr/>
          <p:nvPr/>
        </p:nvSpPr>
        <p:spPr>
          <a:xfrm>
            <a:off x="7874000" y="1524000"/>
            <a:ext cx="7620000" cy="6858000"/>
          </a:xfrm>
          <a:prstGeom prst="roundRect">
            <a:avLst>
              <a:gd name="adj" fmla="val 6000"/>
            </a:avLst>
          </a:prstGeom>
          <a:solidFill>
            <a:srgbClr val="FFFFFF"/>
          </a:solidFill>
          <a:ln/>
          <a:effectLst>
            <a:outerShdw sx="100000" sy="100000" kx="0" ky="0" algn="bl" rotWithShape="0" blurRad="127000" dist="25400" dir="5400000">
              <a:srgbClr val="000000">
                <a:alpha val="5098"/>
              </a:srgbClr>
            </a:outerShdw>
          </a:effectLst>
        </p:spPr>
      </p:sp>
      <p:sp>
        <p:nvSpPr>
          <p:cNvPr id="10" name="Shape 7"/>
          <p:cNvSpPr/>
          <p:nvPr/>
        </p:nvSpPr>
        <p:spPr>
          <a:xfrm>
            <a:off x="9779000" y="1905000"/>
            <a:ext cx="3810000" cy="889000"/>
          </a:xfrm>
          <a:prstGeom prst="roundRect">
            <a:avLst>
              <a:gd name="adj" fmla="val 10000"/>
            </a:avLst>
          </a:prstGeom>
          <a:solidFill>
            <a:srgbClr val="1E293B"/>
          </a:solidFill>
          <a:ln/>
        </p:spPr>
      </p:sp>
      <p:sp>
        <p:nvSpPr>
          <p:cNvPr id="11" name="Text 8"/>
          <p:cNvSpPr/>
          <p:nvPr/>
        </p:nvSpPr>
        <p:spPr>
          <a:xfrm>
            <a:off x="9779000" y="1905000"/>
            <a:ext cx="3810000" cy="889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Next.js App</a:t>
            </a:r>
            <a:endParaRPr lang="en-US" sz="1600" dirty="0"/>
          </a:p>
        </p:txBody>
      </p:sp>
      <p:sp>
        <p:nvSpPr>
          <p:cNvPr id="12" name="Shape 9"/>
          <p:cNvSpPr/>
          <p:nvPr/>
        </p:nvSpPr>
        <p:spPr>
          <a:xfrm>
            <a:off x="11658600" y="2794000"/>
            <a:ext cx="0" cy="635000"/>
          </a:xfrm>
          <a:prstGeom prst="straightConnector1">
            <a:avLst/>
          </a:prstGeom>
          <a:noFill/>
          <a:ln w="25400">
            <a:solidFill>
              <a:srgbClr val="64748B"/>
            </a:solidFill>
            <a:prstDash val="solid"/>
            <a:headEnd type="none"/>
            <a:tailEnd type="arrow"/>
          </a:ln>
        </p:spPr>
      </p:sp>
      <p:sp>
        <p:nvSpPr>
          <p:cNvPr id="13" name="Text 10"/>
          <p:cNvSpPr/>
          <p:nvPr/>
        </p:nvSpPr>
        <p:spPr>
          <a:xfrm>
            <a:off x="9779000" y="2984500"/>
            <a:ext cx="1778000" cy="254000"/>
          </a:xfrm>
          <a:prstGeom prst="rect">
            <a:avLst/>
          </a:prstGeom>
          <a:noFill/>
          <a:ln/>
        </p:spPr>
        <p:txBody>
          <a:bodyPr wrap="none" lIns="0" tIns="0" rIns="0" bIns="0" rtlCol="0" anchor="ctr"/>
          <a:lstStyle/>
          <a:p>
            <a:pPr algn="r">
              <a:lnSpc>
                <a:spcPct val="100000"/>
              </a:lnSpc>
            </a:pPr>
            <a:r>
              <a:rPr lang="en-US" sz="1100" dirty="0">
                <a:solidFill>
                  <a:srgbClr val="64748B"/>
                </a:solidFill>
                <a:latin typeface="Quattrocento Sans" pitchFamily="34" charset="0"/>
                <a:ea typeface="Quattrocento Sans" pitchFamily="34" charset="-122"/>
                <a:cs typeface="Quattrocento Sans" pitchFamily="34" charset="-120"/>
              </a:rPr>
              <a:t>Verifie Redis</a:t>
            </a:r>
            <a:endParaRPr lang="en-US" sz="1600" dirty="0"/>
          </a:p>
        </p:txBody>
      </p:sp>
      <p:sp>
        <p:nvSpPr>
          <p:cNvPr id="14" name="Shape 11"/>
          <p:cNvSpPr/>
          <p:nvPr/>
        </p:nvSpPr>
        <p:spPr>
          <a:xfrm>
            <a:off x="9779000" y="3429000"/>
            <a:ext cx="3810000" cy="889000"/>
          </a:xfrm>
          <a:prstGeom prst="roundRect">
            <a:avLst>
              <a:gd name="adj" fmla="val 10000"/>
            </a:avLst>
          </a:prstGeom>
          <a:solidFill>
            <a:srgbClr val="DC382D"/>
          </a:solidFill>
          <a:ln/>
        </p:spPr>
      </p:sp>
      <p:sp>
        <p:nvSpPr>
          <p:cNvPr id="15" name="Text 12"/>
          <p:cNvSpPr/>
          <p:nvPr/>
        </p:nvSpPr>
        <p:spPr>
          <a:xfrm>
            <a:off x="9779000" y="3429000"/>
            <a:ext cx="3810000" cy="889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Redis Cache</a:t>
            </a:r>
            <a:endParaRPr lang="en-US" sz="1600" dirty="0"/>
          </a:p>
        </p:txBody>
      </p:sp>
      <p:sp>
        <p:nvSpPr>
          <p:cNvPr id="16" name="Shape 13"/>
          <p:cNvSpPr/>
          <p:nvPr/>
        </p:nvSpPr>
        <p:spPr>
          <a:xfrm>
            <a:off x="11658600" y="4318000"/>
            <a:ext cx="0" cy="635000"/>
          </a:xfrm>
          <a:prstGeom prst="straightConnector1">
            <a:avLst/>
          </a:prstGeom>
          <a:noFill/>
          <a:ln w="25400">
            <a:solidFill>
              <a:srgbClr val="64748B"/>
            </a:solidFill>
            <a:prstDash val="solid"/>
            <a:headEnd type="none"/>
            <a:tailEnd type="arrow"/>
          </a:ln>
        </p:spPr>
      </p:sp>
      <p:sp>
        <p:nvSpPr>
          <p:cNvPr id="17" name="Text 14"/>
          <p:cNvSpPr/>
          <p:nvPr/>
        </p:nvSpPr>
        <p:spPr>
          <a:xfrm>
            <a:off x="9779000" y="4508500"/>
            <a:ext cx="1778000" cy="254000"/>
          </a:xfrm>
          <a:prstGeom prst="rect">
            <a:avLst/>
          </a:prstGeom>
          <a:noFill/>
          <a:ln/>
        </p:spPr>
        <p:txBody>
          <a:bodyPr wrap="none" lIns="0" tIns="0" rIns="0" bIns="0" rtlCol="0" anchor="ctr"/>
          <a:lstStyle/>
          <a:p>
            <a:pPr algn="r">
              <a:lnSpc>
                <a:spcPct val="100000"/>
              </a:lnSpc>
            </a:pPr>
            <a:r>
              <a:rPr lang="en-US" sz="1100" dirty="0">
                <a:solidFill>
                  <a:srgbClr val="64748B"/>
                </a:solidFill>
                <a:latin typeface="Quattrocento Sans" pitchFamily="34" charset="0"/>
                <a:ea typeface="Quattrocento Sans" pitchFamily="34" charset="-122"/>
                <a:cs typeface="Quattrocento Sans" pitchFamily="34" charset="-120"/>
              </a:rPr>
              <a:t>Cache Miss</a:t>
            </a:r>
            <a:endParaRPr lang="en-US" sz="1600" dirty="0"/>
          </a:p>
        </p:txBody>
      </p:sp>
      <p:sp>
        <p:nvSpPr>
          <p:cNvPr id="18" name="Shape 15"/>
          <p:cNvSpPr/>
          <p:nvPr/>
        </p:nvSpPr>
        <p:spPr>
          <a:xfrm>
            <a:off x="13589000" y="3873500"/>
            <a:ext cx="889000" cy="0"/>
          </a:xfrm>
          <a:prstGeom prst="straightConnector1">
            <a:avLst/>
          </a:prstGeom>
          <a:noFill/>
          <a:ln w="25400">
            <a:solidFill>
              <a:srgbClr val="64748B"/>
            </a:solidFill>
            <a:prstDash val="solid"/>
            <a:headEnd type="none"/>
            <a:tailEnd type="arrow"/>
          </a:ln>
        </p:spPr>
      </p:sp>
      <p:sp>
        <p:nvSpPr>
          <p:cNvPr id="19" name="Text 16"/>
          <p:cNvSpPr/>
          <p:nvPr/>
        </p:nvSpPr>
        <p:spPr>
          <a:xfrm>
            <a:off x="13589000" y="3619500"/>
            <a:ext cx="889000" cy="228600"/>
          </a:xfrm>
          <a:prstGeom prst="rect">
            <a:avLst/>
          </a:prstGeom>
          <a:noFill/>
          <a:ln/>
        </p:spPr>
        <p:txBody>
          <a:bodyPr wrap="none" lIns="0" tIns="0" rIns="0" bIns="0" rtlCol="0" anchor="ctr"/>
          <a:lstStyle/>
          <a:p>
            <a:pPr algn="ctr">
              <a:lnSpc>
                <a:spcPct val="100000"/>
              </a:lnSpc>
            </a:pPr>
            <a:r>
              <a:rPr lang="en-US" sz="1100" dirty="0">
                <a:solidFill>
                  <a:srgbClr val="22C55E"/>
                </a:solidFill>
                <a:latin typeface="Quattrocento Sans" pitchFamily="34" charset="0"/>
                <a:ea typeface="Quattrocento Sans" pitchFamily="34" charset="-122"/>
                <a:cs typeface="Quattrocento Sans" pitchFamily="34" charset="-120"/>
              </a:rPr>
              <a:t>Cache Hit</a:t>
            </a:r>
            <a:endParaRPr lang="en-US" sz="1600" dirty="0"/>
          </a:p>
        </p:txBody>
      </p:sp>
      <p:sp>
        <p:nvSpPr>
          <p:cNvPr id="20" name="Shape 17"/>
          <p:cNvSpPr/>
          <p:nvPr/>
        </p:nvSpPr>
        <p:spPr>
          <a:xfrm>
            <a:off x="13589000" y="4254500"/>
            <a:ext cx="889000" cy="0"/>
          </a:xfrm>
          <a:prstGeom prst="straightConnector1">
            <a:avLst/>
          </a:prstGeom>
          <a:noFill/>
          <a:ln w="25400">
            <a:solidFill>
              <a:srgbClr val="22C55E"/>
            </a:solidFill>
            <a:prstDash val="sysDot"/>
            <a:headEnd type="arrow"/>
            <a:tailEnd type="none"/>
          </a:ln>
        </p:spPr>
      </p:sp>
      <p:sp>
        <p:nvSpPr>
          <p:cNvPr id="21" name="Shape 18"/>
          <p:cNvSpPr/>
          <p:nvPr/>
        </p:nvSpPr>
        <p:spPr>
          <a:xfrm>
            <a:off x="9779000" y="4953000"/>
            <a:ext cx="3810000" cy="889000"/>
          </a:xfrm>
          <a:prstGeom prst="roundRect">
            <a:avLst>
              <a:gd name="adj" fmla="val 10000"/>
            </a:avLst>
          </a:prstGeom>
          <a:solidFill>
            <a:srgbClr val="64748B"/>
          </a:solidFill>
          <a:ln/>
        </p:spPr>
      </p:sp>
      <p:sp>
        <p:nvSpPr>
          <p:cNvPr id="22" name="Text 19"/>
          <p:cNvSpPr/>
          <p:nvPr/>
        </p:nvSpPr>
        <p:spPr>
          <a:xfrm>
            <a:off x="9779000" y="4953000"/>
            <a:ext cx="3810000" cy="889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PostgreSQL</a:t>
            </a:r>
            <a:endParaRPr lang="en-US" sz="1600" dirty="0"/>
          </a:p>
        </p:txBody>
      </p:sp>
      <p:sp>
        <p:nvSpPr>
          <p:cNvPr id="23" name="Shape 20"/>
          <p:cNvSpPr/>
          <p:nvPr/>
        </p:nvSpPr>
        <p:spPr>
          <a:xfrm>
            <a:off x="11658600" y="5842000"/>
            <a:ext cx="0" cy="635000"/>
          </a:xfrm>
          <a:prstGeom prst="straightConnector1">
            <a:avLst/>
          </a:prstGeom>
          <a:noFill/>
          <a:ln w="25400">
            <a:solidFill>
              <a:srgbClr val="64748B"/>
            </a:solidFill>
            <a:prstDash val="sysDot"/>
            <a:headEnd type="arrow"/>
            <a:tailEnd type="none"/>
          </a:ln>
        </p:spPr>
      </p:sp>
      <p:sp>
        <p:nvSpPr>
          <p:cNvPr id="24" name="Text 21"/>
          <p:cNvSpPr/>
          <p:nvPr/>
        </p:nvSpPr>
        <p:spPr>
          <a:xfrm>
            <a:off x="9779000" y="6032500"/>
            <a:ext cx="1778000" cy="254000"/>
          </a:xfrm>
          <a:prstGeom prst="rect">
            <a:avLst/>
          </a:prstGeom>
          <a:noFill/>
          <a:ln/>
        </p:spPr>
        <p:txBody>
          <a:bodyPr wrap="none" lIns="0" tIns="0" rIns="0" bIns="0" rtlCol="0" anchor="ctr"/>
          <a:lstStyle/>
          <a:p>
            <a:pPr algn="r">
              <a:lnSpc>
                <a:spcPct val="100000"/>
              </a:lnSpc>
            </a:pPr>
            <a:r>
              <a:rPr lang="en-US" sz="1100" dirty="0">
                <a:solidFill>
                  <a:srgbClr val="64748B"/>
                </a:solidFill>
                <a:latin typeface="Quattrocento Sans" pitchFamily="34" charset="0"/>
                <a:ea typeface="Quattrocento Sans" pitchFamily="34" charset="-122"/>
                <a:cs typeface="Quattrocento Sans" pitchFamily="34" charset="-120"/>
              </a:rPr>
              <a:t>Stockage TTL</a:t>
            </a:r>
            <a:endParaRPr lang="en-US" sz="1600" dirty="0"/>
          </a:p>
        </p:txBody>
      </p:sp>
      <p:sp>
        <p:nvSpPr>
          <p:cNvPr id="25" name="Shape 22"/>
          <p:cNvSpPr/>
          <p:nvPr/>
        </p:nvSpPr>
        <p:spPr>
          <a:xfrm>
            <a:off x="10668000" y="6858000"/>
            <a:ext cx="2032000" cy="508000"/>
          </a:xfrm>
          <a:prstGeom prst="roundRect">
            <a:avLst>
              <a:gd name="adj" fmla="val 20000"/>
            </a:avLst>
          </a:prstGeom>
          <a:solidFill>
            <a:srgbClr val="FEF2F2"/>
          </a:solidFill>
          <a:ln w="12700">
            <a:solidFill>
              <a:srgbClr val="FECACA"/>
            </a:solidFill>
            <a:prstDash val="solid"/>
          </a:ln>
        </p:spPr>
      </p:sp>
      <p:sp>
        <p:nvSpPr>
          <p:cNvPr id="26" name="Text 23"/>
          <p:cNvSpPr/>
          <p:nvPr/>
        </p:nvSpPr>
        <p:spPr>
          <a:xfrm>
            <a:off x="10668000" y="6858000"/>
            <a:ext cx="2032000" cy="508000"/>
          </a:xfrm>
          <a:prstGeom prst="rect">
            <a:avLst/>
          </a:prstGeom>
          <a:noFill/>
          <a:ln/>
        </p:spPr>
        <p:txBody>
          <a:bodyPr wrap="none" lIns="0" tIns="0" rIns="0" bIns="0" rtlCol="0" anchor="ctr"/>
          <a:lstStyle/>
          <a:p>
            <a:pPr algn="ctr">
              <a:lnSpc>
                <a:spcPct val="100000"/>
              </a:lnSpc>
            </a:pPr>
            <a:r>
              <a:rPr lang="en-US" sz="1400" b="1" dirty="0">
                <a:solidFill>
                  <a:srgbClr val="DC382D"/>
                </a:solidFill>
                <a:latin typeface="Quattrocento Sans" pitchFamily="34" charset="0"/>
                <a:ea typeface="Quattrocento Sans" pitchFamily="34" charset="-122"/>
                <a:cs typeface="Quattrocento Sans" pitchFamily="34" charset="-120"/>
              </a:rPr>
              <a:t>TTL : 300s</a:t>
            </a:r>
            <a:endParaRPr lang="en-US" sz="1600" dirty="0"/>
          </a:p>
        </p:txBody>
      </p:sp>
      <p:sp>
        <p:nvSpPr>
          <p:cNvPr id="27" name="Text 24"/>
          <p:cNvSpPr/>
          <p:nvPr/>
        </p:nvSpPr>
        <p:spPr>
          <a:xfrm>
            <a:off x="8128000" y="7620000"/>
            <a:ext cx="3302000" cy="508000"/>
          </a:xfrm>
          <a:prstGeom prst="rect">
            <a:avLst/>
          </a:prstGeom>
          <a:noFill/>
          <a:ln/>
        </p:spPr>
        <p:txBody>
          <a:bodyPr wrap="none" lIns="0" tIns="0" rIns="0" bIns="0" rtlCol="0" anchor="ctr"/>
          <a:lstStyle/>
          <a:p>
            <a:pPr>
              <a:lnSpc>
                <a:spcPct val="100000"/>
              </a:lnSpc>
            </a:pPr>
            <a:r>
              <a:rPr lang="en-US" sz="1300" dirty="0">
                <a:solidFill>
                  <a:srgbClr val="22C55E"/>
                </a:solidFill>
                <a:latin typeface="Quattrocento Sans" pitchFamily="34" charset="0"/>
                <a:ea typeface="Quattrocento Sans" pitchFamily="34" charset="-122"/>
                <a:cs typeface="Quattrocento Sans" pitchFamily="34" charset="-120"/>
              </a:rPr>
              <a:t>■</a:t>
            </a:r>
            <a:pP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 Reponse rapide (Cache Hit)</a:t>
            </a:r>
            <a:endParaRPr lang="en-US" sz="1600" dirty="0"/>
          </a:p>
        </p:txBody>
      </p:sp>
      <p:sp>
        <p:nvSpPr>
          <p:cNvPr id="28" name="Text 25"/>
          <p:cNvSpPr/>
          <p:nvPr/>
        </p:nvSpPr>
        <p:spPr>
          <a:xfrm>
            <a:off x="11684000" y="7620000"/>
            <a:ext cx="3302000" cy="508000"/>
          </a:xfrm>
          <a:prstGeom prst="rect">
            <a:avLst/>
          </a:prstGeom>
          <a:noFill/>
          <a:ln/>
        </p:spPr>
        <p:txBody>
          <a:bodyPr wrap="none" lIns="0" tIns="0" rIns="0" bIns="0" rtlCol="0" anchor="ctr"/>
          <a:lstStyle/>
          <a:p>
            <a:pP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a:t>
            </a:r>
            <a:pP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 Requete DB (Cache Miss)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32512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 02 ARCHITECTURE</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03</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INFRASTRUCTURE</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04 ABSTRACTION 05 INTEGRATION 06 INVALIDATION 07 TESTS 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INFRASTRUCTURE DOCKER</a:t>
            </a:r>
            <a:endParaRPr lang="en-US" sz="2800" dirty="0"/>
          </a:p>
        </p:txBody>
      </p:sp>
      <p:sp>
        <p:nvSpPr>
          <p:cNvPr id="7" name="Shape 4"/>
          <p:cNvSpPr/>
          <p:nvPr/>
        </p:nvSpPr>
        <p:spPr>
          <a:xfrm>
            <a:off x="762000" y="1181100"/>
            <a:ext cx="1016000" cy="38100"/>
          </a:xfrm>
          <a:prstGeom prst="rect">
            <a:avLst/>
          </a:prstGeom>
          <a:solidFill>
            <a:srgbClr val="DC382D"/>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1524000"/>
          <a:ext cx="14732000" cy="2794000"/>
        </p:xfrm>
        <a:graphic>
          <a:graphicData uri="http://schemas.openxmlformats.org/drawingml/2006/table">
            <a:tbl>
              <a:tblPr/>
              <a:tblGrid>
                <a:gridCol w="3683000"/>
                <a:gridCol w="5156200"/>
                <a:gridCol w="2946400"/>
                <a:gridCol w="2946400"/>
              </a:tblGrid>
              <a:tr h="6985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Service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Image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Port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Role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698500">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PostgreSQL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postgres:16-alpine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5434:5432</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Base de donnees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98500">
                <a:tc>
                  <a:txBody>
                    <a:bodyPr/>
                    <a:lstStyle/>
                    <a:p>
                      <a:pPr algn="l"/>
                      <a:r>
                        <a:rPr lang="en-US" sz="1400" u="none" dirty="0">
                          <a:solidFill>
                            <a:srgbClr val="DC382D"/>
                          </a:solidFill>
                          <a:latin typeface="QuattrocentoSans" pitchFamily="34" charset="0"/>
                          <a:ea typeface="QuattrocentoSans" pitchFamily="34" charset="-122"/>
                          <a:cs typeface="QuattrocentoSans" pitchFamily="34" charset="-120"/>
                        </a:rPr>
                        <a:t>Redis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redis:7-alpine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6379:6379</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Cache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698500">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Next.js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Dockerfile.dev</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3000:3000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0F172A"/>
                          </a:solidFill>
                          <a:latin typeface="QuattrocentoSans" pitchFamily="34" charset="0"/>
                          <a:ea typeface="QuattrocentoSans" pitchFamily="34" charset="-122"/>
                          <a:cs typeface="QuattrocentoSans" pitchFamily="34" charset="-120"/>
                        </a:rPr>
                        <a:t>Application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5"/>
          <p:cNvSpPr/>
          <p:nvPr/>
        </p:nvSpPr>
        <p:spPr>
          <a:xfrm>
            <a:off x="762000" y="4699000"/>
            <a:ext cx="508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Caracteristiques Cles</a:t>
            </a:r>
            <a:endParaRPr lang="en-US" sz="2000" dirty="0"/>
          </a:p>
        </p:txBody>
      </p:sp>
      <p:sp>
        <p:nvSpPr>
          <p:cNvPr id="10" name="Shape 6"/>
          <p:cNvSpPr/>
          <p:nvPr/>
        </p:nvSpPr>
        <p:spPr>
          <a:xfrm>
            <a:off x="762000" y="5270500"/>
            <a:ext cx="3429000" cy="2921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1" name="Shape 7"/>
          <p:cNvSpPr/>
          <p:nvPr/>
        </p:nvSpPr>
        <p:spPr>
          <a:xfrm>
            <a:off x="965200" y="5524500"/>
            <a:ext cx="508000" cy="406400"/>
          </a:xfrm>
          <a:custGeom>
            <a:avLst/>
            <a:gdLst/>
            <a:ahLst/>
            <a:cxnLst/>
            <a:rect l="l" t="t" r="r" b="b"/>
            <a:pathLst>
              <a:path w="508000" h="406400">
                <a:moveTo>
                  <a:pt x="215900" y="0"/>
                </a:moveTo>
                <a:cubicBezTo>
                  <a:pt x="194866" y="0"/>
                  <a:pt x="177800" y="17066"/>
                  <a:pt x="177800" y="38100"/>
                </a:cubicBezTo>
                <a:lnTo>
                  <a:pt x="177800" y="50800"/>
                </a:lnTo>
                <a:lnTo>
                  <a:pt x="165100" y="50800"/>
                </a:lnTo>
                <a:cubicBezTo>
                  <a:pt x="130016" y="50800"/>
                  <a:pt x="101600" y="79216"/>
                  <a:pt x="101600" y="114300"/>
                </a:cubicBezTo>
                <a:lnTo>
                  <a:pt x="101600" y="200660"/>
                </a:lnTo>
                <a:lnTo>
                  <a:pt x="84455" y="207486"/>
                </a:lnTo>
                <a:cubicBezTo>
                  <a:pt x="72708" y="212169"/>
                  <a:pt x="66596" y="225266"/>
                  <a:pt x="70644" y="237252"/>
                </a:cubicBezTo>
                <a:cubicBezTo>
                  <a:pt x="78899" y="262096"/>
                  <a:pt x="91916" y="284321"/>
                  <a:pt x="108506" y="303213"/>
                </a:cubicBezTo>
                <a:cubicBezTo>
                  <a:pt x="124460" y="295910"/>
                  <a:pt x="141605" y="292179"/>
                  <a:pt x="158750" y="292100"/>
                </a:cubicBezTo>
                <a:cubicBezTo>
                  <a:pt x="185023" y="291941"/>
                  <a:pt x="211376" y="300196"/>
                  <a:pt x="233680" y="317024"/>
                </a:cubicBezTo>
                <a:lnTo>
                  <a:pt x="234950" y="317976"/>
                </a:lnTo>
                <a:lnTo>
                  <a:pt x="234950" y="147320"/>
                </a:lnTo>
                <a:lnTo>
                  <a:pt x="152400" y="180340"/>
                </a:lnTo>
                <a:lnTo>
                  <a:pt x="152400" y="114300"/>
                </a:lnTo>
                <a:cubicBezTo>
                  <a:pt x="152400" y="107315"/>
                  <a:pt x="158115" y="101600"/>
                  <a:pt x="165100" y="101600"/>
                </a:cubicBezTo>
                <a:lnTo>
                  <a:pt x="342900" y="101600"/>
                </a:lnTo>
                <a:cubicBezTo>
                  <a:pt x="349885" y="101600"/>
                  <a:pt x="355600" y="107315"/>
                  <a:pt x="355600" y="114300"/>
                </a:cubicBezTo>
                <a:lnTo>
                  <a:pt x="355600" y="180340"/>
                </a:lnTo>
                <a:lnTo>
                  <a:pt x="273050" y="147320"/>
                </a:lnTo>
                <a:lnTo>
                  <a:pt x="273050" y="317976"/>
                </a:lnTo>
                <a:lnTo>
                  <a:pt x="274320" y="317024"/>
                </a:lnTo>
                <a:cubicBezTo>
                  <a:pt x="296148" y="300593"/>
                  <a:pt x="321866" y="292259"/>
                  <a:pt x="347663" y="292100"/>
                </a:cubicBezTo>
                <a:cubicBezTo>
                  <a:pt x="365363" y="292021"/>
                  <a:pt x="383064" y="295672"/>
                  <a:pt x="399494" y="303212"/>
                </a:cubicBezTo>
                <a:cubicBezTo>
                  <a:pt x="416084" y="284401"/>
                  <a:pt x="429101" y="262096"/>
                  <a:pt x="437356" y="237252"/>
                </a:cubicBezTo>
                <a:cubicBezTo>
                  <a:pt x="441325" y="225187"/>
                  <a:pt x="435293" y="212169"/>
                  <a:pt x="423545" y="207486"/>
                </a:cubicBezTo>
                <a:lnTo>
                  <a:pt x="406400" y="200660"/>
                </a:lnTo>
                <a:lnTo>
                  <a:pt x="406400" y="114300"/>
                </a:lnTo>
                <a:cubicBezTo>
                  <a:pt x="406400" y="79216"/>
                  <a:pt x="377984" y="50800"/>
                  <a:pt x="342900" y="50800"/>
                </a:cubicBezTo>
                <a:lnTo>
                  <a:pt x="330200" y="50800"/>
                </a:lnTo>
                <a:lnTo>
                  <a:pt x="330200" y="38100"/>
                </a:lnTo>
                <a:cubicBezTo>
                  <a:pt x="330200" y="17066"/>
                  <a:pt x="313134" y="0"/>
                  <a:pt x="292100" y="0"/>
                </a:cubicBezTo>
                <a:lnTo>
                  <a:pt x="215900" y="0"/>
                </a:lnTo>
                <a:close/>
                <a:moveTo>
                  <a:pt x="320199" y="377904"/>
                </a:moveTo>
                <a:cubicBezTo>
                  <a:pt x="337106" y="365125"/>
                  <a:pt x="359807" y="365125"/>
                  <a:pt x="376714" y="377904"/>
                </a:cubicBezTo>
                <a:cubicBezTo>
                  <a:pt x="391795" y="389334"/>
                  <a:pt x="409972" y="400288"/>
                  <a:pt x="430054" y="404336"/>
                </a:cubicBezTo>
                <a:cubicBezTo>
                  <a:pt x="451088" y="408623"/>
                  <a:pt x="473154" y="404971"/>
                  <a:pt x="494109" y="389176"/>
                </a:cubicBezTo>
                <a:cubicBezTo>
                  <a:pt x="502523" y="382826"/>
                  <a:pt x="504190" y="370919"/>
                  <a:pt x="497840" y="362506"/>
                </a:cubicBezTo>
                <a:cubicBezTo>
                  <a:pt x="491490" y="354092"/>
                  <a:pt x="479584" y="352425"/>
                  <a:pt x="471170" y="358775"/>
                </a:cubicBezTo>
                <a:cubicBezTo>
                  <a:pt x="459343" y="367665"/>
                  <a:pt x="448469" y="369173"/>
                  <a:pt x="437594" y="366951"/>
                </a:cubicBezTo>
                <a:cubicBezTo>
                  <a:pt x="425768" y="364569"/>
                  <a:pt x="413068" y="357505"/>
                  <a:pt x="399653" y="347424"/>
                </a:cubicBezTo>
                <a:cubicBezTo>
                  <a:pt x="369173" y="324406"/>
                  <a:pt x="327819" y="324406"/>
                  <a:pt x="297259" y="347424"/>
                </a:cubicBezTo>
                <a:cubicBezTo>
                  <a:pt x="278209" y="361791"/>
                  <a:pt x="264954" y="368300"/>
                  <a:pt x="254000" y="368300"/>
                </a:cubicBezTo>
                <a:cubicBezTo>
                  <a:pt x="243046" y="368300"/>
                  <a:pt x="229791" y="361791"/>
                  <a:pt x="210741" y="347424"/>
                </a:cubicBezTo>
                <a:cubicBezTo>
                  <a:pt x="180261" y="324406"/>
                  <a:pt x="138906" y="324406"/>
                  <a:pt x="108347" y="347424"/>
                </a:cubicBezTo>
                <a:cubicBezTo>
                  <a:pt x="91202" y="360363"/>
                  <a:pt x="75565" y="367903"/>
                  <a:pt x="61595" y="367824"/>
                </a:cubicBezTo>
                <a:cubicBezTo>
                  <a:pt x="53975" y="367744"/>
                  <a:pt x="45799" y="365442"/>
                  <a:pt x="36830" y="358696"/>
                </a:cubicBezTo>
                <a:cubicBezTo>
                  <a:pt x="28416" y="352346"/>
                  <a:pt x="16510" y="354013"/>
                  <a:pt x="10160" y="362426"/>
                </a:cubicBezTo>
                <a:cubicBezTo>
                  <a:pt x="3810" y="370840"/>
                  <a:pt x="5556" y="382826"/>
                  <a:pt x="13970" y="389176"/>
                </a:cubicBezTo>
                <a:cubicBezTo>
                  <a:pt x="29131" y="400606"/>
                  <a:pt x="45244" y="405844"/>
                  <a:pt x="61436" y="405924"/>
                </a:cubicBezTo>
                <a:cubicBezTo>
                  <a:pt x="88344" y="406083"/>
                  <a:pt x="112474" y="392113"/>
                  <a:pt x="131366" y="377904"/>
                </a:cubicBezTo>
                <a:cubicBezTo>
                  <a:pt x="148273" y="365125"/>
                  <a:pt x="170974" y="365125"/>
                  <a:pt x="187881" y="377904"/>
                </a:cubicBezTo>
                <a:cubicBezTo>
                  <a:pt x="207089" y="392430"/>
                  <a:pt x="229394" y="406400"/>
                  <a:pt x="254079" y="406400"/>
                </a:cubicBezTo>
                <a:cubicBezTo>
                  <a:pt x="278765" y="406400"/>
                  <a:pt x="300990" y="392351"/>
                  <a:pt x="320278" y="377904"/>
                </a:cubicBezTo>
                <a:close/>
              </a:path>
            </a:pathLst>
          </a:custGeom>
          <a:solidFill>
            <a:srgbClr val="DC382D"/>
          </a:solidFill>
          <a:ln/>
        </p:spPr>
      </p:sp>
      <p:sp>
        <p:nvSpPr>
          <p:cNvPr id="12" name="Text 8"/>
          <p:cNvSpPr/>
          <p:nvPr/>
        </p:nvSpPr>
        <p:spPr>
          <a:xfrm>
            <a:off x="1016000" y="6070600"/>
            <a:ext cx="2921000" cy="304800"/>
          </a:xfrm>
          <a:prstGeom prst="rect">
            <a:avLst/>
          </a:prstGeom>
          <a:noFill/>
          <a:ln/>
        </p:spPr>
        <p:txBody>
          <a:bodyPr wrap="none" lIns="0" tIns="0" rIns="0" bIns="0" rtlCol="0" anchor="ctr"/>
          <a:lstStyle/>
          <a:p>
            <a:pPr>
              <a:lnSpc>
                <a:spcPct val="130000"/>
              </a:lnSpc>
            </a:pPr>
            <a:r>
              <a:rPr lang="en-US" sz="1600" b="1" dirty="0">
                <a:solidFill>
                  <a:srgbClr val="1E293B"/>
                </a:solidFill>
                <a:latin typeface="Liter" pitchFamily="34" charset="0"/>
                <a:ea typeface="Liter" pitchFamily="34" charset="-122"/>
                <a:cs typeface="Liter" pitchFamily="34" charset="-120"/>
              </a:rPr>
              <a:t>Orchestration</a:t>
            </a:r>
            <a:endParaRPr lang="en-US" sz="2000" dirty="0"/>
          </a:p>
        </p:txBody>
      </p:sp>
      <p:sp>
        <p:nvSpPr>
          <p:cNvPr id="13" name="Text 9"/>
          <p:cNvSpPr/>
          <p:nvPr/>
        </p:nvSpPr>
        <p:spPr>
          <a:xfrm>
            <a:off x="1016000" y="6451600"/>
            <a:ext cx="2921000" cy="1524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Docker Compose pour la gestion et l'orchestration de tous les services</a:t>
            </a:r>
            <a:endParaRPr lang="en-US" sz="1600" dirty="0"/>
          </a:p>
        </p:txBody>
      </p:sp>
      <p:sp>
        <p:nvSpPr>
          <p:cNvPr id="14" name="Shape 10"/>
          <p:cNvSpPr/>
          <p:nvPr/>
        </p:nvSpPr>
        <p:spPr>
          <a:xfrm>
            <a:off x="4521200" y="5270500"/>
            <a:ext cx="3429000" cy="2921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5" name="Shape 11"/>
          <p:cNvSpPr/>
          <p:nvPr/>
        </p:nvSpPr>
        <p:spPr>
          <a:xfrm>
            <a:off x="4800600" y="5524500"/>
            <a:ext cx="355600" cy="406400"/>
          </a:xfrm>
          <a:custGeom>
            <a:avLst/>
            <a:gdLst/>
            <a:ahLst/>
            <a:cxnLst/>
            <a:rect l="l" t="t" r="r" b="b"/>
            <a:pathLst>
              <a:path w="355600" h="406400">
                <a:moveTo>
                  <a:pt x="50800" y="25400"/>
                </a:moveTo>
                <a:cubicBezTo>
                  <a:pt x="22781" y="25400"/>
                  <a:pt x="0" y="48181"/>
                  <a:pt x="0" y="76200"/>
                </a:cubicBezTo>
                <a:lnTo>
                  <a:pt x="0" y="206454"/>
                </a:lnTo>
                <a:cubicBezTo>
                  <a:pt x="14367" y="196374"/>
                  <a:pt x="31909" y="190500"/>
                  <a:pt x="50800" y="190500"/>
                </a:cubicBezTo>
                <a:lnTo>
                  <a:pt x="304800" y="190500"/>
                </a:lnTo>
                <a:cubicBezTo>
                  <a:pt x="323691" y="190500"/>
                  <a:pt x="341233" y="196374"/>
                  <a:pt x="355600" y="206454"/>
                </a:cubicBezTo>
                <a:lnTo>
                  <a:pt x="355600" y="76200"/>
                </a:lnTo>
                <a:cubicBezTo>
                  <a:pt x="355600" y="48181"/>
                  <a:pt x="332819" y="25400"/>
                  <a:pt x="304800" y="25400"/>
                </a:cubicBezTo>
                <a:lnTo>
                  <a:pt x="50800" y="25400"/>
                </a:lnTo>
                <a:close/>
                <a:moveTo>
                  <a:pt x="355600" y="279400"/>
                </a:moveTo>
                <a:cubicBezTo>
                  <a:pt x="355600" y="251381"/>
                  <a:pt x="332819" y="228600"/>
                  <a:pt x="304800" y="228600"/>
                </a:cubicBezTo>
                <a:lnTo>
                  <a:pt x="50800" y="228600"/>
                </a:lnTo>
                <a:cubicBezTo>
                  <a:pt x="22781" y="228600"/>
                  <a:pt x="0" y="251381"/>
                  <a:pt x="0" y="279400"/>
                </a:cubicBezTo>
                <a:lnTo>
                  <a:pt x="0" y="330200"/>
                </a:lnTo>
                <a:cubicBezTo>
                  <a:pt x="0" y="358219"/>
                  <a:pt x="22781" y="381000"/>
                  <a:pt x="50800" y="381000"/>
                </a:cubicBezTo>
                <a:lnTo>
                  <a:pt x="304800" y="381000"/>
                </a:lnTo>
                <a:cubicBezTo>
                  <a:pt x="332819" y="381000"/>
                  <a:pt x="355600" y="358219"/>
                  <a:pt x="355600" y="330200"/>
                </a:cubicBezTo>
                <a:lnTo>
                  <a:pt x="355600" y="279400"/>
                </a:lnTo>
                <a:close/>
                <a:moveTo>
                  <a:pt x="177800" y="304800"/>
                </a:moveTo>
                <a:cubicBezTo>
                  <a:pt x="177800" y="290781"/>
                  <a:pt x="189181" y="279400"/>
                  <a:pt x="203200" y="279400"/>
                </a:cubicBezTo>
                <a:cubicBezTo>
                  <a:pt x="217219" y="279400"/>
                  <a:pt x="228600" y="290781"/>
                  <a:pt x="228600" y="304800"/>
                </a:cubicBezTo>
                <a:cubicBezTo>
                  <a:pt x="228600" y="318819"/>
                  <a:pt x="217219" y="330200"/>
                  <a:pt x="203200" y="330200"/>
                </a:cubicBezTo>
                <a:cubicBezTo>
                  <a:pt x="189181" y="330200"/>
                  <a:pt x="177800" y="318819"/>
                  <a:pt x="177800" y="304800"/>
                </a:cubicBezTo>
                <a:close/>
                <a:moveTo>
                  <a:pt x="279400" y="279400"/>
                </a:moveTo>
                <a:cubicBezTo>
                  <a:pt x="293419" y="279400"/>
                  <a:pt x="304800" y="290781"/>
                  <a:pt x="304800" y="304800"/>
                </a:cubicBezTo>
                <a:cubicBezTo>
                  <a:pt x="304800" y="318819"/>
                  <a:pt x="293419" y="330200"/>
                  <a:pt x="279400" y="330200"/>
                </a:cubicBezTo>
                <a:cubicBezTo>
                  <a:pt x="265381" y="330200"/>
                  <a:pt x="254000" y="318819"/>
                  <a:pt x="254000" y="304800"/>
                </a:cubicBezTo>
                <a:cubicBezTo>
                  <a:pt x="254000" y="290781"/>
                  <a:pt x="265381" y="279400"/>
                  <a:pt x="279400" y="279400"/>
                </a:cubicBezTo>
                <a:close/>
              </a:path>
            </a:pathLst>
          </a:custGeom>
          <a:solidFill>
            <a:srgbClr val="DC382D"/>
          </a:solidFill>
          <a:ln/>
        </p:spPr>
      </p:sp>
      <p:sp>
        <p:nvSpPr>
          <p:cNvPr id="16" name="Text 12"/>
          <p:cNvSpPr/>
          <p:nvPr/>
        </p:nvSpPr>
        <p:spPr>
          <a:xfrm>
            <a:off x="4775200" y="6070600"/>
            <a:ext cx="2921000" cy="304800"/>
          </a:xfrm>
          <a:prstGeom prst="rect">
            <a:avLst/>
          </a:prstGeom>
          <a:noFill/>
          <a:ln/>
        </p:spPr>
        <p:txBody>
          <a:bodyPr wrap="none" lIns="0" tIns="0" rIns="0" bIns="0" rtlCol="0" anchor="ctr"/>
          <a:lstStyle/>
          <a:p>
            <a:pPr>
              <a:lnSpc>
                <a:spcPct val="130000"/>
              </a:lnSpc>
            </a:pPr>
            <a:r>
              <a:rPr lang="en-US" sz="1600" b="1" dirty="0">
                <a:solidFill>
                  <a:srgbClr val="1E293B"/>
                </a:solidFill>
                <a:latin typeface="Liter" pitchFamily="34" charset="0"/>
                <a:ea typeface="Liter" pitchFamily="34" charset="-122"/>
                <a:cs typeface="Liter" pitchFamily="34" charset="-120"/>
              </a:rPr>
              <a:t>Volume Persistant</a:t>
            </a:r>
            <a:endParaRPr lang="en-US" sz="2000" dirty="0"/>
          </a:p>
        </p:txBody>
      </p:sp>
      <p:sp>
        <p:nvSpPr>
          <p:cNvPr id="17" name="Text 13"/>
          <p:cNvSpPr/>
          <p:nvPr/>
        </p:nvSpPr>
        <p:spPr>
          <a:xfrm>
            <a:off x="4775200" y="6451600"/>
            <a:ext cx="2921000" cy="1524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Volume redis_data pour la persistance des donnees du cache</a:t>
            </a:r>
            <a:endParaRPr lang="en-US" sz="1600" dirty="0"/>
          </a:p>
        </p:txBody>
      </p:sp>
      <p:sp>
        <p:nvSpPr>
          <p:cNvPr id="18" name="Shape 14"/>
          <p:cNvSpPr/>
          <p:nvPr/>
        </p:nvSpPr>
        <p:spPr>
          <a:xfrm>
            <a:off x="8280400" y="5270500"/>
            <a:ext cx="3429000" cy="2921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9" name="Shape 15"/>
          <p:cNvSpPr/>
          <p:nvPr/>
        </p:nvSpPr>
        <p:spPr>
          <a:xfrm>
            <a:off x="8534400" y="5524500"/>
            <a:ext cx="406400" cy="406400"/>
          </a:xfrm>
          <a:custGeom>
            <a:avLst/>
            <a:gdLst/>
            <a:ahLst/>
            <a:cxnLst/>
            <a:rect l="l" t="t" r="r" b="b"/>
            <a:pathLst>
              <a:path w="406400" h="406400">
                <a:moveTo>
                  <a:pt x="203200" y="85646"/>
                </a:moveTo>
                <a:lnTo>
                  <a:pt x="191294" y="69136"/>
                </a:lnTo>
                <a:cubicBezTo>
                  <a:pt x="171450" y="41672"/>
                  <a:pt x="139621" y="25400"/>
                  <a:pt x="105648" y="25400"/>
                </a:cubicBezTo>
                <a:cubicBezTo>
                  <a:pt x="47308" y="25400"/>
                  <a:pt x="0" y="72708"/>
                  <a:pt x="0" y="131048"/>
                </a:cubicBezTo>
                <a:lnTo>
                  <a:pt x="0" y="133112"/>
                </a:lnTo>
                <a:cubicBezTo>
                  <a:pt x="0" y="151844"/>
                  <a:pt x="4921" y="171212"/>
                  <a:pt x="13176" y="190500"/>
                </a:cubicBezTo>
                <a:lnTo>
                  <a:pt x="97314" y="190500"/>
                </a:lnTo>
                <a:cubicBezTo>
                  <a:pt x="99854" y="190500"/>
                  <a:pt x="102156" y="188992"/>
                  <a:pt x="103188" y="186611"/>
                </a:cubicBezTo>
                <a:lnTo>
                  <a:pt x="128429" y="126048"/>
                </a:lnTo>
                <a:cubicBezTo>
                  <a:pt x="131366" y="119063"/>
                  <a:pt x="138192" y="114459"/>
                  <a:pt x="145733" y="114300"/>
                </a:cubicBezTo>
                <a:cubicBezTo>
                  <a:pt x="153273" y="114141"/>
                  <a:pt x="160258" y="118586"/>
                  <a:pt x="163354" y="125492"/>
                </a:cubicBezTo>
                <a:lnTo>
                  <a:pt x="204073" y="215900"/>
                </a:lnTo>
                <a:lnTo>
                  <a:pt x="236934" y="150178"/>
                </a:lnTo>
                <a:cubicBezTo>
                  <a:pt x="240189" y="143748"/>
                  <a:pt x="246777" y="139621"/>
                  <a:pt x="254000" y="139621"/>
                </a:cubicBezTo>
                <a:cubicBezTo>
                  <a:pt x="261223" y="139621"/>
                  <a:pt x="267811" y="143669"/>
                  <a:pt x="271066" y="150178"/>
                </a:cubicBezTo>
                <a:lnTo>
                  <a:pt x="289481" y="186928"/>
                </a:lnTo>
                <a:cubicBezTo>
                  <a:pt x="290592" y="189071"/>
                  <a:pt x="292735" y="190421"/>
                  <a:pt x="295196" y="190421"/>
                </a:cubicBezTo>
                <a:lnTo>
                  <a:pt x="393303" y="190421"/>
                </a:lnTo>
                <a:cubicBezTo>
                  <a:pt x="401638" y="171133"/>
                  <a:pt x="406479" y="151765"/>
                  <a:pt x="406479" y="133033"/>
                </a:cubicBezTo>
                <a:lnTo>
                  <a:pt x="406479" y="130969"/>
                </a:lnTo>
                <a:cubicBezTo>
                  <a:pt x="406400" y="72708"/>
                  <a:pt x="359093" y="25400"/>
                  <a:pt x="300752" y="25400"/>
                </a:cubicBezTo>
                <a:cubicBezTo>
                  <a:pt x="266859" y="25400"/>
                  <a:pt x="234950" y="41672"/>
                  <a:pt x="215106" y="69136"/>
                </a:cubicBezTo>
                <a:lnTo>
                  <a:pt x="203200" y="85566"/>
                </a:lnTo>
                <a:close/>
                <a:moveTo>
                  <a:pt x="372745" y="228600"/>
                </a:moveTo>
                <a:lnTo>
                  <a:pt x="295116" y="228600"/>
                </a:lnTo>
                <a:cubicBezTo>
                  <a:pt x="278289" y="228600"/>
                  <a:pt x="262890" y="219075"/>
                  <a:pt x="255349" y="203994"/>
                </a:cubicBezTo>
                <a:lnTo>
                  <a:pt x="254000" y="201295"/>
                </a:lnTo>
                <a:lnTo>
                  <a:pt x="220266" y="268843"/>
                </a:lnTo>
                <a:cubicBezTo>
                  <a:pt x="217011" y="275431"/>
                  <a:pt x="210185" y="279559"/>
                  <a:pt x="202803" y="279400"/>
                </a:cubicBezTo>
                <a:cubicBezTo>
                  <a:pt x="195421" y="279241"/>
                  <a:pt x="188833" y="274876"/>
                  <a:pt x="185817" y="268208"/>
                </a:cubicBezTo>
                <a:lnTo>
                  <a:pt x="146685" y="181293"/>
                </a:lnTo>
                <a:lnTo>
                  <a:pt x="138351" y="201295"/>
                </a:lnTo>
                <a:cubicBezTo>
                  <a:pt x="131445" y="217884"/>
                  <a:pt x="115253" y="228679"/>
                  <a:pt x="97314" y="228679"/>
                </a:cubicBezTo>
                <a:lnTo>
                  <a:pt x="33655" y="228679"/>
                </a:lnTo>
                <a:cubicBezTo>
                  <a:pt x="71120" y="287258"/>
                  <a:pt x="131286" y="341154"/>
                  <a:pt x="168910" y="369888"/>
                </a:cubicBezTo>
                <a:cubicBezTo>
                  <a:pt x="178753" y="377349"/>
                  <a:pt x="190818" y="381079"/>
                  <a:pt x="203121" y="381079"/>
                </a:cubicBezTo>
                <a:cubicBezTo>
                  <a:pt x="215424" y="381079"/>
                  <a:pt x="227568" y="377428"/>
                  <a:pt x="237331" y="369888"/>
                </a:cubicBezTo>
                <a:cubicBezTo>
                  <a:pt x="275114" y="341074"/>
                  <a:pt x="335280" y="287179"/>
                  <a:pt x="372745" y="228600"/>
                </a:cubicBezTo>
                <a:close/>
              </a:path>
            </a:pathLst>
          </a:custGeom>
          <a:solidFill>
            <a:srgbClr val="DC382D"/>
          </a:solidFill>
          <a:ln/>
        </p:spPr>
      </p:sp>
      <p:sp>
        <p:nvSpPr>
          <p:cNvPr id="20" name="Text 16"/>
          <p:cNvSpPr/>
          <p:nvPr/>
        </p:nvSpPr>
        <p:spPr>
          <a:xfrm>
            <a:off x="8534400" y="6070600"/>
            <a:ext cx="2921000" cy="304800"/>
          </a:xfrm>
          <a:prstGeom prst="rect">
            <a:avLst/>
          </a:prstGeom>
          <a:noFill/>
          <a:ln/>
        </p:spPr>
        <p:txBody>
          <a:bodyPr wrap="none" lIns="0" tIns="0" rIns="0" bIns="0" rtlCol="0" anchor="ctr"/>
          <a:lstStyle/>
          <a:p>
            <a:pPr>
              <a:lnSpc>
                <a:spcPct val="130000"/>
              </a:lnSpc>
            </a:pPr>
            <a:r>
              <a:rPr lang="en-US" sz="1600" b="1" dirty="0">
                <a:solidFill>
                  <a:srgbClr val="1E293B"/>
                </a:solidFill>
                <a:latin typeface="Liter" pitchFamily="34" charset="0"/>
                <a:ea typeface="Liter" pitchFamily="34" charset="-122"/>
                <a:cs typeface="Liter" pitchFamily="34" charset="-120"/>
              </a:rPr>
              <a:t>Healthcheck</a:t>
            </a:r>
            <a:endParaRPr lang="en-US" sz="2000" dirty="0"/>
          </a:p>
        </p:txBody>
      </p:sp>
      <p:sp>
        <p:nvSpPr>
          <p:cNvPr id="21" name="Text 17"/>
          <p:cNvSpPr/>
          <p:nvPr/>
        </p:nvSpPr>
        <p:spPr>
          <a:xfrm>
            <a:off x="8534400" y="6451600"/>
            <a:ext cx="2921000" cy="1524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Healthcheck integre pour Redis assurant la disponibilite du service</a:t>
            </a:r>
            <a:endParaRPr lang="en-US" sz="1600" dirty="0"/>
          </a:p>
        </p:txBody>
      </p:sp>
      <p:sp>
        <p:nvSpPr>
          <p:cNvPr id="22" name="Shape 18"/>
          <p:cNvSpPr/>
          <p:nvPr/>
        </p:nvSpPr>
        <p:spPr>
          <a:xfrm>
            <a:off x="12039600" y="5270500"/>
            <a:ext cx="3429000" cy="2921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3" name="Shape 19"/>
          <p:cNvSpPr/>
          <p:nvPr/>
        </p:nvSpPr>
        <p:spPr>
          <a:xfrm>
            <a:off x="12268200" y="5524500"/>
            <a:ext cx="457200" cy="406400"/>
          </a:xfrm>
          <a:custGeom>
            <a:avLst/>
            <a:gdLst/>
            <a:ahLst/>
            <a:cxnLst/>
            <a:rect l="l" t="t" r="r" b="b"/>
            <a:pathLst>
              <a:path w="457200" h="406400">
                <a:moveTo>
                  <a:pt x="332978" y="76200"/>
                </a:moveTo>
                <a:cubicBezTo>
                  <a:pt x="319802" y="76200"/>
                  <a:pt x="307023" y="79772"/>
                  <a:pt x="295831" y="86281"/>
                </a:cubicBezTo>
                <a:cubicBezTo>
                  <a:pt x="283289" y="73581"/>
                  <a:pt x="268684" y="62944"/>
                  <a:pt x="252571" y="54928"/>
                </a:cubicBezTo>
                <a:cubicBezTo>
                  <a:pt x="274955" y="35878"/>
                  <a:pt x="303451" y="25400"/>
                  <a:pt x="332978" y="25400"/>
                </a:cubicBezTo>
                <a:cubicBezTo>
                  <a:pt x="401558" y="25400"/>
                  <a:pt x="457200" y="80963"/>
                  <a:pt x="457200" y="149622"/>
                </a:cubicBezTo>
                <a:cubicBezTo>
                  <a:pt x="457200" y="182563"/>
                  <a:pt x="444103" y="214154"/>
                  <a:pt x="420846" y="237411"/>
                </a:cubicBezTo>
                <a:lnTo>
                  <a:pt x="364411" y="293846"/>
                </a:lnTo>
                <a:cubicBezTo>
                  <a:pt x="341154" y="317103"/>
                  <a:pt x="309563" y="330200"/>
                  <a:pt x="276622" y="330200"/>
                </a:cubicBezTo>
                <a:cubicBezTo>
                  <a:pt x="208042" y="330200"/>
                  <a:pt x="152400" y="274638"/>
                  <a:pt x="152400" y="205978"/>
                </a:cubicBezTo>
                <a:cubicBezTo>
                  <a:pt x="152400" y="204788"/>
                  <a:pt x="152400" y="203597"/>
                  <a:pt x="152479" y="202406"/>
                </a:cubicBezTo>
                <a:cubicBezTo>
                  <a:pt x="152876" y="188357"/>
                  <a:pt x="164544" y="177324"/>
                  <a:pt x="178594" y="177721"/>
                </a:cubicBezTo>
                <a:cubicBezTo>
                  <a:pt x="192643" y="178118"/>
                  <a:pt x="203676" y="189786"/>
                  <a:pt x="203279" y="203835"/>
                </a:cubicBezTo>
                <a:cubicBezTo>
                  <a:pt x="203279" y="204549"/>
                  <a:pt x="203279" y="205264"/>
                  <a:pt x="203279" y="205899"/>
                </a:cubicBezTo>
                <a:cubicBezTo>
                  <a:pt x="203279" y="246459"/>
                  <a:pt x="236141" y="279321"/>
                  <a:pt x="276701" y="279321"/>
                </a:cubicBezTo>
                <a:cubicBezTo>
                  <a:pt x="296148" y="279321"/>
                  <a:pt x="314801" y="271621"/>
                  <a:pt x="328613" y="257810"/>
                </a:cubicBezTo>
                <a:lnTo>
                  <a:pt x="385048" y="201374"/>
                </a:lnTo>
                <a:cubicBezTo>
                  <a:pt x="398780" y="187643"/>
                  <a:pt x="406559" y="168910"/>
                  <a:pt x="406559" y="149463"/>
                </a:cubicBezTo>
                <a:cubicBezTo>
                  <a:pt x="406559" y="108903"/>
                  <a:pt x="373698" y="76041"/>
                  <a:pt x="333137" y="76041"/>
                </a:cubicBezTo>
                <a:close/>
                <a:moveTo>
                  <a:pt x="218440" y="137557"/>
                </a:moveTo>
                <a:cubicBezTo>
                  <a:pt x="216932" y="136922"/>
                  <a:pt x="215424" y="136049"/>
                  <a:pt x="214074" y="135096"/>
                </a:cubicBezTo>
                <a:cubicBezTo>
                  <a:pt x="204073" y="129937"/>
                  <a:pt x="192643" y="127000"/>
                  <a:pt x="180658" y="127000"/>
                </a:cubicBezTo>
                <a:cubicBezTo>
                  <a:pt x="161211" y="127000"/>
                  <a:pt x="142558" y="134699"/>
                  <a:pt x="128746" y="148511"/>
                </a:cubicBezTo>
                <a:lnTo>
                  <a:pt x="72311" y="204946"/>
                </a:lnTo>
                <a:cubicBezTo>
                  <a:pt x="58579" y="218678"/>
                  <a:pt x="50800" y="237411"/>
                  <a:pt x="50800" y="256858"/>
                </a:cubicBezTo>
                <a:cubicBezTo>
                  <a:pt x="50800" y="297418"/>
                  <a:pt x="83661" y="330279"/>
                  <a:pt x="124222" y="330279"/>
                </a:cubicBezTo>
                <a:cubicBezTo>
                  <a:pt x="137319" y="330279"/>
                  <a:pt x="150098" y="326787"/>
                  <a:pt x="161290" y="320278"/>
                </a:cubicBezTo>
                <a:cubicBezTo>
                  <a:pt x="173831" y="332978"/>
                  <a:pt x="188436" y="343614"/>
                  <a:pt x="204629" y="351631"/>
                </a:cubicBezTo>
                <a:cubicBezTo>
                  <a:pt x="182245" y="370602"/>
                  <a:pt x="153829" y="381159"/>
                  <a:pt x="124222" y="381159"/>
                </a:cubicBezTo>
                <a:cubicBezTo>
                  <a:pt x="55642" y="381159"/>
                  <a:pt x="0" y="325596"/>
                  <a:pt x="0" y="256937"/>
                </a:cubicBezTo>
                <a:cubicBezTo>
                  <a:pt x="0" y="223996"/>
                  <a:pt x="13097" y="192405"/>
                  <a:pt x="36354" y="169148"/>
                </a:cubicBezTo>
                <a:lnTo>
                  <a:pt x="92789" y="112713"/>
                </a:lnTo>
                <a:cubicBezTo>
                  <a:pt x="116046" y="89456"/>
                  <a:pt x="147638" y="76359"/>
                  <a:pt x="180578" y="76359"/>
                </a:cubicBezTo>
                <a:cubicBezTo>
                  <a:pt x="249317" y="76359"/>
                  <a:pt x="304800" y="132398"/>
                  <a:pt x="304800" y="200898"/>
                </a:cubicBezTo>
                <a:cubicBezTo>
                  <a:pt x="304800" y="201930"/>
                  <a:pt x="304800" y="202962"/>
                  <a:pt x="304800" y="203994"/>
                </a:cubicBezTo>
                <a:cubicBezTo>
                  <a:pt x="304483" y="218043"/>
                  <a:pt x="292814" y="229076"/>
                  <a:pt x="278765" y="228759"/>
                </a:cubicBezTo>
                <a:cubicBezTo>
                  <a:pt x="264716" y="228441"/>
                  <a:pt x="253682" y="216773"/>
                  <a:pt x="254000" y="202724"/>
                </a:cubicBezTo>
                <a:cubicBezTo>
                  <a:pt x="254000" y="202089"/>
                  <a:pt x="254000" y="201533"/>
                  <a:pt x="254000" y="200898"/>
                </a:cubicBezTo>
                <a:cubicBezTo>
                  <a:pt x="254000" y="174149"/>
                  <a:pt x="239713" y="150654"/>
                  <a:pt x="218440" y="137716"/>
                </a:cubicBezTo>
                <a:close/>
              </a:path>
            </a:pathLst>
          </a:custGeom>
          <a:solidFill>
            <a:srgbClr val="DC382D"/>
          </a:solidFill>
          <a:ln/>
        </p:spPr>
      </p:sp>
      <p:sp>
        <p:nvSpPr>
          <p:cNvPr id="24" name="Text 20"/>
          <p:cNvSpPr/>
          <p:nvPr/>
        </p:nvSpPr>
        <p:spPr>
          <a:xfrm>
            <a:off x="12293600" y="6070600"/>
            <a:ext cx="2921000" cy="304800"/>
          </a:xfrm>
          <a:prstGeom prst="rect">
            <a:avLst/>
          </a:prstGeom>
          <a:noFill/>
          <a:ln/>
        </p:spPr>
        <p:txBody>
          <a:bodyPr wrap="none" lIns="0" tIns="0" rIns="0" bIns="0" rtlCol="0" anchor="ctr"/>
          <a:lstStyle/>
          <a:p>
            <a:pPr>
              <a:lnSpc>
                <a:spcPct val="130000"/>
              </a:lnSpc>
            </a:pPr>
            <a:r>
              <a:rPr lang="en-US" sz="1600" b="1" dirty="0">
                <a:solidFill>
                  <a:srgbClr val="1E293B"/>
                </a:solidFill>
                <a:latin typeface="Liter" pitchFamily="34" charset="0"/>
                <a:ea typeface="Liter" pitchFamily="34" charset="-122"/>
                <a:cs typeface="Liter" pitchFamily="34" charset="-120"/>
              </a:rPr>
              <a:t>Connexion</a:t>
            </a:r>
            <a:endParaRPr lang="en-US" sz="2000" dirty="0"/>
          </a:p>
        </p:txBody>
      </p:sp>
      <p:sp>
        <p:nvSpPr>
          <p:cNvPr id="25" name="Text 21"/>
          <p:cNvSpPr/>
          <p:nvPr/>
        </p:nvSpPr>
        <p:spPr>
          <a:xfrm>
            <a:off x="12293600" y="6451600"/>
            <a:ext cx="2921000" cy="15240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Variable d'environnement REDIS_URL pour la connexion a Redis</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48768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 02 ARCHITECTURE 03 INFRASTRUCTURE</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04</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ABSTRACTION</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05 INTEGRATION 06 INVALIDATION 07 TESTS 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COUCHE D'ABSTRACTION</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Shape 5"/>
          <p:cNvSpPr/>
          <p:nvPr/>
        </p:nvSpPr>
        <p:spPr>
          <a:xfrm>
            <a:off x="762000" y="1524000"/>
            <a:ext cx="14732000" cy="1016000"/>
          </a:xfrm>
          <a:prstGeom prst="roundRect">
            <a:avLst>
              <a:gd name="adj" fmla="val 6000"/>
            </a:avLst>
          </a:prstGeom>
          <a:solidFill>
            <a:srgbClr val="1E293B"/>
          </a:solidFill>
          <a:ln/>
        </p:spPr>
      </p:sp>
      <p:sp>
        <p:nvSpPr>
          <p:cNvPr id="9" name="Shape 6"/>
          <p:cNvSpPr/>
          <p:nvPr/>
        </p:nvSpPr>
        <p:spPr>
          <a:xfrm>
            <a:off x="1136650" y="1778000"/>
            <a:ext cx="342900" cy="457200"/>
          </a:xfrm>
          <a:custGeom>
            <a:avLst/>
            <a:gdLst/>
            <a:ahLst/>
            <a:cxnLst/>
            <a:rect l="l" t="t" r="r" b="b"/>
            <a:pathLst>
              <a:path w="342900" h="457200">
                <a:moveTo>
                  <a:pt x="0" y="57150"/>
                </a:moveTo>
                <a:cubicBezTo>
                  <a:pt x="0" y="25628"/>
                  <a:pt x="25628" y="0"/>
                  <a:pt x="57150" y="0"/>
                </a:cubicBezTo>
                <a:lnTo>
                  <a:pt x="190649" y="0"/>
                </a:lnTo>
                <a:cubicBezTo>
                  <a:pt x="205829" y="0"/>
                  <a:pt x="220385" y="5983"/>
                  <a:pt x="231100" y="16699"/>
                </a:cubicBezTo>
                <a:lnTo>
                  <a:pt x="326201" y="111889"/>
                </a:lnTo>
                <a:cubicBezTo>
                  <a:pt x="336917" y="122605"/>
                  <a:pt x="342900" y="137160"/>
                  <a:pt x="342900" y="152340"/>
                </a:cubicBezTo>
                <a:lnTo>
                  <a:pt x="342900" y="400050"/>
                </a:lnTo>
                <a:cubicBezTo>
                  <a:pt x="342900" y="431572"/>
                  <a:pt x="317272" y="457200"/>
                  <a:pt x="285750" y="457200"/>
                </a:cubicBezTo>
                <a:lnTo>
                  <a:pt x="57150" y="457200"/>
                </a:lnTo>
                <a:cubicBezTo>
                  <a:pt x="25628" y="457200"/>
                  <a:pt x="0" y="431572"/>
                  <a:pt x="0" y="400050"/>
                </a:cubicBezTo>
                <a:lnTo>
                  <a:pt x="0" y="57150"/>
                </a:lnTo>
                <a:close/>
                <a:moveTo>
                  <a:pt x="185738" y="52239"/>
                </a:moveTo>
                <a:lnTo>
                  <a:pt x="185738" y="135731"/>
                </a:lnTo>
                <a:cubicBezTo>
                  <a:pt x="185738" y="147608"/>
                  <a:pt x="195292" y="157163"/>
                  <a:pt x="207169" y="157163"/>
                </a:cubicBezTo>
                <a:lnTo>
                  <a:pt x="290661" y="157163"/>
                </a:lnTo>
                <a:lnTo>
                  <a:pt x="185738" y="52239"/>
                </a:lnTo>
                <a:close/>
                <a:moveTo>
                  <a:pt x="137696" y="263962"/>
                </a:moveTo>
                <a:cubicBezTo>
                  <a:pt x="145375" y="254943"/>
                  <a:pt x="144393" y="241459"/>
                  <a:pt x="135374" y="233779"/>
                </a:cubicBezTo>
                <a:cubicBezTo>
                  <a:pt x="126355" y="226100"/>
                  <a:pt x="112871" y="227082"/>
                  <a:pt x="105192" y="236101"/>
                </a:cubicBezTo>
                <a:lnTo>
                  <a:pt x="62329" y="286107"/>
                </a:lnTo>
                <a:cubicBezTo>
                  <a:pt x="55453" y="294144"/>
                  <a:pt x="55453" y="305931"/>
                  <a:pt x="62329" y="313968"/>
                </a:cubicBezTo>
                <a:lnTo>
                  <a:pt x="105192" y="363974"/>
                </a:lnTo>
                <a:cubicBezTo>
                  <a:pt x="112871" y="372993"/>
                  <a:pt x="126444" y="373975"/>
                  <a:pt x="135374" y="366296"/>
                </a:cubicBezTo>
                <a:cubicBezTo>
                  <a:pt x="144304" y="358616"/>
                  <a:pt x="145375" y="345043"/>
                  <a:pt x="137696" y="336113"/>
                </a:cubicBezTo>
                <a:lnTo>
                  <a:pt x="106799" y="300038"/>
                </a:lnTo>
                <a:lnTo>
                  <a:pt x="137696" y="263962"/>
                </a:lnTo>
                <a:close/>
                <a:moveTo>
                  <a:pt x="237708" y="236101"/>
                </a:moveTo>
                <a:cubicBezTo>
                  <a:pt x="230029" y="227082"/>
                  <a:pt x="216456" y="226100"/>
                  <a:pt x="207526" y="233779"/>
                </a:cubicBezTo>
                <a:cubicBezTo>
                  <a:pt x="198596" y="241459"/>
                  <a:pt x="197525" y="255032"/>
                  <a:pt x="205204" y="263962"/>
                </a:cubicBezTo>
                <a:lnTo>
                  <a:pt x="236101" y="300038"/>
                </a:lnTo>
                <a:lnTo>
                  <a:pt x="205204" y="336113"/>
                </a:lnTo>
                <a:cubicBezTo>
                  <a:pt x="197525" y="345132"/>
                  <a:pt x="198507" y="358616"/>
                  <a:pt x="207526" y="366296"/>
                </a:cubicBezTo>
                <a:cubicBezTo>
                  <a:pt x="216545" y="373975"/>
                  <a:pt x="230029" y="372993"/>
                  <a:pt x="237708" y="363974"/>
                </a:cubicBezTo>
                <a:lnTo>
                  <a:pt x="280571" y="313968"/>
                </a:lnTo>
                <a:cubicBezTo>
                  <a:pt x="287447" y="305931"/>
                  <a:pt x="287447" y="294144"/>
                  <a:pt x="280571" y="286107"/>
                </a:cubicBezTo>
                <a:lnTo>
                  <a:pt x="237708" y="236101"/>
                </a:lnTo>
                <a:close/>
              </a:path>
            </a:pathLst>
          </a:custGeom>
          <a:solidFill>
            <a:srgbClr val="DC382D"/>
          </a:solidFill>
          <a:ln/>
        </p:spPr>
      </p:sp>
      <p:sp>
        <p:nvSpPr>
          <p:cNvPr id="10" name="Text 7"/>
          <p:cNvSpPr/>
          <p:nvPr/>
        </p:nvSpPr>
        <p:spPr>
          <a:xfrm>
            <a:off x="1714500" y="1524000"/>
            <a:ext cx="6350000" cy="1016000"/>
          </a:xfrm>
          <a:prstGeom prst="rect">
            <a:avLst/>
          </a:prstGeom>
          <a:noFill/>
          <a:ln/>
        </p:spPr>
        <p:txBody>
          <a:bodyPr wrap="none" lIns="0" tIns="0" rIns="0" bIns="0" rtlCol="0" anchor="ctr"/>
          <a:lstStyle/>
          <a:p>
            <a:pPr>
              <a:lnSpc>
                <a:spcPct val="100000"/>
              </a:lnSpc>
            </a:pPr>
            <a:r>
              <a:rPr lang="en-US" sz="2200" b="1" dirty="0">
                <a:solidFill>
                  <a:srgbClr val="FFFFFF"/>
                </a:solidFill>
                <a:latin typeface="Liter" pitchFamily="34" charset="0"/>
                <a:ea typeface="Liter" pitchFamily="34" charset="-122"/>
                <a:cs typeface="Liter" pitchFamily="34" charset="-120"/>
              </a:rPr>
              <a:t>src/lib/cache.ts</a:t>
            </a:r>
            <a:endParaRPr lang="en-US" sz="1600" dirty="0"/>
          </a:p>
        </p:txBody>
      </p:sp>
      <p:sp>
        <p:nvSpPr>
          <p:cNvPr id="11" name="Text 8"/>
          <p:cNvSpPr/>
          <p:nvPr/>
        </p:nvSpPr>
        <p:spPr>
          <a:xfrm>
            <a:off x="8890000" y="1524000"/>
            <a:ext cx="6350000" cy="1016000"/>
          </a:xfrm>
          <a:prstGeom prst="rect">
            <a:avLst/>
          </a:prstGeom>
          <a:noFill/>
          <a:ln/>
        </p:spPr>
        <p:txBody>
          <a:bodyPr wrap="none" lIns="0" tIns="0" rIns="0" bIns="0" rtlCol="0" anchor="ctr"/>
          <a:lstStyle/>
          <a:p>
            <a:pPr algn="r">
              <a:lnSpc>
                <a:spcPct val="100000"/>
              </a:lnSpc>
            </a:pPr>
            <a:r>
              <a:rPr lang="en-US" sz="1400" dirty="0">
                <a:solidFill>
                  <a:srgbClr val="94A3B8"/>
                </a:solidFill>
                <a:latin typeface="Quattrocento Sans" pitchFamily="34" charset="0"/>
                <a:ea typeface="Quattrocento Sans" pitchFamily="34" charset="-122"/>
                <a:cs typeface="Quattrocento Sans" pitchFamily="34" charset="-120"/>
              </a:rPr>
              <a:t>Interface simple et reutilisable pour Redis</a:t>
            </a:r>
            <a:endParaRPr lang="en-US" sz="1600" dirty="0"/>
          </a:p>
        </p:txBody>
      </p:sp>
      <p:sp>
        <p:nvSpPr>
          <p:cNvPr id="12" name="Shape 9"/>
          <p:cNvSpPr/>
          <p:nvPr/>
        </p:nvSpPr>
        <p:spPr>
          <a:xfrm>
            <a:off x="762000" y="2921000"/>
            <a:ext cx="7048500" cy="3302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3" name="Shape 10"/>
          <p:cNvSpPr/>
          <p:nvPr/>
        </p:nvSpPr>
        <p:spPr>
          <a:xfrm>
            <a:off x="762000" y="2921000"/>
            <a:ext cx="63500" cy="3302000"/>
          </a:xfrm>
          <a:prstGeom prst="rect">
            <a:avLst/>
          </a:prstGeom>
          <a:solidFill>
            <a:srgbClr val="DC382D"/>
          </a:solidFill>
          <a:ln/>
        </p:spPr>
      </p:sp>
      <p:sp>
        <p:nvSpPr>
          <p:cNvPr id="14" name="Shape 11"/>
          <p:cNvSpPr/>
          <p:nvPr/>
        </p:nvSpPr>
        <p:spPr>
          <a:xfrm>
            <a:off x="1174750" y="3238500"/>
            <a:ext cx="444500" cy="508000"/>
          </a:xfrm>
          <a:custGeom>
            <a:avLst/>
            <a:gdLst/>
            <a:ahLst/>
            <a:cxnLst/>
            <a:rect l="l" t="t" r="r" b="b"/>
            <a:pathLst>
              <a:path w="444500" h="508000">
                <a:moveTo>
                  <a:pt x="254000" y="31750"/>
                </a:moveTo>
                <a:cubicBezTo>
                  <a:pt x="254000" y="14188"/>
                  <a:pt x="239812" y="0"/>
                  <a:pt x="222250" y="0"/>
                </a:cubicBezTo>
                <a:cubicBezTo>
                  <a:pt x="204688" y="0"/>
                  <a:pt x="190500" y="14188"/>
                  <a:pt x="190500" y="31750"/>
                </a:cubicBezTo>
                <a:lnTo>
                  <a:pt x="190500" y="240804"/>
                </a:lnTo>
                <a:lnTo>
                  <a:pt x="149423" y="199727"/>
                </a:lnTo>
                <a:cubicBezTo>
                  <a:pt x="137021" y="187325"/>
                  <a:pt x="116880" y="187325"/>
                  <a:pt x="104477" y="199727"/>
                </a:cubicBezTo>
                <a:cubicBezTo>
                  <a:pt x="92075" y="212130"/>
                  <a:pt x="92075" y="232271"/>
                  <a:pt x="104477" y="244673"/>
                </a:cubicBezTo>
                <a:lnTo>
                  <a:pt x="199727" y="339923"/>
                </a:lnTo>
                <a:cubicBezTo>
                  <a:pt x="212130" y="352326"/>
                  <a:pt x="232271" y="352326"/>
                  <a:pt x="244673" y="339923"/>
                </a:cubicBezTo>
                <a:lnTo>
                  <a:pt x="339923" y="244673"/>
                </a:lnTo>
                <a:cubicBezTo>
                  <a:pt x="352326" y="232271"/>
                  <a:pt x="352326" y="212130"/>
                  <a:pt x="339923" y="199727"/>
                </a:cubicBezTo>
                <a:cubicBezTo>
                  <a:pt x="327521" y="187325"/>
                  <a:pt x="307380" y="187325"/>
                  <a:pt x="294977" y="199727"/>
                </a:cubicBezTo>
                <a:lnTo>
                  <a:pt x="254000" y="240804"/>
                </a:lnTo>
                <a:lnTo>
                  <a:pt x="254000" y="31750"/>
                </a:lnTo>
                <a:close/>
                <a:moveTo>
                  <a:pt x="63500" y="317500"/>
                </a:moveTo>
                <a:cubicBezTo>
                  <a:pt x="28476" y="317500"/>
                  <a:pt x="0" y="345976"/>
                  <a:pt x="0" y="381000"/>
                </a:cubicBezTo>
                <a:lnTo>
                  <a:pt x="0" y="412750"/>
                </a:lnTo>
                <a:cubicBezTo>
                  <a:pt x="0" y="447774"/>
                  <a:pt x="28476" y="476250"/>
                  <a:pt x="63500" y="476250"/>
                </a:cubicBezTo>
                <a:lnTo>
                  <a:pt x="381000" y="476250"/>
                </a:lnTo>
                <a:cubicBezTo>
                  <a:pt x="416024" y="476250"/>
                  <a:pt x="444500" y="447774"/>
                  <a:pt x="444500" y="412750"/>
                </a:cubicBezTo>
                <a:lnTo>
                  <a:pt x="444500" y="381000"/>
                </a:lnTo>
                <a:cubicBezTo>
                  <a:pt x="444500" y="345976"/>
                  <a:pt x="416024" y="317500"/>
                  <a:pt x="381000" y="317500"/>
                </a:cubicBezTo>
                <a:lnTo>
                  <a:pt x="334466" y="317500"/>
                </a:lnTo>
                <a:lnTo>
                  <a:pt x="278309" y="373658"/>
                </a:lnTo>
                <a:cubicBezTo>
                  <a:pt x="247352" y="404614"/>
                  <a:pt x="197048" y="404614"/>
                  <a:pt x="166092" y="373658"/>
                </a:cubicBezTo>
                <a:lnTo>
                  <a:pt x="110034" y="317500"/>
                </a:lnTo>
                <a:lnTo>
                  <a:pt x="63500" y="317500"/>
                </a:lnTo>
                <a:close/>
                <a:moveTo>
                  <a:pt x="365125" y="373063"/>
                </a:moveTo>
                <a:cubicBezTo>
                  <a:pt x="378267" y="373063"/>
                  <a:pt x="388938" y="383733"/>
                  <a:pt x="388938" y="396875"/>
                </a:cubicBezTo>
                <a:cubicBezTo>
                  <a:pt x="388938" y="410017"/>
                  <a:pt x="378267" y="420688"/>
                  <a:pt x="365125" y="420688"/>
                </a:cubicBezTo>
                <a:cubicBezTo>
                  <a:pt x="351983" y="420688"/>
                  <a:pt x="341313" y="410017"/>
                  <a:pt x="341313" y="396875"/>
                </a:cubicBezTo>
                <a:cubicBezTo>
                  <a:pt x="341313" y="383733"/>
                  <a:pt x="351983" y="373063"/>
                  <a:pt x="365125" y="373063"/>
                </a:cubicBezTo>
                <a:close/>
              </a:path>
            </a:pathLst>
          </a:custGeom>
          <a:solidFill>
            <a:srgbClr val="DC382D"/>
          </a:solidFill>
          <a:ln/>
        </p:spPr>
      </p:sp>
      <p:sp>
        <p:nvSpPr>
          <p:cNvPr id="15" name="Text 12"/>
          <p:cNvSpPr/>
          <p:nvPr/>
        </p:nvSpPr>
        <p:spPr>
          <a:xfrm>
            <a:off x="1841500" y="3238500"/>
            <a:ext cx="3810000" cy="457200"/>
          </a:xfrm>
          <a:prstGeom prst="rect">
            <a:avLst/>
          </a:prstGeom>
          <a:noFill/>
          <a:ln/>
        </p:spPr>
        <p:txBody>
          <a:bodyPr wrap="none" lIns="0" tIns="0" rIns="0" bIns="0" rtlCol="0" anchor="ctr"/>
          <a:lstStyle/>
          <a:p>
            <a:pPr>
              <a:lnSpc>
                <a:spcPct val="130000"/>
              </a:lnSpc>
            </a:pPr>
            <a:r>
              <a:rPr lang="en-US" sz="2200" b="1" dirty="0">
                <a:solidFill>
                  <a:srgbClr val="1E293B"/>
                </a:solidFill>
                <a:latin typeface="Liter" pitchFamily="34" charset="0"/>
                <a:ea typeface="Liter" pitchFamily="34" charset="-122"/>
                <a:cs typeface="Liter" pitchFamily="34" charset="-120"/>
              </a:rPr>
              <a:t>cacheGet()</a:t>
            </a:r>
            <a:endParaRPr lang="en-US" sz="2000" dirty="0"/>
          </a:p>
        </p:txBody>
      </p:sp>
      <p:sp>
        <p:nvSpPr>
          <p:cNvPr id="16" name="Text 13"/>
          <p:cNvSpPr/>
          <p:nvPr/>
        </p:nvSpPr>
        <p:spPr>
          <a:xfrm>
            <a:off x="1143000" y="3937000"/>
            <a:ext cx="6350000" cy="2032000"/>
          </a:xfrm>
          <a:prstGeom prst="rect">
            <a:avLst/>
          </a:prstGeom>
          <a:noFill/>
          <a:ln/>
        </p:spPr>
        <p:txBody>
          <a:bodyPr wrap="square" lIns="0" tIns="0" rIns="0" bIns="0" rtlCol="0" anchor="t"/>
          <a:lstStyle/>
          <a:p>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Recuperation des donnees depuis Redis avec </a:t>
            </a:r>
            <a:pPr>
              <a:lnSpc>
                <a:spcPct val="160000"/>
              </a:lnSpc>
            </a:pPr>
            <a:r>
              <a:rPr lang="en-US" sz="1800" b="1" dirty="0">
                <a:solidFill>
                  <a:srgbClr val="0F172A"/>
                </a:solidFill>
                <a:latin typeface="QuattrocentoSans" pitchFamily="34" charset="0"/>
                <a:ea typeface="QuattrocentoSans" pitchFamily="34" charset="-122"/>
                <a:cs typeface="QuattrocentoSans" pitchFamily="34" charset="-120"/>
              </a:rPr>
              <a:t>typage TypeScript</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a:t>
            </a:r>
            <a:endParaRPr lang="en-US" sz="1800" dirty="0"/>
          </a:p>
          <a:p>
            <a:pPr>
              <a:lnSpc>
                <a:spcPct val="160000"/>
              </a:lnSpc>
              <a:spcBef>
                <a:spcPts val="800"/>
              </a:spcBef>
            </a:pPr>
            <a:r>
              <a:rPr lang="en-US" sz="1400" dirty="0">
                <a:solidFill>
                  <a:srgbClr val="64748B"/>
                </a:solidFill>
                <a:latin typeface="QuattrocentoSans" pitchFamily="34" charset="0"/>
                <a:ea typeface="QuattrocentoSans" pitchFamily="34" charset="-122"/>
                <a:cs typeface="QuattrocentoSans" pitchFamily="34" charset="-120"/>
              </a:rPr>
              <a:t>Parse automatiquement les donnees JSON stockees et les retourne avec le type generique specifie.</a:t>
            </a:r>
            <a:endParaRPr lang="en-US" sz="1800" dirty="0"/>
          </a:p>
        </p:txBody>
      </p:sp>
      <p:sp>
        <p:nvSpPr>
          <p:cNvPr id="17" name="Shape 14"/>
          <p:cNvSpPr/>
          <p:nvPr/>
        </p:nvSpPr>
        <p:spPr>
          <a:xfrm>
            <a:off x="8445500" y="2921000"/>
            <a:ext cx="7048500" cy="3302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8" name="Shape 15"/>
          <p:cNvSpPr/>
          <p:nvPr/>
        </p:nvSpPr>
        <p:spPr>
          <a:xfrm>
            <a:off x="8445500" y="2921000"/>
            <a:ext cx="63500" cy="3302000"/>
          </a:xfrm>
          <a:prstGeom prst="rect">
            <a:avLst/>
          </a:prstGeom>
          <a:solidFill>
            <a:srgbClr val="22C55E"/>
          </a:solidFill>
          <a:ln/>
        </p:spPr>
      </p:sp>
      <p:sp>
        <p:nvSpPr>
          <p:cNvPr id="19" name="Shape 16"/>
          <p:cNvSpPr/>
          <p:nvPr/>
        </p:nvSpPr>
        <p:spPr>
          <a:xfrm>
            <a:off x="8858250" y="3238500"/>
            <a:ext cx="444500" cy="508000"/>
          </a:xfrm>
          <a:custGeom>
            <a:avLst/>
            <a:gdLst/>
            <a:ahLst/>
            <a:cxnLst/>
            <a:rect l="l" t="t" r="r" b="b"/>
            <a:pathLst>
              <a:path w="444500" h="508000">
                <a:moveTo>
                  <a:pt x="254000" y="108446"/>
                </a:moveTo>
                <a:lnTo>
                  <a:pt x="254000" y="317500"/>
                </a:lnTo>
                <a:cubicBezTo>
                  <a:pt x="254000" y="335062"/>
                  <a:pt x="239812" y="349250"/>
                  <a:pt x="222250" y="349250"/>
                </a:cubicBezTo>
                <a:cubicBezTo>
                  <a:pt x="204688" y="349250"/>
                  <a:pt x="190500" y="335062"/>
                  <a:pt x="190500" y="317500"/>
                </a:cubicBezTo>
                <a:lnTo>
                  <a:pt x="190500" y="108446"/>
                </a:lnTo>
                <a:lnTo>
                  <a:pt x="149423" y="149523"/>
                </a:lnTo>
                <a:cubicBezTo>
                  <a:pt x="137021" y="161925"/>
                  <a:pt x="116880" y="161925"/>
                  <a:pt x="104477" y="149523"/>
                </a:cubicBezTo>
                <a:cubicBezTo>
                  <a:pt x="92075" y="137120"/>
                  <a:pt x="92075" y="116979"/>
                  <a:pt x="104477" y="104577"/>
                </a:cubicBezTo>
                <a:lnTo>
                  <a:pt x="199727" y="9327"/>
                </a:lnTo>
                <a:cubicBezTo>
                  <a:pt x="212130" y="-3076"/>
                  <a:pt x="232271" y="-3076"/>
                  <a:pt x="244673" y="9327"/>
                </a:cubicBezTo>
                <a:lnTo>
                  <a:pt x="339923" y="104577"/>
                </a:lnTo>
                <a:cubicBezTo>
                  <a:pt x="352326" y="116979"/>
                  <a:pt x="352326" y="137120"/>
                  <a:pt x="339923" y="149523"/>
                </a:cubicBezTo>
                <a:cubicBezTo>
                  <a:pt x="327521" y="161925"/>
                  <a:pt x="307380" y="161925"/>
                  <a:pt x="294977" y="149523"/>
                </a:cubicBezTo>
                <a:lnTo>
                  <a:pt x="254000" y="108446"/>
                </a:lnTo>
                <a:close/>
                <a:moveTo>
                  <a:pt x="222250" y="396875"/>
                </a:moveTo>
                <a:cubicBezTo>
                  <a:pt x="266105" y="396875"/>
                  <a:pt x="301625" y="361355"/>
                  <a:pt x="301625" y="317500"/>
                </a:cubicBezTo>
                <a:lnTo>
                  <a:pt x="381000" y="317500"/>
                </a:lnTo>
                <a:cubicBezTo>
                  <a:pt x="416024" y="317500"/>
                  <a:pt x="444500" y="345976"/>
                  <a:pt x="444500" y="381000"/>
                </a:cubicBezTo>
                <a:lnTo>
                  <a:pt x="444500" y="412750"/>
                </a:lnTo>
                <a:cubicBezTo>
                  <a:pt x="444500" y="447774"/>
                  <a:pt x="416024" y="476250"/>
                  <a:pt x="381000" y="476250"/>
                </a:cubicBezTo>
                <a:lnTo>
                  <a:pt x="63500" y="476250"/>
                </a:lnTo>
                <a:cubicBezTo>
                  <a:pt x="28476" y="476250"/>
                  <a:pt x="0" y="447774"/>
                  <a:pt x="0" y="412750"/>
                </a:cubicBezTo>
                <a:lnTo>
                  <a:pt x="0" y="381000"/>
                </a:lnTo>
                <a:cubicBezTo>
                  <a:pt x="0" y="345976"/>
                  <a:pt x="28476" y="317500"/>
                  <a:pt x="63500" y="317500"/>
                </a:cubicBezTo>
                <a:lnTo>
                  <a:pt x="142875" y="317500"/>
                </a:lnTo>
                <a:cubicBezTo>
                  <a:pt x="142875" y="361355"/>
                  <a:pt x="178395" y="396875"/>
                  <a:pt x="222250" y="396875"/>
                </a:cubicBezTo>
                <a:close/>
                <a:moveTo>
                  <a:pt x="365125" y="420688"/>
                </a:moveTo>
                <a:cubicBezTo>
                  <a:pt x="378267" y="420688"/>
                  <a:pt x="388938" y="410017"/>
                  <a:pt x="388938" y="396875"/>
                </a:cubicBezTo>
                <a:cubicBezTo>
                  <a:pt x="388938" y="383733"/>
                  <a:pt x="378267" y="373063"/>
                  <a:pt x="365125" y="373063"/>
                </a:cubicBezTo>
                <a:cubicBezTo>
                  <a:pt x="351983" y="373063"/>
                  <a:pt x="341313" y="383733"/>
                  <a:pt x="341313" y="396875"/>
                </a:cubicBezTo>
                <a:cubicBezTo>
                  <a:pt x="341313" y="410017"/>
                  <a:pt x="351983" y="420688"/>
                  <a:pt x="365125" y="420688"/>
                </a:cubicBezTo>
                <a:close/>
              </a:path>
            </a:pathLst>
          </a:custGeom>
          <a:solidFill>
            <a:srgbClr val="22C55E"/>
          </a:solidFill>
          <a:ln/>
        </p:spPr>
      </p:sp>
      <p:sp>
        <p:nvSpPr>
          <p:cNvPr id="20" name="Text 17"/>
          <p:cNvSpPr/>
          <p:nvPr/>
        </p:nvSpPr>
        <p:spPr>
          <a:xfrm>
            <a:off x="9525000" y="3238500"/>
            <a:ext cx="3810000" cy="457200"/>
          </a:xfrm>
          <a:prstGeom prst="rect">
            <a:avLst/>
          </a:prstGeom>
          <a:noFill/>
          <a:ln/>
        </p:spPr>
        <p:txBody>
          <a:bodyPr wrap="none" lIns="0" tIns="0" rIns="0" bIns="0" rtlCol="0" anchor="ctr"/>
          <a:lstStyle/>
          <a:p>
            <a:pPr>
              <a:lnSpc>
                <a:spcPct val="130000"/>
              </a:lnSpc>
            </a:pPr>
            <a:r>
              <a:rPr lang="en-US" sz="2200" b="1" dirty="0">
                <a:solidFill>
                  <a:srgbClr val="1E293B"/>
                </a:solidFill>
                <a:latin typeface="Liter" pitchFamily="34" charset="0"/>
                <a:ea typeface="Liter" pitchFamily="34" charset="-122"/>
                <a:cs typeface="Liter" pitchFamily="34" charset="-120"/>
              </a:rPr>
              <a:t>cacheSet()</a:t>
            </a:r>
            <a:endParaRPr lang="en-US" sz="2000" dirty="0"/>
          </a:p>
        </p:txBody>
      </p:sp>
      <p:sp>
        <p:nvSpPr>
          <p:cNvPr id="21" name="Text 18"/>
          <p:cNvSpPr/>
          <p:nvPr/>
        </p:nvSpPr>
        <p:spPr>
          <a:xfrm>
            <a:off x="8826500" y="3937000"/>
            <a:ext cx="6350000" cy="2032000"/>
          </a:xfrm>
          <a:prstGeom prst="rect">
            <a:avLst/>
          </a:prstGeom>
          <a:noFill/>
          <a:ln/>
        </p:spPr>
        <p:txBody>
          <a:bodyPr wrap="square" lIns="0" tIns="0" rIns="0" bIns="0" rtlCol="0" anchor="t"/>
          <a:lstStyle/>
          <a:p>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Stockage des donnees avec </a:t>
            </a:r>
            <a:pPr>
              <a:lnSpc>
                <a:spcPct val="160000"/>
              </a:lnSpc>
            </a:pPr>
            <a:r>
              <a:rPr lang="en-US" sz="1800" b="1" dirty="0">
                <a:solidFill>
                  <a:srgbClr val="0F172A"/>
                </a:solidFill>
                <a:latin typeface="QuattrocentoSans" pitchFamily="34" charset="0"/>
                <a:ea typeface="QuattrocentoSans" pitchFamily="34" charset="-122"/>
                <a:cs typeface="QuattrocentoSans" pitchFamily="34" charset="-120"/>
              </a:rPr>
              <a:t>TTL configurable</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a:t>
            </a:r>
            <a:endParaRPr lang="en-US" sz="1800" dirty="0"/>
          </a:p>
          <a:p>
            <a:pPr>
              <a:lnSpc>
                <a:spcPct val="160000"/>
              </a:lnSpc>
              <a:spcBef>
                <a:spcPts val="800"/>
              </a:spcBef>
            </a:pPr>
            <a:r>
              <a:rPr lang="en-US" sz="1400" dirty="0">
                <a:solidFill>
                  <a:srgbClr val="64748B"/>
                </a:solidFill>
                <a:latin typeface="QuattrocentoSans" pitchFamily="34" charset="0"/>
                <a:ea typeface="QuattrocentoSans" pitchFamily="34" charset="-122"/>
                <a:cs typeface="QuattrocentoSans" pitchFamily="34" charset="-120"/>
              </a:rPr>
              <a:t>Serialise les donnees en JSON et definit une expiration automatique. TTL par defaut : 300 secondes.</a:t>
            </a:r>
            <a:endParaRPr lang="en-US" sz="1800" dirty="0"/>
          </a:p>
        </p:txBody>
      </p:sp>
      <p:sp>
        <p:nvSpPr>
          <p:cNvPr id="22" name="Shape 19"/>
          <p:cNvSpPr/>
          <p:nvPr/>
        </p:nvSpPr>
        <p:spPr>
          <a:xfrm>
            <a:off x="762000" y="6604000"/>
            <a:ext cx="14732000" cy="1651000"/>
          </a:xfrm>
          <a:prstGeom prst="roundRect">
            <a:avLst>
              <a:gd name="adj" fmla="val 6000"/>
            </a:avLst>
          </a:prstGeom>
          <a:solidFill>
            <a:srgbClr val="FEF2F2"/>
          </a:solidFill>
          <a:ln w="12700">
            <a:solidFill>
              <a:srgbClr val="FECACA"/>
            </a:solidFill>
            <a:prstDash val="solid"/>
          </a:ln>
        </p:spPr>
      </p:sp>
      <p:sp>
        <p:nvSpPr>
          <p:cNvPr id="23" name="Shape 20"/>
          <p:cNvSpPr/>
          <p:nvPr/>
        </p:nvSpPr>
        <p:spPr>
          <a:xfrm>
            <a:off x="1143000" y="7048500"/>
            <a:ext cx="457200" cy="457200"/>
          </a:xfrm>
          <a:custGeom>
            <a:avLst/>
            <a:gdLst/>
            <a:ahLst/>
            <a:cxnLst/>
            <a:rect l="l" t="t" r="r" b="b"/>
            <a:pathLst>
              <a:path w="457200" h="457200">
                <a:moveTo>
                  <a:pt x="228600" y="0"/>
                </a:moveTo>
                <a:cubicBezTo>
                  <a:pt x="354768" y="0"/>
                  <a:pt x="457200" y="102432"/>
                  <a:pt x="457200" y="228600"/>
                </a:cubicBezTo>
                <a:cubicBezTo>
                  <a:pt x="457200" y="354768"/>
                  <a:pt x="354768" y="457200"/>
                  <a:pt x="228600" y="457200"/>
                </a:cubicBezTo>
                <a:cubicBezTo>
                  <a:pt x="102432" y="457200"/>
                  <a:pt x="0" y="354768"/>
                  <a:pt x="0" y="228600"/>
                </a:cubicBezTo>
                <a:cubicBezTo>
                  <a:pt x="0" y="102432"/>
                  <a:pt x="102432" y="0"/>
                  <a:pt x="228600" y="0"/>
                </a:cubicBezTo>
                <a:close/>
                <a:moveTo>
                  <a:pt x="207169" y="107156"/>
                </a:moveTo>
                <a:lnTo>
                  <a:pt x="207169" y="228600"/>
                </a:lnTo>
                <a:cubicBezTo>
                  <a:pt x="207169" y="235744"/>
                  <a:pt x="210741" y="242441"/>
                  <a:pt x="216724" y="246459"/>
                </a:cubicBezTo>
                <a:lnTo>
                  <a:pt x="302449" y="303609"/>
                </a:lnTo>
                <a:cubicBezTo>
                  <a:pt x="312271" y="310217"/>
                  <a:pt x="325576" y="307538"/>
                  <a:pt x="332184" y="297626"/>
                </a:cubicBezTo>
                <a:cubicBezTo>
                  <a:pt x="338792" y="287715"/>
                  <a:pt x="336113" y="274499"/>
                  <a:pt x="326201" y="267891"/>
                </a:cubicBezTo>
                <a:lnTo>
                  <a:pt x="250031" y="217170"/>
                </a:lnTo>
                <a:lnTo>
                  <a:pt x="250031" y="107156"/>
                </a:lnTo>
                <a:cubicBezTo>
                  <a:pt x="250031" y="95280"/>
                  <a:pt x="240476" y="85725"/>
                  <a:pt x="228600" y="85725"/>
                </a:cubicBezTo>
                <a:cubicBezTo>
                  <a:pt x="216724" y="85725"/>
                  <a:pt x="207169" y="95280"/>
                  <a:pt x="207169" y="107156"/>
                </a:cubicBezTo>
                <a:close/>
              </a:path>
            </a:pathLst>
          </a:custGeom>
          <a:solidFill>
            <a:srgbClr val="DC382D"/>
          </a:solidFill>
          <a:ln/>
        </p:spPr>
      </p:sp>
      <p:sp>
        <p:nvSpPr>
          <p:cNvPr id="24" name="Text 21"/>
          <p:cNvSpPr/>
          <p:nvPr/>
        </p:nvSpPr>
        <p:spPr>
          <a:xfrm>
            <a:off x="1841500" y="6858000"/>
            <a:ext cx="381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TTL par Defaut</a:t>
            </a:r>
            <a:endParaRPr lang="en-US" sz="2000" dirty="0"/>
          </a:p>
        </p:txBody>
      </p:sp>
      <p:sp>
        <p:nvSpPr>
          <p:cNvPr id="25" name="Text 22"/>
          <p:cNvSpPr/>
          <p:nvPr/>
        </p:nvSpPr>
        <p:spPr>
          <a:xfrm>
            <a:off x="1841500" y="7302500"/>
            <a:ext cx="13335000" cy="762000"/>
          </a:xfrm>
          <a:prstGeom prst="rect">
            <a:avLst/>
          </a:prstGeom>
          <a:noFill/>
          <a:ln/>
        </p:spPr>
        <p:txBody>
          <a:bodyPr wrap="square" lIns="0" tIns="0" rIns="0" bIns="0" rtlCol="0" anchor="t"/>
          <a:lstStyle/>
          <a:p>
            <a:pPr>
              <a:lnSpc>
                <a:spcPct val="160000"/>
              </a:lnSpc>
            </a:pPr>
            <a:r>
              <a:rPr lang="en-US" sz="3600" b="1" dirty="0">
                <a:solidFill>
                  <a:srgbClr val="DC382D"/>
                </a:solidFill>
                <a:latin typeface="QuattrocentoSans" pitchFamily="34" charset="0"/>
                <a:ea typeface="QuattrocentoSans" pitchFamily="34" charset="-122"/>
                <a:cs typeface="QuattrocentoSans" pitchFamily="34" charset="-120"/>
              </a:rPr>
              <a:t>300</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 </a:t>
            </a:r>
            <a:pPr>
              <a:lnSpc>
                <a:spcPct val="160000"/>
              </a:lnSpc>
            </a:pPr>
            <a:r>
              <a:rPr lang="en-US" sz="1800" dirty="0">
                <a:solidFill>
                  <a:srgbClr val="64748B"/>
                </a:solidFill>
                <a:latin typeface="QuattrocentoSans" pitchFamily="34" charset="0"/>
                <a:ea typeface="QuattrocentoSans" pitchFamily="34" charset="-122"/>
                <a:cs typeface="QuattrocentoSans" pitchFamily="34" charset="-120"/>
              </a:rPr>
              <a:t>secondes (5 minutes)</a:t>
            </a:r>
            <a:endParaRPr lang="en-US" sz="18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65024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 02 ARCHITECTURE 03 INFRASTRUCTURE 04 ABSTRACTION</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05</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INTEGRATION</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06 INVALIDATION 07 TESTS 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INTEGRATION DANS LES ACTIONS</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Shape 5"/>
          <p:cNvSpPr/>
          <p:nvPr/>
        </p:nvSpPr>
        <p:spPr>
          <a:xfrm>
            <a:off x="762000" y="1587500"/>
            <a:ext cx="558800" cy="558800"/>
          </a:xfrm>
          <a:prstGeom prst="ellipse">
            <a:avLst/>
          </a:prstGeom>
          <a:solidFill>
            <a:srgbClr val="DC382D"/>
          </a:solidFill>
          <a:ln/>
        </p:spPr>
      </p:sp>
      <p:sp>
        <p:nvSpPr>
          <p:cNvPr id="9" name="Text 6"/>
          <p:cNvSpPr/>
          <p:nvPr/>
        </p:nvSpPr>
        <p:spPr>
          <a:xfrm>
            <a:off x="762000" y="1587500"/>
            <a:ext cx="558800" cy="5588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Liter" pitchFamily="34" charset="0"/>
                <a:ea typeface="Liter" pitchFamily="34" charset="-122"/>
                <a:cs typeface="Liter" pitchFamily="34" charset="-120"/>
              </a:rPr>
              <a:t>1</a:t>
            </a:r>
            <a:endParaRPr lang="en-US" sz="1600" dirty="0"/>
          </a:p>
        </p:txBody>
      </p:sp>
      <p:sp>
        <p:nvSpPr>
          <p:cNvPr id="10" name="Text 7"/>
          <p:cNvSpPr/>
          <p:nvPr/>
        </p:nvSpPr>
        <p:spPr>
          <a:xfrm>
            <a:off x="1524000" y="1587500"/>
            <a:ext cx="635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Generation Cle Unique</a:t>
            </a:r>
            <a:endParaRPr lang="en-US" sz="2000" dirty="0"/>
          </a:p>
        </p:txBody>
      </p:sp>
      <p:sp>
        <p:nvSpPr>
          <p:cNvPr id="11" name="Text 8"/>
          <p:cNvSpPr/>
          <p:nvPr/>
        </p:nvSpPr>
        <p:spPr>
          <a:xfrm>
            <a:off x="1524000" y="2006600"/>
            <a:ext cx="13716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Creation d'une cle basee sur le nom de la fonction et ses parametres</a:t>
            </a:r>
            <a:endParaRPr lang="en-US" sz="1600" dirty="0"/>
          </a:p>
        </p:txBody>
      </p:sp>
      <p:sp>
        <p:nvSpPr>
          <p:cNvPr id="12" name="Shape 9"/>
          <p:cNvSpPr/>
          <p:nvPr/>
        </p:nvSpPr>
        <p:spPr>
          <a:xfrm>
            <a:off x="1041400" y="2146300"/>
            <a:ext cx="0" cy="457200"/>
          </a:xfrm>
          <a:prstGeom prst="straightConnector1">
            <a:avLst/>
          </a:prstGeom>
          <a:noFill/>
          <a:ln w="12700">
            <a:solidFill>
              <a:srgbClr val="CBD5E1"/>
            </a:solidFill>
            <a:prstDash val="sysDot"/>
            <a:headEnd type="none"/>
            <a:tailEnd type="none"/>
          </a:ln>
        </p:spPr>
      </p:sp>
      <p:sp>
        <p:nvSpPr>
          <p:cNvPr id="13" name="Shape 10"/>
          <p:cNvSpPr/>
          <p:nvPr/>
        </p:nvSpPr>
        <p:spPr>
          <a:xfrm>
            <a:off x="762000" y="2603500"/>
            <a:ext cx="558800" cy="558800"/>
          </a:xfrm>
          <a:prstGeom prst="ellipse">
            <a:avLst/>
          </a:prstGeom>
          <a:solidFill>
            <a:srgbClr val="DC382D"/>
          </a:solidFill>
          <a:ln/>
        </p:spPr>
      </p:sp>
      <p:sp>
        <p:nvSpPr>
          <p:cNvPr id="14" name="Text 11"/>
          <p:cNvSpPr/>
          <p:nvPr/>
        </p:nvSpPr>
        <p:spPr>
          <a:xfrm>
            <a:off x="762000" y="2603500"/>
            <a:ext cx="558800" cy="5588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Liter" pitchFamily="34" charset="0"/>
                <a:ea typeface="Liter" pitchFamily="34" charset="-122"/>
                <a:cs typeface="Liter" pitchFamily="34" charset="-120"/>
              </a:rPr>
              <a:t>2</a:t>
            </a:r>
            <a:endParaRPr lang="en-US" sz="1600" dirty="0"/>
          </a:p>
        </p:txBody>
      </p:sp>
      <p:sp>
        <p:nvSpPr>
          <p:cNvPr id="15" name="Text 12"/>
          <p:cNvSpPr/>
          <p:nvPr/>
        </p:nvSpPr>
        <p:spPr>
          <a:xfrm>
            <a:off x="1524000" y="2603500"/>
            <a:ext cx="635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Verification Redis</a:t>
            </a:r>
            <a:endParaRPr lang="en-US" sz="2000" dirty="0"/>
          </a:p>
        </p:txBody>
      </p:sp>
      <p:sp>
        <p:nvSpPr>
          <p:cNvPr id="16" name="Text 13"/>
          <p:cNvSpPr/>
          <p:nvPr/>
        </p:nvSpPr>
        <p:spPr>
          <a:xfrm>
            <a:off x="1524000" y="3022600"/>
            <a:ext cx="13716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Interrogation du cache avec cacheGet() pour verifier l'existence des donnees</a:t>
            </a:r>
            <a:endParaRPr lang="en-US" sz="1600" dirty="0"/>
          </a:p>
        </p:txBody>
      </p:sp>
      <p:sp>
        <p:nvSpPr>
          <p:cNvPr id="17" name="Shape 14"/>
          <p:cNvSpPr/>
          <p:nvPr/>
        </p:nvSpPr>
        <p:spPr>
          <a:xfrm>
            <a:off x="1041400" y="3162300"/>
            <a:ext cx="0" cy="457200"/>
          </a:xfrm>
          <a:prstGeom prst="straightConnector1">
            <a:avLst/>
          </a:prstGeom>
          <a:noFill/>
          <a:ln w="12700">
            <a:solidFill>
              <a:srgbClr val="CBD5E1"/>
            </a:solidFill>
            <a:prstDash val="sysDot"/>
            <a:headEnd type="none"/>
            <a:tailEnd type="none"/>
          </a:ln>
        </p:spPr>
      </p:sp>
      <p:sp>
        <p:nvSpPr>
          <p:cNvPr id="18" name="Shape 15"/>
          <p:cNvSpPr/>
          <p:nvPr/>
        </p:nvSpPr>
        <p:spPr>
          <a:xfrm>
            <a:off x="762000" y="3619500"/>
            <a:ext cx="558800" cy="558800"/>
          </a:xfrm>
          <a:prstGeom prst="ellipse">
            <a:avLst/>
          </a:prstGeom>
          <a:solidFill>
            <a:srgbClr val="DC382D"/>
          </a:solidFill>
          <a:ln/>
        </p:spPr>
      </p:sp>
      <p:sp>
        <p:nvSpPr>
          <p:cNvPr id="19" name="Text 16"/>
          <p:cNvSpPr/>
          <p:nvPr/>
        </p:nvSpPr>
        <p:spPr>
          <a:xfrm>
            <a:off x="762000" y="3619500"/>
            <a:ext cx="558800" cy="5588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Liter" pitchFamily="34" charset="0"/>
                <a:ea typeface="Liter" pitchFamily="34" charset="-122"/>
                <a:cs typeface="Liter" pitchFamily="34" charset="-120"/>
              </a:rPr>
              <a:t>3</a:t>
            </a:r>
            <a:endParaRPr lang="en-US" sz="1600" dirty="0"/>
          </a:p>
        </p:txBody>
      </p:sp>
      <p:sp>
        <p:nvSpPr>
          <p:cNvPr id="20" name="Text 17"/>
          <p:cNvSpPr/>
          <p:nvPr/>
        </p:nvSpPr>
        <p:spPr>
          <a:xfrm>
            <a:off x="1524000" y="3619500"/>
            <a:ext cx="635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Cache Miss / Interroger DB</a:t>
            </a:r>
            <a:endParaRPr lang="en-US" sz="2000" dirty="0"/>
          </a:p>
        </p:txBody>
      </p:sp>
      <p:sp>
        <p:nvSpPr>
          <p:cNvPr id="21" name="Text 18"/>
          <p:cNvSpPr/>
          <p:nvPr/>
        </p:nvSpPr>
        <p:spPr>
          <a:xfrm>
            <a:off x="1524000" y="4038600"/>
            <a:ext cx="13716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Si absent du cache, interrogation de PostgreSQL pour recuperer les donnees</a:t>
            </a:r>
            <a:endParaRPr lang="en-US" sz="1600" dirty="0"/>
          </a:p>
        </p:txBody>
      </p:sp>
      <p:sp>
        <p:nvSpPr>
          <p:cNvPr id="22" name="Shape 19"/>
          <p:cNvSpPr/>
          <p:nvPr/>
        </p:nvSpPr>
        <p:spPr>
          <a:xfrm>
            <a:off x="1041400" y="4178300"/>
            <a:ext cx="0" cy="457200"/>
          </a:xfrm>
          <a:prstGeom prst="straightConnector1">
            <a:avLst/>
          </a:prstGeom>
          <a:noFill/>
          <a:ln w="12700">
            <a:solidFill>
              <a:srgbClr val="CBD5E1"/>
            </a:solidFill>
            <a:prstDash val="sysDot"/>
            <a:headEnd type="none"/>
            <a:tailEnd type="none"/>
          </a:ln>
        </p:spPr>
      </p:sp>
      <p:sp>
        <p:nvSpPr>
          <p:cNvPr id="23" name="Shape 20"/>
          <p:cNvSpPr/>
          <p:nvPr/>
        </p:nvSpPr>
        <p:spPr>
          <a:xfrm>
            <a:off x="762000" y="4635500"/>
            <a:ext cx="558800" cy="558800"/>
          </a:xfrm>
          <a:prstGeom prst="ellipse">
            <a:avLst/>
          </a:prstGeom>
          <a:solidFill>
            <a:srgbClr val="DC382D"/>
          </a:solidFill>
          <a:ln/>
        </p:spPr>
      </p:sp>
      <p:sp>
        <p:nvSpPr>
          <p:cNvPr id="24" name="Text 21"/>
          <p:cNvSpPr/>
          <p:nvPr/>
        </p:nvSpPr>
        <p:spPr>
          <a:xfrm>
            <a:off x="762000" y="4635500"/>
            <a:ext cx="558800" cy="5588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Liter" pitchFamily="34" charset="0"/>
                <a:ea typeface="Liter" pitchFamily="34" charset="-122"/>
                <a:cs typeface="Liter" pitchFamily="34" charset="-120"/>
              </a:rPr>
              <a:t>4</a:t>
            </a:r>
            <a:endParaRPr lang="en-US" sz="1600" dirty="0"/>
          </a:p>
        </p:txBody>
      </p:sp>
      <p:sp>
        <p:nvSpPr>
          <p:cNvPr id="25" name="Text 22"/>
          <p:cNvSpPr/>
          <p:nvPr/>
        </p:nvSpPr>
        <p:spPr>
          <a:xfrm>
            <a:off x="1524000" y="4635500"/>
            <a:ext cx="635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Stockage TTL</a:t>
            </a:r>
            <a:endParaRPr lang="en-US" sz="2000" dirty="0"/>
          </a:p>
        </p:txBody>
      </p:sp>
      <p:sp>
        <p:nvSpPr>
          <p:cNvPr id="26" name="Text 23"/>
          <p:cNvSpPr/>
          <p:nvPr/>
        </p:nvSpPr>
        <p:spPr>
          <a:xfrm>
            <a:off x="1524000" y="5054600"/>
            <a:ext cx="13716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Stockage des resultats dans Redis avec cacheSet() et expiration automatique</a:t>
            </a:r>
            <a:endParaRPr lang="en-US" sz="1600" dirty="0"/>
          </a:p>
        </p:txBody>
      </p:sp>
      <p:sp>
        <p:nvSpPr>
          <p:cNvPr id="27" name="Shape 24"/>
          <p:cNvSpPr/>
          <p:nvPr/>
        </p:nvSpPr>
        <p:spPr>
          <a:xfrm>
            <a:off x="1041400" y="5194300"/>
            <a:ext cx="0" cy="457200"/>
          </a:xfrm>
          <a:prstGeom prst="straightConnector1">
            <a:avLst/>
          </a:prstGeom>
          <a:noFill/>
          <a:ln w="12700">
            <a:solidFill>
              <a:srgbClr val="CBD5E1"/>
            </a:solidFill>
            <a:prstDash val="sysDot"/>
            <a:headEnd type="none"/>
            <a:tailEnd type="none"/>
          </a:ln>
        </p:spPr>
      </p:sp>
      <p:sp>
        <p:nvSpPr>
          <p:cNvPr id="28" name="Shape 25"/>
          <p:cNvSpPr/>
          <p:nvPr/>
        </p:nvSpPr>
        <p:spPr>
          <a:xfrm>
            <a:off x="762000" y="5651500"/>
            <a:ext cx="558800" cy="558800"/>
          </a:xfrm>
          <a:prstGeom prst="ellipse">
            <a:avLst/>
          </a:prstGeom>
          <a:solidFill>
            <a:srgbClr val="DC382D"/>
          </a:solidFill>
          <a:ln/>
        </p:spPr>
      </p:sp>
      <p:sp>
        <p:nvSpPr>
          <p:cNvPr id="29" name="Text 26"/>
          <p:cNvSpPr/>
          <p:nvPr/>
        </p:nvSpPr>
        <p:spPr>
          <a:xfrm>
            <a:off x="762000" y="5651500"/>
            <a:ext cx="558800" cy="5588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Liter" pitchFamily="34" charset="0"/>
                <a:ea typeface="Liter" pitchFamily="34" charset="-122"/>
                <a:cs typeface="Liter" pitchFamily="34" charset="-120"/>
              </a:rPr>
              <a:t>5</a:t>
            </a:r>
            <a:endParaRPr lang="en-US" sz="1600" dirty="0"/>
          </a:p>
        </p:txBody>
      </p:sp>
      <p:sp>
        <p:nvSpPr>
          <p:cNvPr id="30" name="Text 27"/>
          <p:cNvSpPr/>
          <p:nvPr/>
        </p:nvSpPr>
        <p:spPr>
          <a:xfrm>
            <a:off x="1524000" y="5651500"/>
            <a:ext cx="635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Application Lectures</a:t>
            </a:r>
            <a:endParaRPr lang="en-US" sz="2000" dirty="0"/>
          </a:p>
        </p:txBody>
      </p:sp>
      <p:sp>
        <p:nvSpPr>
          <p:cNvPr id="31" name="Text 28"/>
          <p:cNvSpPr/>
          <p:nvPr/>
        </p:nvSpPr>
        <p:spPr>
          <a:xfrm>
            <a:off x="1524000" y="6070600"/>
            <a:ext cx="13716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Retour des donnees a l'application pour toutes les lectures suivantes</a:t>
            </a:r>
            <a:endParaRPr lang="en-US" sz="1600" dirty="0"/>
          </a:p>
        </p:txBody>
      </p:sp>
      <p:sp>
        <p:nvSpPr>
          <p:cNvPr id="32" name="Shape 29"/>
          <p:cNvSpPr/>
          <p:nvPr/>
        </p:nvSpPr>
        <p:spPr>
          <a:xfrm>
            <a:off x="762000" y="6858000"/>
            <a:ext cx="14732000" cy="1651000"/>
          </a:xfrm>
          <a:prstGeom prst="roundRect">
            <a:avLst>
              <a:gd name="adj" fmla="val 6000"/>
            </a:avLst>
          </a:prstGeom>
          <a:solidFill>
            <a:srgbClr val="1E293B"/>
          </a:solidFill>
          <a:ln/>
        </p:spPr>
      </p:sp>
      <p:sp>
        <p:nvSpPr>
          <p:cNvPr id="33" name="Shape 30"/>
          <p:cNvSpPr/>
          <p:nvPr/>
        </p:nvSpPr>
        <p:spPr>
          <a:xfrm>
            <a:off x="1143000" y="73025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200025" y="142875"/>
                </a:moveTo>
                <a:cubicBezTo>
                  <a:pt x="200025" y="127104"/>
                  <a:pt x="212829" y="114300"/>
                  <a:pt x="228600" y="114300"/>
                </a:cubicBezTo>
                <a:cubicBezTo>
                  <a:pt x="244371" y="114300"/>
                  <a:pt x="257175" y="127104"/>
                  <a:pt x="257175" y="142875"/>
                </a:cubicBezTo>
                <a:cubicBezTo>
                  <a:pt x="257175" y="158646"/>
                  <a:pt x="244371" y="171450"/>
                  <a:pt x="228600" y="171450"/>
                </a:cubicBezTo>
                <a:cubicBezTo>
                  <a:pt x="212829" y="171450"/>
                  <a:pt x="200025" y="158646"/>
                  <a:pt x="200025" y="142875"/>
                </a:cubicBezTo>
                <a:close/>
                <a:moveTo>
                  <a:pt x="192881" y="200025"/>
                </a:moveTo>
                <a:lnTo>
                  <a:pt x="235744" y="200025"/>
                </a:lnTo>
                <a:cubicBezTo>
                  <a:pt x="247620" y="200025"/>
                  <a:pt x="257175" y="209580"/>
                  <a:pt x="257175" y="221456"/>
                </a:cubicBezTo>
                <a:lnTo>
                  <a:pt x="257175" y="300038"/>
                </a:lnTo>
                <a:lnTo>
                  <a:pt x="264319" y="300038"/>
                </a:lnTo>
                <a:cubicBezTo>
                  <a:pt x="276195" y="300038"/>
                  <a:pt x="285750" y="309592"/>
                  <a:pt x="285750" y="321469"/>
                </a:cubicBezTo>
                <a:cubicBezTo>
                  <a:pt x="285750" y="333345"/>
                  <a:pt x="276195" y="342900"/>
                  <a:pt x="264319" y="342900"/>
                </a:cubicBezTo>
                <a:lnTo>
                  <a:pt x="192881" y="342900"/>
                </a:lnTo>
                <a:cubicBezTo>
                  <a:pt x="181005" y="342900"/>
                  <a:pt x="171450" y="333345"/>
                  <a:pt x="171450" y="321469"/>
                </a:cubicBezTo>
                <a:cubicBezTo>
                  <a:pt x="171450" y="309592"/>
                  <a:pt x="181005" y="300038"/>
                  <a:pt x="192881" y="300038"/>
                </a:cubicBezTo>
                <a:lnTo>
                  <a:pt x="214313" y="300038"/>
                </a:lnTo>
                <a:lnTo>
                  <a:pt x="214313" y="242888"/>
                </a:lnTo>
                <a:lnTo>
                  <a:pt x="192881" y="242888"/>
                </a:lnTo>
                <a:cubicBezTo>
                  <a:pt x="181005" y="242888"/>
                  <a:pt x="171450" y="233333"/>
                  <a:pt x="171450" y="221456"/>
                </a:cubicBezTo>
                <a:cubicBezTo>
                  <a:pt x="171450" y="209580"/>
                  <a:pt x="181005" y="200025"/>
                  <a:pt x="192881" y="200025"/>
                </a:cubicBezTo>
                <a:close/>
              </a:path>
            </a:pathLst>
          </a:custGeom>
          <a:solidFill>
            <a:srgbClr val="DC382D"/>
          </a:solidFill>
          <a:ln/>
        </p:spPr>
      </p:sp>
      <p:sp>
        <p:nvSpPr>
          <p:cNvPr id="34" name="Text 31"/>
          <p:cNvSpPr/>
          <p:nvPr/>
        </p:nvSpPr>
        <p:spPr>
          <a:xfrm>
            <a:off x="1841500" y="7048500"/>
            <a:ext cx="13335000" cy="1270000"/>
          </a:xfrm>
          <a:prstGeom prst="rect">
            <a:avLst/>
          </a:prstGeom>
          <a:noFill/>
          <a:ln/>
        </p:spPr>
        <p:txBody>
          <a:bodyPr wrap="square" lIns="0" tIns="0" rIns="0" bIns="0" rtlCol="0" anchor="ctr"/>
          <a:lstStyle/>
          <a:p>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Ce flux garantit que les donnees sont toujours servies depuis le cache lorsque possible, reduisant drastiquement les acces a la base de donnees tout en maintenant des donnees fraiches grace au mecanisme de TTL.</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81280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 02 ARCHITECTURE 03 INFRASTRUCTURE 04 ABSTRACTION 05 INTEGRATION</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06</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INVALIDATION</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07 TESTS 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INVALIDATION DU CACHE</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Shape 5"/>
          <p:cNvSpPr/>
          <p:nvPr/>
        </p:nvSpPr>
        <p:spPr>
          <a:xfrm>
            <a:off x="762000" y="1587500"/>
            <a:ext cx="3302000" cy="762000"/>
          </a:xfrm>
          <a:prstGeom prst="roundRect">
            <a:avLst>
              <a:gd name="adj" fmla="val 12000"/>
            </a:avLst>
          </a:prstGeom>
          <a:solidFill>
            <a:srgbClr val="22C55E"/>
          </a:solidFill>
          <a:ln/>
        </p:spPr>
      </p:sp>
      <p:sp>
        <p:nvSpPr>
          <p:cNvPr id="9" name="Text 6"/>
          <p:cNvSpPr/>
          <p:nvPr/>
        </p:nvSpPr>
        <p:spPr>
          <a:xfrm>
            <a:off x="762000" y="1587500"/>
            <a:ext cx="3302000" cy="762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Create</a:t>
            </a:r>
            <a:endParaRPr lang="en-US" sz="1600" dirty="0"/>
          </a:p>
        </p:txBody>
      </p:sp>
      <p:sp>
        <p:nvSpPr>
          <p:cNvPr id="10" name="Shape 7"/>
          <p:cNvSpPr/>
          <p:nvPr/>
        </p:nvSpPr>
        <p:spPr>
          <a:xfrm>
            <a:off x="4318000" y="1587500"/>
            <a:ext cx="3302000" cy="762000"/>
          </a:xfrm>
          <a:prstGeom prst="roundRect">
            <a:avLst>
              <a:gd name="adj" fmla="val 12000"/>
            </a:avLst>
          </a:prstGeom>
          <a:solidFill>
            <a:srgbClr val="DC382D"/>
          </a:solidFill>
          <a:ln/>
        </p:spPr>
      </p:sp>
      <p:sp>
        <p:nvSpPr>
          <p:cNvPr id="11" name="Text 8"/>
          <p:cNvSpPr/>
          <p:nvPr/>
        </p:nvSpPr>
        <p:spPr>
          <a:xfrm>
            <a:off x="4318000" y="1587500"/>
            <a:ext cx="3302000" cy="762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Update</a:t>
            </a:r>
            <a:endParaRPr lang="en-US" sz="1600" dirty="0"/>
          </a:p>
        </p:txBody>
      </p:sp>
      <p:sp>
        <p:nvSpPr>
          <p:cNvPr id="12" name="Shape 9"/>
          <p:cNvSpPr/>
          <p:nvPr/>
        </p:nvSpPr>
        <p:spPr>
          <a:xfrm>
            <a:off x="7874000" y="1587500"/>
            <a:ext cx="3302000" cy="762000"/>
          </a:xfrm>
          <a:prstGeom prst="roundRect">
            <a:avLst>
              <a:gd name="adj" fmla="val 12000"/>
            </a:avLst>
          </a:prstGeom>
          <a:solidFill>
            <a:srgbClr val="1E293B"/>
          </a:solidFill>
          <a:ln/>
        </p:spPr>
      </p:sp>
      <p:sp>
        <p:nvSpPr>
          <p:cNvPr id="13" name="Text 10"/>
          <p:cNvSpPr/>
          <p:nvPr/>
        </p:nvSpPr>
        <p:spPr>
          <a:xfrm>
            <a:off x="7874000" y="1587500"/>
            <a:ext cx="3302000" cy="762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Delete</a:t>
            </a:r>
            <a:endParaRPr lang="en-US" sz="1600" dirty="0"/>
          </a:p>
        </p:txBody>
      </p:sp>
      <p:sp>
        <p:nvSpPr>
          <p:cNvPr id="14" name="Shape 11"/>
          <p:cNvSpPr/>
          <p:nvPr/>
        </p:nvSpPr>
        <p:spPr>
          <a:xfrm>
            <a:off x="11430000" y="1587500"/>
            <a:ext cx="3302000" cy="762000"/>
          </a:xfrm>
          <a:prstGeom prst="roundRect">
            <a:avLst>
              <a:gd name="adj" fmla="val 12000"/>
            </a:avLst>
          </a:prstGeom>
          <a:solidFill>
            <a:srgbClr val="64748B"/>
          </a:solidFill>
          <a:ln/>
        </p:spPr>
      </p:sp>
      <p:sp>
        <p:nvSpPr>
          <p:cNvPr id="15" name="Text 12"/>
          <p:cNvSpPr/>
          <p:nvPr/>
        </p:nvSpPr>
        <p:spPr>
          <a:xfrm>
            <a:off x="11430000" y="1587500"/>
            <a:ext cx="3302000" cy="762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Upvote</a:t>
            </a:r>
            <a:endParaRPr lang="en-US" sz="1600" dirty="0"/>
          </a:p>
        </p:txBody>
      </p:sp>
      <p:sp>
        <p:nvSpPr>
          <p:cNvPr id="16" name="Shape 13"/>
          <p:cNvSpPr/>
          <p:nvPr/>
        </p:nvSpPr>
        <p:spPr>
          <a:xfrm>
            <a:off x="7747000" y="2349500"/>
            <a:ext cx="0" cy="635000"/>
          </a:xfrm>
          <a:prstGeom prst="straightConnector1">
            <a:avLst/>
          </a:prstGeom>
          <a:noFill/>
          <a:ln w="25400">
            <a:solidFill>
              <a:srgbClr val="DC382D"/>
            </a:solidFill>
            <a:prstDash val="solid"/>
            <a:headEnd type="none"/>
            <a:tailEnd type="arrow"/>
          </a:ln>
        </p:spPr>
      </p:sp>
      <p:sp>
        <p:nvSpPr>
          <p:cNvPr id="17" name="Shape 14"/>
          <p:cNvSpPr/>
          <p:nvPr/>
        </p:nvSpPr>
        <p:spPr>
          <a:xfrm>
            <a:off x="4572000" y="2984500"/>
            <a:ext cx="6350000" cy="889000"/>
          </a:xfrm>
          <a:prstGeom prst="roundRect">
            <a:avLst>
              <a:gd name="adj" fmla="val 10000"/>
            </a:avLst>
          </a:prstGeom>
          <a:solidFill>
            <a:srgbClr val="1E293B"/>
          </a:solidFill>
          <a:ln/>
          <a:effectLst>
            <a:outerShdw sx="100000" sy="100000" kx="0" ky="0" algn="bl" rotWithShape="0" blurRad="152400" dist="50800" dir="5400000">
              <a:srgbClr val="000000">
                <a:alpha val="12549"/>
              </a:srgbClr>
            </a:outerShdw>
          </a:effectLst>
        </p:spPr>
      </p:sp>
      <p:sp>
        <p:nvSpPr>
          <p:cNvPr id="18" name="Text 15"/>
          <p:cNvSpPr/>
          <p:nvPr/>
        </p:nvSpPr>
        <p:spPr>
          <a:xfrm>
            <a:off x="4572000" y="2984500"/>
            <a:ext cx="6350000" cy="8890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invalidateCache()</a:t>
            </a:r>
            <a:endParaRPr lang="en-US" sz="1600" dirty="0"/>
          </a:p>
        </p:txBody>
      </p:sp>
      <p:sp>
        <p:nvSpPr>
          <p:cNvPr id="19" name="Text 16"/>
          <p:cNvSpPr/>
          <p:nvPr/>
        </p:nvSpPr>
        <p:spPr>
          <a:xfrm>
            <a:off x="762000" y="4254500"/>
            <a:ext cx="508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Details de la Strategie</a:t>
            </a:r>
            <a:endParaRPr lang="en-US" sz="2000" dirty="0"/>
          </a:p>
        </p:txBody>
      </p:sp>
      <p:sp>
        <p:nvSpPr>
          <p:cNvPr id="20" name="Shape 17"/>
          <p:cNvSpPr/>
          <p:nvPr/>
        </p:nvSpPr>
        <p:spPr>
          <a:xfrm>
            <a:off x="762000" y="4826000"/>
            <a:ext cx="7048500" cy="1778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1" name="Shape 18"/>
          <p:cNvSpPr/>
          <p:nvPr/>
        </p:nvSpPr>
        <p:spPr>
          <a:xfrm>
            <a:off x="1104900" y="5143500"/>
            <a:ext cx="355600" cy="406400"/>
          </a:xfrm>
          <a:custGeom>
            <a:avLst/>
            <a:gdLst/>
            <a:ahLst/>
            <a:cxnLst/>
            <a:rect l="l" t="t" r="r" b="b"/>
            <a:pathLst>
              <a:path w="355600" h="406400">
                <a:moveTo>
                  <a:pt x="268923" y="-7858"/>
                </a:moveTo>
                <a:cubicBezTo>
                  <a:pt x="278368" y="-1032"/>
                  <a:pt x="281861" y="11351"/>
                  <a:pt x="277574" y="22146"/>
                </a:cubicBezTo>
                <a:lnTo>
                  <a:pt x="215344" y="177800"/>
                </a:lnTo>
                <a:lnTo>
                  <a:pt x="330200" y="177800"/>
                </a:lnTo>
                <a:cubicBezTo>
                  <a:pt x="340916" y="177800"/>
                  <a:pt x="350441" y="184468"/>
                  <a:pt x="354092" y="194548"/>
                </a:cubicBezTo>
                <a:cubicBezTo>
                  <a:pt x="357743" y="204629"/>
                  <a:pt x="354648" y="215900"/>
                  <a:pt x="346472" y="222726"/>
                </a:cubicBezTo>
                <a:lnTo>
                  <a:pt x="117872" y="413226"/>
                </a:lnTo>
                <a:cubicBezTo>
                  <a:pt x="108903" y="420688"/>
                  <a:pt x="96123" y="421084"/>
                  <a:pt x="86678" y="414258"/>
                </a:cubicBezTo>
                <a:cubicBezTo>
                  <a:pt x="77232" y="407432"/>
                  <a:pt x="73739" y="395049"/>
                  <a:pt x="78026" y="384254"/>
                </a:cubicBezTo>
                <a:lnTo>
                  <a:pt x="140256" y="228600"/>
                </a:lnTo>
                <a:lnTo>
                  <a:pt x="25400" y="228600"/>
                </a:lnTo>
                <a:cubicBezTo>
                  <a:pt x="14684" y="228600"/>
                  <a:pt x="5159" y="221933"/>
                  <a:pt x="1508" y="211852"/>
                </a:cubicBezTo>
                <a:cubicBezTo>
                  <a:pt x="-2143" y="201771"/>
                  <a:pt x="952" y="190500"/>
                  <a:pt x="9128" y="183674"/>
                </a:cubicBezTo>
                <a:lnTo>
                  <a:pt x="237728" y="-6826"/>
                </a:lnTo>
                <a:cubicBezTo>
                  <a:pt x="246698" y="-14288"/>
                  <a:pt x="259477" y="-14684"/>
                  <a:pt x="268923" y="-7858"/>
                </a:cubicBezTo>
                <a:close/>
              </a:path>
            </a:pathLst>
          </a:custGeom>
          <a:solidFill>
            <a:srgbClr val="DC382D"/>
          </a:solidFill>
          <a:ln/>
        </p:spPr>
      </p:sp>
      <p:sp>
        <p:nvSpPr>
          <p:cNvPr id="22" name="Text 19"/>
          <p:cNvSpPr/>
          <p:nvPr/>
        </p:nvSpPr>
        <p:spPr>
          <a:xfrm>
            <a:off x="1651000" y="5080000"/>
            <a:ext cx="5842000" cy="3302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Invalidation Immediate</a:t>
            </a:r>
            <a:endParaRPr lang="en-US" sz="2000" dirty="0"/>
          </a:p>
        </p:txBody>
      </p:sp>
      <p:sp>
        <p:nvSpPr>
          <p:cNvPr id="23" name="Text 20"/>
          <p:cNvSpPr/>
          <p:nvPr/>
        </p:nvSpPr>
        <p:spPr>
          <a:xfrm>
            <a:off x="1651000" y="5486400"/>
            <a:ext cx="5842000" cy="889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Chaque operation d'ecriture declenche immediatement l'invalidation du cache correspondant</a:t>
            </a:r>
            <a:endParaRPr lang="en-US" sz="1600" dirty="0"/>
          </a:p>
        </p:txBody>
      </p:sp>
      <p:sp>
        <p:nvSpPr>
          <p:cNvPr id="24" name="Shape 21"/>
          <p:cNvSpPr/>
          <p:nvPr/>
        </p:nvSpPr>
        <p:spPr>
          <a:xfrm>
            <a:off x="8445500" y="4826000"/>
            <a:ext cx="7048500" cy="1778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5" name="Shape 22"/>
          <p:cNvSpPr/>
          <p:nvPr/>
        </p:nvSpPr>
        <p:spPr>
          <a:xfrm>
            <a:off x="8788400" y="5143500"/>
            <a:ext cx="355600" cy="406400"/>
          </a:xfrm>
          <a:custGeom>
            <a:avLst/>
            <a:gdLst/>
            <a:ahLst/>
            <a:cxnLst/>
            <a:rect l="l" t="t" r="r" b="b"/>
            <a:pathLst>
              <a:path w="355600" h="406400">
                <a:moveTo>
                  <a:pt x="108506" y="4683"/>
                </a:moveTo>
                <a:lnTo>
                  <a:pt x="101600" y="25400"/>
                </a:lnTo>
                <a:lnTo>
                  <a:pt x="25400" y="25400"/>
                </a:lnTo>
                <a:cubicBezTo>
                  <a:pt x="11351" y="25400"/>
                  <a:pt x="0" y="36751"/>
                  <a:pt x="0" y="50800"/>
                </a:cubicBezTo>
                <a:cubicBezTo>
                  <a:pt x="0" y="64849"/>
                  <a:pt x="11351" y="76200"/>
                  <a:pt x="25400" y="76200"/>
                </a:cubicBezTo>
                <a:lnTo>
                  <a:pt x="330200" y="76200"/>
                </a:lnTo>
                <a:cubicBezTo>
                  <a:pt x="344249" y="76200"/>
                  <a:pt x="355600" y="64849"/>
                  <a:pt x="355600" y="50800"/>
                </a:cubicBezTo>
                <a:cubicBezTo>
                  <a:pt x="355600" y="36751"/>
                  <a:pt x="344249" y="25400"/>
                  <a:pt x="330200" y="25400"/>
                </a:cubicBezTo>
                <a:lnTo>
                  <a:pt x="254000" y="25400"/>
                </a:lnTo>
                <a:lnTo>
                  <a:pt x="247094" y="4683"/>
                </a:lnTo>
                <a:cubicBezTo>
                  <a:pt x="243602" y="-5715"/>
                  <a:pt x="233918" y="-12700"/>
                  <a:pt x="222964" y="-12700"/>
                </a:cubicBezTo>
                <a:lnTo>
                  <a:pt x="132636" y="-12700"/>
                </a:lnTo>
                <a:cubicBezTo>
                  <a:pt x="121682" y="-12700"/>
                  <a:pt x="111998" y="-5715"/>
                  <a:pt x="108506" y="4683"/>
                </a:cubicBezTo>
                <a:close/>
                <a:moveTo>
                  <a:pt x="330200" y="114300"/>
                </a:moveTo>
                <a:lnTo>
                  <a:pt x="25400" y="114300"/>
                </a:lnTo>
                <a:lnTo>
                  <a:pt x="42148" y="370761"/>
                </a:lnTo>
                <a:cubicBezTo>
                  <a:pt x="43418" y="390843"/>
                  <a:pt x="60087" y="406400"/>
                  <a:pt x="80169" y="406400"/>
                </a:cubicBezTo>
                <a:lnTo>
                  <a:pt x="275431" y="406400"/>
                </a:lnTo>
                <a:cubicBezTo>
                  <a:pt x="295513" y="406400"/>
                  <a:pt x="312182" y="390843"/>
                  <a:pt x="313452" y="370761"/>
                </a:cubicBezTo>
                <a:lnTo>
                  <a:pt x="330200" y="114300"/>
                </a:lnTo>
                <a:close/>
              </a:path>
            </a:pathLst>
          </a:custGeom>
          <a:solidFill>
            <a:srgbClr val="DC382D"/>
          </a:solidFill>
          <a:ln/>
        </p:spPr>
      </p:sp>
      <p:sp>
        <p:nvSpPr>
          <p:cNvPr id="26" name="Text 23"/>
          <p:cNvSpPr/>
          <p:nvPr/>
        </p:nvSpPr>
        <p:spPr>
          <a:xfrm>
            <a:off x="9334500" y="5080000"/>
            <a:ext cx="5842000" cy="3302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Suppression des Cles</a:t>
            </a:r>
            <a:endParaRPr lang="en-US" sz="2000" dirty="0"/>
          </a:p>
        </p:txBody>
      </p:sp>
      <p:sp>
        <p:nvSpPr>
          <p:cNvPr id="27" name="Text 24"/>
          <p:cNvSpPr/>
          <p:nvPr/>
        </p:nvSpPr>
        <p:spPr>
          <a:xfrm>
            <a:off x="9334500" y="5486400"/>
            <a:ext cx="5842000" cy="889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La fonction supprime les cles correspondantes de Redis pour forcer le rafraichissement</a:t>
            </a:r>
            <a:endParaRPr lang="en-US" sz="1600" dirty="0"/>
          </a:p>
        </p:txBody>
      </p:sp>
      <p:sp>
        <p:nvSpPr>
          <p:cNvPr id="28" name="Shape 25"/>
          <p:cNvSpPr/>
          <p:nvPr/>
        </p:nvSpPr>
        <p:spPr>
          <a:xfrm>
            <a:off x="762000" y="6921500"/>
            <a:ext cx="7048500" cy="1778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9" name="Shape 26"/>
          <p:cNvSpPr/>
          <p:nvPr/>
        </p:nvSpPr>
        <p:spPr>
          <a:xfrm>
            <a:off x="1079500" y="7239000"/>
            <a:ext cx="406400" cy="406400"/>
          </a:xfrm>
          <a:custGeom>
            <a:avLst/>
            <a:gdLst/>
            <a:ahLst/>
            <a:cxnLst/>
            <a:rect l="l" t="t" r="r" b="b"/>
            <a:pathLst>
              <a:path w="406400" h="406400">
                <a:moveTo>
                  <a:pt x="203200" y="0"/>
                </a:moveTo>
                <a:cubicBezTo>
                  <a:pt x="315349" y="0"/>
                  <a:pt x="406400" y="91051"/>
                  <a:pt x="406400" y="203200"/>
                </a:cubicBezTo>
                <a:cubicBezTo>
                  <a:pt x="406400" y="315349"/>
                  <a:pt x="315349" y="406400"/>
                  <a:pt x="203200" y="406400"/>
                </a:cubicBezTo>
                <a:cubicBezTo>
                  <a:pt x="91051" y="406400"/>
                  <a:pt x="0" y="315349"/>
                  <a:pt x="0" y="203200"/>
                </a:cubicBezTo>
                <a:cubicBezTo>
                  <a:pt x="0" y="91051"/>
                  <a:pt x="91051" y="0"/>
                  <a:pt x="203200" y="0"/>
                </a:cubicBezTo>
                <a:close/>
                <a:moveTo>
                  <a:pt x="184150" y="95250"/>
                </a:moveTo>
                <a:lnTo>
                  <a:pt x="184150" y="203200"/>
                </a:lnTo>
                <a:cubicBezTo>
                  <a:pt x="184150" y="209550"/>
                  <a:pt x="187325" y="215503"/>
                  <a:pt x="192643" y="219075"/>
                </a:cubicBezTo>
                <a:lnTo>
                  <a:pt x="268843" y="269875"/>
                </a:lnTo>
                <a:cubicBezTo>
                  <a:pt x="277574" y="275749"/>
                  <a:pt x="289401" y="273368"/>
                  <a:pt x="295275" y="264557"/>
                </a:cubicBezTo>
                <a:cubicBezTo>
                  <a:pt x="301149" y="255746"/>
                  <a:pt x="298768" y="243999"/>
                  <a:pt x="289957" y="238125"/>
                </a:cubicBezTo>
                <a:lnTo>
                  <a:pt x="222250" y="193040"/>
                </a:lnTo>
                <a:lnTo>
                  <a:pt x="222250" y="95250"/>
                </a:lnTo>
                <a:cubicBezTo>
                  <a:pt x="222250" y="84693"/>
                  <a:pt x="213757" y="76200"/>
                  <a:pt x="203200" y="76200"/>
                </a:cubicBezTo>
                <a:cubicBezTo>
                  <a:pt x="192643" y="76200"/>
                  <a:pt x="184150" y="84693"/>
                  <a:pt x="184150" y="95250"/>
                </a:cubicBezTo>
                <a:close/>
              </a:path>
            </a:pathLst>
          </a:custGeom>
          <a:solidFill>
            <a:srgbClr val="DC382D"/>
          </a:solidFill>
          <a:ln/>
        </p:spPr>
      </p:sp>
      <p:sp>
        <p:nvSpPr>
          <p:cNvPr id="30" name="Text 27"/>
          <p:cNvSpPr/>
          <p:nvPr/>
        </p:nvSpPr>
        <p:spPr>
          <a:xfrm>
            <a:off x="1651000" y="7175500"/>
            <a:ext cx="5842000" cy="3302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Expiration Automatique (TTL)</a:t>
            </a:r>
            <a:endParaRPr lang="en-US" sz="2000" dirty="0"/>
          </a:p>
        </p:txBody>
      </p:sp>
      <p:sp>
        <p:nvSpPr>
          <p:cNvPr id="31" name="Text 28"/>
          <p:cNvSpPr/>
          <p:nvPr/>
        </p:nvSpPr>
        <p:spPr>
          <a:xfrm>
            <a:off x="1651000" y="7581900"/>
            <a:ext cx="5842000" cy="889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Le TTL sert de mecanisme d'expiration automatique en cas d'oubli d'invalidation</a:t>
            </a:r>
            <a:endParaRPr lang="en-US" sz="1600" dirty="0"/>
          </a:p>
        </p:txBody>
      </p:sp>
      <p:sp>
        <p:nvSpPr>
          <p:cNvPr id="32" name="Shape 29"/>
          <p:cNvSpPr/>
          <p:nvPr/>
        </p:nvSpPr>
        <p:spPr>
          <a:xfrm>
            <a:off x="8445500" y="6921500"/>
            <a:ext cx="7048500" cy="1778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33" name="Shape 30"/>
          <p:cNvSpPr/>
          <p:nvPr/>
        </p:nvSpPr>
        <p:spPr>
          <a:xfrm>
            <a:off x="8763000" y="72390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DC382D"/>
          </a:solidFill>
          <a:ln/>
        </p:spPr>
      </p:sp>
      <p:sp>
        <p:nvSpPr>
          <p:cNvPr id="34" name="Text 31"/>
          <p:cNvSpPr/>
          <p:nvPr/>
        </p:nvSpPr>
        <p:spPr>
          <a:xfrm>
            <a:off x="9334500" y="7175500"/>
            <a:ext cx="5842000" cy="3302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Coherence des Donnees</a:t>
            </a:r>
            <a:endParaRPr lang="en-US" sz="2000" dirty="0"/>
          </a:p>
        </p:txBody>
      </p:sp>
      <p:sp>
        <p:nvSpPr>
          <p:cNvPr id="35" name="Text 32"/>
          <p:cNvSpPr/>
          <p:nvPr/>
        </p:nvSpPr>
        <p:spPr>
          <a:xfrm>
            <a:off x="9334500" y="7581900"/>
            <a:ext cx="5842000" cy="889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Objectif : maintenir la coherence entre le cache Redis et la base de donnees PostgreSQL</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97536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 02 ARCHITECTURE 03 INFRASTRUCTURE 04 ABSTRACTION 05 INTEGRATION 06 INVALIDATION</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07</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TESTS</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08 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TESTS ET VALIDATION</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Shape 5"/>
          <p:cNvSpPr/>
          <p:nvPr/>
        </p:nvSpPr>
        <p:spPr>
          <a:xfrm>
            <a:off x="762000" y="1524000"/>
            <a:ext cx="14732000" cy="2032000"/>
          </a:xfrm>
          <a:prstGeom prst="roundRect">
            <a:avLst>
              <a:gd name="adj" fmla="val 6000"/>
            </a:avLst>
          </a:prstGeom>
          <a:solidFill>
            <a:srgbClr val="22C55E"/>
          </a:solidFill>
          <a:ln/>
        </p:spPr>
      </p:sp>
      <p:sp>
        <p:nvSpPr>
          <p:cNvPr id="9" name="Shape 6"/>
          <p:cNvSpPr/>
          <p:nvPr/>
        </p:nvSpPr>
        <p:spPr>
          <a:xfrm>
            <a:off x="1270000" y="1968500"/>
            <a:ext cx="635000" cy="635000"/>
          </a:xfrm>
          <a:custGeom>
            <a:avLst/>
            <a:gdLst/>
            <a:ahLst/>
            <a:cxnLst/>
            <a:rect l="l" t="t" r="r" b="b"/>
            <a:pathLst>
              <a:path w="635000" h="635000">
                <a:moveTo>
                  <a:pt x="317500" y="635000"/>
                </a:moveTo>
                <a:cubicBezTo>
                  <a:pt x="492733" y="635000"/>
                  <a:pt x="635000" y="492733"/>
                  <a:pt x="635000" y="317500"/>
                </a:cubicBezTo>
                <a:cubicBezTo>
                  <a:pt x="635000" y="142267"/>
                  <a:pt x="492733" y="0"/>
                  <a:pt x="317500" y="0"/>
                </a:cubicBezTo>
                <a:cubicBezTo>
                  <a:pt x="142267" y="0"/>
                  <a:pt x="0" y="142267"/>
                  <a:pt x="0" y="317500"/>
                </a:cubicBezTo>
                <a:cubicBezTo>
                  <a:pt x="0" y="492733"/>
                  <a:pt x="142267" y="635000"/>
                  <a:pt x="317500" y="635000"/>
                </a:cubicBezTo>
                <a:close/>
                <a:moveTo>
                  <a:pt x="422176" y="263798"/>
                </a:moveTo>
                <a:lnTo>
                  <a:pt x="322957" y="422548"/>
                </a:lnTo>
                <a:cubicBezTo>
                  <a:pt x="317748" y="430857"/>
                  <a:pt x="308818" y="436066"/>
                  <a:pt x="299021" y="436563"/>
                </a:cubicBezTo>
                <a:cubicBezTo>
                  <a:pt x="289223" y="437059"/>
                  <a:pt x="279797" y="432594"/>
                  <a:pt x="273968" y="424656"/>
                </a:cubicBezTo>
                <a:lnTo>
                  <a:pt x="214437" y="345281"/>
                </a:lnTo>
                <a:cubicBezTo>
                  <a:pt x="204515" y="332135"/>
                  <a:pt x="207243" y="313531"/>
                  <a:pt x="220390" y="303609"/>
                </a:cubicBezTo>
                <a:cubicBezTo>
                  <a:pt x="233536" y="293688"/>
                  <a:pt x="252140" y="296416"/>
                  <a:pt x="262062" y="309563"/>
                </a:cubicBezTo>
                <a:lnTo>
                  <a:pt x="295548" y="354211"/>
                </a:lnTo>
                <a:lnTo>
                  <a:pt x="371698" y="232296"/>
                </a:lnTo>
                <a:cubicBezTo>
                  <a:pt x="380380" y="218405"/>
                  <a:pt x="398735" y="214064"/>
                  <a:pt x="412750" y="222870"/>
                </a:cubicBezTo>
                <a:cubicBezTo>
                  <a:pt x="426765" y="231676"/>
                  <a:pt x="430981" y="249907"/>
                  <a:pt x="422176" y="263922"/>
                </a:cubicBezTo>
                <a:close/>
              </a:path>
            </a:pathLst>
          </a:custGeom>
          <a:solidFill>
            <a:srgbClr val="FFFFFF"/>
          </a:solidFill>
          <a:ln/>
        </p:spPr>
      </p:sp>
      <p:sp>
        <p:nvSpPr>
          <p:cNvPr id="10" name="Text 7"/>
          <p:cNvSpPr/>
          <p:nvPr/>
        </p:nvSpPr>
        <p:spPr>
          <a:xfrm>
            <a:off x="2159000" y="1714500"/>
            <a:ext cx="3810000" cy="889000"/>
          </a:xfrm>
          <a:prstGeom prst="rect">
            <a:avLst/>
          </a:prstGeom>
          <a:noFill/>
          <a:ln/>
        </p:spPr>
        <p:txBody>
          <a:bodyPr wrap="none" lIns="0" tIns="0" rIns="0" bIns="0" rtlCol="0" anchor="ctr"/>
          <a:lstStyle/>
          <a:p>
            <a:pPr>
              <a:lnSpc>
                <a:spcPct val="100000"/>
              </a:lnSpc>
            </a:pPr>
            <a:r>
              <a:rPr lang="en-US" sz="5600" b="1" dirty="0">
                <a:solidFill>
                  <a:srgbClr val="FFFFFF"/>
                </a:solidFill>
                <a:latin typeface="Liter" pitchFamily="34" charset="0"/>
                <a:ea typeface="Liter" pitchFamily="34" charset="-122"/>
                <a:cs typeface="Liter" pitchFamily="34" charset="-120"/>
              </a:rPr>
              <a:t>8/8</a:t>
            </a:r>
            <a:endParaRPr lang="en-US" sz="1600" dirty="0"/>
          </a:p>
        </p:txBody>
      </p:sp>
      <p:sp>
        <p:nvSpPr>
          <p:cNvPr id="11" name="Text 8"/>
          <p:cNvSpPr/>
          <p:nvPr/>
        </p:nvSpPr>
        <p:spPr>
          <a:xfrm>
            <a:off x="2159000" y="2667000"/>
            <a:ext cx="5080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Quattrocento Sans" pitchFamily="34" charset="0"/>
                <a:ea typeface="Quattrocento Sans" pitchFamily="34" charset="-122"/>
                <a:cs typeface="Quattrocento Sans" pitchFamily="34" charset="-120"/>
              </a:rPr>
              <a:t>Tests Passes avec Succes</a:t>
            </a:r>
            <a:endParaRPr lang="en-US" sz="1600" dirty="0"/>
          </a:p>
        </p:txBody>
      </p:sp>
      <p:sp>
        <p:nvSpPr>
          <p:cNvPr id="12" name="Text 9"/>
          <p:cNvSpPr/>
          <p:nvPr/>
        </p:nvSpPr>
        <p:spPr>
          <a:xfrm>
            <a:off x="11430000" y="1778000"/>
            <a:ext cx="3810000" cy="1016000"/>
          </a:xfrm>
          <a:prstGeom prst="rect">
            <a:avLst/>
          </a:prstGeom>
          <a:noFill/>
          <a:ln/>
        </p:spPr>
        <p:txBody>
          <a:bodyPr wrap="none" lIns="0" tIns="0" rIns="0" bIns="0" rtlCol="0" anchor="ctr"/>
          <a:lstStyle/>
          <a:p>
            <a:pPr algn="r">
              <a:lnSpc>
                <a:spcPct val="100000"/>
              </a:lnSpc>
            </a:pPr>
            <a:r>
              <a:rPr lang="en-US" sz="6400" b="1" dirty="0">
                <a:solidFill>
                  <a:srgbClr val="FFFFFF">
                    <a:alpha val="50196"/>
                  </a:srgbClr>
                </a:solidFill>
                <a:latin typeface="Liter" pitchFamily="34" charset="0"/>
                <a:ea typeface="Liter" pitchFamily="34" charset="-122"/>
                <a:cs typeface="Liter" pitchFamily="34" charset="-120"/>
              </a:rPr>
              <a:t>100%</a:t>
            </a:r>
            <a:endParaRPr lang="en-US" sz="1600" dirty="0"/>
          </a:p>
        </p:txBody>
      </p:sp>
      <p:sp>
        <p:nvSpPr>
          <p:cNvPr id="13" name="Text 10"/>
          <p:cNvSpPr/>
          <p:nvPr/>
        </p:nvSpPr>
        <p:spPr>
          <a:xfrm>
            <a:off x="12446000" y="2794000"/>
            <a:ext cx="2794000" cy="304800"/>
          </a:xfrm>
          <a:prstGeom prst="rect">
            <a:avLst/>
          </a:prstGeom>
          <a:noFill/>
          <a:ln/>
        </p:spPr>
        <p:txBody>
          <a:bodyPr wrap="none" lIns="0" tIns="0" rIns="0" bIns="0" rtlCol="0" anchor="ctr"/>
          <a:lstStyle/>
          <a:p>
            <a:pPr algn="r">
              <a:lnSpc>
                <a:spcPct val="100000"/>
              </a:lnSpc>
            </a:pPr>
            <a:r>
              <a:rPr lang="en-US" sz="1400" dirty="0">
                <a:solidFill>
                  <a:srgbClr val="FFFFFF">
                    <a:alpha val="56471"/>
                  </a:srgbClr>
                </a:solidFill>
                <a:latin typeface="Quattrocento Sans" pitchFamily="34" charset="0"/>
                <a:ea typeface="Quattrocento Sans" pitchFamily="34" charset="-122"/>
                <a:cs typeface="Quattrocento Sans" pitchFamily="34" charset="-120"/>
              </a:rPr>
              <a:t>Taux de reussite</a:t>
            </a:r>
            <a:endParaRPr lang="en-US" sz="1600" dirty="0"/>
          </a:p>
        </p:txBody>
      </p:sp>
      <p:sp>
        <p:nvSpPr>
          <p:cNvPr id="14" name="Text 11"/>
          <p:cNvSpPr/>
          <p:nvPr/>
        </p:nvSpPr>
        <p:spPr>
          <a:xfrm>
            <a:off x="762000" y="3937000"/>
            <a:ext cx="508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Couverture des Tests</a:t>
            </a:r>
            <a:endParaRPr lang="en-US" sz="2000" dirty="0"/>
          </a:p>
        </p:txBody>
      </p:sp>
      <p:sp>
        <p:nvSpPr>
          <p:cNvPr id="15" name="Shape 12"/>
          <p:cNvSpPr/>
          <p:nvPr/>
        </p:nvSpPr>
        <p:spPr>
          <a:xfrm>
            <a:off x="762000" y="4508500"/>
            <a:ext cx="7048500" cy="190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6" name="Text 13"/>
          <p:cNvSpPr/>
          <p:nvPr/>
        </p:nvSpPr>
        <p:spPr>
          <a:xfrm>
            <a:off x="1016000" y="4699000"/>
            <a:ext cx="762000" cy="457200"/>
          </a:xfrm>
          <a:prstGeom prst="rect">
            <a:avLst/>
          </a:prstGeom>
          <a:noFill/>
          <a:ln/>
        </p:spPr>
        <p:txBody>
          <a:bodyPr wrap="none" lIns="0" tIns="0" rIns="0" bIns="0" rtlCol="0" anchor="ctr"/>
          <a:lstStyle/>
          <a:p>
            <a:pPr algn="ctr">
              <a:lnSpc>
                <a:spcPct val="100000"/>
              </a:lnSpc>
            </a:pPr>
            <a:r>
              <a:rPr lang="en-US" sz="2800" b="1" dirty="0">
                <a:solidFill>
                  <a:srgbClr val="DC382D"/>
                </a:solidFill>
                <a:latin typeface="Liter" pitchFamily="34" charset="0"/>
                <a:ea typeface="Liter" pitchFamily="34" charset="-122"/>
                <a:cs typeface="Liter" pitchFamily="34" charset="-120"/>
              </a:rPr>
              <a:t>01</a:t>
            </a:r>
            <a:endParaRPr lang="en-US" sz="1600" dirty="0"/>
          </a:p>
        </p:txBody>
      </p:sp>
      <p:sp>
        <p:nvSpPr>
          <p:cNvPr id="17" name="Text 14"/>
          <p:cNvSpPr/>
          <p:nvPr/>
        </p:nvSpPr>
        <p:spPr>
          <a:xfrm>
            <a:off x="1905000" y="4699000"/>
            <a:ext cx="5588000" cy="3556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Instance Redis Locale</a:t>
            </a:r>
            <a:endParaRPr lang="en-US" sz="2000" dirty="0"/>
          </a:p>
        </p:txBody>
      </p:sp>
      <p:sp>
        <p:nvSpPr>
          <p:cNvPr id="18" name="Text 15"/>
          <p:cNvSpPr/>
          <p:nvPr/>
        </p:nvSpPr>
        <p:spPr>
          <a:xfrm>
            <a:off x="1905000" y="5143500"/>
            <a:ext cx="5588000" cy="1016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Tests Jest avec une instance Redis locale pour des tests unitaires rapides et isoles</a:t>
            </a:r>
            <a:endParaRPr lang="en-US" sz="1600" dirty="0"/>
          </a:p>
        </p:txBody>
      </p:sp>
      <p:sp>
        <p:nvSpPr>
          <p:cNvPr id="19" name="Shape 16"/>
          <p:cNvSpPr/>
          <p:nvPr/>
        </p:nvSpPr>
        <p:spPr>
          <a:xfrm>
            <a:off x="8445500" y="4508500"/>
            <a:ext cx="7048500" cy="190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0" name="Text 17"/>
          <p:cNvSpPr/>
          <p:nvPr/>
        </p:nvSpPr>
        <p:spPr>
          <a:xfrm>
            <a:off x="8699500" y="4699000"/>
            <a:ext cx="762000" cy="457200"/>
          </a:xfrm>
          <a:prstGeom prst="rect">
            <a:avLst/>
          </a:prstGeom>
          <a:noFill/>
          <a:ln/>
        </p:spPr>
        <p:txBody>
          <a:bodyPr wrap="none" lIns="0" tIns="0" rIns="0" bIns="0" rtlCol="0" anchor="ctr"/>
          <a:lstStyle/>
          <a:p>
            <a:pPr algn="ctr">
              <a:lnSpc>
                <a:spcPct val="100000"/>
              </a:lnSpc>
            </a:pPr>
            <a:r>
              <a:rPr lang="en-US" sz="2800" b="1" dirty="0">
                <a:solidFill>
                  <a:srgbClr val="DC382D"/>
                </a:solidFill>
                <a:latin typeface="Liter" pitchFamily="34" charset="0"/>
                <a:ea typeface="Liter" pitchFamily="34" charset="-122"/>
                <a:cs typeface="Liter" pitchFamily="34" charset="-120"/>
              </a:rPr>
              <a:t>02</a:t>
            </a:r>
            <a:endParaRPr lang="en-US" sz="1600" dirty="0"/>
          </a:p>
        </p:txBody>
      </p:sp>
      <p:sp>
        <p:nvSpPr>
          <p:cNvPr id="21" name="Text 18"/>
          <p:cNvSpPr/>
          <p:nvPr/>
        </p:nvSpPr>
        <p:spPr>
          <a:xfrm>
            <a:off x="9588500" y="4699000"/>
            <a:ext cx="5588000" cy="3556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Operations Set, Get, Invalidation</a:t>
            </a:r>
            <a:endParaRPr lang="en-US" sz="2000" dirty="0"/>
          </a:p>
        </p:txBody>
      </p:sp>
      <p:sp>
        <p:nvSpPr>
          <p:cNvPr id="22" name="Text 19"/>
          <p:cNvSpPr/>
          <p:nvPr/>
        </p:nvSpPr>
        <p:spPr>
          <a:xfrm>
            <a:off x="9588500" y="5143500"/>
            <a:ext cx="5588000" cy="1016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Validation complete des operations de stockage, recuperation et invalidation du cache</a:t>
            </a:r>
            <a:endParaRPr lang="en-US" sz="1600" dirty="0"/>
          </a:p>
        </p:txBody>
      </p:sp>
      <p:sp>
        <p:nvSpPr>
          <p:cNvPr id="23" name="Shape 20"/>
          <p:cNvSpPr/>
          <p:nvPr/>
        </p:nvSpPr>
        <p:spPr>
          <a:xfrm>
            <a:off x="762000" y="6731000"/>
            <a:ext cx="7048500" cy="190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4" name="Text 21"/>
          <p:cNvSpPr/>
          <p:nvPr/>
        </p:nvSpPr>
        <p:spPr>
          <a:xfrm>
            <a:off x="1016000" y="6921500"/>
            <a:ext cx="762000" cy="457200"/>
          </a:xfrm>
          <a:prstGeom prst="rect">
            <a:avLst/>
          </a:prstGeom>
          <a:noFill/>
          <a:ln/>
        </p:spPr>
        <p:txBody>
          <a:bodyPr wrap="none" lIns="0" tIns="0" rIns="0" bIns="0" rtlCol="0" anchor="ctr"/>
          <a:lstStyle/>
          <a:p>
            <a:pPr algn="ctr">
              <a:lnSpc>
                <a:spcPct val="100000"/>
              </a:lnSpc>
            </a:pPr>
            <a:r>
              <a:rPr lang="en-US" sz="2800" b="1" dirty="0">
                <a:solidFill>
                  <a:srgbClr val="DC382D"/>
                </a:solidFill>
                <a:latin typeface="Liter" pitchFamily="34" charset="0"/>
                <a:ea typeface="Liter" pitchFamily="34" charset="-122"/>
                <a:cs typeface="Liter" pitchFamily="34" charset="-120"/>
              </a:rPr>
              <a:t>03</a:t>
            </a:r>
            <a:endParaRPr lang="en-US" sz="1600" dirty="0"/>
          </a:p>
        </p:txBody>
      </p:sp>
      <p:sp>
        <p:nvSpPr>
          <p:cNvPr id="25" name="Text 22"/>
          <p:cNvSpPr/>
          <p:nvPr/>
        </p:nvSpPr>
        <p:spPr>
          <a:xfrm>
            <a:off x="1905000" y="6921500"/>
            <a:ext cx="5588000" cy="3556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Cas Limites</a:t>
            </a:r>
            <a:endParaRPr lang="en-US" sz="2000" dirty="0"/>
          </a:p>
        </p:txBody>
      </p:sp>
      <p:sp>
        <p:nvSpPr>
          <p:cNvPr id="26" name="Text 23"/>
          <p:cNvSpPr/>
          <p:nvPr/>
        </p:nvSpPr>
        <p:spPr>
          <a:xfrm>
            <a:off x="1905000" y="7366000"/>
            <a:ext cx="5588000" cy="1016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Gestion robuste des cas limites : valeurs null, undefined et donnees expirees</a:t>
            </a:r>
            <a:endParaRPr lang="en-US" sz="1600" dirty="0"/>
          </a:p>
        </p:txBody>
      </p:sp>
      <p:sp>
        <p:nvSpPr>
          <p:cNvPr id="27" name="Shape 24"/>
          <p:cNvSpPr/>
          <p:nvPr/>
        </p:nvSpPr>
        <p:spPr>
          <a:xfrm>
            <a:off x="8445500" y="6731000"/>
            <a:ext cx="7048500" cy="1905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28" name="Text 25"/>
          <p:cNvSpPr/>
          <p:nvPr/>
        </p:nvSpPr>
        <p:spPr>
          <a:xfrm>
            <a:off x="8699500" y="6921500"/>
            <a:ext cx="762000" cy="457200"/>
          </a:xfrm>
          <a:prstGeom prst="rect">
            <a:avLst/>
          </a:prstGeom>
          <a:noFill/>
          <a:ln/>
        </p:spPr>
        <p:txBody>
          <a:bodyPr wrap="none" lIns="0" tIns="0" rIns="0" bIns="0" rtlCol="0" anchor="ctr"/>
          <a:lstStyle/>
          <a:p>
            <a:pPr algn="ctr">
              <a:lnSpc>
                <a:spcPct val="100000"/>
              </a:lnSpc>
            </a:pPr>
            <a:r>
              <a:rPr lang="en-US" sz="2800" b="1" dirty="0">
                <a:solidFill>
                  <a:srgbClr val="DC382D"/>
                </a:solidFill>
                <a:latin typeface="Liter" pitchFamily="34" charset="0"/>
                <a:ea typeface="Liter" pitchFamily="34" charset="-122"/>
                <a:cs typeface="Liter" pitchFamily="34" charset="-120"/>
              </a:rPr>
              <a:t>04</a:t>
            </a:r>
            <a:endParaRPr lang="en-US" sz="1600" dirty="0"/>
          </a:p>
        </p:txBody>
      </p:sp>
      <p:sp>
        <p:nvSpPr>
          <p:cNvPr id="29" name="Text 26"/>
          <p:cNvSpPr/>
          <p:nvPr/>
        </p:nvSpPr>
        <p:spPr>
          <a:xfrm>
            <a:off x="9588500" y="6921500"/>
            <a:ext cx="5588000" cy="355600"/>
          </a:xfrm>
          <a:prstGeom prst="rect">
            <a:avLst/>
          </a:prstGeom>
          <a:noFill/>
          <a:ln/>
        </p:spPr>
        <p:txBody>
          <a:bodyPr wrap="none" lIns="0" tIns="0" rIns="0" bIns="0" rtlCol="0" anchor="ctr"/>
          <a:lstStyle/>
          <a:p>
            <a:pPr>
              <a:lnSpc>
                <a:spcPct val="130000"/>
              </a:lnSpc>
            </a:pPr>
            <a:r>
              <a:rPr lang="en-US" sz="1700" b="1" dirty="0">
                <a:solidFill>
                  <a:srgbClr val="1E293B"/>
                </a:solidFill>
                <a:latin typeface="Liter" pitchFamily="34" charset="0"/>
                <a:ea typeface="Liter" pitchFamily="34" charset="-122"/>
                <a:cs typeface="Liter" pitchFamily="34" charset="-120"/>
              </a:rPr>
              <a:t>Pipeline CI</a:t>
            </a:r>
            <a:endParaRPr lang="en-US" sz="2000" dirty="0"/>
          </a:p>
        </p:txBody>
      </p:sp>
      <p:sp>
        <p:nvSpPr>
          <p:cNvPr id="30" name="Text 27"/>
          <p:cNvSpPr/>
          <p:nvPr/>
        </p:nvSpPr>
        <p:spPr>
          <a:xfrm>
            <a:off x="9588500" y="7366000"/>
            <a:ext cx="5588000" cy="10160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Tests automatises executes dans la pipeline CI pour garantir la qualite continue</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1E293B"/>
          </a:solidFill>
          <a:ln/>
        </p:spPr>
      </p:sp>
      <p:sp>
        <p:nvSpPr>
          <p:cNvPr id="4" name="Shape 1"/>
          <p:cNvSpPr/>
          <p:nvPr/>
        </p:nvSpPr>
        <p:spPr>
          <a:xfrm>
            <a:off x="11379200" y="0"/>
            <a:ext cx="1625600" cy="38100"/>
          </a:xfrm>
          <a:prstGeom prst="rect">
            <a:avLst/>
          </a:prstGeom>
          <a:solidFill>
            <a:srgbClr val="DC382D"/>
          </a:solidFill>
          <a:ln/>
        </p:spPr>
      </p:sp>
      <p:sp>
        <p:nvSpPr>
          <p:cNvPr id="5" name="Text 2"/>
          <p:cNvSpPr/>
          <p:nvPr/>
        </p:nvSpPr>
        <p:spPr>
          <a:xfrm>
            <a:off x="762000" y="63500"/>
            <a:ext cx="11430000" cy="406400"/>
          </a:xfrm>
          <a:prstGeom prst="rect">
            <a:avLst/>
          </a:prstGeom>
          <a:noFill/>
          <a:ln/>
        </p:spPr>
        <p:txBody>
          <a:bodyPr wrap="none" lIns="0" tIns="0" rIns="0" bIns="0" rtlCol="0" anchor="ctr"/>
          <a:lstStyle/>
          <a:p>
            <a:pPr>
              <a:lnSpc>
                <a:spcPct val="120000"/>
              </a:lnSpc>
            </a:pPr>
            <a:r>
              <a:rPr lang="en-US" sz="1200" dirty="0">
                <a:solidFill>
                  <a:srgbClr val="94A3B8"/>
                </a:solidFill>
                <a:latin typeface="QuattrocentoSans" pitchFamily="34" charset="0"/>
                <a:ea typeface="QuattrocentoSans" pitchFamily="34" charset="-122"/>
                <a:cs typeface="QuattrocentoSans" pitchFamily="34" charset="-120"/>
              </a:rPr>
              <a:t>01 CONTEXTE 02 ARCHITECTURE 03 INFRASTRUCTURE 04 ABSTRACTION 05 INTEGRATION 06 INVALIDATION 07 TESTS</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b="1" dirty="0">
                <a:solidFill>
                  <a:srgbClr val="DC382D"/>
                </a:solidFill>
                <a:latin typeface="QuattrocentoSans" pitchFamily="34" charset="0"/>
                <a:ea typeface="QuattrocentoSans" pitchFamily="34" charset="-122"/>
                <a:cs typeface="QuattrocentoSans" pitchFamily="34" charset="-120"/>
              </a:rPr>
              <a:t>08</a:t>
            </a:r>
            <a:pPr>
              <a:lnSpc>
                <a:spcPct val="120000"/>
              </a:lnSpc>
            </a:pPr>
            <a:r>
              <a:rPr lang="en-US" sz="1200" dirty="0">
                <a:solidFill>
                  <a:srgbClr val="FFFFFF"/>
                </a:solidFill>
                <a:latin typeface="QuattrocentoSans" pitchFamily="34" charset="0"/>
                <a:ea typeface="QuattrocentoSans" pitchFamily="34" charset="-122"/>
                <a:cs typeface="QuattrocentoSans" pitchFamily="34" charset="-120"/>
              </a:rPr>
              <a:t> </a:t>
            </a:r>
            <a:pPr>
              <a:lnSpc>
                <a:spcPct val="120000"/>
              </a:lnSpc>
            </a:pPr>
            <a:r>
              <a:rPr lang="en-US" sz="1200" dirty="0">
                <a:solidFill>
                  <a:srgbClr val="DC382D"/>
                </a:solidFill>
                <a:latin typeface="QuattrocentoSans" pitchFamily="34" charset="0"/>
                <a:ea typeface="QuattrocentoSans" pitchFamily="34" charset="-122"/>
                <a:cs typeface="QuattrocentoSans" pitchFamily="34" charset="-120"/>
              </a:rPr>
              <a:t>PERFORMANCE</a:t>
            </a:r>
            <a:endParaRPr lang="en-US" sz="1200" dirty="0"/>
          </a:p>
        </p:txBody>
      </p:sp>
      <p:sp>
        <p:nvSpPr>
          <p:cNvPr id="6" name="Text 3"/>
          <p:cNvSpPr/>
          <p:nvPr/>
        </p:nvSpPr>
        <p:spPr>
          <a:xfrm>
            <a:off x="762000" y="698500"/>
            <a:ext cx="8890000" cy="457200"/>
          </a:xfrm>
          <a:prstGeom prst="rect">
            <a:avLst/>
          </a:prstGeom>
          <a:noFill/>
          <a:ln/>
        </p:spPr>
        <p:txBody>
          <a:bodyPr wrap="none" lIns="0" tIns="0" rIns="0" bIns="0" rtlCol="0" anchor="ctr"/>
          <a:lstStyle/>
          <a:p>
            <a:pPr>
              <a:lnSpc>
                <a:spcPct val="120000"/>
              </a:lnSpc>
            </a:pPr>
            <a:r>
              <a:rPr lang="en-US" sz="2800" spc="200" kern="0" dirty="0">
                <a:solidFill>
                  <a:srgbClr val="1E293B"/>
                </a:solidFill>
                <a:latin typeface="Liter" pitchFamily="34" charset="0"/>
                <a:ea typeface="Liter" pitchFamily="34" charset="-122"/>
                <a:cs typeface="Liter" pitchFamily="34" charset="-120"/>
              </a:rPr>
              <a:t>PERFORMANCE</a:t>
            </a:r>
            <a:endParaRPr lang="en-US" sz="2800" dirty="0"/>
          </a:p>
        </p:txBody>
      </p:sp>
      <p:sp>
        <p:nvSpPr>
          <p:cNvPr id="7" name="Shape 4"/>
          <p:cNvSpPr/>
          <p:nvPr/>
        </p:nvSpPr>
        <p:spPr>
          <a:xfrm>
            <a:off x="762000" y="1181100"/>
            <a:ext cx="1016000" cy="38100"/>
          </a:xfrm>
          <a:prstGeom prst="rect">
            <a:avLst/>
          </a:prstGeom>
          <a:solidFill>
            <a:srgbClr val="DC382D"/>
          </a:solidFill>
          <a:ln/>
        </p:spPr>
      </p:sp>
      <p:sp>
        <p:nvSpPr>
          <p:cNvPr id="8" name="Shape 5"/>
          <p:cNvSpPr/>
          <p:nvPr/>
        </p:nvSpPr>
        <p:spPr>
          <a:xfrm>
            <a:off x="762000" y="1524000"/>
            <a:ext cx="4572000" cy="1651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9" name="Text 6"/>
          <p:cNvSpPr/>
          <p:nvPr/>
        </p:nvSpPr>
        <p:spPr>
          <a:xfrm>
            <a:off x="1016000" y="1651000"/>
            <a:ext cx="2540000" cy="698500"/>
          </a:xfrm>
          <a:prstGeom prst="rect">
            <a:avLst/>
          </a:prstGeom>
          <a:noFill/>
          <a:ln/>
        </p:spPr>
        <p:txBody>
          <a:bodyPr wrap="none" lIns="0" tIns="0" rIns="0" bIns="0" rtlCol="0" anchor="ctr"/>
          <a:lstStyle/>
          <a:p>
            <a:pPr>
              <a:lnSpc>
                <a:spcPct val="110000"/>
              </a:lnSpc>
            </a:pPr>
            <a:r>
              <a:rPr lang="en-US" sz="4000" b="1" dirty="0">
                <a:solidFill>
                  <a:srgbClr val="DC382D"/>
                </a:solidFill>
                <a:latin typeface="Liter" pitchFamily="34" charset="0"/>
                <a:ea typeface="Liter" pitchFamily="34" charset="-122"/>
                <a:cs typeface="Liter" pitchFamily="34" charset="-120"/>
              </a:rPr>
              <a:t>12ms</a:t>
            </a:r>
            <a:endParaRPr lang="en-US" sz="4000" dirty="0"/>
          </a:p>
        </p:txBody>
      </p:sp>
      <p:sp>
        <p:nvSpPr>
          <p:cNvPr id="10" name="Text 7"/>
          <p:cNvSpPr/>
          <p:nvPr/>
        </p:nvSpPr>
        <p:spPr>
          <a:xfrm>
            <a:off x="1016000" y="2413000"/>
            <a:ext cx="3429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Temps moyen AVEC Cache</a:t>
            </a:r>
            <a:endParaRPr lang="en-US" sz="1600" dirty="0"/>
          </a:p>
        </p:txBody>
      </p:sp>
      <p:sp>
        <p:nvSpPr>
          <p:cNvPr id="11" name="Shape 8"/>
          <p:cNvSpPr/>
          <p:nvPr/>
        </p:nvSpPr>
        <p:spPr>
          <a:xfrm>
            <a:off x="4540250" y="1968500"/>
            <a:ext cx="444500" cy="508000"/>
          </a:xfrm>
          <a:custGeom>
            <a:avLst/>
            <a:gdLst/>
            <a:ahLst/>
            <a:cxnLst/>
            <a:rect l="l" t="t" r="r" b="b"/>
            <a:pathLst>
              <a:path w="444500" h="508000">
                <a:moveTo>
                  <a:pt x="336153" y="-9823"/>
                </a:moveTo>
                <a:cubicBezTo>
                  <a:pt x="347960" y="-1290"/>
                  <a:pt x="352326" y="14188"/>
                  <a:pt x="346968" y="27682"/>
                </a:cubicBezTo>
                <a:lnTo>
                  <a:pt x="269180" y="222250"/>
                </a:lnTo>
                <a:lnTo>
                  <a:pt x="412750" y="222250"/>
                </a:lnTo>
                <a:cubicBezTo>
                  <a:pt x="426145" y="222250"/>
                  <a:pt x="438051" y="230584"/>
                  <a:pt x="442615" y="243185"/>
                </a:cubicBezTo>
                <a:cubicBezTo>
                  <a:pt x="447179" y="255786"/>
                  <a:pt x="443309" y="269875"/>
                  <a:pt x="433090" y="278408"/>
                </a:cubicBezTo>
                <a:lnTo>
                  <a:pt x="147340" y="516533"/>
                </a:lnTo>
                <a:cubicBezTo>
                  <a:pt x="136128" y="525859"/>
                  <a:pt x="120154" y="526355"/>
                  <a:pt x="108347" y="517823"/>
                </a:cubicBezTo>
                <a:cubicBezTo>
                  <a:pt x="96540" y="509290"/>
                  <a:pt x="92174" y="493812"/>
                  <a:pt x="97532" y="480318"/>
                </a:cubicBezTo>
                <a:lnTo>
                  <a:pt x="175320" y="285750"/>
                </a:lnTo>
                <a:lnTo>
                  <a:pt x="31750" y="285750"/>
                </a:lnTo>
                <a:cubicBezTo>
                  <a:pt x="18355" y="285750"/>
                  <a:pt x="6449" y="277416"/>
                  <a:pt x="1885" y="264815"/>
                </a:cubicBezTo>
                <a:cubicBezTo>
                  <a:pt x="-2679" y="252214"/>
                  <a:pt x="1191" y="238125"/>
                  <a:pt x="11410" y="229592"/>
                </a:cubicBezTo>
                <a:lnTo>
                  <a:pt x="297160" y="-8533"/>
                </a:lnTo>
                <a:cubicBezTo>
                  <a:pt x="308372" y="-17859"/>
                  <a:pt x="324346" y="-18355"/>
                  <a:pt x="336153" y="-9823"/>
                </a:cubicBezTo>
                <a:close/>
              </a:path>
            </a:pathLst>
          </a:custGeom>
          <a:solidFill>
            <a:srgbClr val="22C55E"/>
          </a:solidFill>
          <a:ln/>
        </p:spPr>
      </p:sp>
      <p:sp>
        <p:nvSpPr>
          <p:cNvPr id="12" name="Shape 9"/>
          <p:cNvSpPr/>
          <p:nvPr/>
        </p:nvSpPr>
        <p:spPr>
          <a:xfrm>
            <a:off x="5842000" y="1524000"/>
            <a:ext cx="4572000" cy="1651000"/>
          </a:xfrm>
          <a:prstGeom prst="roundRect">
            <a:avLst>
              <a:gd name="adj" fmla="val 8000"/>
            </a:avLst>
          </a:prstGeom>
          <a:solidFill>
            <a:srgbClr val="FFFFFF"/>
          </a:solidFill>
          <a:ln/>
          <a:effectLst>
            <a:outerShdw sx="100000" sy="100000" kx="0" ky="0" algn="bl" rotWithShape="0" blurRad="127000" dist="25400" dir="5400000">
              <a:srgbClr val="000000">
                <a:alpha val="5098"/>
              </a:srgbClr>
            </a:outerShdw>
          </a:effectLst>
        </p:spPr>
      </p:sp>
      <p:sp>
        <p:nvSpPr>
          <p:cNvPr id="13" name="Text 10"/>
          <p:cNvSpPr/>
          <p:nvPr/>
        </p:nvSpPr>
        <p:spPr>
          <a:xfrm>
            <a:off x="6096000" y="1651000"/>
            <a:ext cx="2540000" cy="698500"/>
          </a:xfrm>
          <a:prstGeom prst="rect">
            <a:avLst/>
          </a:prstGeom>
          <a:noFill/>
          <a:ln/>
        </p:spPr>
        <p:txBody>
          <a:bodyPr wrap="none" lIns="0" tIns="0" rIns="0" bIns="0" rtlCol="0" anchor="ctr"/>
          <a:lstStyle/>
          <a:p>
            <a:pPr>
              <a:lnSpc>
                <a:spcPct val="110000"/>
              </a:lnSpc>
            </a:pPr>
            <a:r>
              <a:rPr lang="en-US" sz="4000" b="1" dirty="0">
                <a:solidFill>
                  <a:srgbClr val="DC382D"/>
                </a:solidFill>
                <a:latin typeface="Liter" pitchFamily="34" charset="0"/>
                <a:ea typeface="Liter" pitchFamily="34" charset="-122"/>
                <a:cs typeface="Liter" pitchFamily="34" charset="-120"/>
              </a:rPr>
              <a:t>856ms</a:t>
            </a:r>
            <a:endParaRPr lang="en-US" sz="4000" dirty="0"/>
          </a:p>
        </p:txBody>
      </p:sp>
      <p:sp>
        <p:nvSpPr>
          <p:cNvPr id="14" name="Text 11"/>
          <p:cNvSpPr/>
          <p:nvPr/>
        </p:nvSpPr>
        <p:spPr>
          <a:xfrm>
            <a:off x="6096000" y="2413000"/>
            <a:ext cx="3429000" cy="304800"/>
          </a:xfrm>
          <a:prstGeom prst="rect">
            <a:avLst/>
          </a:prstGeom>
          <a:noFill/>
          <a:ln/>
        </p:spPr>
        <p:txBody>
          <a:bodyPr wrap="none" lIns="0" tIns="0" rIns="0" bIns="0" rtlCol="0" anchor="ctr"/>
          <a:lstStyle/>
          <a:p>
            <a:pPr>
              <a:lnSpc>
                <a:spcPct val="100000"/>
              </a:lnSpc>
            </a:pPr>
            <a:r>
              <a:rPr lang="en-US" sz="1500" dirty="0">
                <a:solidFill>
                  <a:srgbClr val="64748B"/>
                </a:solidFill>
                <a:latin typeface="Quattrocento Sans" pitchFamily="34" charset="0"/>
                <a:ea typeface="Quattrocento Sans" pitchFamily="34" charset="-122"/>
                <a:cs typeface="Quattrocento Sans" pitchFamily="34" charset="-120"/>
              </a:rPr>
              <a:t>Temps moyen SANS Cache</a:t>
            </a:r>
            <a:endParaRPr lang="en-US" sz="1600" dirty="0"/>
          </a:p>
        </p:txBody>
      </p:sp>
      <p:sp>
        <p:nvSpPr>
          <p:cNvPr id="15" name="Shape 12"/>
          <p:cNvSpPr/>
          <p:nvPr/>
        </p:nvSpPr>
        <p:spPr>
          <a:xfrm>
            <a:off x="9652000" y="1968500"/>
            <a:ext cx="381000" cy="508000"/>
          </a:xfrm>
          <a:custGeom>
            <a:avLst/>
            <a:gdLst/>
            <a:ahLst/>
            <a:cxnLst/>
            <a:rect l="l" t="t" r="r" b="b"/>
            <a:pathLst>
              <a:path w="381000" h="508000">
                <a:moveTo>
                  <a:pt x="31750" y="0"/>
                </a:moveTo>
                <a:cubicBezTo>
                  <a:pt x="14188" y="0"/>
                  <a:pt x="0" y="14188"/>
                  <a:pt x="0" y="31750"/>
                </a:cubicBezTo>
                <a:cubicBezTo>
                  <a:pt x="0" y="49312"/>
                  <a:pt x="14188" y="63500"/>
                  <a:pt x="31750" y="63500"/>
                </a:cubicBezTo>
                <a:lnTo>
                  <a:pt x="31750" y="74414"/>
                </a:lnTo>
                <a:cubicBezTo>
                  <a:pt x="31750" y="116483"/>
                  <a:pt x="48518" y="156865"/>
                  <a:pt x="78284" y="186630"/>
                </a:cubicBezTo>
                <a:lnTo>
                  <a:pt x="145653" y="254000"/>
                </a:lnTo>
                <a:lnTo>
                  <a:pt x="78284" y="321370"/>
                </a:lnTo>
                <a:cubicBezTo>
                  <a:pt x="48518" y="351135"/>
                  <a:pt x="31750" y="391517"/>
                  <a:pt x="31750" y="433586"/>
                </a:cubicBezTo>
                <a:lnTo>
                  <a:pt x="31750" y="444500"/>
                </a:lnTo>
                <a:cubicBezTo>
                  <a:pt x="14188" y="444500"/>
                  <a:pt x="0" y="458688"/>
                  <a:pt x="0" y="476250"/>
                </a:cubicBezTo>
                <a:cubicBezTo>
                  <a:pt x="0" y="493812"/>
                  <a:pt x="14188" y="508000"/>
                  <a:pt x="31750" y="508000"/>
                </a:cubicBezTo>
                <a:lnTo>
                  <a:pt x="349250" y="508000"/>
                </a:lnTo>
                <a:cubicBezTo>
                  <a:pt x="366812" y="508000"/>
                  <a:pt x="381000" y="493812"/>
                  <a:pt x="381000" y="476250"/>
                </a:cubicBezTo>
                <a:cubicBezTo>
                  <a:pt x="381000" y="458688"/>
                  <a:pt x="366812" y="444500"/>
                  <a:pt x="349250" y="444500"/>
                </a:cubicBezTo>
                <a:lnTo>
                  <a:pt x="349250" y="433586"/>
                </a:lnTo>
                <a:cubicBezTo>
                  <a:pt x="349250" y="391517"/>
                  <a:pt x="332482" y="351135"/>
                  <a:pt x="302716" y="321370"/>
                </a:cubicBezTo>
                <a:lnTo>
                  <a:pt x="235347" y="254000"/>
                </a:lnTo>
                <a:lnTo>
                  <a:pt x="302716" y="186630"/>
                </a:lnTo>
                <a:cubicBezTo>
                  <a:pt x="332482" y="156865"/>
                  <a:pt x="349250" y="116483"/>
                  <a:pt x="349250" y="74414"/>
                </a:cubicBezTo>
                <a:lnTo>
                  <a:pt x="349250" y="63500"/>
                </a:lnTo>
                <a:cubicBezTo>
                  <a:pt x="366812" y="63500"/>
                  <a:pt x="381000" y="49312"/>
                  <a:pt x="381000" y="31750"/>
                </a:cubicBezTo>
                <a:cubicBezTo>
                  <a:pt x="381000" y="14188"/>
                  <a:pt x="366812" y="0"/>
                  <a:pt x="349250" y="0"/>
                </a:cubicBezTo>
                <a:lnTo>
                  <a:pt x="31750" y="0"/>
                </a:lnTo>
                <a:close/>
                <a:moveTo>
                  <a:pt x="95250" y="74414"/>
                </a:moveTo>
                <a:lnTo>
                  <a:pt x="95250" y="63500"/>
                </a:lnTo>
                <a:lnTo>
                  <a:pt x="285750" y="63500"/>
                </a:lnTo>
                <a:lnTo>
                  <a:pt x="285750" y="74414"/>
                </a:lnTo>
                <a:cubicBezTo>
                  <a:pt x="285750" y="93266"/>
                  <a:pt x="280194" y="111522"/>
                  <a:pt x="269875" y="127000"/>
                </a:cubicBezTo>
                <a:lnTo>
                  <a:pt x="111125" y="127000"/>
                </a:lnTo>
                <a:cubicBezTo>
                  <a:pt x="100905" y="111522"/>
                  <a:pt x="95250" y="93266"/>
                  <a:pt x="95250" y="74414"/>
                </a:cubicBezTo>
                <a:close/>
                <a:moveTo>
                  <a:pt x="111125" y="381000"/>
                </a:moveTo>
                <a:cubicBezTo>
                  <a:pt x="114598" y="375741"/>
                  <a:pt x="118666" y="370780"/>
                  <a:pt x="123130" y="366216"/>
                </a:cubicBezTo>
                <a:lnTo>
                  <a:pt x="190500" y="298847"/>
                </a:lnTo>
                <a:lnTo>
                  <a:pt x="257870" y="366216"/>
                </a:lnTo>
                <a:cubicBezTo>
                  <a:pt x="262434" y="370780"/>
                  <a:pt x="266402" y="375741"/>
                  <a:pt x="269974" y="381000"/>
                </a:cubicBezTo>
                <a:lnTo>
                  <a:pt x="111125" y="381000"/>
                </a:lnTo>
                <a:close/>
              </a:path>
            </a:pathLst>
          </a:custGeom>
          <a:solidFill>
            <a:srgbClr val="64748B"/>
          </a:solidFill>
          <a:ln/>
        </p:spPr>
      </p:sp>
      <p:sp>
        <p:nvSpPr>
          <p:cNvPr id="16" name="Shape 13"/>
          <p:cNvSpPr/>
          <p:nvPr/>
        </p:nvSpPr>
        <p:spPr>
          <a:xfrm>
            <a:off x="10922000" y="1524000"/>
            <a:ext cx="4572000" cy="1651000"/>
          </a:xfrm>
          <a:prstGeom prst="roundRect">
            <a:avLst>
              <a:gd name="adj" fmla="val 8000"/>
            </a:avLst>
          </a:prstGeom>
          <a:solidFill>
            <a:srgbClr val="FEF2F2"/>
          </a:solidFill>
          <a:ln w="25400">
            <a:solidFill>
              <a:srgbClr val="DC382D"/>
            </a:solidFill>
            <a:prstDash val="solid"/>
          </a:ln>
        </p:spPr>
      </p:sp>
      <p:sp>
        <p:nvSpPr>
          <p:cNvPr id="17" name="Text 14"/>
          <p:cNvSpPr/>
          <p:nvPr/>
        </p:nvSpPr>
        <p:spPr>
          <a:xfrm>
            <a:off x="11176000" y="1651000"/>
            <a:ext cx="2540000" cy="698500"/>
          </a:xfrm>
          <a:prstGeom prst="rect">
            <a:avLst/>
          </a:prstGeom>
          <a:noFill/>
          <a:ln/>
        </p:spPr>
        <p:txBody>
          <a:bodyPr wrap="none" lIns="0" tIns="0" rIns="0" bIns="0" rtlCol="0" anchor="ctr"/>
          <a:lstStyle/>
          <a:p>
            <a:pPr>
              <a:lnSpc>
                <a:spcPct val="100000"/>
              </a:lnSpc>
            </a:pPr>
            <a:r>
              <a:rPr lang="en-US" sz="4800" b="1" dirty="0">
                <a:solidFill>
                  <a:srgbClr val="DC382D"/>
                </a:solidFill>
                <a:latin typeface="Liter" pitchFamily="34" charset="0"/>
                <a:ea typeface="Liter" pitchFamily="34" charset="-122"/>
                <a:cs typeface="Liter" pitchFamily="34" charset="-120"/>
              </a:rPr>
              <a:t>99%</a:t>
            </a:r>
            <a:endParaRPr lang="en-US" sz="1600" dirty="0"/>
          </a:p>
        </p:txBody>
      </p:sp>
      <p:sp>
        <p:nvSpPr>
          <p:cNvPr id="18" name="Text 15"/>
          <p:cNvSpPr/>
          <p:nvPr/>
        </p:nvSpPr>
        <p:spPr>
          <a:xfrm>
            <a:off x="11176000" y="2413000"/>
            <a:ext cx="3429000" cy="304800"/>
          </a:xfrm>
          <a:prstGeom prst="rect">
            <a:avLst/>
          </a:prstGeom>
          <a:noFill/>
          <a:ln/>
        </p:spPr>
        <p:txBody>
          <a:bodyPr wrap="none" lIns="0" tIns="0" rIns="0" bIns="0" rtlCol="0" anchor="ctr"/>
          <a:lstStyle/>
          <a:p>
            <a:pPr>
              <a:lnSpc>
                <a:spcPct val="100000"/>
              </a:lnSpc>
            </a:pPr>
            <a:r>
              <a:rPr lang="en-US" sz="1500" b="1" dirty="0">
                <a:solidFill>
                  <a:srgbClr val="DC382D"/>
                </a:solidFill>
                <a:latin typeface="Quattrocento Sans" pitchFamily="34" charset="0"/>
                <a:ea typeface="Quattrocento Sans" pitchFamily="34" charset="-122"/>
                <a:cs typeface="Quattrocento Sans" pitchFamily="34" charset="-120"/>
              </a:rPr>
              <a:t>Amelioration Globale</a:t>
            </a:r>
            <a:endParaRPr lang="en-US" sz="1600" dirty="0"/>
          </a:p>
        </p:txBody>
      </p:sp>
      <p:sp>
        <p:nvSpPr>
          <p:cNvPr id="19" name="Shape 16"/>
          <p:cNvSpPr/>
          <p:nvPr/>
        </p:nvSpPr>
        <p:spPr>
          <a:xfrm>
            <a:off x="14636750" y="1968500"/>
            <a:ext cx="571500" cy="508000"/>
          </a:xfrm>
          <a:custGeom>
            <a:avLst/>
            <a:gdLst/>
            <a:ahLst/>
            <a:cxnLst/>
            <a:rect l="l" t="t" r="r" b="b"/>
            <a:pathLst>
              <a:path w="571500" h="508000">
                <a:moveTo>
                  <a:pt x="381000" y="158750"/>
                </a:moveTo>
                <a:cubicBezTo>
                  <a:pt x="363438" y="158750"/>
                  <a:pt x="349250" y="144562"/>
                  <a:pt x="349250" y="127000"/>
                </a:cubicBezTo>
                <a:cubicBezTo>
                  <a:pt x="349250" y="109438"/>
                  <a:pt x="363438" y="95250"/>
                  <a:pt x="381000" y="95250"/>
                </a:cubicBezTo>
                <a:lnTo>
                  <a:pt x="539750" y="95250"/>
                </a:lnTo>
                <a:cubicBezTo>
                  <a:pt x="557312" y="95250"/>
                  <a:pt x="571500" y="109438"/>
                  <a:pt x="571500" y="127000"/>
                </a:cubicBezTo>
                <a:lnTo>
                  <a:pt x="571500" y="285750"/>
                </a:lnTo>
                <a:cubicBezTo>
                  <a:pt x="571500" y="303312"/>
                  <a:pt x="557312" y="317500"/>
                  <a:pt x="539750" y="317500"/>
                </a:cubicBezTo>
                <a:cubicBezTo>
                  <a:pt x="522188" y="317500"/>
                  <a:pt x="508000" y="303312"/>
                  <a:pt x="508000" y="285750"/>
                </a:cubicBezTo>
                <a:lnTo>
                  <a:pt x="508000" y="203696"/>
                </a:lnTo>
                <a:lnTo>
                  <a:pt x="339923" y="371773"/>
                </a:lnTo>
                <a:cubicBezTo>
                  <a:pt x="327521" y="384175"/>
                  <a:pt x="307380" y="384175"/>
                  <a:pt x="294977" y="371773"/>
                </a:cubicBezTo>
                <a:lnTo>
                  <a:pt x="190500" y="267196"/>
                </a:lnTo>
                <a:lnTo>
                  <a:pt x="54173" y="403423"/>
                </a:lnTo>
                <a:cubicBezTo>
                  <a:pt x="41771" y="415826"/>
                  <a:pt x="21630" y="415826"/>
                  <a:pt x="9227" y="403423"/>
                </a:cubicBezTo>
                <a:cubicBezTo>
                  <a:pt x="-3175" y="391021"/>
                  <a:pt x="-3175" y="370880"/>
                  <a:pt x="9227" y="358477"/>
                </a:cubicBezTo>
                <a:lnTo>
                  <a:pt x="167977" y="199727"/>
                </a:lnTo>
                <a:cubicBezTo>
                  <a:pt x="180380" y="187325"/>
                  <a:pt x="200521" y="187325"/>
                  <a:pt x="212923" y="199727"/>
                </a:cubicBezTo>
                <a:lnTo>
                  <a:pt x="317500" y="304304"/>
                </a:lnTo>
                <a:lnTo>
                  <a:pt x="463054" y="158750"/>
                </a:lnTo>
                <a:lnTo>
                  <a:pt x="381000" y="158750"/>
                </a:lnTo>
                <a:close/>
              </a:path>
            </a:pathLst>
          </a:custGeom>
          <a:solidFill>
            <a:srgbClr val="DC382D"/>
          </a:solidFill>
          <a:ln/>
        </p:spPr>
      </p:sp>
      <p:sp>
        <p:nvSpPr>
          <p:cNvPr id="20" name="Text 17"/>
          <p:cNvSpPr/>
          <p:nvPr/>
        </p:nvSpPr>
        <p:spPr>
          <a:xfrm>
            <a:off x="762000" y="3492500"/>
            <a:ext cx="6350000" cy="355600"/>
          </a:xfrm>
          <a:prstGeom prst="rect">
            <a:avLst/>
          </a:prstGeom>
          <a:noFill/>
          <a:ln/>
        </p:spPr>
        <p:txBody>
          <a:bodyPr wrap="none" lIns="0" tIns="0" rIns="0" bIns="0" rtlCol="0" anchor="ctr"/>
          <a:lstStyle/>
          <a:p>
            <a:pPr>
              <a:lnSpc>
                <a:spcPct val="130000"/>
              </a:lnSpc>
            </a:pPr>
            <a:r>
              <a:rPr lang="en-US" sz="2000" b="1" dirty="0">
                <a:solidFill>
                  <a:srgbClr val="1E293B"/>
                </a:solidFill>
                <a:latin typeface="Liter" pitchFamily="34" charset="0"/>
                <a:ea typeface="Liter" pitchFamily="34" charset="-122"/>
                <a:cs typeface="Liter" pitchFamily="34" charset="-120"/>
              </a:rPr>
              <a:t>Comparaison par Endpoint</a:t>
            </a:r>
            <a:endParaRPr lang="en-US" sz="2000" dirty="0"/>
          </a:p>
        </p:txBody>
      </p:sp>
      <p:graphicFrame>
        <p:nvGraphicFramePr>
          <p:cNvPr id="21" name="Chart 0" descr=""/>
          <p:cNvGraphicFramePr/>
          <p:nvPr/>
        </p:nvGraphicFramePr>
        <p:xfrm>
          <a:off x="762000" y="3937000"/>
          <a:ext cx="14732000" cy="4699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kimi-img.moonshot.cn/pub/slides/okc/34xzctlmbooas/mnt/agents/output/redis_cache/images/3_STACKIT_Redis_In_memory_database.png">    </p:cNvPr>
          <p:cNvPicPr>
            <a:picLocks noChangeAspect="1"/>
          </p:cNvPicPr>
          <p:nvPr/>
        </p:nvPicPr>
        <p:blipFill>
          <a:blip r:embed="rId1"/>
          <a:srcRect l="15278" r="15278" t="0" b="0"/>
          <a:stretch/>
        </p:blipFill>
        <p:spPr>
          <a:xfrm>
            <a:off x="0" y="0"/>
            <a:ext cx="16256000" cy="9144000"/>
          </a:xfrm>
          <a:prstGeom prst="rect">
            <a:avLst/>
          </a:prstGeom>
        </p:spPr>
      </p:pic>
      <p:sp>
        <p:nvSpPr>
          <p:cNvPr id="4" name="Shape 0"/>
          <p:cNvSpPr/>
          <p:nvPr/>
        </p:nvSpPr>
        <p:spPr>
          <a:xfrm>
            <a:off x="0" y="0"/>
            <a:ext cx="16256000" cy="9144000"/>
          </a:xfrm>
          <a:prstGeom prst="rect">
            <a:avLst/>
          </a:prstGeom>
          <a:gradFill rotWithShape="1" flip="none">
            <a:gsLst>
              <a:gs pos="0">
                <a:srgbClr val="0F172A">
                  <a:alpha val="80000"/>
                </a:srgbClr>
              </a:gs>
              <a:gs pos="50000">
                <a:srgbClr val="0F172A">
                  <a:alpha val="80000"/>
                </a:srgbClr>
              </a:gs>
              <a:gs pos="100000">
                <a:srgbClr val="0F172A">
                  <a:alpha val="90000"/>
                </a:srgbClr>
              </a:gs>
            </a:gsLst>
            <a:lin ang="5400000" scaled="1"/>
          </a:gradFill>
          <a:ln w="12700">
            <a:solidFill>
              <a:srgbClr val="333333"/>
            </a:solidFill>
            <a:prstDash val="solid"/>
          </a:ln>
        </p:spPr>
      </p:sp>
      <p:sp>
        <p:nvSpPr>
          <p:cNvPr id="5" name="Shape 1"/>
          <p:cNvSpPr/>
          <p:nvPr/>
        </p:nvSpPr>
        <p:spPr>
          <a:xfrm>
            <a:off x="0" y="0"/>
            <a:ext cx="16256000" cy="50800"/>
          </a:xfrm>
          <a:prstGeom prst="rect">
            <a:avLst/>
          </a:prstGeom>
          <a:solidFill>
            <a:srgbClr val="DC382D"/>
          </a:solidFill>
          <a:ln/>
        </p:spPr>
      </p:sp>
      <p:sp>
        <p:nvSpPr>
          <p:cNvPr id="6" name="Text 2"/>
          <p:cNvSpPr/>
          <p:nvPr/>
        </p:nvSpPr>
        <p:spPr>
          <a:xfrm>
            <a:off x="3048000" y="2286000"/>
            <a:ext cx="10160000" cy="1270000"/>
          </a:xfrm>
          <a:prstGeom prst="rect">
            <a:avLst/>
          </a:prstGeom>
          <a:noFill/>
          <a:ln/>
        </p:spPr>
        <p:txBody>
          <a:bodyPr wrap="none" lIns="0" tIns="0" rIns="0" bIns="0" rtlCol="0" anchor="ctr"/>
          <a:lstStyle/>
          <a:p>
            <a:pPr algn="ctr">
              <a:lnSpc>
                <a:spcPct val="100000"/>
              </a:lnSpc>
            </a:pPr>
            <a:r>
              <a:rPr lang="en-US" sz="7200" b="1" spc="800" kern="0" dirty="0">
                <a:solidFill>
                  <a:srgbClr val="FFFFFF"/>
                </a:solidFill>
                <a:latin typeface="Liter" pitchFamily="34" charset="0"/>
                <a:ea typeface="Liter" pitchFamily="34" charset="-122"/>
                <a:cs typeface="Liter" pitchFamily="34" charset="-120"/>
              </a:rPr>
              <a:t>MERCI</a:t>
            </a:r>
            <a:endParaRPr lang="en-US" sz="1600" dirty="0"/>
          </a:p>
        </p:txBody>
      </p:sp>
      <p:sp>
        <p:nvSpPr>
          <p:cNvPr id="7" name="Shape 3"/>
          <p:cNvSpPr/>
          <p:nvPr/>
        </p:nvSpPr>
        <p:spPr>
          <a:xfrm>
            <a:off x="6858000" y="3683000"/>
            <a:ext cx="2540000" cy="50800"/>
          </a:xfrm>
          <a:prstGeom prst="rect">
            <a:avLst/>
          </a:prstGeom>
          <a:solidFill>
            <a:srgbClr val="DC382D"/>
          </a:solidFill>
          <a:ln/>
        </p:spPr>
      </p:sp>
      <p:sp>
        <p:nvSpPr>
          <p:cNvPr id="8" name="Text 4"/>
          <p:cNvSpPr/>
          <p:nvPr/>
        </p:nvSpPr>
        <p:spPr>
          <a:xfrm>
            <a:off x="4318000" y="3937000"/>
            <a:ext cx="7620000" cy="457200"/>
          </a:xfrm>
          <a:prstGeom prst="rect">
            <a:avLst/>
          </a:prstGeom>
          <a:noFill/>
          <a:ln/>
        </p:spPr>
        <p:txBody>
          <a:bodyPr wrap="none" lIns="0" tIns="0" rIns="0" bIns="0" rtlCol="0" anchor="ctr"/>
          <a:lstStyle/>
          <a:p>
            <a:pPr algn="ctr">
              <a:lnSpc>
                <a:spcPct val="100000"/>
              </a:lnSpc>
            </a:pPr>
            <a:r>
              <a:rPr lang="en-US" sz="2200" dirty="0">
                <a:solidFill>
                  <a:srgbClr val="94A3B8"/>
                </a:solidFill>
                <a:latin typeface="Quattrocento Sans" pitchFamily="34" charset="0"/>
                <a:ea typeface="Quattrocento Sans" pitchFamily="34" charset="-122"/>
                <a:cs typeface="Quattrocento Sans" pitchFamily="34" charset="-120"/>
              </a:rPr>
              <a:t>Questions et Discussion</a:t>
            </a:r>
            <a:endParaRPr lang="en-US" sz="1600" dirty="0"/>
          </a:p>
        </p:txBody>
      </p:sp>
      <p:sp>
        <p:nvSpPr>
          <p:cNvPr id="9" name="Shape 5"/>
          <p:cNvSpPr/>
          <p:nvPr/>
        </p:nvSpPr>
        <p:spPr>
          <a:xfrm>
            <a:off x="4953000" y="5334000"/>
            <a:ext cx="6350000" cy="1270000"/>
          </a:xfrm>
          <a:prstGeom prst="roundRect">
            <a:avLst>
              <a:gd name="adj" fmla="val 8000"/>
            </a:avLst>
          </a:prstGeom>
          <a:solidFill>
            <a:srgbClr val="FFFFFF">
              <a:alpha val="8235"/>
            </a:srgbClr>
          </a:solidFill>
          <a:ln w="12700">
            <a:solidFill>
              <a:srgbClr val="FFFFFF">
                <a:alpha val="18824"/>
              </a:srgbClr>
            </a:solidFill>
            <a:prstDash val="solid"/>
          </a:ln>
        </p:spPr>
      </p:sp>
      <p:sp>
        <p:nvSpPr>
          <p:cNvPr id="10" name="Text 6"/>
          <p:cNvSpPr/>
          <p:nvPr/>
        </p:nvSpPr>
        <p:spPr>
          <a:xfrm>
            <a:off x="4953000" y="5397500"/>
            <a:ext cx="6350000" cy="571500"/>
          </a:xfrm>
          <a:prstGeom prst="rect">
            <a:avLst/>
          </a:prstGeom>
          <a:noFill/>
          <a:ln/>
        </p:spPr>
        <p:txBody>
          <a:bodyPr wrap="none" lIns="0" tIns="0" rIns="0" bIns="0" rtlCol="0" anchor="ctr"/>
          <a:lstStyle/>
          <a:p>
            <a:pPr algn="ct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Omar Sarsar</a:t>
            </a:r>
            <a:pPr algn="ctr">
              <a:lnSpc>
                <a:spcPct val="100000"/>
              </a:lnSpc>
            </a:pPr>
            <a:r>
              <a:rPr lang="en-US" sz="2000" dirty="0">
                <a:solidFill>
                  <a:srgbClr val="FFFFFF"/>
                </a:solidFill>
                <a:latin typeface="Quattrocento Sans" pitchFamily="34" charset="0"/>
                <a:ea typeface="Quattrocento Sans" pitchFamily="34" charset="-122"/>
                <a:cs typeface="Quattrocento Sans" pitchFamily="34" charset="-120"/>
              </a:rPr>
              <a:t> &amp; </a:t>
            </a:r>
            <a:pPr algn="ct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Iliass Hariz</a:t>
            </a:r>
            <a:endParaRPr lang="en-US" sz="1600" dirty="0"/>
          </a:p>
        </p:txBody>
      </p:sp>
      <p:sp>
        <p:nvSpPr>
          <p:cNvPr id="11" name="Text 7"/>
          <p:cNvSpPr/>
          <p:nvPr/>
        </p:nvSpPr>
        <p:spPr>
          <a:xfrm>
            <a:off x="4953000" y="6032500"/>
            <a:ext cx="6350000" cy="381000"/>
          </a:xfrm>
          <a:prstGeom prst="rect">
            <a:avLst/>
          </a:prstGeom>
          <a:noFill/>
          <a:ln/>
        </p:spPr>
        <p:txBody>
          <a:bodyPr wrap="none" lIns="0" tIns="0" rIns="0" bIns="0" rtlCol="0" anchor="ctr"/>
          <a:lstStyle/>
          <a:p>
            <a:pPr algn="ctr">
              <a:lnSpc>
                <a:spcPct val="100000"/>
              </a:lnSpc>
            </a:pPr>
            <a:r>
              <a:rPr lang="en-US" sz="1600" dirty="0">
                <a:solidFill>
                  <a:srgbClr val="94A3B8"/>
                </a:solidFill>
                <a:latin typeface="Quattrocento Sans" pitchFamily="34" charset="0"/>
                <a:ea typeface="Quattrocento Sans" pitchFamily="34" charset="-122"/>
                <a:cs typeface="Quattrocento Sans" pitchFamily="34" charset="-120"/>
              </a:rPr>
              <a:t>2026</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Distribue avec Redis - Projet de Fin d'Etudes</dc:title>
  <dc:subject>Cache Distribue avec Redis - Projet de Fin d'Etudes</dc:subject>
  <dc:creator>Kimi</dc:creator>
  <cp:lastModifiedBy>Kimi</cp:lastModifiedBy>
  <cp:revision>1</cp:revision>
  <dcterms:created xsi:type="dcterms:W3CDTF">2026-05-22T00:12:51Z</dcterms:created>
  <dcterms:modified xsi:type="dcterms:W3CDTF">2026-05-22T00:12:51Z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{"Label":"Cache Distribue avec Redis - Projet de Fin d'Etudes","ContentProducer":"001191110108MACG2KBH8F10000","ProduceID":"19e4c1d9-7192-8edd-8000-0000c2f4d6f1","ReservedCode1":"","ContentPropagator":"001191110108MACG2KBH8F20000","PropagateID":"19e4c1d9-7192-8edd-8000-0000c2f4d6f1","ReservedCode2":""}</vt:lpwstr>
  </property>
</Properties>
</file>